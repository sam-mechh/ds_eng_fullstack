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3" r:id="rId7"/>
    <p:sldId id="261" r:id="rId8"/>
    <p:sldId id="267"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858" dt="2026-10-24T17:20:33.653"/>
    <p1510:client id="{0AA6654D-9A9E-9CE9-3B25-49A07368F8BE}" v="14" dt="2026-10-24T19:10:29.212"/>
    <p1510:client id="{21D3C8DB-A91A-D145-58CA-99129B75919D}" v="719" dt="2026-10-24T16:39:18.745"/>
    <p1510:client id="{CA9B4EDC-BDC5-00E6-244E-8B3B8F99C766}" v="168" dt="2026-10-24T20:08:12.6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761"/>
                </a:solidFill>
                <a:latin typeface="Arial"/>
              </a:defRPr>
            </a:pPr>
            <a:r>
              <a:rPr lang="fr-FR" sz="1200" b="0" i="0" u="none" strike="noStrike">
                <a:solidFill>
                  <a:srgbClr val="1E2761"/>
                </a:solidFill>
                <a:latin typeface="Arial"/>
              </a:rPr>
              <a:t>Répartition Ham / Spam</a:t>
            </a:r>
          </a:p>
        </c:rich>
      </c:tx>
      <c:overlay val="0"/>
    </c:title>
    <c:autoTitleDeleted val="0"/>
    <c:plotArea>
      <c:layout/>
      <c:pieChart>
        <c:varyColors val="1"/>
        <c:ser>
          <c:idx val="0"/>
          <c:order val="0"/>
          <c:tx>
            <c:strRef>
              <c:f>Sheet1!$B$1</c:f>
              <c:strCache>
                <c:ptCount val="1"/>
                <c:pt idx="0">
                  <c:v>Répartition</c:v>
                </c:pt>
              </c:strCache>
            </c:strRef>
          </c:tx>
          <c:spPr>
            <a:solidFill>
              <a:schemeClr val="accent1"/>
            </a:solidFill>
            <a:ln w="9525" cap="flat">
              <a:solidFill>
                <a:srgbClr val="F9F9F9"/>
              </a:solidFill>
              <a:prstDash val="solid"/>
              <a:round/>
            </a:ln>
            <a:effectLst/>
          </c:spPr>
          <c:dPt>
            <c:idx val="0"/>
            <c:bubble3D val="0"/>
            <c:spPr>
              <a:solidFill>
                <a:srgbClr val="4682B4"/>
              </a:solidFill>
              <a:effectLst/>
            </c:spPr>
            <c:extLst>
              <c:ext xmlns:c16="http://schemas.microsoft.com/office/drawing/2014/chart" uri="{C3380CC4-5D6E-409C-BE32-E72D297353CC}">
                <c16:uniqueId val="{00000001-F522-4670-A685-F2DEF5BC59F5}"/>
              </c:ext>
            </c:extLst>
          </c:dPt>
          <c:dPt>
            <c:idx val="1"/>
            <c:bubble3D val="0"/>
            <c:spPr>
              <a:solidFill>
                <a:srgbClr val="DC4040"/>
              </a:solidFill>
              <a:effectLst/>
            </c:spPr>
            <c:extLst>
              <c:ext xmlns:c16="http://schemas.microsoft.com/office/drawing/2014/chart" uri="{C3380CC4-5D6E-409C-BE32-E72D297353CC}">
                <c16:uniqueId val="{00000003-F522-4670-A685-F2DEF5BC59F5}"/>
              </c:ext>
            </c:extLst>
          </c:dPt>
          <c:cat>
            <c:strRef>
              <c:f>Sheet1!$A$2:$A$3</c:f>
              <c:strCache>
                <c:ptCount val="2"/>
                <c:pt idx="0">
                  <c:v>Ham (87,37 %)</c:v>
                </c:pt>
                <c:pt idx="1">
                  <c:v>Spam (12,63 %)</c:v>
                </c:pt>
              </c:strCache>
            </c:strRef>
          </c:cat>
          <c:val>
            <c:numRef>
              <c:f>Sheet1!$B$2:$B$3</c:f>
              <c:numCache>
                <c:formatCode>General</c:formatCode>
                <c:ptCount val="2"/>
                <c:pt idx="0">
                  <c:v>87.37</c:v>
                </c:pt>
                <c:pt idx="1">
                  <c:v>12.63</c:v>
                </c:pt>
              </c:numCache>
            </c:numRef>
          </c:val>
          <c:extLst>
            <c:ext xmlns:c16="http://schemas.microsoft.com/office/drawing/2014/chart" uri="{C3380CC4-5D6E-409C-BE32-E72D297353CC}">
              <c16:uniqueId val="{00000004-F522-4670-A685-F2DEF5BC59F5}"/>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4F6F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8450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7E68-B851-8F0E-FEF5-1A8F2ED8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E128B-D7F2-7767-BAEE-7DB9F5E57E2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938CF52-1F85-9D32-9524-2F71FB5B0E57}"/>
              </a:ext>
            </a:extLst>
          </p:cNvPr>
          <p:cNvSpPr>
            <a:spLocks noGrp="1"/>
          </p:cNvSpPr>
          <p:nvPr>
            <p:ph type="body" idx="1"/>
          </p:nvPr>
        </p:nvSpPr>
        <p:spPr/>
        <p:txBody>
          <a:bodyPr/>
          <a:lstStyle/>
          <a:p>
            <a:r>
              <a:rPr lang="fr-FR" b="1" dirty="0"/>
              <a:t>7:30 - 8:00</a:t>
            </a:r>
          </a:p>
          <a:p>
            <a:r>
              <a:rPr lang="fr-FR" dirty="0"/>
              <a:t>Conclusion : ce projet montre qu'un second regard automatique, fonde sur un encodeur specialise et une fusion fine entre image et texte, peut renforcer la securite du patient sans se substituer au jugement medical.</a:t>
            </a:r>
          </a:p>
          <a:p>
            <a:r>
              <a:rPr lang="fr-FR" dirty="0"/>
              <a:t>La demonstration en ligne est accessible via le lien affiche ci-dessous. Je suis maintenant disponible pour vos questions.</a:t>
            </a:r>
          </a:p>
          <a:p>
            <a:endParaRPr lang="fr-FR" dirty="0"/>
          </a:p>
        </p:txBody>
      </p:sp>
      <p:sp>
        <p:nvSpPr>
          <p:cNvPr id="4" name="Slide Number Placeholder 3">
            <a:extLst>
              <a:ext uri="{FF2B5EF4-FFF2-40B4-BE49-F238E27FC236}">
                <a16:creationId xmlns:a16="http://schemas.microsoft.com/office/drawing/2014/main" id="{E3449097-D955-808A-CA9E-6D41DE4B8B7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6467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45"/>
        </a:solidFill>
        <a:effectLst/>
      </p:bgPr>
    </p:bg>
    <p:spTree>
      <p:nvGrpSpPr>
        <p:cNvPr id="1" name=""/>
        <p:cNvGrpSpPr/>
        <p:nvPr/>
      </p:nvGrpSpPr>
      <p:grpSpPr>
        <a:xfrm>
          <a:off x="0" y="0"/>
          <a:ext cx="0" cy="0"/>
          <a:chOff x="0" y="0"/>
          <a:chExt cx="0" cy="0"/>
        </a:xfrm>
      </p:grpSpPr>
      <p:sp>
        <p:nvSpPr>
          <p:cNvPr id="2" name="Shape 0"/>
          <p:cNvSpPr/>
          <p:nvPr/>
        </p:nvSpPr>
        <p:spPr>
          <a:xfrm>
            <a:off x="60960" y="2567940"/>
            <a:ext cx="9144000" cy="64008"/>
          </a:xfrm>
          <a:prstGeom prst="rect">
            <a:avLst/>
          </a:prstGeom>
          <a:solidFill>
            <a:srgbClr val="4A90D9"/>
          </a:solidFill>
          <a:ln w="12700">
            <a:solidFill>
              <a:srgbClr val="4A90D9"/>
            </a:solidFill>
            <a:prstDash val="solid"/>
          </a:ln>
        </p:spPr>
        <p:txBody>
          <a:bodyPr/>
          <a:lstStyle/>
          <a:p>
            <a:endParaRPr lang="fr-FR"/>
          </a:p>
        </p:txBody>
      </p:sp>
      <p:pic>
        <p:nvPicPr>
          <p:cNvPr id="3" name="Image 0" descr="preencoded.png"/>
          <p:cNvPicPr>
            <a:picLocks noChangeAspect="1"/>
          </p:cNvPicPr>
          <p:nvPr/>
        </p:nvPicPr>
        <p:blipFill>
          <a:blip r:embed="rId3"/>
          <a:stretch>
            <a:fillRect/>
          </a:stretch>
        </p:blipFill>
        <p:spPr>
          <a:xfrm>
            <a:off x="3886200" y="384048"/>
            <a:ext cx="1371600" cy="1371600"/>
          </a:xfrm>
          <a:prstGeom prst="rect">
            <a:avLst/>
          </a:prstGeom>
        </p:spPr>
      </p:pic>
      <p:sp>
        <p:nvSpPr>
          <p:cNvPr id="4" name="Text 1"/>
          <p:cNvSpPr/>
          <p:nvPr/>
        </p:nvSpPr>
        <p:spPr>
          <a:xfrm>
            <a:off x="457200" y="1783080"/>
            <a:ext cx="8229600" cy="749808"/>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Détecteur de Spam</a:t>
            </a:r>
            <a:endParaRPr lang="en-US" sz="4000" dirty="0"/>
          </a:p>
        </p:txBody>
      </p:sp>
      <p:sp>
        <p:nvSpPr>
          <p:cNvPr id="6" name="Text 3"/>
          <p:cNvSpPr/>
          <p:nvPr/>
        </p:nvSpPr>
        <p:spPr>
          <a:xfrm>
            <a:off x="320040" y="2727960"/>
            <a:ext cx="8229600" cy="365760"/>
          </a:xfrm>
          <a:prstGeom prst="rect">
            <a:avLst/>
          </a:prstGeom>
          <a:noFill/>
          <a:ln/>
        </p:spPr>
        <p:txBody>
          <a:bodyPr wrap="square" lIns="91440" tIns="45720" rIns="91440" bIns="45720" rtlCol="0" anchor="ctr"/>
          <a:lstStyle/>
          <a:p>
            <a:pPr algn="ctr"/>
            <a:r>
              <a:rPr lang="en-US" sz="1400">
                <a:solidFill>
                  <a:srgbClr val="CADCFC"/>
                </a:solidFill>
                <a:latin typeface="Calibri"/>
                <a:ea typeface="Calibri"/>
                <a:cs typeface="Calibri"/>
              </a:rPr>
              <a:t>Classification de SMS par Deep Learning</a:t>
            </a:r>
            <a:endParaRPr lang="en-US" sz="1400">
              <a:solidFill>
                <a:srgbClr val="CADCFC"/>
              </a:solidFill>
              <a:ea typeface="Calibri"/>
              <a:cs typeface="Calibri"/>
            </a:endParaRPr>
          </a:p>
        </p:txBody>
      </p:sp>
      <p:sp>
        <p:nvSpPr>
          <p:cNvPr id="7" name="Text 4"/>
          <p:cNvSpPr/>
          <p:nvPr/>
        </p:nvSpPr>
        <p:spPr>
          <a:xfrm>
            <a:off x="457200" y="4498848"/>
            <a:ext cx="8229600" cy="320040"/>
          </a:xfrm>
          <a:prstGeom prst="rect">
            <a:avLst/>
          </a:prstGeom>
          <a:noFill/>
          <a:ln/>
        </p:spPr>
        <p:txBody>
          <a:bodyPr wrap="square" lIns="91440" tIns="45720" rIns="91440" bIns="45720" rtlCol="0" anchor="ctr"/>
          <a:lstStyle/>
          <a:p>
            <a:pPr algn="ctr"/>
            <a:r>
              <a:rPr lang="en-US" sz="1100" dirty="0">
                <a:solidFill>
                  <a:srgbClr val="7799CC"/>
                </a:solidFill>
                <a:latin typeface="Calibri"/>
                <a:ea typeface="Calibri"/>
                <a:cs typeface="Calibri"/>
              </a:rPr>
              <a:t>Deep Learning  |  NLP  |  </a:t>
            </a:r>
            <a:r>
              <a:rPr lang="en-US" sz="1100" dirty="0" err="1">
                <a:solidFill>
                  <a:srgbClr val="7799CC"/>
                </a:solidFill>
                <a:latin typeface="Calibri"/>
                <a:ea typeface="Calibri"/>
                <a:cs typeface="Calibri"/>
              </a:rPr>
              <a:t>Transfert</a:t>
            </a:r>
            <a:r>
              <a:rPr lang="en-US" sz="1100" dirty="0">
                <a:solidFill>
                  <a:srgbClr val="7799CC"/>
                </a:solidFill>
                <a:latin typeface="Calibri"/>
                <a:ea typeface="Calibri"/>
                <a:cs typeface="Calibri"/>
              </a:rPr>
              <a:t> Learning | </a:t>
            </a:r>
            <a:r>
              <a:rPr lang="en-US" sz="1100" dirty="0" err="1">
                <a:solidFill>
                  <a:srgbClr val="7799CC"/>
                </a:solidFill>
                <a:latin typeface="Calibri"/>
                <a:ea typeface="Calibri"/>
                <a:cs typeface="Calibri"/>
              </a:rPr>
              <a:t>PyTorch</a:t>
            </a:r>
            <a:endParaRPr lang="en-US" sz="1100" dirty="0" err="1">
              <a:solidFill>
                <a:srgbClr val="7799CC"/>
              </a:solidFill>
              <a:ea typeface="Calibri"/>
              <a:cs typeface="Calibri"/>
            </a:endParaRPr>
          </a:p>
        </p:txBody>
      </p:sp>
      <p:sp>
        <p:nvSpPr>
          <p:cNvPr id="5" name="ZoneTexte 4">
            <a:extLst>
              <a:ext uri="{FF2B5EF4-FFF2-40B4-BE49-F238E27FC236}">
                <a16:creationId xmlns:a16="http://schemas.microsoft.com/office/drawing/2014/main" id="{3A519383-5354-DE1D-3082-7DC12168A245}"/>
              </a:ext>
            </a:extLst>
          </p:cNvPr>
          <p:cNvSpPr txBox="1"/>
          <p:nvPr/>
        </p:nvSpPr>
        <p:spPr>
          <a:xfrm>
            <a:off x="457872" y="4191784"/>
            <a:ext cx="215152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a:solidFill>
                  <a:schemeClr val="bg1"/>
                </a:solidFill>
                <a:ea typeface="Calibri"/>
                <a:cs typeface="Calibri"/>
              </a:rPr>
              <a:t>Samer MECHHOUD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txBody>
          <a:bodyPr/>
          <a:lstStyle/>
          <a:p>
            <a:endParaRPr lang="fr-FR"/>
          </a:p>
        </p:txBody>
      </p:sp>
      <p:sp>
        <p:nvSpPr>
          <p:cNvPr id="3" name="Text 1"/>
          <p:cNvSpPr/>
          <p:nvPr/>
        </p:nvSpPr>
        <p:spPr>
          <a:xfrm>
            <a:off x="347472" y="0"/>
            <a:ext cx="8503920" cy="65836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Contexte et problématique</a:t>
            </a:r>
            <a:endParaRPr lang="en-US" sz="2100" dirty="0"/>
          </a:p>
        </p:txBody>
      </p:sp>
      <p:sp>
        <p:nvSpPr>
          <p:cNvPr id="11" name="Text 9"/>
          <p:cNvSpPr/>
          <p:nvPr/>
        </p:nvSpPr>
        <p:spPr>
          <a:xfrm>
            <a:off x="347472" y="1339596"/>
            <a:ext cx="8412480" cy="2464308"/>
          </a:xfrm>
          <a:prstGeom prst="rect">
            <a:avLst/>
          </a:prstGeom>
          <a:noFill/>
          <a:ln/>
        </p:spPr>
        <p:txBody>
          <a:bodyPr wrap="square" lIns="91440" tIns="45720" rIns="91440" bIns="45720"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Exposition massive</a:t>
            </a:r>
            <a:endParaRPr lang="en-US" sz="1300" dirty="0"/>
          </a:p>
          <a:p>
            <a:r>
              <a:rPr lang="en-US" sz="1300" dirty="0">
                <a:solidFill>
                  <a:srgbClr val="1E2761"/>
                </a:solidFill>
                <a:latin typeface="Calibri"/>
                <a:ea typeface="Calibri"/>
                <a:cs typeface="Calibri"/>
              </a:rPr>
              <a:t>aux messages </a:t>
            </a:r>
            <a:r>
              <a:rPr lang="en-US" sz="1300" dirty="0" err="1">
                <a:solidFill>
                  <a:srgbClr val="1E2761"/>
                </a:solidFill>
                <a:latin typeface="Calibri"/>
                <a:ea typeface="Calibri"/>
                <a:cs typeface="Calibri"/>
              </a:rPr>
              <a:t>indésirables (spam) </a:t>
            </a:r>
            <a:endParaRPr lang="en-US" sz="1300" dirty="0">
              <a:solidFill>
                <a:srgbClr val="000000"/>
              </a:solidFill>
              <a:latin typeface="Calibri"/>
              <a:ea typeface="Calibri"/>
              <a:cs typeface="Calibri"/>
            </a:endParaRPr>
          </a:p>
          <a:p>
            <a:r>
              <a:rPr lang="en-US" sz="1300" dirty="0">
                <a:solidFill>
                  <a:srgbClr val="1E2761"/>
                </a:solidFill>
                <a:latin typeface="Calibri"/>
                <a:ea typeface="Calibri"/>
                <a:cs typeface="Calibri"/>
              </a:rPr>
              <a:t>
</a:t>
            </a:r>
            <a:endParaRPr lang="en-US" sz="1300">
              <a:latin typeface="Calibri"/>
              <a:ea typeface="Calibri"/>
              <a:cs typeface="Calibri"/>
            </a:endParaRPr>
          </a:p>
          <a:p>
            <a:pPr marL="0" indent="0">
              <a:buNone/>
            </a:pPr>
            <a:r>
              <a:rPr lang="en-US" sz="1300" b="1" dirty="0" err="1">
                <a:solidFill>
                  <a:srgbClr val="1E2761"/>
                </a:solidFill>
                <a:latin typeface="Calibri"/>
                <a:ea typeface="Calibri"/>
                <a:cs typeface="Calibri"/>
              </a:rPr>
              <a:t>Détection</a:t>
            </a:r>
            <a:r>
              <a:rPr lang="en-US" sz="1300" b="1" dirty="0">
                <a:solidFill>
                  <a:srgbClr val="1E2761"/>
                </a:solidFill>
                <a:latin typeface="Calibri"/>
                <a:ea typeface="Calibri"/>
                <a:cs typeface="Calibri"/>
              </a:rPr>
              <a:t> </a:t>
            </a:r>
            <a:r>
              <a:rPr lang="en-US" sz="1300" b="1" dirty="0" err="1">
                <a:solidFill>
                  <a:srgbClr val="1E2761"/>
                </a:solidFill>
                <a:latin typeface="Calibri"/>
                <a:ea typeface="Calibri"/>
                <a:cs typeface="Calibri"/>
              </a:rPr>
              <a:t>manuelle</a:t>
            </a:r>
            <a:endParaRPr lang="en-US" sz="1300" dirty="0" err="1">
              <a:latin typeface="Calibri"/>
              <a:ea typeface="Calibri"/>
              <a:cs typeface="Calibri"/>
            </a:endParaRPr>
          </a:p>
          <a:p>
            <a:pPr marL="0" indent="0">
              <a:buNone/>
            </a:pPr>
            <a:r>
              <a:rPr lang="en-US" sz="1300" dirty="0" err="1">
                <a:solidFill>
                  <a:srgbClr val="1E2761"/>
                </a:solidFill>
                <a:latin typeface="Calibri"/>
                <a:ea typeface="Calibri"/>
                <a:cs typeface="Calibri"/>
              </a:rPr>
              <a:t>devenue</a:t>
            </a:r>
            <a:r>
              <a:rPr lang="en-US" sz="1300" dirty="0">
                <a:solidFill>
                  <a:srgbClr val="1E2761"/>
                </a:solidFill>
                <a:latin typeface="Calibri"/>
                <a:ea typeface="Calibri"/>
                <a:cs typeface="Calibri"/>
              </a:rPr>
              <a:t> </a:t>
            </a:r>
            <a:r>
              <a:rPr lang="en-US" sz="1300" dirty="0" err="1">
                <a:solidFill>
                  <a:srgbClr val="1E2761"/>
                </a:solidFill>
                <a:latin typeface="Calibri"/>
                <a:ea typeface="Calibri"/>
                <a:cs typeface="Calibri"/>
              </a:rPr>
              <a:t>insuffisante</a:t>
            </a:r>
            <a:r>
              <a:rPr lang="en-US" sz="1300" dirty="0">
                <a:solidFill>
                  <a:srgbClr val="1E2761"/>
                </a:solidFill>
                <a:latin typeface="Calibri"/>
                <a:ea typeface="Calibri"/>
                <a:cs typeface="Calibri"/>
              </a:rPr>
              <a:t> et non scalable
</a:t>
            </a:r>
          </a:p>
          <a:p>
            <a:endParaRPr lang="en-US" sz="1300" dirty="0">
              <a:solidFill>
                <a:srgbClr val="1E2761"/>
              </a:solidFill>
              <a:latin typeface="Calibri"/>
              <a:ea typeface="Calibri"/>
              <a:cs typeface="Calibri"/>
            </a:endParaRPr>
          </a:p>
          <a:p>
            <a:pPr marL="0" indent="0">
              <a:buNone/>
            </a:pPr>
            <a:r>
              <a:rPr lang="en-US" sz="1300" b="1" dirty="0">
                <a:solidFill>
                  <a:srgbClr val="1E2761"/>
                </a:solidFill>
                <a:latin typeface="Calibri" pitchFamily="34" charset="0"/>
                <a:ea typeface="Calibri" pitchFamily="34" charset="-122"/>
                <a:cs typeface="Calibri" pitchFamily="34" charset="-120"/>
              </a:rPr>
              <a:t>Objectif :</a:t>
            </a:r>
            <a:endParaRPr lang="en-US" sz="1300" dirty="0"/>
          </a:p>
          <a:p>
            <a:pPr marL="0" indent="0">
              <a:buNone/>
            </a:pPr>
            <a:r>
              <a:rPr lang="en-US" sz="1300" i="1" dirty="0" err="1">
                <a:solidFill>
                  <a:srgbClr val="1E2761"/>
                </a:solidFill>
                <a:latin typeface="Calibri"/>
                <a:ea typeface="Calibri"/>
                <a:cs typeface="Calibri"/>
              </a:rPr>
              <a:t>construire</a:t>
            </a:r>
            <a:r>
              <a:rPr lang="en-US" sz="1300" i="1" dirty="0">
                <a:solidFill>
                  <a:srgbClr val="1E2761"/>
                </a:solidFill>
                <a:latin typeface="Calibri"/>
                <a:ea typeface="Calibri"/>
                <a:cs typeface="Calibri"/>
              </a:rPr>
              <a:t> un </a:t>
            </a:r>
            <a:r>
              <a:rPr lang="en-US" sz="1300" i="1" dirty="0" err="1">
                <a:solidFill>
                  <a:srgbClr val="1E2761"/>
                </a:solidFill>
                <a:latin typeface="Calibri"/>
                <a:ea typeface="Calibri"/>
                <a:cs typeface="Calibri"/>
              </a:rPr>
              <a:t>détecteur</a:t>
            </a:r>
            <a:r>
              <a:rPr lang="en-US" sz="1300" i="1" dirty="0">
                <a:solidFill>
                  <a:srgbClr val="1E2761"/>
                </a:solidFill>
                <a:latin typeface="Calibri"/>
                <a:ea typeface="Calibri"/>
                <a:cs typeface="Calibri"/>
              </a:rPr>
              <a:t> </a:t>
            </a:r>
            <a:r>
              <a:rPr lang="en-US" sz="1300" i="1" dirty="0" err="1">
                <a:solidFill>
                  <a:srgbClr val="1E2761"/>
                </a:solidFill>
                <a:latin typeface="Calibri"/>
                <a:ea typeface="Calibri"/>
                <a:cs typeface="Calibri"/>
              </a:rPr>
              <a:t>automatique</a:t>
            </a:r>
            <a:r>
              <a:rPr lang="en-US" sz="1300" i="1" dirty="0">
                <a:solidFill>
                  <a:srgbClr val="1E2761"/>
                </a:solidFill>
                <a:latin typeface="Calibri"/>
                <a:ea typeface="Calibri"/>
                <a:cs typeface="Calibri"/>
              </a:rPr>
              <a:t> capable de classer </a:t>
            </a:r>
            <a:r>
              <a:rPr lang="en-US" sz="1300" i="1" dirty="0" err="1">
                <a:solidFill>
                  <a:srgbClr val="1E2761"/>
                </a:solidFill>
                <a:latin typeface="Calibri"/>
                <a:ea typeface="Calibri"/>
                <a:cs typeface="Calibri"/>
              </a:rPr>
              <a:t>chaque</a:t>
            </a:r>
            <a:r>
              <a:rPr lang="en-US" sz="1300" i="1" dirty="0">
                <a:solidFill>
                  <a:srgbClr val="1E2761"/>
                </a:solidFill>
                <a:latin typeface="Calibri"/>
                <a:ea typeface="Calibri"/>
                <a:cs typeface="Calibri"/>
              </a:rPr>
              <a:t> SMS </a:t>
            </a:r>
            <a:r>
              <a:rPr lang="en-US" sz="1300" i="1" dirty="0" err="1">
                <a:solidFill>
                  <a:srgbClr val="1E2761"/>
                </a:solidFill>
                <a:latin typeface="Calibri"/>
                <a:ea typeface="Calibri"/>
                <a:cs typeface="Calibri"/>
              </a:rPr>
              <a:t>dès</a:t>
            </a:r>
            <a:r>
              <a:rPr lang="en-US" sz="1300" i="1" dirty="0">
                <a:solidFill>
                  <a:srgbClr val="1E2761"/>
                </a:solidFill>
                <a:latin typeface="Calibri"/>
                <a:ea typeface="Calibri"/>
                <a:cs typeface="Calibri"/>
              </a:rPr>
              <a:t> </a:t>
            </a:r>
            <a:r>
              <a:rPr lang="en-US" sz="1300" i="1" dirty="0" err="1">
                <a:solidFill>
                  <a:srgbClr val="1E2761"/>
                </a:solidFill>
                <a:latin typeface="Calibri"/>
                <a:ea typeface="Calibri"/>
                <a:cs typeface="Calibri"/>
              </a:rPr>
              <a:t>sa</a:t>
            </a:r>
            <a:r>
              <a:rPr lang="en-US" sz="1300" i="1" dirty="0">
                <a:solidFill>
                  <a:srgbClr val="1E2761"/>
                </a:solidFill>
                <a:latin typeface="Calibri"/>
                <a:ea typeface="Calibri"/>
                <a:cs typeface="Calibri"/>
              </a:rPr>
              <a:t> </a:t>
            </a:r>
            <a:r>
              <a:rPr lang="en-US" sz="1300" i="1" dirty="0" err="1">
                <a:solidFill>
                  <a:srgbClr val="1E2761"/>
                </a:solidFill>
                <a:latin typeface="Calibri"/>
                <a:ea typeface="Calibri"/>
                <a:cs typeface="Calibri"/>
              </a:rPr>
              <a:t>réception</a:t>
            </a:r>
            <a:r>
              <a:rPr lang="en-US" sz="1300" i="1" dirty="0">
                <a:solidFill>
                  <a:srgbClr val="1E2761"/>
                </a:solidFill>
                <a:latin typeface="Calibri"/>
                <a:ea typeface="Calibri"/>
                <a:cs typeface="Calibri"/>
              </a:rPr>
              <a:t>, </a:t>
            </a:r>
            <a:r>
              <a:rPr lang="en-US" sz="1300" i="1" dirty="0" err="1">
                <a:solidFill>
                  <a:srgbClr val="1E2761"/>
                </a:solidFill>
                <a:latin typeface="Calibri"/>
                <a:ea typeface="Calibri"/>
                <a:cs typeface="Calibri"/>
              </a:rPr>
              <a:t>basé</a:t>
            </a:r>
            <a:r>
              <a:rPr lang="en-US" sz="1300" i="1" dirty="0">
                <a:solidFill>
                  <a:srgbClr val="1E2761"/>
                </a:solidFill>
                <a:latin typeface="Calibri"/>
                <a:ea typeface="Calibri"/>
                <a:cs typeface="Calibri"/>
              </a:rPr>
              <a:t> </a:t>
            </a:r>
            <a:r>
              <a:rPr lang="en-US" sz="1300" i="1" dirty="0" err="1">
                <a:solidFill>
                  <a:srgbClr val="1E2761"/>
                </a:solidFill>
                <a:latin typeface="Calibri"/>
                <a:ea typeface="Calibri"/>
                <a:cs typeface="Calibri"/>
              </a:rPr>
              <a:t>uniquement</a:t>
            </a:r>
            <a:r>
              <a:rPr lang="en-US" sz="1300" i="1" dirty="0">
                <a:solidFill>
                  <a:srgbClr val="1E2761"/>
                </a:solidFill>
                <a:latin typeface="Calibri"/>
                <a:ea typeface="Calibri"/>
                <a:cs typeface="Calibri"/>
              </a:rPr>
              <a:t> sur son </a:t>
            </a:r>
            <a:r>
              <a:rPr lang="en-US" sz="1300" i="1" dirty="0" err="1">
                <a:solidFill>
                  <a:srgbClr val="1E2761"/>
                </a:solidFill>
                <a:latin typeface="Calibri"/>
                <a:ea typeface="Calibri"/>
                <a:cs typeface="Calibri"/>
              </a:rPr>
              <a:t>contenu</a:t>
            </a:r>
            <a:r>
              <a:rPr lang="en-US" sz="1300" i="1" dirty="0">
                <a:solidFill>
                  <a:srgbClr val="1E2761"/>
                </a:solidFill>
                <a:latin typeface="Calibri"/>
                <a:ea typeface="Calibri"/>
                <a:cs typeface="Calibri"/>
              </a:rPr>
              <a:t>.</a:t>
            </a:r>
            <a:endParaRPr lang="en-US" sz="1300" dirty="0">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txBody>
          <a:bodyPr/>
          <a:lstStyle/>
          <a:p>
            <a:endParaRPr lang="fr-FR"/>
          </a:p>
        </p:txBody>
      </p:sp>
      <p:sp>
        <p:nvSpPr>
          <p:cNvPr id="3" name="Text 1"/>
          <p:cNvSpPr/>
          <p:nvPr/>
        </p:nvSpPr>
        <p:spPr>
          <a:xfrm>
            <a:off x="347472" y="0"/>
            <a:ext cx="8503920" cy="65836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Exploration des données — spam.csv</a:t>
            </a:r>
            <a:endParaRPr lang="en-US" sz="2100" dirty="0"/>
          </a:p>
        </p:txBody>
      </p:sp>
      <p:sp>
        <p:nvSpPr>
          <p:cNvPr id="4" name="Shape 2"/>
          <p:cNvSpPr/>
          <p:nvPr/>
        </p:nvSpPr>
        <p:spPr>
          <a:xfrm>
            <a:off x="256032" y="786384"/>
            <a:ext cx="2606040" cy="1005840"/>
          </a:xfrm>
          <a:prstGeom prst="rect">
            <a:avLst/>
          </a:prstGeom>
          <a:solidFill>
            <a:srgbClr val="FFFFFF"/>
          </a:solidFill>
          <a:ln w="9525">
            <a:solidFill>
              <a:srgbClr val="E2E8F0"/>
            </a:solidFill>
            <a:prstDash val="solid"/>
          </a:ln>
          <a:effectLst>
            <a:outerShdw blurRad="88900" dist="25400" dir="8100000" algn="bl" rotWithShape="0">
              <a:srgbClr val="000000">
                <a:alpha val="11000"/>
              </a:srgbClr>
            </a:outerShdw>
          </a:effectLst>
        </p:spPr>
        <p:txBody>
          <a:bodyPr/>
          <a:lstStyle/>
          <a:p>
            <a:endParaRPr lang="fr-FR"/>
          </a:p>
        </p:txBody>
      </p:sp>
      <p:sp>
        <p:nvSpPr>
          <p:cNvPr id="5" name="Text 3"/>
          <p:cNvSpPr/>
          <p:nvPr/>
        </p:nvSpPr>
        <p:spPr>
          <a:xfrm>
            <a:off x="256032" y="859536"/>
            <a:ext cx="2606040" cy="566928"/>
          </a:xfrm>
          <a:prstGeom prst="rect">
            <a:avLst/>
          </a:prstGeom>
          <a:noFill/>
          <a:ln/>
        </p:spPr>
        <p:txBody>
          <a:bodyPr wrap="square" rtlCol="0" anchor="ctr"/>
          <a:lstStyle/>
          <a:p>
            <a:pPr marL="0" indent="0" algn="ctr">
              <a:buNone/>
            </a:pPr>
            <a:r>
              <a:rPr lang="en-US" sz="3000" b="1" dirty="0">
                <a:solidFill>
                  <a:srgbClr val="1E2761"/>
                </a:solidFill>
                <a:latin typeface="Calibri" pitchFamily="34" charset="0"/>
                <a:ea typeface="Calibri" pitchFamily="34" charset="-122"/>
                <a:cs typeface="Calibri" pitchFamily="34" charset="-120"/>
              </a:rPr>
              <a:t>5 572</a:t>
            </a:r>
            <a:endParaRPr lang="en-US" sz="3000" dirty="0"/>
          </a:p>
        </p:txBody>
      </p:sp>
      <p:sp>
        <p:nvSpPr>
          <p:cNvPr id="6" name="Text 4"/>
          <p:cNvSpPr/>
          <p:nvPr/>
        </p:nvSpPr>
        <p:spPr>
          <a:xfrm>
            <a:off x="256032" y="1408176"/>
            <a:ext cx="2606040" cy="310896"/>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messages bruts</a:t>
            </a:r>
            <a:endParaRPr lang="en-US" sz="1000" dirty="0"/>
          </a:p>
        </p:txBody>
      </p:sp>
      <p:sp>
        <p:nvSpPr>
          <p:cNvPr id="7" name="Shape 5"/>
          <p:cNvSpPr/>
          <p:nvPr/>
        </p:nvSpPr>
        <p:spPr>
          <a:xfrm>
            <a:off x="3264408" y="786384"/>
            <a:ext cx="2606040" cy="1005840"/>
          </a:xfrm>
          <a:prstGeom prst="rect">
            <a:avLst/>
          </a:prstGeom>
          <a:solidFill>
            <a:srgbClr val="FFFFFF"/>
          </a:solidFill>
          <a:ln w="9525">
            <a:solidFill>
              <a:srgbClr val="E2E8F0"/>
            </a:solidFill>
            <a:prstDash val="solid"/>
          </a:ln>
          <a:effectLst>
            <a:outerShdw blurRad="88900" dist="25400" dir="8100000" algn="bl" rotWithShape="0">
              <a:srgbClr val="000000">
                <a:alpha val="11000"/>
              </a:srgbClr>
            </a:outerShdw>
          </a:effectLst>
        </p:spPr>
        <p:txBody>
          <a:bodyPr/>
          <a:lstStyle/>
          <a:p>
            <a:endParaRPr lang="fr-FR"/>
          </a:p>
        </p:txBody>
      </p:sp>
      <p:sp>
        <p:nvSpPr>
          <p:cNvPr id="8" name="Text 6"/>
          <p:cNvSpPr/>
          <p:nvPr/>
        </p:nvSpPr>
        <p:spPr>
          <a:xfrm>
            <a:off x="3264408" y="859536"/>
            <a:ext cx="2606040" cy="566928"/>
          </a:xfrm>
          <a:prstGeom prst="rect">
            <a:avLst/>
          </a:prstGeom>
          <a:noFill/>
          <a:ln/>
        </p:spPr>
        <p:txBody>
          <a:bodyPr wrap="square" rtlCol="0" anchor="ctr"/>
          <a:lstStyle/>
          <a:p>
            <a:pPr marL="0" indent="0" algn="ctr">
              <a:buNone/>
            </a:pPr>
            <a:r>
              <a:rPr lang="en-US" sz="3000" b="1" dirty="0">
                <a:solidFill>
                  <a:srgbClr val="D97706"/>
                </a:solidFill>
                <a:latin typeface="Calibri" pitchFamily="34" charset="0"/>
                <a:ea typeface="Calibri" pitchFamily="34" charset="-122"/>
                <a:cs typeface="Calibri" pitchFamily="34" charset="-120"/>
              </a:rPr>
              <a:t>403</a:t>
            </a:r>
            <a:endParaRPr lang="en-US" sz="3000" dirty="0"/>
          </a:p>
        </p:txBody>
      </p:sp>
      <p:sp>
        <p:nvSpPr>
          <p:cNvPr id="9" name="Text 7"/>
          <p:cNvSpPr/>
          <p:nvPr/>
        </p:nvSpPr>
        <p:spPr>
          <a:xfrm>
            <a:off x="3264408" y="1408176"/>
            <a:ext cx="2606040" cy="310896"/>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doublons supprimés</a:t>
            </a:r>
            <a:endParaRPr lang="en-US" sz="1000" dirty="0"/>
          </a:p>
        </p:txBody>
      </p:sp>
      <p:sp>
        <p:nvSpPr>
          <p:cNvPr id="10" name="Shape 8"/>
          <p:cNvSpPr/>
          <p:nvPr/>
        </p:nvSpPr>
        <p:spPr>
          <a:xfrm>
            <a:off x="6281928" y="786384"/>
            <a:ext cx="2606040" cy="1005840"/>
          </a:xfrm>
          <a:prstGeom prst="rect">
            <a:avLst/>
          </a:prstGeom>
          <a:solidFill>
            <a:srgbClr val="FFFFFF"/>
          </a:solidFill>
          <a:ln w="9525">
            <a:solidFill>
              <a:srgbClr val="E2E8F0"/>
            </a:solidFill>
            <a:prstDash val="solid"/>
          </a:ln>
          <a:effectLst>
            <a:outerShdw blurRad="88900" dist="25400" dir="8100000" algn="bl" rotWithShape="0">
              <a:srgbClr val="000000">
                <a:alpha val="11000"/>
              </a:srgbClr>
            </a:outerShdw>
          </a:effectLst>
        </p:spPr>
        <p:txBody>
          <a:bodyPr/>
          <a:lstStyle/>
          <a:p>
            <a:endParaRPr lang="fr-FR"/>
          </a:p>
        </p:txBody>
      </p:sp>
      <p:sp>
        <p:nvSpPr>
          <p:cNvPr id="11" name="Text 9"/>
          <p:cNvSpPr/>
          <p:nvPr/>
        </p:nvSpPr>
        <p:spPr>
          <a:xfrm>
            <a:off x="6281928" y="859536"/>
            <a:ext cx="2606040" cy="566928"/>
          </a:xfrm>
          <a:prstGeom prst="rect">
            <a:avLst/>
          </a:prstGeom>
          <a:noFill/>
          <a:ln/>
        </p:spPr>
        <p:txBody>
          <a:bodyPr wrap="square" rtlCol="0" anchor="ctr"/>
          <a:lstStyle/>
          <a:p>
            <a:pPr marL="0" indent="0" algn="ctr">
              <a:buNone/>
            </a:pPr>
            <a:r>
              <a:rPr lang="en-US" sz="3000" b="1" dirty="0">
                <a:solidFill>
                  <a:srgbClr val="1E2761"/>
                </a:solidFill>
                <a:latin typeface="Calibri" pitchFamily="34" charset="0"/>
                <a:ea typeface="Calibri" pitchFamily="34" charset="-122"/>
                <a:cs typeface="Calibri" pitchFamily="34" charset="-120"/>
              </a:rPr>
              <a:t>5 169</a:t>
            </a:r>
            <a:endParaRPr lang="en-US" sz="3000" dirty="0"/>
          </a:p>
        </p:txBody>
      </p:sp>
      <p:sp>
        <p:nvSpPr>
          <p:cNvPr id="12" name="Text 10"/>
          <p:cNvSpPr/>
          <p:nvPr/>
        </p:nvSpPr>
        <p:spPr>
          <a:xfrm>
            <a:off x="6281928" y="1408176"/>
            <a:ext cx="2606040" cy="310896"/>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après nettoyage</a:t>
            </a:r>
            <a:endParaRPr lang="en-US" sz="1000" dirty="0"/>
          </a:p>
        </p:txBody>
      </p:sp>
      <p:graphicFrame>
        <p:nvGraphicFramePr>
          <p:cNvPr id="13" name="Chart 0"/>
          <p:cNvGraphicFramePr/>
          <p:nvPr/>
        </p:nvGraphicFramePr>
        <p:xfrm>
          <a:off x="256032" y="1920240"/>
          <a:ext cx="42062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1"/>
          <p:cNvSpPr/>
          <p:nvPr/>
        </p:nvSpPr>
        <p:spPr>
          <a:xfrm>
            <a:off x="4681728" y="1920240"/>
            <a:ext cx="4206240" cy="2880360"/>
          </a:xfrm>
          <a:prstGeom prst="rect">
            <a:avLst/>
          </a:prstGeom>
          <a:solidFill>
            <a:srgbClr val="FFFFFF"/>
          </a:solidFill>
          <a:ln w="9525">
            <a:solidFill>
              <a:srgbClr val="E2E8F0"/>
            </a:solidFill>
            <a:prstDash val="solid"/>
          </a:ln>
          <a:effectLst>
            <a:outerShdw blurRad="88900" dist="25400" dir="8100000" algn="bl" rotWithShape="0">
              <a:srgbClr val="000000">
                <a:alpha val="11000"/>
              </a:srgbClr>
            </a:outerShdw>
          </a:effectLst>
        </p:spPr>
        <p:txBody>
          <a:bodyPr/>
          <a:lstStyle/>
          <a:p>
            <a:endParaRPr lang="fr-FR"/>
          </a:p>
        </p:txBody>
      </p:sp>
      <p:sp>
        <p:nvSpPr>
          <p:cNvPr id="15" name="Shape 12"/>
          <p:cNvSpPr/>
          <p:nvPr/>
        </p:nvSpPr>
        <p:spPr>
          <a:xfrm>
            <a:off x="4681728" y="1920240"/>
            <a:ext cx="4206240" cy="347472"/>
          </a:xfrm>
          <a:prstGeom prst="rect">
            <a:avLst/>
          </a:prstGeom>
          <a:solidFill>
            <a:srgbClr val="1E2761"/>
          </a:solidFill>
          <a:ln w="12700">
            <a:solidFill>
              <a:srgbClr val="1E2761"/>
            </a:solidFill>
            <a:prstDash val="solid"/>
          </a:ln>
        </p:spPr>
        <p:txBody>
          <a:bodyPr/>
          <a:lstStyle/>
          <a:p>
            <a:endParaRPr lang="fr-FR"/>
          </a:p>
        </p:txBody>
      </p:sp>
      <p:sp>
        <p:nvSpPr>
          <p:cNvPr id="16" name="Text 13"/>
          <p:cNvSpPr/>
          <p:nvPr/>
        </p:nvSpPr>
        <p:spPr>
          <a:xfrm>
            <a:off x="4681728" y="1920240"/>
            <a:ext cx="42062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Statistiques de longueur (caractères)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736592" y="2322576"/>
          <a:ext cx="4096512" cy="914400"/>
        </p:xfrm>
        <a:graphic>
          <a:graphicData uri="http://schemas.openxmlformats.org/drawingml/2006/table">
            <a:tbl>
              <a:tblPr/>
              <a:tblGrid>
                <a:gridCol w="1188720">
                  <a:extLst>
                    <a:ext uri="{9D8B030D-6E8A-4147-A177-3AD203B41FA5}">
                      <a16:colId xmlns:a16="http://schemas.microsoft.com/office/drawing/2014/main" val="20000"/>
                    </a:ext>
                  </a:extLst>
                </a:gridCol>
                <a:gridCol w="969264">
                  <a:extLst>
                    <a:ext uri="{9D8B030D-6E8A-4147-A177-3AD203B41FA5}">
                      <a16:colId xmlns:a16="http://schemas.microsoft.com/office/drawing/2014/main" val="20001"/>
                    </a:ext>
                  </a:extLst>
                </a:gridCol>
                <a:gridCol w="969264">
                  <a:extLst>
                    <a:ext uri="{9D8B030D-6E8A-4147-A177-3AD203B41FA5}">
                      <a16:colId xmlns:a16="http://schemas.microsoft.com/office/drawing/2014/main" val="20002"/>
                    </a:ext>
                  </a:extLst>
                </a:gridCol>
                <a:gridCol w="969264">
                  <a:extLst>
                    <a:ext uri="{9D8B030D-6E8A-4147-A177-3AD203B41FA5}">
                      <a16:colId xmlns:a16="http://schemas.microsoft.com/office/drawing/2014/main" val="20003"/>
                    </a:ext>
                  </a:extLst>
                </a:gridCol>
              </a:tblGrid>
              <a:tr h="30480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Classe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682B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Moyenne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682B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Médiane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682B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Max</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682B4"/>
                    </a:solidFill>
                  </a:tcPr>
                </a:tc>
                <a:extLst>
                  <a:ext uri="{0D108BD9-81ED-4DB2-BD59-A6C34878D82A}">
                    <a16:rowId xmlns:a16="http://schemas.microsoft.com/office/drawing/2014/main" val="10000"/>
                  </a:ext>
                </a:extLst>
              </a:tr>
              <a:tr h="304800">
                <a:tc>
                  <a:txBody>
                    <a:bodyPr/>
                    <a:lstStyle/>
                    <a:p>
                      <a:pPr marL="0" indent="0" algn="ctr">
                        <a:buNone/>
                      </a:pPr>
                      <a:r>
                        <a:rPr lang="en-US" sz="1100" dirty="0">
                          <a:solidFill>
                            <a:srgbClr val="4682B4"/>
                          </a:solidFill>
                          <a:latin typeface="Calibri" pitchFamily="34" charset="0"/>
                          <a:ea typeface="Calibri" pitchFamily="34" charset="-122"/>
                          <a:cs typeface="Calibri" pitchFamily="34" charset="-120"/>
                        </a:rPr>
                        <a:t>Ham</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70,5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910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pPr marL="0" indent="0" algn="ctr">
                        <a:buNone/>
                      </a:pPr>
                      <a:r>
                        <a:rPr lang="en-US" sz="1100" dirty="0">
                          <a:solidFill>
                            <a:srgbClr val="DC4040"/>
                          </a:solidFill>
                          <a:latin typeface="Calibri" pitchFamily="34" charset="0"/>
                          <a:ea typeface="Calibri" pitchFamily="34" charset="-122"/>
                          <a:cs typeface="Calibri" pitchFamily="34" charset="-120"/>
                        </a:rPr>
                        <a:t>Spam</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137,9</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149</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224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8" name="Shape 14"/>
          <p:cNvSpPr/>
          <p:nvPr/>
        </p:nvSpPr>
        <p:spPr>
          <a:xfrm>
            <a:off x="4681728" y="3337560"/>
            <a:ext cx="4206240" cy="1463040"/>
          </a:xfrm>
          <a:prstGeom prst="rect">
            <a:avLst/>
          </a:prstGeom>
          <a:solidFill>
            <a:srgbClr val="FFFFFF"/>
          </a:solidFill>
          <a:ln w="9525">
            <a:solidFill>
              <a:srgbClr val="E2E8F0"/>
            </a:solidFill>
            <a:prstDash val="solid"/>
          </a:ln>
          <a:effectLst>
            <a:outerShdw blurRad="88900" dist="25400" dir="8100000" algn="bl" rotWithShape="0">
              <a:srgbClr val="000000">
                <a:alpha val="11000"/>
              </a:srgbClr>
            </a:outerShdw>
          </a:effectLst>
        </p:spPr>
        <p:txBody>
          <a:bodyPr/>
          <a:lstStyle/>
          <a:p>
            <a:endParaRPr lang="fr-FR"/>
          </a:p>
        </p:txBody>
      </p:sp>
      <p:sp>
        <p:nvSpPr>
          <p:cNvPr id="19" name="Shape 15"/>
          <p:cNvSpPr/>
          <p:nvPr/>
        </p:nvSpPr>
        <p:spPr>
          <a:xfrm>
            <a:off x="4681728" y="3337560"/>
            <a:ext cx="4206240" cy="347472"/>
          </a:xfrm>
          <a:prstGeom prst="rect">
            <a:avLst/>
          </a:prstGeom>
          <a:solidFill>
            <a:srgbClr val="4A90D9"/>
          </a:solidFill>
          <a:ln w="12700">
            <a:solidFill>
              <a:srgbClr val="4A90D9"/>
            </a:solidFill>
            <a:prstDash val="solid"/>
          </a:ln>
        </p:spPr>
        <p:txBody>
          <a:bodyPr/>
          <a:lstStyle/>
          <a:p>
            <a:endParaRPr lang="fr-FR"/>
          </a:p>
        </p:txBody>
      </p:sp>
      <p:sp>
        <p:nvSpPr>
          <p:cNvPr id="20" name="Text 16"/>
          <p:cNvSpPr/>
          <p:nvPr/>
        </p:nvSpPr>
        <p:spPr>
          <a:xfrm>
            <a:off x="4681728" y="3337560"/>
            <a:ext cx="42062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Split stratifié 80 / 20</a:t>
            </a:r>
            <a:endParaRPr lang="en-US" sz="1200" dirty="0"/>
          </a:p>
        </p:txBody>
      </p:sp>
      <p:sp>
        <p:nvSpPr>
          <p:cNvPr id="21" name="Text 17"/>
          <p:cNvSpPr/>
          <p:nvPr/>
        </p:nvSpPr>
        <p:spPr>
          <a:xfrm>
            <a:off x="4773168" y="3730752"/>
            <a:ext cx="4005072" cy="987552"/>
          </a:xfrm>
          <a:prstGeom prst="rect">
            <a:avLst/>
          </a:prstGeom>
          <a:noFill/>
          <a:ln/>
        </p:spPr>
        <p:txBody>
          <a:bodyPr wrap="square" lIns="91440" tIns="45720" rIns="91440" bIns="45720" rtlCol="0" anchor="ctr"/>
          <a:lstStyle/>
          <a:p>
            <a:r>
              <a:rPr lang="en-US" sz="1100" b="1" dirty="0" err="1">
                <a:solidFill>
                  <a:srgbClr val="1E2761"/>
                </a:solidFill>
                <a:latin typeface="Calibri"/>
                <a:ea typeface="Calibri"/>
                <a:cs typeface="Calibri"/>
              </a:rPr>
              <a:t>Entraînement</a:t>
            </a:r>
            <a:r>
              <a:rPr lang="en-US" sz="1100" b="1" dirty="0">
                <a:solidFill>
                  <a:srgbClr val="1E2761"/>
                </a:solidFill>
                <a:latin typeface="Calibri"/>
                <a:ea typeface="Calibri"/>
                <a:cs typeface="Calibri"/>
              </a:rPr>
              <a:t> : </a:t>
            </a:r>
            <a:r>
              <a:rPr lang="en-US" sz="1100" dirty="0">
                <a:solidFill>
                  <a:srgbClr val="1E2761"/>
                </a:solidFill>
                <a:latin typeface="Calibri"/>
                <a:ea typeface="Calibri"/>
                <a:cs typeface="Calibri"/>
              </a:rPr>
              <a:t>4 135 </a:t>
            </a:r>
            <a:r>
              <a:rPr lang="en-US" sz="1100" dirty="0" err="1">
                <a:solidFill>
                  <a:srgbClr val="1E2761"/>
                </a:solidFill>
                <a:latin typeface="Calibri"/>
                <a:ea typeface="Calibri"/>
                <a:cs typeface="Calibri"/>
              </a:rPr>
              <a:t>textes</a:t>
            </a:r>
            <a:r>
              <a:rPr lang="en-US" sz="1100" dirty="0">
                <a:solidFill>
                  <a:srgbClr val="1E2761"/>
                </a:solidFill>
                <a:latin typeface="Calibri"/>
                <a:ea typeface="Calibri"/>
                <a:cs typeface="Calibri"/>
              </a:rPr>
              <a:t> (spam : 12,62 %)
</a:t>
            </a:r>
            <a:endParaRPr lang="en-US" sz="1100" dirty="0">
              <a:latin typeface="Calibri"/>
              <a:ea typeface="Calibri"/>
              <a:cs typeface="Calibri"/>
            </a:endParaRPr>
          </a:p>
          <a:p>
            <a:pPr marL="0" indent="0">
              <a:buNone/>
            </a:pPr>
            <a:r>
              <a:rPr lang="en-US" sz="1100" b="1" dirty="0">
                <a:solidFill>
                  <a:srgbClr val="1E2761"/>
                </a:solidFill>
                <a:latin typeface="Calibri"/>
                <a:ea typeface="Calibri"/>
                <a:cs typeface="Calibri"/>
              </a:rPr>
              <a:t>Test : </a:t>
            </a:r>
            <a:r>
              <a:rPr lang="en-US" sz="1100" dirty="0">
                <a:solidFill>
                  <a:srgbClr val="1E2761"/>
                </a:solidFill>
                <a:latin typeface="Calibri"/>
                <a:ea typeface="Calibri"/>
                <a:cs typeface="Calibri"/>
              </a:rPr>
              <a:t>1 034 </a:t>
            </a:r>
            <a:r>
              <a:rPr lang="en-US" sz="1100" dirty="0" err="1">
                <a:solidFill>
                  <a:srgbClr val="1E2761"/>
                </a:solidFill>
                <a:latin typeface="Calibri"/>
                <a:ea typeface="Calibri"/>
                <a:cs typeface="Calibri"/>
              </a:rPr>
              <a:t>textes</a:t>
            </a:r>
            <a:r>
              <a:rPr lang="en-US" sz="1100" dirty="0">
                <a:solidFill>
                  <a:srgbClr val="1E2761"/>
                </a:solidFill>
                <a:latin typeface="Calibri"/>
                <a:ea typeface="Calibri"/>
                <a:cs typeface="Calibri"/>
              </a:rPr>
              <a:t> (spam : 12,67 %)
</a:t>
            </a:r>
            <a:endParaRPr lang="en-US" sz="1100" dirty="0">
              <a:latin typeface="Calibri"/>
              <a:ea typeface="Calibri"/>
              <a:cs typeface="Calibri"/>
            </a:endParaRPr>
          </a:p>
          <a:p>
            <a:pPr marL="0" indent="0">
              <a:buNone/>
            </a:pPr>
            <a:r>
              <a:rPr lang="en-US" sz="1100" i="1" dirty="0">
                <a:solidFill>
                  <a:srgbClr val="1E2761"/>
                </a:solidFill>
                <a:latin typeface="Calibri"/>
                <a:ea typeface="Calibri"/>
                <a:cs typeface="Calibri"/>
              </a:rPr>
              <a:t>Stratification </a:t>
            </a:r>
            <a:r>
              <a:rPr lang="en-US" sz="1100" i="1" dirty="0" err="1">
                <a:solidFill>
                  <a:srgbClr val="1E2761"/>
                </a:solidFill>
                <a:latin typeface="Calibri"/>
                <a:ea typeface="Calibri"/>
                <a:cs typeface="Calibri"/>
              </a:rPr>
              <a:t>garantissant</a:t>
            </a:r>
            <a:r>
              <a:rPr lang="en-US" sz="1100" i="1" dirty="0">
                <a:solidFill>
                  <a:srgbClr val="1E2761"/>
                </a:solidFill>
                <a:latin typeface="Calibri"/>
                <a:ea typeface="Calibri"/>
                <a:cs typeface="Calibri"/>
              </a:rPr>
              <a:t> </a:t>
            </a:r>
            <a:r>
              <a:rPr lang="en-US" sz="1100" i="1" dirty="0" err="1">
                <a:solidFill>
                  <a:srgbClr val="1E2761"/>
                </a:solidFill>
                <a:latin typeface="Calibri"/>
                <a:ea typeface="Calibri"/>
                <a:cs typeface="Calibri"/>
              </a:rPr>
              <a:t>l'équilibre</a:t>
            </a:r>
            <a:r>
              <a:rPr lang="en-US" sz="1100" i="1" dirty="0">
                <a:solidFill>
                  <a:srgbClr val="1E2761"/>
                </a:solidFill>
                <a:latin typeface="Calibri"/>
                <a:ea typeface="Calibri"/>
                <a:cs typeface="Calibri"/>
              </a:rPr>
              <a:t> des classes</a:t>
            </a:r>
            <a:endParaRPr lang="en-US" sz="1100" dirty="0">
              <a:latin typeface="Calibri"/>
              <a:ea typeface="Calibri"/>
              <a:cs typeface="Calibri"/>
            </a:endParaRPr>
          </a:p>
          <a:p>
            <a:pPr marL="0" indent="0">
              <a:buNone/>
            </a:pPr>
            <a:r>
              <a:rPr lang="en-US" sz="1100" i="1" dirty="0">
                <a:solidFill>
                  <a:srgbClr val="1E2761"/>
                </a:solidFill>
                <a:latin typeface="Calibri" pitchFamily="34" charset="0"/>
                <a:ea typeface="Calibri" pitchFamily="34" charset="-122"/>
                <a:cs typeface="Calibri" pitchFamily="34" charset="-120"/>
              </a:rPr>
              <a:t>dans les deux sous-ensembles.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txBody>
          <a:bodyPr/>
          <a:lstStyle/>
          <a:p>
            <a:endParaRPr lang="fr-FR"/>
          </a:p>
        </p:txBody>
      </p:sp>
      <p:sp>
        <p:nvSpPr>
          <p:cNvPr id="3" name="Text 1"/>
          <p:cNvSpPr/>
          <p:nvPr/>
        </p:nvSpPr>
        <p:spPr>
          <a:xfrm>
            <a:off x="347472" y="0"/>
            <a:ext cx="8503920" cy="658368"/>
          </a:xfrm>
          <a:prstGeom prst="rect">
            <a:avLst/>
          </a:prstGeom>
          <a:noFill/>
          <a:ln/>
        </p:spPr>
        <p:txBody>
          <a:bodyPr wrap="square" lIns="0" tIns="0" rIns="0" bIns="0" rtlCol="0" anchor="ctr"/>
          <a:lstStyle/>
          <a:p>
            <a:r>
              <a:rPr lang="en-US" sz="2100" b="1" dirty="0" err="1">
                <a:solidFill>
                  <a:srgbClr val="FFFFFF"/>
                </a:solidFill>
                <a:latin typeface="Calibri"/>
                <a:ea typeface="Calibri"/>
                <a:cs typeface="Calibri"/>
              </a:rPr>
              <a:t>Modèle</a:t>
            </a:r>
            <a:r>
              <a:rPr lang="en-US" sz="2100" b="1" dirty="0">
                <a:solidFill>
                  <a:srgbClr val="FFFFFF"/>
                </a:solidFill>
                <a:latin typeface="Calibri"/>
                <a:ea typeface="Calibri"/>
                <a:cs typeface="Calibri"/>
              </a:rPr>
              <a:t> 1 – Tokenizer + Embedding + MLP</a:t>
            </a:r>
          </a:p>
        </p:txBody>
      </p:sp>
      <p:sp>
        <p:nvSpPr>
          <p:cNvPr id="5" name="Shape 3"/>
          <p:cNvSpPr/>
          <p:nvPr/>
        </p:nvSpPr>
        <p:spPr>
          <a:xfrm>
            <a:off x="256032" y="804672"/>
            <a:ext cx="4114800" cy="402336"/>
          </a:xfrm>
          <a:prstGeom prst="rect">
            <a:avLst/>
          </a:prstGeom>
          <a:solidFill>
            <a:srgbClr val="1E2761"/>
          </a:solidFill>
          <a:ln w="12700">
            <a:solidFill>
              <a:srgbClr val="1E2761"/>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347472" y="877824"/>
            <a:ext cx="310896" cy="310896"/>
          </a:xfrm>
          <a:prstGeom prst="rect">
            <a:avLst/>
          </a:prstGeom>
        </p:spPr>
      </p:pic>
      <p:sp>
        <p:nvSpPr>
          <p:cNvPr id="7" name="Text 4"/>
          <p:cNvSpPr/>
          <p:nvPr/>
        </p:nvSpPr>
        <p:spPr>
          <a:xfrm>
            <a:off x="731520" y="804672"/>
            <a:ext cx="3639312" cy="402336"/>
          </a:xfrm>
          <a:prstGeom prst="rect">
            <a:avLst/>
          </a:prstGeom>
          <a:noFill/>
          <a:ln/>
        </p:spPr>
        <p:txBody>
          <a:bodyPr wrap="square" lIns="0" tIns="0" rIns="0" bIns="0" rtlCol="0" anchor="ctr"/>
          <a:lstStyle/>
          <a:p>
            <a:pPr marL="0" indent="0" algn="l">
              <a:buNone/>
            </a:pPr>
            <a:r>
              <a:rPr lang="en-US" sz="1200" b="1">
                <a:solidFill>
                  <a:srgbClr val="FFFFFF"/>
                </a:solidFill>
                <a:ea typeface="Calibri"/>
                <a:cs typeface="Calibri"/>
              </a:rPr>
              <a:t>Construction</a:t>
            </a:r>
            <a:endParaRPr lang="en-US" sz="1200" b="1" dirty="0">
              <a:solidFill>
                <a:srgbClr val="FFFFFF"/>
              </a:solidFill>
              <a:ea typeface="Calibri"/>
              <a:cs typeface="Calibri"/>
            </a:endParaRPr>
          </a:p>
        </p:txBody>
      </p:sp>
      <p:sp>
        <p:nvSpPr>
          <p:cNvPr id="8" name="Text 5"/>
          <p:cNvSpPr/>
          <p:nvPr/>
        </p:nvSpPr>
        <p:spPr>
          <a:xfrm>
            <a:off x="253500" y="1449861"/>
            <a:ext cx="3848082" cy="2122890"/>
          </a:xfrm>
          <a:prstGeom prst="rect">
            <a:avLst/>
          </a:prstGeom>
          <a:noFill/>
          <a:ln/>
        </p:spPr>
        <p:txBody>
          <a:bodyPr wrap="square" lIns="91440" tIns="45720" rIns="91440" bIns="45720" rtlCol="0" anchor="t"/>
          <a:lstStyle/>
          <a:p>
            <a:endParaRPr lang="en-US" sz="1100" b="1" dirty="0">
              <a:solidFill>
                <a:srgbClr val="1E2761"/>
              </a:solidFill>
              <a:latin typeface="Calibri"/>
              <a:ea typeface="Calibri"/>
              <a:cs typeface="Calibri"/>
            </a:endParaRPr>
          </a:p>
          <a:p>
            <a:r>
              <a:rPr lang="en-US" sz="1100" b="1" dirty="0" err="1">
                <a:solidFill>
                  <a:srgbClr val="1E2761"/>
                </a:solidFill>
                <a:latin typeface="Calibri"/>
                <a:ea typeface="Calibri"/>
                <a:cs typeface="Calibri"/>
              </a:rPr>
              <a:t>Tokeniseur</a:t>
            </a:r>
            <a:r>
              <a:rPr lang="en-US" sz="1100" b="1" dirty="0">
                <a:solidFill>
                  <a:srgbClr val="1E2761"/>
                </a:solidFill>
                <a:latin typeface="Calibri"/>
                <a:ea typeface="Calibri"/>
                <a:cs typeface="Calibri"/>
              </a:rPr>
              <a:t>: </a:t>
            </a:r>
            <a:r>
              <a:rPr lang="en-US" sz="1100" dirty="0" err="1">
                <a:solidFill>
                  <a:srgbClr val="1E2761"/>
                </a:solidFill>
                <a:latin typeface="Calibri"/>
                <a:ea typeface="Calibri"/>
                <a:cs typeface="Calibri"/>
              </a:rPr>
              <a:t>WordLevel</a:t>
            </a:r>
            <a:r>
              <a:rPr lang="en-US" sz="1100" dirty="0">
                <a:solidFill>
                  <a:srgbClr val="1E2761"/>
                </a:solidFill>
                <a:latin typeface="Calibri"/>
                <a:ea typeface="Calibri"/>
                <a:cs typeface="Calibri"/>
              </a:rPr>
              <a:t>, mots </a:t>
            </a:r>
            <a:r>
              <a:rPr lang="en-US" sz="1100" dirty="0" err="1">
                <a:solidFill>
                  <a:srgbClr val="1E2761"/>
                </a:solidFill>
                <a:latin typeface="Calibri"/>
                <a:ea typeface="Calibri"/>
                <a:cs typeface="Calibri"/>
              </a:rPr>
              <a:t>entiers</a:t>
            </a:r>
            <a:r>
              <a:rPr lang="en-US" sz="1100" dirty="0">
                <a:solidFill>
                  <a:srgbClr val="1E2761"/>
                </a:solidFill>
                <a:latin typeface="Calibri"/>
                <a:ea typeface="Calibri"/>
                <a:cs typeface="Calibri"/>
              </a:rPr>
              <a:t>, token [UNK] pour les mots inconnus, </a:t>
            </a:r>
            <a:r>
              <a:rPr lang="en-US" sz="1100" dirty="0" err="1">
                <a:solidFill>
                  <a:srgbClr val="1E2761"/>
                </a:solidFill>
                <a:latin typeface="Calibri"/>
                <a:ea typeface="Calibri"/>
                <a:cs typeface="Calibri"/>
              </a:rPr>
              <a:t>longueur_max_messages</a:t>
            </a:r>
            <a:r>
              <a:rPr lang="en-US" sz="1100" dirty="0">
                <a:solidFill>
                  <a:srgbClr val="1E2761"/>
                </a:solidFill>
                <a:latin typeface="Calibri"/>
                <a:ea typeface="Calibri"/>
                <a:cs typeface="Calibri"/>
              </a:rPr>
              <a:t>=128, padding avec 0.</a:t>
            </a:r>
            <a:endParaRPr lang="en-US" sz="1100" dirty="0">
              <a:solidFill>
                <a:srgbClr val="000000"/>
              </a:solidFill>
              <a:latin typeface="Calibri"/>
              <a:ea typeface="Calibri"/>
              <a:cs typeface="Calibri"/>
            </a:endParaRPr>
          </a:p>
          <a:p>
            <a:endParaRPr lang="en-US" sz="1100" dirty="0">
              <a:solidFill>
                <a:srgbClr val="1E2761"/>
              </a:solidFill>
              <a:latin typeface="Calibri"/>
              <a:ea typeface="Calibri"/>
              <a:cs typeface="Calibri"/>
            </a:endParaRPr>
          </a:p>
          <a:p>
            <a:r>
              <a:rPr lang="en-US" sz="1100" b="1" dirty="0" err="1">
                <a:solidFill>
                  <a:srgbClr val="1E2761"/>
                </a:solidFill>
                <a:ea typeface="Calibri"/>
                <a:cs typeface="Calibri"/>
              </a:rPr>
              <a:t>Vocabulaire</a:t>
            </a:r>
            <a:r>
              <a:rPr lang="en-US" sz="1100" b="1" dirty="0">
                <a:solidFill>
                  <a:srgbClr val="1E2761"/>
                </a:solidFill>
                <a:ea typeface="Calibri"/>
                <a:cs typeface="Calibri"/>
              </a:rPr>
              <a:t> </a:t>
            </a:r>
            <a:r>
              <a:rPr lang="en-US" sz="1100" b="1" dirty="0" err="1">
                <a:solidFill>
                  <a:srgbClr val="1E2761"/>
                </a:solidFill>
                <a:ea typeface="Calibri"/>
                <a:cs typeface="Calibri"/>
              </a:rPr>
              <a:t>appris</a:t>
            </a:r>
            <a:r>
              <a:rPr lang="en-US" sz="1100" b="1" dirty="0">
                <a:solidFill>
                  <a:srgbClr val="1E2761"/>
                </a:solidFill>
                <a:ea typeface="Calibri"/>
                <a:cs typeface="Calibri"/>
              </a:rPr>
              <a:t> </a:t>
            </a:r>
            <a:r>
              <a:rPr lang="en-US" sz="1100" b="1" dirty="0" err="1">
                <a:solidFill>
                  <a:srgbClr val="1E2761"/>
                </a:solidFill>
                <a:ea typeface="Calibri"/>
                <a:cs typeface="Calibri"/>
              </a:rPr>
              <a:t>que</a:t>
            </a:r>
            <a:r>
              <a:rPr lang="en-US" sz="1100" b="1" dirty="0">
                <a:solidFill>
                  <a:srgbClr val="1E2761"/>
                </a:solidFill>
                <a:ea typeface="Calibri"/>
                <a:cs typeface="Calibri"/>
              </a:rPr>
              <a:t> sur le train.</a:t>
            </a:r>
          </a:p>
          <a:p>
            <a:endParaRPr lang="en-US" sz="1100" b="1" dirty="0">
              <a:solidFill>
                <a:srgbClr val="1E2761"/>
              </a:solidFill>
              <a:ea typeface="Calibri"/>
              <a:cs typeface="Calibri"/>
            </a:endParaRPr>
          </a:p>
          <a:p>
            <a:r>
              <a:rPr lang="en-US" sz="1100" b="1" dirty="0">
                <a:solidFill>
                  <a:srgbClr val="1E2761"/>
                </a:solidFill>
                <a:ea typeface="Calibri"/>
                <a:cs typeface="Calibri"/>
              </a:rPr>
              <a:t>Embedding : </a:t>
            </a:r>
            <a:r>
              <a:rPr lang="en-US" sz="1100">
                <a:solidFill>
                  <a:srgbClr val="1E2761"/>
                </a:solidFill>
                <a:ea typeface="Calibri"/>
                <a:cs typeface="Calibri"/>
              </a:rPr>
              <a:t>dim=128</a:t>
            </a:r>
          </a:p>
          <a:p>
            <a:r>
              <a:rPr lang="en-US" sz="1100" b="1">
                <a:solidFill>
                  <a:srgbClr val="1E2761"/>
                </a:solidFill>
                <a:ea typeface="Calibri"/>
                <a:cs typeface="Calibri"/>
              </a:rPr>
              <a:t> </a:t>
            </a:r>
            <a:endParaRPr lang="en-US" sz="1100" b="1" dirty="0">
              <a:solidFill>
                <a:srgbClr val="1E2761"/>
              </a:solidFill>
              <a:ea typeface="Calibri"/>
              <a:cs typeface="Calibri"/>
            </a:endParaRPr>
          </a:p>
          <a:p>
            <a:r>
              <a:rPr lang="en-US" sz="1100" b="1" dirty="0">
                <a:solidFill>
                  <a:srgbClr val="1E2761"/>
                </a:solidFill>
                <a:ea typeface="Calibri"/>
                <a:cs typeface="Calibri"/>
              </a:rPr>
              <a:t>MLP: </a:t>
            </a:r>
            <a:r>
              <a:rPr lang="en-US" sz="1100" dirty="0">
                <a:solidFill>
                  <a:srgbClr val="1E2761"/>
                </a:solidFill>
                <a:ea typeface="Calibri"/>
                <a:cs typeface="Calibri"/>
              </a:rPr>
              <a:t>entrée:128, couche1:64, couche:32, couche de sortie:1(</a:t>
            </a:r>
            <a:r>
              <a:rPr lang="en-US" sz="1100" dirty="0" err="1">
                <a:solidFill>
                  <a:srgbClr val="1E2761"/>
                </a:solidFill>
                <a:ea typeface="Calibri"/>
                <a:cs typeface="Calibri"/>
              </a:rPr>
              <a:t>sigmoïd</a:t>
            </a:r>
            <a:r>
              <a:rPr lang="en-US" sz="1100" dirty="0">
                <a:solidFill>
                  <a:srgbClr val="1E2761"/>
                </a:solidFill>
                <a:ea typeface="Calibri"/>
                <a:cs typeface="Calibri"/>
              </a:rPr>
              <a:t>)</a:t>
            </a:r>
            <a:endParaRPr lang="en-US" sz="1100">
              <a:solidFill>
                <a:srgbClr val="000000"/>
              </a:solidFill>
              <a:ea typeface="Calibri"/>
              <a:cs typeface="Calibri"/>
            </a:endParaRPr>
          </a:p>
          <a:p>
            <a:endParaRPr lang="en-US" sz="1100" b="1" dirty="0">
              <a:solidFill>
                <a:srgbClr val="1E2761"/>
              </a:solidFill>
              <a:ea typeface="Calibri"/>
              <a:cs typeface="Calibri"/>
            </a:endParaRPr>
          </a:p>
          <a:p>
            <a:r>
              <a:rPr lang="en-US" sz="1100" b="1">
                <a:solidFill>
                  <a:srgbClr val="1E2761"/>
                </a:solidFill>
                <a:ea typeface="Calibri"/>
                <a:cs typeface="Calibri"/>
              </a:rPr>
              <a:t> </a:t>
            </a:r>
            <a:endParaRPr lang="en-US" sz="1100" b="1" dirty="0">
              <a:solidFill>
                <a:srgbClr val="1E2761"/>
              </a:solidFill>
              <a:ea typeface="Calibri"/>
              <a:cs typeface="Calibri"/>
            </a:endParaRPr>
          </a:p>
          <a:p>
            <a:r>
              <a:rPr lang="en-US" sz="1100" b="1">
                <a:solidFill>
                  <a:srgbClr val="1E2761"/>
                </a:solidFill>
                <a:ea typeface="Calibri"/>
                <a:cs typeface="Calibri"/>
              </a:rPr>
              <a:t> </a:t>
            </a:r>
            <a:endParaRPr lang="en-US" sz="1100" b="1" dirty="0">
              <a:solidFill>
                <a:srgbClr val="1E2761"/>
              </a:solidFill>
              <a:ea typeface="Calibri"/>
              <a:cs typeface="Calibri"/>
            </a:endParaRPr>
          </a:p>
        </p:txBody>
      </p:sp>
      <p:sp>
        <p:nvSpPr>
          <p:cNvPr id="18" name="Shape 14"/>
          <p:cNvSpPr/>
          <p:nvPr/>
        </p:nvSpPr>
        <p:spPr>
          <a:xfrm>
            <a:off x="811029" y="3704445"/>
            <a:ext cx="877824" cy="592141"/>
          </a:xfrm>
          <a:prstGeom prst="rect">
            <a:avLst/>
          </a:prstGeom>
          <a:solidFill>
            <a:srgbClr val="4682B4"/>
          </a:solidFill>
          <a:ln w="12700">
            <a:solidFill>
              <a:srgbClr val="FFFFFF"/>
            </a:solidFill>
            <a:prstDash val="solid"/>
          </a:ln>
        </p:spPr>
        <p:txBody>
          <a:bodyPr/>
          <a:lstStyle/>
          <a:p>
            <a:endParaRPr lang="fr-FR"/>
          </a:p>
        </p:txBody>
      </p:sp>
      <p:sp>
        <p:nvSpPr>
          <p:cNvPr id="19" name="Text 15"/>
          <p:cNvSpPr/>
          <p:nvPr/>
        </p:nvSpPr>
        <p:spPr>
          <a:xfrm>
            <a:off x="819433" y="3721253"/>
            <a:ext cx="877824" cy="592141"/>
          </a:xfrm>
          <a:prstGeom prst="rect">
            <a:avLst/>
          </a:prstGeom>
          <a:noFill/>
          <a:ln/>
        </p:spPr>
        <p:txBody>
          <a:bodyPr wrap="square" lIns="91440" tIns="45720" rIns="91440" bIns="45720" rtlCol="0" anchor="ctr"/>
          <a:lstStyle/>
          <a:p>
            <a:pPr algn="ctr"/>
            <a:r>
              <a:rPr lang="en-US" sz="800" b="1">
                <a:solidFill>
                  <a:srgbClr val="FFFFFF"/>
                </a:solidFill>
                <a:latin typeface="Calibri"/>
                <a:ea typeface="Calibri"/>
                <a:cs typeface="Calibri"/>
              </a:rPr>
              <a:t>Embedding</a:t>
            </a:r>
            <a:endParaRPr lang="en-US" sz="800">
              <a:solidFill>
                <a:srgbClr val="000000"/>
              </a:solidFill>
              <a:latin typeface="Calibri"/>
              <a:ea typeface="Calibri"/>
              <a:cs typeface="Calibri"/>
            </a:endParaRPr>
          </a:p>
          <a:p>
            <a:pPr algn="ctr"/>
            <a:r>
              <a:rPr lang="en-US" sz="800" b="1">
                <a:solidFill>
                  <a:srgbClr val="FFFFFF"/>
                </a:solidFill>
                <a:latin typeface="Calibri"/>
                <a:ea typeface="Calibri"/>
                <a:cs typeface="Calibri"/>
              </a:rPr>
              <a:t>dim 128</a:t>
            </a:r>
            <a:endParaRPr lang="en-US" sz="800">
              <a:ea typeface="Calibri"/>
              <a:cs typeface="Calibri"/>
            </a:endParaRPr>
          </a:p>
          <a:p>
            <a:pPr marL="0" indent="0" algn="ctr">
              <a:buNone/>
            </a:pPr>
            <a:endParaRPr lang="en-US" sz="800" b="1" dirty="0">
              <a:solidFill>
                <a:srgbClr val="FFFFFF"/>
              </a:solidFill>
              <a:ea typeface="Calibri"/>
              <a:cs typeface="Calibri"/>
            </a:endParaRPr>
          </a:p>
        </p:txBody>
      </p:sp>
      <p:sp>
        <p:nvSpPr>
          <p:cNvPr id="20" name="Shape 16"/>
          <p:cNvSpPr/>
          <p:nvPr/>
        </p:nvSpPr>
        <p:spPr>
          <a:xfrm>
            <a:off x="1697257" y="3975066"/>
            <a:ext cx="73152" cy="54864"/>
          </a:xfrm>
          <a:prstGeom prst="rect">
            <a:avLst/>
          </a:prstGeom>
          <a:solidFill>
            <a:srgbClr val="64748B"/>
          </a:solidFill>
          <a:ln w="12700">
            <a:solidFill>
              <a:srgbClr val="64748B"/>
            </a:solidFill>
            <a:prstDash val="solid"/>
          </a:ln>
        </p:spPr>
        <p:txBody>
          <a:bodyPr/>
          <a:lstStyle/>
          <a:p>
            <a:endParaRPr lang="fr-FR"/>
          </a:p>
        </p:txBody>
      </p:sp>
      <p:sp>
        <p:nvSpPr>
          <p:cNvPr id="21" name="Shape 17"/>
          <p:cNvSpPr/>
          <p:nvPr/>
        </p:nvSpPr>
        <p:spPr>
          <a:xfrm>
            <a:off x="1778813" y="3721253"/>
            <a:ext cx="877824" cy="592141"/>
          </a:xfrm>
          <a:prstGeom prst="rect">
            <a:avLst/>
          </a:prstGeom>
          <a:solidFill>
            <a:srgbClr val="4A90D9"/>
          </a:solidFill>
          <a:ln w="12700">
            <a:solidFill>
              <a:srgbClr val="FFFFFF"/>
            </a:solidFill>
            <a:prstDash val="solid"/>
          </a:ln>
        </p:spPr>
        <p:txBody>
          <a:bodyPr/>
          <a:lstStyle/>
          <a:p>
            <a:endParaRPr lang="fr-FR"/>
          </a:p>
        </p:txBody>
      </p:sp>
      <p:sp>
        <p:nvSpPr>
          <p:cNvPr id="22" name="Text 18"/>
          <p:cNvSpPr/>
          <p:nvPr/>
        </p:nvSpPr>
        <p:spPr>
          <a:xfrm>
            <a:off x="1770409" y="3721253"/>
            <a:ext cx="877824" cy="592141"/>
          </a:xfrm>
          <a:prstGeom prst="rect">
            <a:avLst/>
          </a:prstGeom>
          <a:noFill/>
          <a:ln/>
        </p:spPr>
        <p:txBody>
          <a:bodyPr wrap="square" lIns="91440" tIns="45720" rIns="91440" bIns="45720" rtlCol="0" anchor="ctr"/>
          <a:lstStyle/>
          <a:p>
            <a:pPr marL="0" indent="0" algn="ctr">
              <a:buNone/>
            </a:pPr>
            <a:r>
              <a:rPr lang="en-US" sz="800" b="1">
                <a:solidFill>
                  <a:srgbClr val="FFFFFF"/>
                </a:solidFill>
                <a:latin typeface="Calibri"/>
                <a:ea typeface="Calibri"/>
                <a:cs typeface="Calibri"/>
              </a:rPr>
              <a:t>MLP</a:t>
            </a:r>
            <a:endParaRPr lang="fr-FR"/>
          </a:p>
        </p:txBody>
      </p:sp>
      <p:sp>
        <p:nvSpPr>
          <p:cNvPr id="23" name="Shape 19"/>
          <p:cNvSpPr/>
          <p:nvPr/>
        </p:nvSpPr>
        <p:spPr>
          <a:xfrm>
            <a:off x="2648233" y="3975066"/>
            <a:ext cx="73152" cy="54864"/>
          </a:xfrm>
          <a:prstGeom prst="rect">
            <a:avLst/>
          </a:prstGeom>
          <a:solidFill>
            <a:srgbClr val="64748B"/>
          </a:solidFill>
          <a:ln w="12700">
            <a:solidFill>
              <a:srgbClr val="64748B"/>
            </a:solidFill>
            <a:prstDash val="solid"/>
          </a:ln>
        </p:spPr>
        <p:txBody>
          <a:bodyPr/>
          <a:lstStyle/>
          <a:p>
            <a:endParaRPr lang="fr-FR"/>
          </a:p>
        </p:txBody>
      </p:sp>
      <p:sp>
        <p:nvSpPr>
          <p:cNvPr id="24" name="Shape 20"/>
          <p:cNvSpPr/>
          <p:nvPr/>
        </p:nvSpPr>
        <p:spPr>
          <a:xfrm>
            <a:off x="2721385" y="3704444"/>
            <a:ext cx="877824" cy="592141"/>
          </a:xfrm>
          <a:prstGeom prst="rect">
            <a:avLst/>
          </a:prstGeom>
          <a:solidFill>
            <a:srgbClr val="4A90D9"/>
          </a:solidFill>
          <a:ln w="12700">
            <a:solidFill>
              <a:srgbClr val="FFFFFF"/>
            </a:solidFill>
            <a:prstDash val="solid"/>
          </a:ln>
        </p:spPr>
        <p:txBody>
          <a:bodyPr/>
          <a:lstStyle/>
          <a:p>
            <a:endParaRPr lang="fr-FR"/>
          </a:p>
        </p:txBody>
      </p:sp>
      <p:sp>
        <p:nvSpPr>
          <p:cNvPr id="25" name="Text 21"/>
          <p:cNvSpPr/>
          <p:nvPr/>
        </p:nvSpPr>
        <p:spPr>
          <a:xfrm>
            <a:off x="2721385" y="3721253"/>
            <a:ext cx="877824" cy="592141"/>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Sigmoid</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P(spam)</a:t>
            </a:r>
            <a:endParaRPr lang="en-US" sz="800" dirty="0"/>
          </a:p>
        </p:txBody>
      </p:sp>
      <p:sp>
        <p:nvSpPr>
          <p:cNvPr id="27" name="Shape 23"/>
          <p:cNvSpPr/>
          <p:nvPr/>
        </p:nvSpPr>
        <p:spPr>
          <a:xfrm>
            <a:off x="4683297" y="839634"/>
            <a:ext cx="4114800" cy="329184"/>
          </a:xfrm>
          <a:prstGeom prst="rect">
            <a:avLst/>
          </a:prstGeom>
          <a:solidFill>
            <a:srgbClr val="4682B4"/>
          </a:solidFill>
          <a:ln w="12700">
            <a:solidFill>
              <a:srgbClr val="4682B4"/>
            </a:solidFill>
            <a:prstDash val="solid"/>
          </a:ln>
        </p:spPr>
        <p:txBody>
          <a:bodyPr/>
          <a:lstStyle/>
          <a:p>
            <a:endParaRPr lang="fr-FR"/>
          </a:p>
        </p:txBody>
      </p:sp>
      <p:sp>
        <p:nvSpPr>
          <p:cNvPr id="28" name="Text 24"/>
          <p:cNvSpPr/>
          <p:nvPr/>
        </p:nvSpPr>
        <p:spPr>
          <a:xfrm>
            <a:off x="4683297" y="839634"/>
            <a:ext cx="411480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Résultats sur le jeu de test (1 034 messages)</a:t>
            </a:r>
            <a:endParaRPr lang="en-US" sz="1100" dirty="0"/>
          </a:p>
        </p:txBody>
      </p:sp>
      <p:sp>
        <p:nvSpPr>
          <p:cNvPr id="29" name="Text 25"/>
          <p:cNvSpPr/>
          <p:nvPr/>
        </p:nvSpPr>
        <p:spPr>
          <a:xfrm>
            <a:off x="4604049" y="1197774"/>
            <a:ext cx="1325880" cy="502920"/>
          </a:xfrm>
          <a:prstGeom prst="rect">
            <a:avLst/>
          </a:prstGeom>
          <a:noFill/>
          <a:ln/>
        </p:spPr>
        <p:txBody>
          <a:bodyPr wrap="square" lIns="91440" tIns="45720" rIns="91440" bIns="45720" rtlCol="0" anchor="ctr"/>
          <a:lstStyle/>
          <a:p>
            <a:pPr marL="0" indent="0" algn="ctr">
              <a:buNone/>
            </a:pPr>
            <a:r>
              <a:rPr lang="en-US" sz="2000" b="1">
                <a:solidFill>
                  <a:srgbClr val="4682B4"/>
                </a:solidFill>
                <a:latin typeface="Calibri"/>
                <a:ea typeface="Calibri"/>
                <a:cs typeface="Calibri"/>
              </a:rPr>
              <a:t>91%</a:t>
            </a:r>
            <a:endParaRPr lang="en-US" sz="2000">
              <a:latin typeface="Calibri"/>
              <a:ea typeface="Calibri"/>
              <a:cs typeface="Calibri"/>
            </a:endParaRPr>
          </a:p>
        </p:txBody>
      </p:sp>
      <p:sp>
        <p:nvSpPr>
          <p:cNvPr id="30" name="Text 26"/>
          <p:cNvSpPr/>
          <p:nvPr/>
        </p:nvSpPr>
        <p:spPr>
          <a:xfrm>
            <a:off x="4604049" y="1691550"/>
            <a:ext cx="1325880" cy="237744"/>
          </a:xfrm>
          <a:prstGeom prst="rect">
            <a:avLst/>
          </a:prstGeom>
          <a:noFill/>
          <a:ln/>
        </p:spPr>
        <p:txBody>
          <a:bodyPr wrap="square" lIns="91440" tIns="45720" rIns="91440" bIns="45720" rtlCol="0" anchor="ctr"/>
          <a:lstStyle/>
          <a:p>
            <a:pPr marL="0" indent="0" algn="ctr">
              <a:buNone/>
            </a:pPr>
            <a:r>
              <a:rPr lang="en-US" sz="1000">
                <a:solidFill>
                  <a:srgbClr val="64748B"/>
                </a:solidFill>
                <a:latin typeface="Calibri"/>
                <a:ea typeface="Calibri"/>
                <a:cs typeface="Calibri"/>
              </a:rPr>
              <a:t>Precision</a:t>
            </a:r>
            <a:endParaRPr lang="fr-FR"/>
          </a:p>
        </p:txBody>
      </p:sp>
      <p:sp>
        <p:nvSpPr>
          <p:cNvPr id="31" name="Text 27"/>
          <p:cNvSpPr/>
          <p:nvPr/>
        </p:nvSpPr>
        <p:spPr>
          <a:xfrm>
            <a:off x="5975649" y="1197774"/>
            <a:ext cx="1325880" cy="502920"/>
          </a:xfrm>
          <a:prstGeom prst="rect">
            <a:avLst/>
          </a:prstGeom>
          <a:noFill/>
          <a:ln/>
        </p:spPr>
        <p:txBody>
          <a:bodyPr wrap="square" lIns="91440" tIns="45720" rIns="91440" bIns="45720" rtlCol="0" anchor="ctr"/>
          <a:lstStyle/>
          <a:p>
            <a:pPr marL="0" indent="0" algn="ctr">
              <a:buNone/>
            </a:pPr>
            <a:r>
              <a:rPr lang="en-US" sz="2000" b="1">
                <a:solidFill>
                  <a:srgbClr val="1E2761"/>
                </a:solidFill>
                <a:latin typeface="Calibri"/>
                <a:ea typeface="Calibri"/>
                <a:cs typeface="Calibri"/>
              </a:rPr>
              <a:t>91 %</a:t>
            </a:r>
            <a:endParaRPr lang="en-US" sz="2000">
              <a:latin typeface="Calibri"/>
              <a:ea typeface="Calibri"/>
              <a:cs typeface="Calibri"/>
            </a:endParaRPr>
          </a:p>
        </p:txBody>
      </p:sp>
      <p:sp>
        <p:nvSpPr>
          <p:cNvPr id="32" name="Text 28"/>
          <p:cNvSpPr/>
          <p:nvPr/>
        </p:nvSpPr>
        <p:spPr>
          <a:xfrm>
            <a:off x="5975649" y="1691550"/>
            <a:ext cx="1325880" cy="237744"/>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F1-Score</a:t>
            </a:r>
            <a:endParaRPr lang="en-US" sz="1000" dirty="0"/>
          </a:p>
        </p:txBody>
      </p:sp>
      <p:sp>
        <p:nvSpPr>
          <p:cNvPr id="33" name="Text 29"/>
          <p:cNvSpPr/>
          <p:nvPr/>
        </p:nvSpPr>
        <p:spPr>
          <a:xfrm>
            <a:off x="7347249" y="1197774"/>
            <a:ext cx="1325880" cy="502920"/>
          </a:xfrm>
          <a:prstGeom prst="rect">
            <a:avLst/>
          </a:prstGeom>
          <a:noFill/>
          <a:ln/>
        </p:spPr>
        <p:txBody>
          <a:bodyPr wrap="square" lIns="91440" tIns="45720" rIns="91440" bIns="45720" rtlCol="0" anchor="ctr"/>
          <a:lstStyle/>
          <a:p>
            <a:pPr algn="ctr"/>
            <a:r>
              <a:rPr lang="en-US" sz="2000" b="1">
                <a:solidFill>
                  <a:srgbClr val="1E2761"/>
                </a:solidFill>
                <a:latin typeface="Calibri"/>
                <a:ea typeface="Calibri"/>
                <a:cs typeface="Calibri"/>
              </a:rPr>
              <a:t>90%</a:t>
            </a:r>
            <a:endParaRPr lang="en-US" sz="2000">
              <a:latin typeface="Calibri"/>
              <a:ea typeface="Calibri"/>
              <a:cs typeface="Calibri"/>
            </a:endParaRPr>
          </a:p>
        </p:txBody>
      </p:sp>
      <p:sp>
        <p:nvSpPr>
          <p:cNvPr id="34" name="Text 30"/>
          <p:cNvSpPr/>
          <p:nvPr/>
        </p:nvSpPr>
        <p:spPr>
          <a:xfrm>
            <a:off x="7347249" y="1691550"/>
            <a:ext cx="1325880" cy="237744"/>
          </a:xfrm>
          <a:prstGeom prst="rect">
            <a:avLst/>
          </a:prstGeom>
          <a:noFill/>
          <a:ln/>
        </p:spPr>
        <p:txBody>
          <a:bodyPr wrap="square" lIns="91440" tIns="45720" rIns="91440" bIns="45720" rtlCol="0" anchor="ctr"/>
          <a:lstStyle/>
          <a:p>
            <a:pPr marL="0" indent="0" algn="ctr">
              <a:buNone/>
            </a:pPr>
            <a:r>
              <a:rPr lang="en-US" sz="1000">
                <a:solidFill>
                  <a:srgbClr val="64748B"/>
                </a:solidFill>
                <a:latin typeface="Calibri"/>
                <a:ea typeface="Calibri"/>
                <a:cs typeface="Calibri"/>
              </a:rPr>
              <a:t>Recall</a:t>
            </a:r>
            <a:endParaRPr lang="fr-FR"/>
          </a:p>
        </p:txBody>
      </p:sp>
      <p:pic>
        <p:nvPicPr>
          <p:cNvPr id="4" name="Picture 3">
            <a:extLst>
              <a:ext uri="{FF2B5EF4-FFF2-40B4-BE49-F238E27FC236}">
                <a16:creationId xmlns:a16="http://schemas.microsoft.com/office/drawing/2014/main" id="{9F41D4A6-A336-E315-678D-6790AB0DC9B2}"/>
              </a:ext>
            </a:extLst>
          </p:cNvPr>
          <p:cNvPicPr>
            <a:picLocks noChangeAspect="1"/>
          </p:cNvPicPr>
          <p:nvPr/>
        </p:nvPicPr>
        <p:blipFill>
          <a:blip r:embed="rId4"/>
          <a:stretch>
            <a:fillRect/>
          </a:stretch>
        </p:blipFill>
        <p:spPr>
          <a:xfrm>
            <a:off x="4443645" y="2003038"/>
            <a:ext cx="4598717" cy="3130704"/>
          </a:xfrm>
          <a:prstGeom prst="rect">
            <a:avLst/>
          </a:prstGeom>
        </p:spPr>
      </p:pic>
      <p:sp>
        <p:nvSpPr>
          <p:cNvPr id="9" name="TextBox 8">
            <a:extLst>
              <a:ext uri="{FF2B5EF4-FFF2-40B4-BE49-F238E27FC236}">
                <a16:creationId xmlns:a16="http://schemas.microsoft.com/office/drawing/2014/main" id="{C70A72E7-13C9-3511-907D-211C1F659AE5}"/>
              </a:ext>
            </a:extLst>
          </p:cNvPr>
          <p:cNvSpPr txBox="1"/>
          <p:nvPr/>
        </p:nvSpPr>
        <p:spPr>
          <a:xfrm>
            <a:off x="1199371" y="4410061"/>
            <a:ext cx="1961097"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solidFill>
                  <a:schemeClr val="bg1">
                    <a:lumMod val="49000"/>
                  </a:schemeClr>
                </a:solidFill>
                <a:ea typeface="Calibri"/>
                <a:cs typeface="Calibri"/>
              </a:rPr>
              <a:t>Adam | </a:t>
            </a:r>
            <a:r>
              <a:rPr lang="en-US" sz="1100" dirty="0" err="1">
                <a:solidFill>
                  <a:schemeClr val="bg1">
                    <a:lumMod val="49000"/>
                  </a:schemeClr>
                </a:solidFill>
                <a:ea typeface="Calibri"/>
                <a:cs typeface="Calibri"/>
              </a:rPr>
              <a:t>lr</a:t>
            </a:r>
            <a:r>
              <a:rPr lang="en-US" sz="1100" dirty="0">
                <a:solidFill>
                  <a:schemeClr val="bg1">
                    <a:lumMod val="49000"/>
                  </a:schemeClr>
                </a:solidFill>
                <a:ea typeface="Calibri"/>
                <a:cs typeface="Calibri"/>
              </a:rPr>
              <a:t>=</a:t>
            </a:r>
            <a:r>
              <a:rPr lang="en-US" sz="1100" dirty="0">
                <a:solidFill>
                  <a:schemeClr val="bg1">
                    <a:lumMod val="49000"/>
                  </a:schemeClr>
                </a:solidFill>
                <a:highlight>
                  <a:srgbClr val="FFFFFF"/>
                </a:highlight>
                <a:latin typeface="Calibri"/>
                <a:ea typeface="Calibri"/>
                <a:cs typeface="Calibri"/>
              </a:rPr>
              <a:t>1e-3 | Epochs=3</a:t>
            </a:r>
            <a:endParaRPr lang="en-US" sz="1100">
              <a:solidFill>
                <a:schemeClr val="bg1">
                  <a:lumMod val="49000"/>
                </a:schemeClr>
              </a:solidFill>
              <a:latin typeface="Calibri"/>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txBody>
          <a:bodyPr/>
          <a:lstStyle/>
          <a:p>
            <a:endParaRPr lang="fr-FR"/>
          </a:p>
        </p:txBody>
      </p:sp>
      <p:sp>
        <p:nvSpPr>
          <p:cNvPr id="3" name="Text 1"/>
          <p:cNvSpPr/>
          <p:nvPr/>
        </p:nvSpPr>
        <p:spPr>
          <a:xfrm>
            <a:off x="347472" y="0"/>
            <a:ext cx="8503920" cy="658368"/>
          </a:xfrm>
          <a:prstGeom prst="rect">
            <a:avLst/>
          </a:prstGeom>
          <a:noFill/>
          <a:ln/>
        </p:spPr>
        <p:txBody>
          <a:bodyPr wrap="square" lIns="0" tIns="0" rIns="0" bIns="0" rtlCol="0" anchor="ctr"/>
          <a:lstStyle/>
          <a:p>
            <a:r>
              <a:rPr lang="en-US" sz="2100" b="1" dirty="0" err="1">
                <a:solidFill>
                  <a:srgbClr val="FFFFFF"/>
                </a:solidFill>
                <a:latin typeface="Calibri"/>
                <a:ea typeface="Calibri"/>
                <a:cs typeface="Calibri"/>
              </a:rPr>
              <a:t>Modèle</a:t>
            </a:r>
            <a:r>
              <a:rPr lang="en-US" sz="2100" b="1" dirty="0">
                <a:solidFill>
                  <a:srgbClr val="FFFFFF"/>
                </a:solidFill>
                <a:latin typeface="Calibri"/>
                <a:ea typeface="Calibri"/>
                <a:cs typeface="Calibri"/>
              </a:rPr>
              <a:t> 2 - </a:t>
            </a:r>
            <a:r>
              <a:rPr lang="en-US" sz="2100" b="1" dirty="0" err="1">
                <a:solidFill>
                  <a:srgbClr val="FFFFFF"/>
                </a:solidFill>
                <a:latin typeface="Calibri"/>
                <a:ea typeface="Calibri"/>
                <a:cs typeface="Calibri"/>
              </a:rPr>
              <a:t>Transfert</a:t>
            </a:r>
            <a:r>
              <a:rPr lang="en-US" sz="2100" b="1" dirty="0">
                <a:solidFill>
                  <a:srgbClr val="FFFFFF"/>
                </a:solidFill>
                <a:latin typeface="Calibri"/>
                <a:ea typeface="Calibri"/>
                <a:cs typeface="Calibri"/>
              </a:rPr>
              <a:t> Learning avec </a:t>
            </a:r>
            <a:r>
              <a:rPr lang="en-US" sz="2100" b="1" dirty="0" err="1">
                <a:solidFill>
                  <a:srgbClr val="FFFFFF"/>
                </a:solidFill>
                <a:latin typeface="Calibri"/>
                <a:ea typeface="Calibri"/>
                <a:cs typeface="Calibri"/>
              </a:rPr>
              <a:t>DistilBERT</a:t>
            </a:r>
            <a:r>
              <a:rPr lang="en-US" sz="2100" b="1" dirty="0">
                <a:solidFill>
                  <a:srgbClr val="FFFFFF"/>
                </a:solidFill>
                <a:latin typeface="Calibri"/>
                <a:ea typeface="Calibri"/>
                <a:cs typeface="Calibri"/>
              </a:rPr>
              <a:t> – Fine Tuning</a:t>
            </a:r>
            <a:endParaRPr lang="en-US" sz="2100" dirty="0" err="1">
              <a:latin typeface="Calibri"/>
              <a:ea typeface="Calibri"/>
              <a:cs typeface="Calibri"/>
            </a:endParaRPr>
          </a:p>
        </p:txBody>
      </p:sp>
      <p:sp>
        <p:nvSpPr>
          <p:cNvPr id="4" name="Shape 2"/>
          <p:cNvSpPr/>
          <p:nvPr/>
        </p:nvSpPr>
        <p:spPr>
          <a:xfrm>
            <a:off x="798083" y="818567"/>
            <a:ext cx="1572768" cy="475488"/>
          </a:xfrm>
          <a:prstGeom prst="rect">
            <a:avLst/>
          </a:prstGeom>
          <a:solidFill>
            <a:srgbClr val="64748B"/>
          </a:solidFill>
          <a:ln w="12700">
            <a:solidFill>
              <a:srgbClr val="64748B"/>
            </a:solidFill>
            <a:prstDash val="solid"/>
          </a:ln>
        </p:spPr>
        <p:txBody>
          <a:bodyPr/>
          <a:lstStyle/>
          <a:p>
            <a:endParaRPr lang="fr-FR"/>
          </a:p>
        </p:txBody>
      </p:sp>
      <p:sp>
        <p:nvSpPr>
          <p:cNvPr id="5" name="Text 3"/>
          <p:cNvSpPr/>
          <p:nvPr/>
        </p:nvSpPr>
        <p:spPr>
          <a:xfrm>
            <a:off x="798083" y="818567"/>
            <a:ext cx="1572768"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SMS original</a:t>
            </a:r>
            <a:endParaRPr lang="en-US" sz="1000" dirty="0"/>
          </a:p>
        </p:txBody>
      </p:sp>
      <p:sp>
        <p:nvSpPr>
          <p:cNvPr id="6" name="Shape 4"/>
          <p:cNvSpPr/>
          <p:nvPr/>
        </p:nvSpPr>
        <p:spPr>
          <a:xfrm>
            <a:off x="2370851" y="1028879"/>
            <a:ext cx="146304" cy="54864"/>
          </a:xfrm>
          <a:prstGeom prst="rect">
            <a:avLst/>
          </a:prstGeom>
          <a:solidFill>
            <a:srgbClr val="64748B"/>
          </a:solidFill>
          <a:ln w="12700">
            <a:solidFill>
              <a:srgbClr val="64748B"/>
            </a:solidFill>
            <a:prstDash val="solid"/>
          </a:ln>
        </p:spPr>
        <p:txBody>
          <a:bodyPr/>
          <a:lstStyle/>
          <a:p>
            <a:endParaRPr lang="fr-FR"/>
          </a:p>
        </p:txBody>
      </p:sp>
      <p:sp>
        <p:nvSpPr>
          <p:cNvPr id="10" name="Shape 8"/>
          <p:cNvSpPr/>
          <p:nvPr/>
        </p:nvSpPr>
        <p:spPr>
          <a:xfrm>
            <a:off x="2521727" y="826971"/>
            <a:ext cx="3304076" cy="475488"/>
          </a:xfrm>
          <a:prstGeom prst="rect">
            <a:avLst/>
          </a:prstGeom>
          <a:solidFill>
            <a:srgbClr val="4A90D9"/>
          </a:solidFill>
          <a:ln w="12700">
            <a:solidFill>
              <a:srgbClr val="4A90D9"/>
            </a:solidFill>
            <a:prstDash val="solid"/>
          </a:ln>
        </p:spPr>
        <p:txBody>
          <a:bodyPr/>
          <a:lstStyle/>
          <a:p>
            <a:endParaRPr lang="fr-FR"/>
          </a:p>
        </p:txBody>
      </p:sp>
      <p:sp>
        <p:nvSpPr>
          <p:cNvPr id="11" name="Text 9"/>
          <p:cNvSpPr/>
          <p:nvPr/>
        </p:nvSpPr>
        <p:spPr>
          <a:xfrm>
            <a:off x="3303337" y="826971"/>
            <a:ext cx="1572768" cy="475488"/>
          </a:xfrm>
          <a:prstGeom prst="rect">
            <a:avLst/>
          </a:prstGeom>
          <a:noFill/>
          <a:ln/>
        </p:spPr>
        <p:txBody>
          <a:bodyPr wrap="square" lIns="91440" tIns="45720" rIns="91440" bIns="45720" rtlCol="0" anchor="ctr"/>
          <a:lstStyle/>
          <a:p>
            <a:pPr algn="ctr"/>
            <a:r>
              <a:rPr lang="en-US" sz="1000" b="1" dirty="0" err="1">
                <a:solidFill>
                  <a:srgbClr val="FFFFFF"/>
                </a:solidFill>
                <a:latin typeface="Calibri"/>
                <a:ea typeface="Calibri"/>
                <a:cs typeface="Calibri"/>
              </a:rPr>
              <a:t>DistilBERT</a:t>
            </a:r>
            <a:r>
              <a:rPr lang="en-US" sz="1000" b="1" dirty="0">
                <a:solidFill>
                  <a:srgbClr val="FFFFFF"/>
                </a:solidFill>
                <a:latin typeface="Calibri"/>
                <a:ea typeface="Calibri"/>
                <a:cs typeface="Calibri"/>
              </a:rPr>
              <a:t> Fine Tuned</a:t>
            </a:r>
            <a:endParaRPr lang="en-US" sz="1000" dirty="0"/>
          </a:p>
        </p:txBody>
      </p:sp>
      <p:sp>
        <p:nvSpPr>
          <p:cNvPr id="15" name="Shape 13"/>
          <p:cNvSpPr/>
          <p:nvPr/>
        </p:nvSpPr>
        <p:spPr>
          <a:xfrm>
            <a:off x="5821187" y="1036499"/>
            <a:ext cx="176784" cy="54864"/>
          </a:xfrm>
          <a:prstGeom prst="rect">
            <a:avLst/>
          </a:prstGeom>
          <a:solidFill>
            <a:srgbClr val="64748B"/>
          </a:solidFill>
          <a:ln w="12700">
            <a:solidFill>
              <a:srgbClr val="64748B"/>
            </a:solidFill>
            <a:prstDash val="solid"/>
          </a:ln>
        </p:spPr>
        <p:txBody>
          <a:bodyPr/>
          <a:lstStyle/>
          <a:p>
            <a:endParaRPr lang="fr-FR"/>
          </a:p>
        </p:txBody>
      </p:sp>
      <p:sp>
        <p:nvSpPr>
          <p:cNvPr id="16" name="Shape 14"/>
          <p:cNvSpPr/>
          <p:nvPr/>
        </p:nvSpPr>
        <p:spPr>
          <a:xfrm>
            <a:off x="5967491" y="826187"/>
            <a:ext cx="1930908" cy="475488"/>
          </a:xfrm>
          <a:prstGeom prst="rect">
            <a:avLst/>
          </a:prstGeom>
          <a:solidFill>
            <a:srgbClr val="1E2761"/>
          </a:solidFill>
          <a:ln w="12700">
            <a:solidFill>
              <a:srgbClr val="1E2761"/>
            </a:solidFill>
            <a:prstDash val="solid"/>
          </a:ln>
        </p:spPr>
        <p:txBody>
          <a:bodyPr/>
          <a:lstStyle/>
          <a:p>
            <a:endParaRPr lang="fr-FR"/>
          </a:p>
        </p:txBody>
      </p:sp>
      <p:sp>
        <p:nvSpPr>
          <p:cNvPr id="17" name="Text 15"/>
          <p:cNvSpPr/>
          <p:nvPr/>
        </p:nvSpPr>
        <p:spPr>
          <a:xfrm>
            <a:off x="5967491" y="826187"/>
            <a:ext cx="1930908" cy="475488"/>
          </a:xfrm>
          <a:prstGeom prst="rect">
            <a:avLst/>
          </a:prstGeom>
          <a:noFill/>
          <a:ln/>
        </p:spPr>
        <p:txBody>
          <a:bodyPr wrap="square" lIns="91440" tIns="45720" rIns="91440" bIns="45720" rtlCol="0" anchor="ctr"/>
          <a:lstStyle/>
          <a:p>
            <a:pPr algn="ctr"/>
            <a:r>
              <a:rPr lang="en-US" sz="1000" b="1" dirty="0">
                <a:solidFill>
                  <a:srgbClr val="FFFFFF"/>
                </a:solidFill>
                <a:latin typeface="Calibri"/>
                <a:ea typeface="Calibri"/>
                <a:cs typeface="Calibri"/>
              </a:rPr>
              <a:t>Tête de </a:t>
            </a:r>
            <a:r>
              <a:rPr lang="en-US" sz="1000" b="1" err="1">
                <a:solidFill>
                  <a:srgbClr val="FFFFFF"/>
                </a:solidFill>
                <a:latin typeface="Calibri"/>
                <a:ea typeface="Calibri"/>
                <a:cs typeface="Calibri"/>
              </a:rPr>
              <a:t>classificatio</a:t>
            </a:r>
            <a:r>
              <a:rPr lang="en-US" sz="1000" b="1">
                <a:solidFill>
                  <a:srgbClr val="FFFFFF"/>
                </a:solidFill>
                <a:latin typeface="Calibri"/>
                <a:ea typeface="Calibri"/>
                <a:cs typeface="Calibri"/>
              </a:rPr>
              <a:t>n à deux classes</a:t>
            </a:r>
            <a:endParaRPr lang="fr-FR"/>
          </a:p>
        </p:txBody>
      </p:sp>
      <p:sp>
        <p:nvSpPr>
          <p:cNvPr id="18" name="Text 16"/>
          <p:cNvSpPr/>
          <p:nvPr/>
        </p:nvSpPr>
        <p:spPr>
          <a:xfrm>
            <a:off x="135143" y="1402259"/>
            <a:ext cx="8503920" cy="274320"/>
          </a:xfrm>
          <a:prstGeom prst="rect">
            <a:avLst/>
          </a:prstGeom>
          <a:noFill/>
          <a:ln/>
        </p:spPr>
        <p:txBody>
          <a:bodyPr wrap="square" lIns="91440" tIns="45720" rIns="91440" bIns="45720" rtlCol="0" anchor="ctr"/>
          <a:lstStyle/>
          <a:p>
            <a:pPr algn="ctr"/>
            <a:r>
              <a:rPr lang="en-US" sz="1000" i="1" dirty="0" err="1">
                <a:solidFill>
                  <a:srgbClr val="64748B"/>
                </a:solidFill>
                <a:latin typeface="Calibri"/>
                <a:ea typeface="Calibri"/>
                <a:cs typeface="Calibri"/>
              </a:rPr>
              <a:t>Modèle</a:t>
            </a:r>
            <a:r>
              <a:rPr lang="en-US" sz="1000" i="1" dirty="0">
                <a:solidFill>
                  <a:srgbClr val="64748B"/>
                </a:solidFill>
                <a:latin typeface="Calibri"/>
                <a:ea typeface="Calibri"/>
                <a:cs typeface="Calibri"/>
              </a:rPr>
              <a:t> </a:t>
            </a:r>
            <a:r>
              <a:rPr lang="en-US" sz="1000" i="1" dirty="0" err="1">
                <a:solidFill>
                  <a:srgbClr val="64748B"/>
                </a:solidFill>
                <a:latin typeface="Calibri"/>
                <a:ea typeface="Calibri"/>
                <a:cs typeface="Calibri"/>
              </a:rPr>
              <a:t>pré-entraîné</a:t>
            </a:r>
            <a:r>
              <a:rPr lang="en-US" sz="1000" i="1" dirty="0">
                <a:solidFill>
                  <a:srgbClr val="64748B"/>
                </a:solidFill>
                <a:latin typeface="Calibri"/>
                <a:ea typeface="Calibri"/>
                <a:cs typeface="Calibri"/>
              </a:rPr>
              <a:t> sur des milliards de phrases </a:t>
            </a:r>
            <a:r>
              <a:rPr lang="en-US" sz="1000" i="1" dirty="0" err="1">
                <a:solidFill>
                  <a:srgbClr val="64748B"/>
                </a:solidFill>
                <a:latin typeface="Calibri"/>
                <a:ea typeface="Calibri"/>
                <a:cs typeface="Calibri"/>
              </a:rPr>
              <a:t>en</a:t>
            </a:r>
            <a:r>
              <a:rPr lang="en-US" sz="1000" i="1" dirty="0">
                <a:solidFill>
                  <a:srgbClr val="64748B"/>
                </a:solidFill>
                <a:latin typeface="Calibri"/>
                <a:ea typeface="Calibri"/>
                <a:cs typeface="Calibri"/>
              </a:rPr>
              <a:t> anglais</a:t>
            </a:r>
          </a:p>
        </p:txBody>
      </p:sp>
      <p:sp>
        <p:nvSpPr>
          <p:cNvPr id="20" name="Text 18"/>
          <p:cNvSpPr/>
          <p:nvPr/>
        </p:nvSpPr>
        <p:spPr>
          <a:xfrm>
            <a:off x="323088" y="1694688"/>
            <a:ext cx="3369564" cy="271272"/>
          </a:xfrm>
          <a:prstGeom prst="rect">
            <a:avLst/>
          </a:prstGeom>
          <a:noFill/>
          <a:ln/>
        </p:spPr>
        <p:txBody>
          <a:bodyPr wrap="square" lIns="91440" tIns="45720" rIns="91440" bIns="45720" rtlCol="0" anchor="ctr"/>
          <a:lstStyle/>
          <a:p>
            <a:r>
              <a:rPr lang="en-US" sz="1100" dirty="0" err="1">
                <a:solidFill>
                  <a:srgbClr val="1E2761"/>
                </a:solidFill>
                <a:latin typeface="Calibri"/>
                <a:ea typeface="Calibri"/>
                <a:cs typeface="Calibri"/>
              </a:rPr>
              <a:t>lr</a:t>
            </a:r>
            <a:r>
              <a:rPr lang="en-US" sz="1100" dirty="0">
                <a:solidFill>
                  <a:srgbClr val="1E2761"/>
                </a:solidFill>
                <a:latin typeface="Calibri"/>
                <a:ea typeface="Calibri"/>
                <a:cs typeface="Calibri"/>
              </a:rPr>
              <a:t> = 2e-5  | </a:t>
            </a:r>
            <a:r>
              <a:rPr lang="en-US" sz="1100" dirty="0" err="1">
                <a:solidFill>
                  <a:srgbClr val="1E2761"/>
                </a:solidFill>
                <a:latin typeface="Calibri"/>
                <a:ea typeface="Calibri"/>
                <a:cs typeface="Calibri"/>
              </a:rPr>
              <a:t>EarlyStopping</a:t>
            </a:r>
            <a:r>
              <a:rPr lang="en-US" sz="1100" dirty="0">
                <a:solidFill>
                  <a:srgbClr val="1E2761"/>
                </a:solidFill>
                <a:latin typeface="Calibri"/>
                <a:ea typeface="Calibri"/>
                <a:cs typeface="Calibri"/>
              </a:rPr>
              <a:t> (patience=2)  | </a:t>
            </a:r>
            <a:r>
              <a:rPr lang="en-US" sz="1100" dirty="0" err="1">
                <a:solidFill>
                  <a:srgbClr val="1E2761"/>
                </a:solidFill>
                <a:latin typeface="Calibri"/>
                <a:ea typeface="Calibri"/>
                <a:cs typeface="Calibri"/>
              </a:rPr>
              <a:t>Best_Epoch</a:t>
            </a:r>
            <a:r>
              <a:rPr lang="en-US" sz="1100" dirty="0">
                <a:solidFill>
                  <a:srgbClr val="1E2761"/>
                </a:solidFill>
                <a:latin typeface="Calibri"/>
                <a:ea typeface="Calibri"/>
                <a:cs typeface="Calibri"/>
              </a:rPr>
              <a:t>=4</a:t>
            </a:r>
            <a:endParaRPr lang="en-US" sz="1100" b="1" dirty="0">
              <a:solidFill>
                <a:srgbClr val="4A90D9"/>
              </a:solidFill>
              <a:latin typeface="Calibri"/>
              <a:ea typeface="Calibri"/>
              <a:cs typeface="Calibri"/>
            </a:endParaRPr>
          </a:p>
        </p:txBody>
      </p:sp>
      <p:sp>
        <p:nvSpPr>
          <p:cNvPr id="21" name="Shape 19"/>
          <p:cNvSpPr/>
          <p:nvPr/>
        </p:nvSpPr>
        <p:spPr>
          <a:xfrm>
            <a:off x="240792" y="1973580"/>
            <a:ext cx="8670036" cy="374904"/>
          </a:xfrm>
          <a:prstGeom prst="rect">
            <a:avLst/>
          </a:prstGeom>
          <a:solidFill>
            <a:srgbClr val="4A90D9"/>
          </a:solidFill>
          <a:ln w="12700">
            <a:solidFill>
              <a:srgbClr val="4A90D9"/>
            </a:solidFill>
            <a:prstDash val="solid"/>
          </a:ln>
        </p:spPr>
        <p:txBody>
          <a:bodyPr/>
          <a:lstStyle/>
          <a:p>
            <a:endParaRPr lang="fr-FR"/>
          </a:p>
        </p:txBody>
      </p:sp>
      <p:sp>
        <p:nvSpPr>
          <p:cNvPr id="22" name="Text 20"/>
          <p:cNvSpPr/>
          <p:nvPr/>
        </p:nvSpPr>
        <p:spPr>
          <a:xfrm>
            <a:off x="2633472" y="1973580"/>
            <a:ext cx="3244596" cy="374904"/>
          </a:xfrm>
          <a:prstGeom prst="rect">
            <a:avLst/>
          </a:prstGeom>
          <a:noFill/>
          <a:ln/>
        </p:spPr>
        <p:txBody>
          <a:bodyPr wrap="square" lIns="0" tIns="0" rIns="0" bIns="0" rtlCol="0" anchor="ctr"/>
          <a:lstStyle/>
          <a:p>
            <a:pPr algn="ctr"/>
            <a:endParaRPr lang="en-US" sz="1100" b="1" dirty="0">
              <a:solidFill>
                <a:srgbClr val="FFFFFF"/>
              </a:solidFill>
              <a:latin typeface="Calibri"/>
              <a:ea typeface="Calibri"/>
              <a:cs typeface="Calibri"/>
            </a:endParaRPr>
          </a:p>
          <a:p>
            <a:pPr algn="ctr"/>
            <a:r>
              <a:rPr lang="en-US" sz="1100" b="1" dirty="0" err="1">
                <a:solidFill>
                  <a:srgbClr val="FFFFFF"/>
                </a:solidFill>
                <a:latin typeface="Calibri"/>
                <a:ea typeface="Calibri"/>
                <a:cs typeface="Calibri"/>
              </a:rPr>
              <a:t>Résultats</a:t>
            </a:r>
            <a:r>
              <a:rPr lang="en-US" sz="1100" b="1" dirty="0">
                <a:solidFill>
                  <a:srgbClr val="FFFFFF"/>
                </a:solidFill>
                <a:latin typeface="Calibri"/>
                <a:ea typeface="Calibri"/>
                <a:cs typeface="Calibri"/>
              </a:rPr>
              <a:t> sur le jeu de test (1 034 messages)</a:t>
            </a:r>
            <a:endParaRPr lang="en-US" sz="1100" dirty="0">
              <a:solidFill>
                <a:srgbClr val="000000"/>
              </a:solidFill>
              <a:latin typeface="Calibri"/>
              <a:ea typeface="Calibri"/>
              <a:cs typeface="Calibri"/>
            </a:endParaRPr>
          </a:p>
          <a:p>
            <a:pPr marL="0" indent="0" algn="ctr">
              <a:buNone/>
            </a:pPr>
            <a:endParaRPr lang="en-US" sz="1200" b="1" dirty="0">
              <a:solidFill>
                <a:srgbClr val="FFFFFF"/>
              </a:solidFill>
              <a:ea typeface="Calibri"/>
              <a:cs typeface="Calibri"/>
            </a:endParaRPr>
          </a:p>
        </p:txBody>
      </p:sp>
      <p:sp>
        <p:nvSpPr>
          <p:cNvPr id="33" name="Text 25">
            <a:extLst>
              <a:ext uri="{FF2B5EF4-FFF2-40B4-BE49-F238E27FC236}">
                <a16:creationId xmlns:a16="http://schemas.microsoft.com/office/drawing/2014/main" id="{436D1D5A-E29D-9318-6819-E9101F41096E}"/>
              </a:ext>
            </a:extLst>
          </p:cNvPr>
          <p:cNvSpPr/>
          <p:nvPr/>
        </p:nvSpPr>
        <p:spPr>
          <a:xfrm>
            <a:off x="16809" y="3057054"/>
            <a:ext cx="1325880" cy="502920"/>
          </a:xfrm>
          <a:prstGeom prst="rect">
            <a:avLst/>
          </a:prstGeom>
          <a:noFill/>
          <a:ln/>
        </p:spPr>
        <p:txBody>
          <a:bodyPr wrap="square" lIns="91440" tIns="45720" rIns="91440" bIns="45720" rtlCol="0" anchor="ctr"/>
          <a:lstStyle/>
          <a:p>
            <a:pPr marL="0" indent="0" algn="ctr">
              <a:buNone/>
            </a:pPr>
            <a:r>
              <a:rPr lang="en-US" sz="2000" b="1">
                <a:solidFill>
                  <a:srgbClr val="4682B4"/>
                </a:solidFill>
                <a:latin typeface="Calibri"/>
                <a:ea typeface="Calibri"/>
                <a:cs typeface="Calibri"/>
              </a:rPr>
              <a:t>98 %</a:t>
            </a:r>
            <a:endParaRPr lang="en-US" sz="2000">
              <a:latin typeface="Calibri"/>
              <a:ea typeface="Calibri"/>
              <a:cs typeface="Calibri"/>
            </a:endParaRPr>
          </a:p>
        </p:txBody>
      </p:sp>
      <p:sp>
        <p:nvSpPr>
          <p:cNvPr id="35" name="Text 26">
            <a:extLst>
              <a:ext uri="{FF2B5EF4-FFF2-40B4-BE49-F238E27FC236}">
                <a16:creationId xmlns:a16="http://schemas.microsoft.com/office/drawing/2014/main" id="{60BDEC05-6A0D-CB8A-D382-097F3F80C09B}"/>
              </a:ext>
            </a:extLst>
          </p:cNvPr>
          <p:cNvSpPr/>
          <p:nvPr/>
        </p:nvSpPr>
        <p:spPr>
          <a:xfrm>
            <a:off x="16809" y="3550830"/>
            <a:ext cx="1325880" cy="237744"/>
          </a:xfrm>
          <a:prstGeom prst="rect">
            <a:avLst/>
          </a:prstGeom>
          <a:noFill/>
          <a:ln/>
        </p:spPr>
        <p:txBody>
          <a:bodyPr wrap="square" lIns="91440" tIns="45720" rIns="91440" bIns="45720" rtlCol="0" anchor="ctr"/>
          <a:lstStyle/>
          <a:p>
            <a:pPr marL="0" indent="0" algn="ctr">
              <a:buNone/>
            </a:pPr>
            <a:r>
              <a:rPr lang="en-US" sz="1000">
                <a:solidFill>
                  <a:srgbClr val="64748B"/>
                </a:solidFill>
                <a:latin typeface="Calibri"/>
                <a:ea typeface="Calibri"/>
                <a:cs typeface="Calibri"/>
              </a:rPr>
              <a:t>Precision</a:t>
            </a:r>
            <a:endParaRPr lang="fr-FR"/>
          </a:p>
        </p:txBody>
      </p:sp>
      <p:sp>
        <p:nvSpPr>
          <p:cNvPr id="37" name="Text 27">
            <a:extLst>
              <a:ext uri="{FF2B5EF4-FFF2-40B4-BE49-F238E27FC236}">
                <a16:creationId xmlns:a16="http://schemas.microsoft.com/office/drawing/2014/main" id="{2A2A91A1-04CF-DCA0-CC37-28C83E78F79E}"/>
              </a:ext>
            </a:extLst>
          </p:cNvPr>
          <p:cNvSpPr/>
          <p:nvPr/>
        </p:nvSpPr>
        <p:spPr>
          <a:xfrm>
            <a:off x="1388409" y="3057054"/>
            <a:ext cx="1325880" cy="502920"/>
          </a:xfrm>
          <a:prstGeom prst="rect">
            <a:avLst/>
          </a:prstGeom>
          <a:noFill/>
          <a:ln/>
        </p:spPr>
        <p:txBody>
          <a:bodyPr wrap="square" lIns="91440" tIns="45720" rIns="91440" bIns="45720" rtlCol="0" anchor="ctr"/>
          <a:lstStyle/>
          <a:p>
            <a:pPr marL="0" indent="0" algn="ctr">
              <a:buNone/>
            </a:pPr>
            <a:r>
              <a:rPr lang="en-US" sz="2000" b="1">
                <a:solidFill>
                  <a:srgbClr val="1E2761"/>
                </a:solidFill>
                <a:latin typeface="Calibri"/>
                <a:ea typeface="Calibri"/>
                <a:cs typeface="Calibri"/>
              </a:rPr>
              <a:t>97 %</a:t>
            </a:r>
            <a:endParaRPr lang="en-US" sz="2000">
              <a:latin typeface="Calibri"/>
              <a:ea typeface="Calibri"/>
              <a:cs typeface="Calibri"/>
            </a:endParaRPr>
          </a:p>
        </p:txBody>
      </p:sp>
      <p:sp>
        <p:nvSpPr>
          <p:cNvPr id="39" name="Text 28">
            <a:extLst>
              <a:ext uri="{FF2B5EF4-FFF2-40B4-BE49-F238E27FC236}">
                <a16:creationId xmlns:a16="http://schemas.microsoft.com/office/drawing/2014/main" id="{94F2382C-6417-BB4A-3250-30AA1C9A24F2}"/>
              </a:ext>
            </a:extLst>
          </p:cNvPr>
          <p:cNvSpPr/>
          <p:nvPr/>
        </p:nvSpPr>
        <p:spPr>
          <a:xfrm>
            <a:off x="1388409" y="3550830"/>
            <a:ext cx="1325880" cy="237744"/>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F1-Score</a:t>
            </a:r>
            <a:endParaRPr lang="en-US" sz="1000" dirty="0"/>
          </a:p>
        </p:txBody>
      </p:sp>
      <p:sp>
        <p:nvSpPr>
          <p:cNvPr id="41" name="Text 29">
            <a:extLst>
              <a:ext uri="{FF2B5EF4-FFF2-40B4-BE49-F238E27FC236}">
                <a16:creationId xmlns:a16="http://schemas.microsoft.com/office/drawing/2014/main" id="{EEEF4367-DB9E-7351-FD46-24A840E73F4A}"/>
              </a:ext>
            </a:extLst>
          </p:cNvPr>
          <p:cNvSpPr/>
          <p:nvPr/>
        </p:nvSpPr>
        <p:spPr>
          <a:xfrm>
            <a:off x="2760009" y="3057054"/>
            <a:ext cx="1325880" cy="502920"/>
          </a:xfrm>
          <a:prstGeom prst="rect">
            <a:avLst/>
          </a:prstGeom>
          <a:noFill/>
          <a:ln/>
        </p:spPr>
        <p:txBody>
          <a:bodyPr wrap="square" lIns="91440" tIns="45720" rIns="91440" bIns="45720" rtlCol="0" anchor="ctr"/>
          <a:lstStyle/>
          <a:p>
            <a:pPr algn="ctr"/>
            <a:r>
              <a:rPr lang="en-US" sz="2000" b="1">
                <a:solidFill>
                  <a:srgbClr val="1E2761"/>
                </a:solidFill>
                <a:latin typeface="Calibri"/>
                <a:ea typeface="Calibri"/>
                <a:cs typeface="Calibri"/>
              </a:rPr>
              <a:t>95 %</a:t>
            </a:r>
            <a:endParaRPr lang="en-US" sz="2000">
              <a:latin typeface="Calibri"/>
              <a:ea typeface="Calibri"/>
              <a:cs typeface="Calibri"/>
            </a:endParaRPr>
          </a:p>
        </p:txBody>
      </p:sp>
      <p:sp>
        <p:nvSpPr>
          <p:cNvPr id="43" name="Text 30">
            <a:extLst>
              <a:ext uri="{FF2B5EF4-FFF2-40B4-BE49-F238E27FC236}">
                <a16:creationId xmlns:a16="http://schemas.microsoft.com/office/drawing/2014/main" id="{44F172F0-8B89-DD17-A36B-DAFC3EF8DB67}"/>
              </a:ext>
            </a:extLst>
          </p:cNvPr>
          <p:cNvSpPr/>
          <p:nvPr/>
        </p:nvSpPr>
        <p:spPr>
          <a:xfrm>
            <a:off x="2760009" y="3550830"/>
            <a:ext cx="1325880" cy="237744"/>
          </a:xfrm>
          <a:prstGeom prst="rect">
            <a:avLst/>
          </a:prstGeom>
          <a:noFill/>
          <a:ln/>
        </p:spPr>
        <p:txBody>
          <a:bodyPr wrap="square" lIns="91440" tIns="45720" rIns="91440" bIns="45720" rtlCol="0" anchor="ctr"/>
          <a:lstStyle/>
          <a:p>
            <a:pPr marL="0" indent="0" algn="ctr">
              <a:buNone/>
            </a:pPr>
            <a:r>
              <a:rPr lang="en-US" sz="1000">
                <a:solidFill>
                  <a:srgbClr val="64748B"/>
                </a:solidFill>
                <a:latin typeface="Calibri"/>
                <a:ea typeface="Calibri"/>
                <a:cs typeface="Calibri"/>
              </a:rPr>
              <a:t>Recall</a:t>
            </a:r>
            <a:endParaRPr lang="fr-FR"/>
          </a:p>
        </p:txBody>
      </p:sp>
      <p:pic>
        <p:nvPicPr>
          <p:cNvPr id="7" name="Picture 6">
            <a:extLst>
              <a:ext uri="{FF2B5EF4-FFF2-40B4-BE49-F238E27FC236}">
                <a16:creationId xmlns:a16="http://schemas.microsoft.com/office/drawing/2014/main" id="{7211FD18-3245-CDCC-422B-D4731FC942F1}"/>
              </a:ext>
            </a:extLst>
          </p:cNvPr>
          <p:cNvPicPr>
            <a:picLocks noChangeAspect="1"/>
          </p:cNvPicPr>
          <p:nvPr/>
        </p:nvPicPr>
        <p:blipFill>
          <a:blip r:embed="rId3"/>
          <a:stretch>
            <a:fillRect/>
          </a:stretch>
        </p:blipFill>
        <p:spPr>
          <a:xfrm>
            <a:off x="4255469" y="2357785"/>
            <a:ext cx="4835679" cy="27836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D1A414EB-D9A6-0D8A-8A68-7F4565E396D3}"/>
              </a:ext>
            </a:extLst>
          </p:cNvPr>
          <p:cNvSpPr/>
          <p:nvPr/>
        </p:nvSpPr>
        <p:spPr>
          <a:xfrm>
            <a:off x="0" y="0"/>
            <a:ext cx="9144000" cy="658368"/>
          </a:xfrm>
          <a:prstGeom prst="rect">
            <a:avLst/>
          </a:prstGeom>
          <a:solidFill>
            <a:srgbClr val="1E2761"/>
          </a:solidFill>
          <a:ln w="12700">
            <a:solidFill>
              <a:srgbClr val="1E2761"/>
            </a:solidFill>
            <a:prstDash val="solid"/>
          </a:ln>
        </p:spPr>
        <p:txBody>
          <a:bodyPr/>
          <a:lstStyle/>
          <a:p>
            <a:endParaRPr lang="fr-FR"/>
          </a:p>
        </p:txBody>
      </p:sp>
      <p:sp>
        <p:nvSpPr>
          <p:cNvPr id="5" name="Text 1">
            <a:extLst>
              <a:ext uri="{FF2B5EF4-FFF2-40B4-BE49-F238E27FC236}">
                <a16:creationId xmlns:a16="http://schemas.microsoft.com/office/drawing/2014/main" id="{6079EE76-95F9-5CE8-E71D-FADDD145AE85}"/>
              </a:ext>
            </a:extLst>
          </p:cNvPr>
          <p:cNvSpPr/>
          <p:nvPr/>
        </p:nvSpPr>
        <p:spPr>
          <a:xfrm>
            <a:off x="347472" y="0"/>
            <a:ext cx="8503920" cy="658368"/>
          </a:xfrm>
          <a:prstGeom prst="rect">
            <a:avLst/>
          </a:prstGeom>
          <a:noFill/>
          <a:ln/>
        </p:spPr>
        <p:txBody>
          <a:bodyPr wrap="square" lIns="0" tIns="0" rIns="0" bIns="0" rtlCol="0" anchor="ctr"/>
          <a:lstStyle/>
          <a:p>
            <a:r>
              <a:rPr lang="en-US" sz="2100" b="1" dirty="0">
                <a:solidFill>
                  <a:srgbClr val="FFFFFF"/>
                </a:solidFill>
                <a:latin typeface="Calibri"/>
                <a:ea typeface="Calibri"/>
                <a:cs typeface="Calibri"/>
              </a:rPr>
              <a:t>Modèle 3 - Transfert Learning avec </a:t>
            </a:r>
            <a:r>
              <a:rPr lang="en-US" sz="2100" b="1" dirty="0" err="1">
                <a:solidFill>
                  <a:srgbClr val="FFFFFF"/>
                </a:solidFill>
                <a:latin typeface="Calibri"/>
                <a:ea typeface="Calibri"/>
                <a:cs typeface="Calibri"/>
              </a:rPr>
              <a:t>RoBER</a:t>
            </a:r>
            <a:r>
              <a:rPr lang="en-US" sz="2100" b="1" dirty="0">
                <a:solidFill>
                  <a:srgbClr val="FFFFFF"/>
                </a:solidFill>
                <a:latin typeface="Calibri"/>
                <a:ea typeface="Calibri"/>
                <a:cs typeface="Calibri"/>
              </a:rPr>
              <a:t>Ta – Fine Tuning</a:t>
            </a:r>
            <a:endParaRPr lang="en-US" sz="2100" dirty="0" err="1">
              <a:latin typeface="Calibri"/>
              <a:ea typeface="Calibri"/>
              <a:cs typeface="Calibri"/>
            </a:endParaRPr>
          </a:p>
        </p:txBody>
      </p:sp>
      <p:sp>
        <p:nvSpPr>
          <p:cNvPr id="29" name="Text 16">
            <a:extLst>
              <a:ext uri="{FF2B5EF4-FFF2-40B4-BE49-F238E27FC236}">
                <a16:creationId xmlns:a16="http://schemas.microsoft.com/office/drawing/2014/main" id="{B038A2F5-9DA9-DE9B-7249-A4D88B8B8FB1}"/>
              </a:ext>
            </a:extLst>
          </p:cNvPr>
          <p:cNvSpPr/>
          <p:nvPr/>
        </p:nvSpPr>
        <p:spPr>
          <a:xfrm>
            <a:off x="135143" y="1402259"/>
            <a:ext cx="8503920" cy="274320"/>
          </a:xfrm>
          <a:prstGeom prst="rect">
            <a:avLst/>
          </a:prstGeom>
          <a:noFill/>
          <a:ln/>
        </p:spPr>
        <p:txBody>
          <a:bodyPr wrap="square" lIns="91440" tIns="45720" rIns="91440" bIns="45720" rtlCol="0" anchor="ctr"/>
          <a:lstStyle/>
          <a:p>
            <a:pPr algn="ctr"/>
            <a:r>
              <a:rPr lang="en-US" sz="1000" i="1" dirty="0" err="1">
                <a:solidFill>
                  <a:srgbClr val="64748B"/>
                </a:solidFill>
                <a:latin typeface="Calibri"/>
                <a:ea typeface="Calibri"/>
                <a:cs typeface="Calibri"/>
              </a:rPr>
              <a:t>Modèle</a:t>
            </a:r>
            <a:r>
              <a:rPr lang="en-US" sz="1000" i="1" dirty="0">
                <a:solidFill>
                  <a:srgbClr val="64748B"/>
                </a:solidFill>
                <a:latin typeface="Calibri"/>
                <a:ea typeface="Calibri"/>
                <a:cs typeface="Calibri"/>
              </a:rPr>
              <a:t> </a:t>
            </a:r>
            <a:r>
              <a:rPr lang="en-US" sz="1000" i="1" dirty="0" err="1">
                <a:solidFill>
                  <a:srgbClr val="64748B"/>
                </a:solidFill>
                <a:latin typeface="Calibri"/>
                <a:ea typeface="Calibri"/>
                <a:cs typeface="Calibri"/>
              </a:rPr>
              <a:t>pré-entraîné</a:t>
            </a:r>
            <a:r>
              <a:rPr lang="en-US" sz="1000" i="1" dirty="0">
                <a:solidFill>
                  <a:srgbClr val="64748B"/>
                </a:solidFill>
                <a:latin typeface="Calibri"/>
                <a:ea typeface="Calibri"/>
                <a:cs typeface="Calibri"/>
              </a:rPr>
              <a:t> sur des milliards de phrases </a:t>
            </a:r>
            <a:r>
              <a:rPr lang="en-US" sz="1000" i="1" dirty="0" err="1">
                <a:solidFill>
                  <a:srgbClr val="64748B"/>
                </a:solidFill>
                <a:latin typeface="Calibri"/>
                <a:ea typeface="Calibri"/>
                <a:cs typeface="Calibri"/>
              </a:rPr>
              <a:t>en</a:t>
            </a:r>
            <a:r>
              <a:rPr lang="en-US" sz="1000" i="1" dirty="0">
                <a:solidFill>
                  <a:srgbClr val="64748B"/>
                </a:solidFill>
                <a:latin typeface="Calibri"/>
                <a:ea typeface="Calibri"/>
                <a:cs typeface="Calibri"/>
              </a:rPr>
              <a:t> anglais</a:t>
            </a:r>
          </a:p>
        </p:txBody>
      </p:sp>
      <p:sp>
        <p:nvSpPr>
          <p:cNvPr id="31" name="Text 18">
            <a:extLst>
              <a:ext uri="{FF2B5EF4-FFF2-40B4-BE49-F238E27FC236}">
                <a16:creationId xmlns:a16="http://schemas.microsoft.com/office/drawing/2014/main" id="{38CB8327-58D9-6732-E2BD-DEF5F0528EF4}"/>
              </a:ext>
            </a:extLst>
          </p:cNvPr>
          <p:cNvSpPr/>
          <p:nvPr/>
        </p:nvSpPr>
        <p:spPr>
          <a:xfrm>
            <a:off x="323088" y="1694688"/>
            <a:ext cx="3369564" cy="271272"/>
          </a:xfrm>
          <a:prstGeom prst="rect">
            <a:avLst/>
          </a:prstGeom>
          <a:noFill/>
          <a:ln/>
        </p:spPr>
        <p:txBody>
          <a:bodyPr wrap="square" lIns="91440" tIns="45720" rIns="91440" bIns="45720" rtlCol="0" anchor="ctr"/>
          <a:lstStyle/>
          <a:p>
            <a:r>
              <a:rPr lang="en-US" sz="1100" dirty="0" err="1">
                <a:solidFill>
                  <a:srgbClr val="1E2761"/>
                </a:solidFill>
                <a:latin typeface="Calibri"/>
                <a:ea typeface="Calibri"/>
                <a:cs typeface="Calibri"/>
              </a:rPr>
              <a:t>lr</a:t>
            </a:r>
            <a:r>
              <a:rPr lang="en-US" sz="1100" dirty="0">
                <a:solidFill>
                  <a:srgbClr val="1E2761"/>
                </a:solidFill>
                <a:latin typeface="Calibri"/>
                <a:ea typeface="Calibri"/>
                <a:cs typeface="Calibri"/>
              </a:rPr>
              <a:t> = 2e-5  | </a:t>
            </a:r>
            <a:r>
              <a:rPr lang="en-US" sz="1100" dirty="0" err="1">
                <a:solidFill>
                  <a:srgbClr val="1E2761"/>
                </a:solidFill>
                <a:latin typeface="Calibri"/>
                <a:ea typeface="Calibri"/>
                <a:cs typeface="Calibri"/>
              </a:rPr>
              <a:t>EarlyStopping</a:t>
            </a:r>
            <a:r>
              <a:rPr lang="en-US" sz="1100" dirty="0">
                <a:solidFill>
                  <a:srgbClr val="1E2761"/>
                </a:solidFill>
                <a:latin typeface="Calibri"/>
                <a:ea typeface="Calibri"/>
                <a:cs typeface="Calibri"/>
              </a:rPr>
              <a:t> (patience=2)  | </a:t>
            </a:r>
            <a:r>
              <a:rPr lang="en-US" sz="1100" dirty="0" err="1">
                <a:solidFill>
                  <a:srgbClr val="1E2761"/>
                </a:solidFill>
                <a:latin typeface="Calibri"/>
                <a:ea typeface="Calibri"/>
                <a:cs typeface="Calibri"/>
              </a:rPr>
              <a:t>Best_Epoch</a:t>
            </a:r>
            <a:r>
              <a:rPr lang="en-US" sz="1100" dirty="0">
                <a:solidFill>
                  <a:srgbClr val="1E2761"/>
                </a:solidFill>
                <a:latin typeface="Calibri"/>
                <a:ea typeface="Calibri"/>
                <a:cs typeface="Calibri"/>
              </a:rPr>
              <a:t>=1</a:t>
            </a:r>
            <a:endParaRPr lang="en-US" sz="1100" b="1" dirty="0">
              <a:solidFill>
                <a:srgbClr val="4A90D9"/>
              </a:solidFill>
              <a:latin typeface="Calibri"/>
              <a:ea typeface="Calibri"/>
              <a:cs typeface="Calibri"/>
            </a:endParaRPr>
          </a:p>
        </p:txBody>
      </p:sp>
      <p:sp>
        <p:nvSpPr>
          <p:cNvPr id="33" name="Shape 19">
            <a:extLst>
              <a:ext uri="{FF2B5EF4-FFF2-40B4-BE49-F238E27FC236}">
                <a16:creationId xmlns:a16="http://schemas.microsoft.com/office/drawing/2014/main" id="{0F339DD8-3706-A91C-A0F9-4AB50C799498}"/>
              </a:ext>
            </a:extLst>
          </p:cNvPr>
          <p:cNvSpPr/>
          <p:nvPr/>
        </p:nvSpPr>
        <p:spPr>
          <a:xfrm>
            <a:off x="240792" y="1973580"/>
            <a:ext cx="8670036" cy="374904"/>
          </a:xfrm>
          <a:prstGeom prst="rect">
            <a:avLst/>
          </a:prstGeom>
          <a:solidFill>
            <a:srgbClr val="4A90D9"/>
          </a:solidFill>
          <a:ln w="12700">
            <a:solidFill>
              <a:srgbClr val="4A90D9"/>
            </a:solidFill>
            <a:prstDash val="solid"/>
          </a:ln>
        </p:spPr>
        <p:txBody>
          <a:bodyPr/>
          <a:lstStyle/>
          <a:p>
            <a:endParaRPr lang="fr-FR"/>
          </a:p>
        </p:txBody>
      </p:sp>
      <p:sp>
        <p:nvSpPr>
          <p:cNvPr id="35" name="Text 20">
            <a:extLst>
              <a:ext uri="{FF2B5EF4-FFF2-40B4-BE49-F238E27FC236}">
                <a16:creationId xmlns:a16="http://schemas.microsoft.com/office/drawing/2014/main" id="{C53663DF-73B6-DA64-576E-AA8B43194D05}"/>
              </a:ext>
            </a:extLst>
          </p:cNvPr>
          <p:cNvSpPr/>
          <p:nvPr/>
        </p:nvSpPr>
        <p:spPr>
          <a:xfrm>
            <a:off x="2633472" y="1973580"/>
            <a:ext cx="3244596" cy="374904"/>
          </a:xfrm>
          <a:prstGeom prst="rect">
            <a:avLst/>
          </a:prstGeom>
          <a:noFill/>
          <a:ln/>
        </p:spPr>
        <p:txBody>
          <a:bodyPr wrap="square" lIns="0" tIns="0" rIns="0" bIns="0" rtlCol="0" anchor="ctr"/>
          <a:lstStyle/>
          <a:p>
            <a:pPr algn="ctr"/>
            <a:endParaRPr lang="en-US" sz="1100" b="1" dirty="0">
              <a:solidFill>
                <a:srgbClr val="FFFFFF"/>
              </a:solidFill>
              <a:latin typeface="Calibri"/>
              <a:ea typeface="Calibri"/>
              <a:cs typeface="Calibri"/>
            </a:endParaRPr>
          </a:p>
          <a:p>
            <a:pPr algn="ctr"/>
            <a:r>
              <a:rPr lang="en-US" sz="1100" b="1" dirty="0" err="1">
                <a:solidFill>
                  <a:srgbClr val="FFFFFF"/>
                </a:solidFill>
                <a:latin typeface="Calibri"/>
                <a:ea typeface="Calibri"/>
                <a:cs typeface="Calibri"/>
              </a:rPr>
              <a:t>Résultats</a:t>
            </a:r>
            <a:r>
              <a:rPr lang="en-US" sz="1100" b="1" dirty="0">
                <a:solidFill>
                  <a:srgbClr val="FFFFFF"/>
                </a:solidFill>
                <a:latin typeface="Calibri"/>
                <a:ea typeface="Calibri"/>
                <a:cs typeface="Calibri"/>
              </a:rPr>
              <a:t> sur le jeu de test (1 034 messages)</a:t>
            </a:r>
            <a:endParaRPr lang="en-US" sz="1100" dirty="0">
              <a:solidFill>
                <a:srgbClr val="000000"/>
              </a:solidFill>
              <a:latin typeface="Calibri"/>
              <a:ea typeface="Calibri"/>
              <a:cs typeface="Calibri"/>
            </a:endParaRPr>
          </a:p>
          <a:p>
            <a:pPr marL="0" indent="0" algn="ctr">
              <a:buNone/>
            </a:pPr>
            <a:endParaRPr lang="en-US" sz="1200" b="1" dirty="0">
              <a:solidFill>
                <a:srgbClr val="FFFFFF"/>
              </a:solidFill>
              <a:ea typeface="Calibri"/>
              <a:cs typeface="Calibri"/>
            </a:endParaRPr>
          </a:p>
        </p:txBody>
      </p:sp>
      <p:sp>
        <p:nvSpPr>
          <p:cNvPr id="37" name="Text 25">
            <a:extLst>
              <a:ext uri="{FF2B5EF4-FFF2-40B4-BE49-F238E27FC236}">
                <a16:creationId xmlns:a16="http://schemas.microsoft.com/office/drawing/2014/main" id="{CD8422D3-DA07-1939-26F1-29DEA2BDD22C}"/>
              </a:ext>
            </a:extLst>
          </p:cNvPr>
          <p:cNvSpPr/>
          <p:nvPr/>
        </p:nvSpPr>
        <p:spPr>
          <a:xfrm>
            <a:off x="16809" y="3057054"/>
            <a:ext cx="1325880" cy="502920"/>
          </a:xfrm>
          <a:prstGeom prst="rect">
            <a:avLst/>
          </a:prstGeom>
          <a:noFill/>
          <a:ln/>
        </p:spPr>
        <p:txBody>
          <a:bodyPr wrap="square" lIns="91440" tIns="45720" rIns="91440" bIns="45720" rtlCol="0" anchor="ctr"/>
          <a:lstStyle/>
          <a:p>
            <a:pPr marL="0" indent="0" algn="ctr">
              <a:buNone/>
            </a:pPr>
            <a:r>
              <a:rPr lang="en-US" sz="2000" b="1">
                <a:solidFill>
                  <a:srgbClr val="4682B4"/>
                </a:solidFill>
                <a:latin typeface="Calibri"/>
                <a:ea typeface="Calibri"/>
                <a:cs typeface="Calibri"/>
              </a:rPr>
              <a:t>97 %</a:t>
            </a:r>
            <a:endParaRPr lang="en-US" sz="2000">
              <a:latin typeface="Calibri"/>
              <a:ea typeface="Calibri"/>
              <a:cs typeface="Calibri"/>
            </a:endParaRPr>
          </a:p>
        </p:txBody>
      </p:sp>
      <p:sp>
        <p:nvSpPr>
          <p:cNvPr id="39" name="Text 26">
            <a:extLst>
              <a:ext uri="{FF2B5EF4-FFF2-40B4-BE49-F238E27FC236}">
                <a16:creationId xmlns:a16="http://schemas.microsoft.com/office/drawing/2014/main" id="{F5A80B91-76C2-D390-136C-0747391AA526}"/>
              </a:ext>
            </a:extLst>
          </p:cNvPr>
          <p:cNvSpPr/>
          <p:nvPr/>
        </p:nvSpPr>
        <p:spPr>
          <a:xfrm>
            <a:off x="16809" y="3550830"/>
            <a:ext cx="1325880" cy="237744"/>
          </a:xfrm>
          <a:prstGeom prst="rect">
            <a:avLst/>
          </a:prstGeom>
          <a:noFill/>
          <a:ln/>
        </p:spPr>
        <p:txBody>
          <a:bodyPr wrap="square" lIns="91440" tIns="45720" rIns="91440" bIns="45720" rtlCol="0" anchor="ctr"/>
          <a:lstStyle/>
          <a:p>
            <a:pPr marL="0" indent="0" algn="ctr">
              <a:buNone/>
            </a:pPr>
            <a:r>
              <a:rPr lang="en-US" sz="1000">
                <a:solidFill>
                  <a:srgbClr val="64748B"/>
                </a:solidFill>
                <a:latin typeface="Calibri"/>
                <a:ea typeface="Calibri"/>
                <a:cs typeface="Calibri"/>
              </a:rPr>
              <a:t>Precision</a:t>
            </a:r>
            <a:endParaRPr lang="fr-FR"/>
          </a:p>
        </p:txBody>
      </p:sp>
      <p:sp>
        <p:nvSpPr>
          <p:cNvPr id="41" name="Text 27">
            <a:extLst>
              <a:ext uri="{FF2B5EF4-FFF2-40B4-BE49-F238E27FC236}">
                <a16:creationId xmlns:a16="http://schemas.microsoft.com/office/drawing/2014/main" id="{58B2032C-2637-91C2-574C-A2463D8E9172}"/>
              </a:ext>
            </a:extLst>
          </p:cNvPr>
          <p:cNvSpPr/>
          <p:nvPr/>
        </p:nvSpPr>
        <p:spPr>
          <a:xfrm>
            <a:off x="1388409" y="3057054"/>
            <a:ext cx="1325880" cy="502920"/>
          </a:xfrm>
          <a:prstGeom prst="rect">
            <a:avLst/>
          </a:prstGeom>
          <a:noFill/>
          <a:ln/>
        </p:spPr>
        <p:txBody>
          <a:bodyPr wrap="square" lIns="91440" tIns="45720" rIns="91440" bIns="45720" rtlCol="0" anchor="ctr"/>
          <a:lstStyle/>
          <a:p>
            <a:pPr marL="0" indent="0" algn="ctr">
              <a:buNone/>
            </a:pPr>
            <a:r>
              <a:rPr lang="en-US" sz="2000" b="1">
                <a:solidFill>
                  <a:srgbClr val="1E2761"/>
                </a:solidFill>
                <a:latin typeface="Calibri"/>
                <a:ea typeface="Calibri"/>
                <a:cs typeface="Calibri"/>
              </a:rPr>
              <a:t>97 %</a:t>
            </a:r>
            <a:endParaRPr lang="en-US" sz="2000">
              <a:latin typeface="Calibri"/>
              <a:ea typeface="Calibri"/>
              <a:cs typeface="Calibri"/>
            </a:endParaRPr>
          </a:p>
        </p:txBody>
      </p:sp>
      <p:sp>
        <p:nvSpPr>
          <p:cNvPr id="43" name="Text 28">
            <a:extLst>
              <a:ext uri="{FF2B5EF4-FFF2-40B4-BE49-F238E27FC236}">
                <a16:creationId xmlns:a16="http://schemas.microsoft.com/office/drawing/2014/main" id="{7AD846D2-2F3F-6A6E-8715-E1A2F052558F}"/>
              </a:ext>
            </a:extLst>
          </p:cNvPr>
          <p:cNvSpPr/>
          <p:nvPr/>
        </p:nvSpPr>
        <p:spPr>
          <a:xfrm>
            <a:off x="1388409" y="3550830"/>
            <a:ext cx="1325880" cy="237744"/>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F1-Score</a:t>
            </a:r>
            <a:endParaRPr lang="en-US" sz="1000" dirty="0"/>
          </a:p>
        </p:txBody>
      </p:sp>
      <p:sp>
        <p:nvSpPr>
          <p:cNvPr id="45" name="Text 29">
            <a:extLst>
              <a:ext uri="{FF2B5EF4-FFF2-40B4-BE49-F238E27FC236}">
                <a16:creationId xmlns:a16="http://schemas.microsoft.com/office/drawing/2014/main" id="{D227CD4C-D65A-D0BC-584A-6AE9A9384B4C}"/>
              </a:ext>
            </a:extLst>
          </p:cNvPr>
          <p:cNvSpPr/>
          <p:nvPr/>
        </p:nvSpPr>
        <p:spPr>
          <a:xfrm>
            <a:off x="2760009" y="3057054"/>
            <a:ext cx="1325880" cy="502920"/>
          </a:xfrm>
          <a:prstGeom prst="rect">
            <a:avLst/>
          </a:prstGeom>
          <a:noFill/>
          <a:ln/>
        </p:spPr>
        <p:txBody>
          <a:bodyPr wrap="square" lIns="91440" tIns="45720" rIns="91440" bIns="45720" rtlCol="0" anchor="ctr"/>
          <a:lstStyle/>
          <a:p>
            <a:pPr algn="ctr"/>
            <a:r>
              <a:rPr lang="en-US" sz="2000" b="1">
                <a:solidFill>
                  <a:srgbClr val="1E2761"/>
                </a:solidFill>
                <a:latin typeface="Calibri"/>
                <a:ea typeface="Calibri"/>
                <a:cs typeface="Calibri"/>
              </a:rPr>
              <a:t>98 %</a:t>
            </a:r>
            <a:endParaRPr lang="en-US" sz="2000">
              <a:latin typeface="Calibri"/>
              <a:ea typeface="Calibri"/>
              <a:cs typeface="Calibri"/>
            </a:endParaRPr>
          </a:p>
        </p:txBody>
      </p:sp>
      <p:sp>
        <p:nvSpPr>
          <p:cNvPr id="47" name="Text 30">
            <a:extLst>
              <a:ext uri="{FF2B5EF4-FFF2-40B4-BE49-F238E27FC236}">
                <a16:creationId xmlns:a16="http://schemas.microsoft.com/office/drawing/2014/main" id="{3408C284-9B5F-B2AA-30E7-D562140E3C55}"/>
              </a:ext>
            </a:extLst>
          </p:cNvPr>
          <p:cNvSpPr/>
          <p:nvPr/>
        </p:nvSpPr>
        <p:spPr>
          <a:xfrm>
            <a:off x="2760009" y="3550830"/>
            <a:ext cx="1325880" cy="237744"/>
          </a:xfrm>
          <a:prstGeom prst="rect">
            <a:avLst/>
          </a:prstGeom>
          <a:noFill/>
          <a:ln/>
        </p:spPr>
        <p:txBody>
          <a:bodyPr wrap="square" lIns="91440" tIns="45720" rIns="91440" bIns="45720" rtlCol="0" anchor="ctr"/>
          <a:lstStyle/>
          <a:p>
            <a:pPr marL="0" indent="0" algn="ctr">
              <a:buNone/>
            </a:pPr>
            <a:r>
              <a:rPr lang="en-US" sz="1000">
                <a:solidFill>
                  <a:srgbClr val="64748B"/>
                </a:solidFill>
                <a:latin typeface="Calibri"/>
                <a:ea typeface="Calibri"/>
                <a:cs typeface="Calibri"/>
              </a:rPr>
              <a:t>Recall</a:t>
            </a:r>
            <a:endParaRPr lang="fr-FR"/>
          </a:p>
        </p:txBody>
      </p:sp>
      <p:sp>
        <p:nvSpPr>
          <p:cNvPr id="51" name="Shape 2">
            <a:extLst>
              <a:ext uri="{FF2B5EF4-FFF2-40B4-BE49-F238E27FC236}">
                <a16:creationId xmlns:a16="http://schemas.microsoft.com/office/drawing/2014/main" id="{E3F04A85-D6D8-F3E1-92A2-4A874507D170}"/>
              </a:ext>
            </a:extLst>
          </p:cNvPr>
          <p:cNvSpPr/>
          <p:nvPr/>
        </p:nvSpPr>
        <p:spPr>
          <a:xfrm>
            <a:off x="856914" y="835376"/>
            <a:ext cx="1572768" cy="475488"/>
          </a:xfrm>
          <a:prstGeom prst="rect">
            <a:avLst/>
          </a:prstGeom>
          <a:solidFill>
            <a:srgbClr val="64748B"/>
          </a:solidFill>
          <a:ln w="12700">
            <a:solidFill>
              <a:srgbClr val="64748B"/>
            </a:solidFill>
            <a:prstDash val="solid"/>
          </a:ln>
        </p:spPr>
        <p:txBody>
          <a:bodyPr/>
          <a:lstStyle/>
          <a:p>
            <a:endParaRPr lang="fr-FR"/>
          </a:p>
        </p:txBody>
      </p:sp>
      <p:sp>
        <p:nvSpPr>
          <p:cNvPr id="53" name="Text 3">
            <a:extLst>
              <a:ext uri="{FF2B5EF4-FFF2-40B4-BE49-F238E27FC236}">
                <a16:creationId xmlns:a16="http://schemas.microsoft.com/office/drawing/2014/main" id="{3A01FC0F-C159-F685-61B5-0A37F6246281}"/>
              </a:ext>
            </a:extLst>
          </p:cNvPr>
          <p:cNvSpPr/>
          <p:nvPr/>
        </p:nvSpPr>
        <p:spPr>
          <a:xfrm>
            <a:off x="858035" y="836497"/>
            <a:ext cx="1572768"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SMS original</a:t>
            </a:r>
            <a:endParaRPr lang="en-US" sz="1000" dirty="0"/>
          </a:p>
        </p:txBody>
      </p:sp>
      <p:sp>
        <p:nvSpPr>
          <p:cNvPr id="55" name="Shape 4">
            <a:extLst>
              <a:ext uri="{FF2B5EF4-FFF2-40B4-BE49-F238E27FC236}">
                <a16:creationId xmlns:a16="http://schemas.microsoft.com/office/drawing/2014/main" id="{84557ED9-097E-0D0B-678C-B15BB0AEB77E}"/>
              </a:ext>
            </a:extLst>
          </p:cNvPr>
          <p:cNvSpPr/>
          <p:nvPr/>
        </p:nvSpPr>
        <p:spPr>
          <a:xfrm>
            <a:off x="2429682" y="1045688"/>
            <a:ext cx="146304" cy="54864"/>
          </a:xfrm>
          <a:prstGeom prst="rect">
            <a:avLst/>
          </a:prstGeom>
          <a:solidFill>
            <a:srgbClr val="64748B"/>
          </a:solidFill>
          <a:ln w="12700">
            <a:solidFill>
              <a:srgbClr val="64748B"/>
            </a:solidFill>
            <a:prstDash val="solid"/>
          </a:ln>
        </p:spPr>
        <p:txBody>
          <a:bodyPr/>
          <a:lstStyle/>
          <a:p>
            <a:endParaRPr lang="fr-FR"/>
          </a:p>
        </p:txBody>
      </p:sp>
      <p:sp>
        <p:nvSpPr>
          <p:cNvPr id="63" name="Shape 8">
            <a:extLst>
              <a:ext uri="{FF2B5EF4-FFF2-40B4-BE49-F238E27FC236}">
                <a16:creationId xmlns:a16="http://schemas.microsoft.com/office/drawing/2014/main" id="{562FEA91-1D96-D4DB-0F3F-F816EE5ABF54}"/>
              </a:ext>
            </a:extLst>
          </p:cNvPr>
          <p:cNvSpPr/>
          <p:nvPr/>
        </p:nvSpPr>
        <p:spPr>
          <a:xfrm>
            <a:off x="2580558" y="852184"/>
            <a:ext cx="3295672" cy="458680"/>
          </a:xfrm>
          <a:prstGeom prst="rect">
            <a:avLst/>
          </a:prstGeom>
          <a:solidFill>
            <a:srgbClr val="4A90D9"/>
          </a:solidFill>
          <a:ln w="12700">
            <a:solidFill>
              <a:srgbClr val="4A90D9"/>
            </a:solidFill>
            <a:prstDash val="solid"/>
          </a:ln>
        </p:spPr>
        <p:txBody>
          <a:bodyPr/>
          <a:lstStyle/>
          <a:p>
            <a:endParaRPr lang="fr-FR"/>
          </a:p>
        </p:txBody>
      </p:sp>
      <p:sp>
        <p:nvSpPr>
          <p:cNvPr id="65" name="Text 9">
            <a:extLst>
              <a:ext uri="{FF2B5EF4-FFF2-40B4-BE49-F238E27FC236}">
                <a16:creationId xmlns:a16="http://schemas.microsoft.com/office/drawing/2014/main" id="{90E23B15-28A4-B832-0B7F-50004F1CF1E1}"/>
              </a:ext>
            </a:extLst>
          </p:cNvPr>
          <p:cNvSpPr/>
          <p:nvPr/>
        </p:nvSpPr>
        <p:spPr>
          <a:xfrm>
            <a:off x="3228818" y="844901"/>
            <a:ext cx="2009797" cy="483892"/>
          </a:xfrm>
          <a:prstGeom prst="rect">
            <a:avLst/>
          </a:prstGeom>
          <a:noFill/>
          <a:ln/>
        </p:spPr>
        <p:txBody>
          <a:bodyPr wrap="square" lIns="91440" tIns="45720" rIns="91440" bIns="45720" rtlCol="0" anchor="ctr"/>
          <a:lstStyle/>
          <a:p>
            <a:pPr algn="ctr"/>
            <a:r>
              <a:rPr lang="en-US" sz="1000" b="1" dirty="0" err="1">
                <a:solidFill>
                  <a:srgbClr val="FFFFFF"/>
                </a:solidFill>
                <a:latin typeface="Calibri"/>
                <a:ea typeface="Calibri"/>
                <a:cs typeface="Calibri"/>
              </a:rPr>
              <a:t>RoBERTa</a:t>
            </a:r>
            <a:r>
              <a:rPr lang="en-US" sz="1000" b="1" dirty="0">
                <a:solidFill>
                  <a:srgbClr val="FFFFFF"/>
                </a:solidFill>
                <a:latin typeface="Calibri"/>
                <a:ea typeface="Calibri"/>
                <a:cs typeface="Calibri"/>
              </a:rPr>
              <a:t> Fine Tuned</a:t>
            </a:r>
            <a:endParaRPr lang="en-US" sz="1000" dirty="0"/>
          </a:p>
        </p:txBody>
      </p:sp>
      <p:sp>
        <p:nvSpPr>
          <p:cNvPr id="67" name="Shape 13">
            <a:extLst>
              <a:ext uri="{FF2B5EF4-FFF2-40B4-BE49-F238E27FC236}">
                <a16:creationId xmlns:a16="http://schemas.microsoft.com/office/drawing/2014/main" id="{80865FB9-4BB5-4374-C4F0-F6D3F4778904}"/>
              </a:ext>
            </a:extLst>
          </p:cNvPr>
          <p:cNvSpPr/>
          <p:nvPr/>
        </p:nvSpPr>
        <p:spPr>
          <a:xfrm>
            <a:off x="5880018" y="1053308"/>
            <a:ext cx="176784" cy="54864"/>
          </a:xfrm>
          <a:prstGeom prst="rect">
            <a:avLst/>
          </a:prstGeom>
          <a:solidFill>
            <a:srgbClr val="64748B"/>
          </a:solidFill>
          <a:ln w="12700">
            <a:solidFill>
              <a:srgbClr val="64748B"/>
            </a:solidFill>
            <a:prstDash val="solid"/>
          </a:ln>
        </p:spPr>
        <p:txBody>
          <a:bodyPr/>
          <a:lstStyle/>
          <a:p>
            <a:endParaRPr lang="fr-FR"/>
          </a:p>
        </p:txBody>
      </p:sp>
      <p:sp>
        <p:nvSpPr>
          <p:cNvPr id="69" name="Shape 14">
            <a:extLst>
              <a:ext uri="{FF2B5EF4-FFF2-40B4-BE49-F238E27FC236}">
                <a16:creationId xmlns:a16="http://schemas.microsoft.com/office/drawing/2014/main" id="{345BE4C4-2FB1-79CB-6930-BB76CC82A104}"/>
              </a:ext>
            </a:extLst>
          </p:cNvPr>
          <p:cNvSpPr/>
          <p:nvPr/>
        </p:nvSpPr>
        <p:spPr>
          <a:xfrm>
            <a:off x="6026322" y="842996"/>
            <a:ext cx="1930908" cy="475488"/>
          </a:xfrm>
          <a:prstGeom prst="rect">
            <a:avLst/>
          </a:prstGeom>
          <a:solidFill>
            <a:srgbClr val="1E2761"/>
          </a:solidFill>
          <a:ln w="12700">
            <a:solidFill>
              <a:srgbClr val="1E2761"/>
            </a:solidFill>
            <a:prstDash val="solid"/>
          </a:ln>
        </p:spPr>
        <p:txBody>
          <a:bodyPr/>
          <a:lstStyle/>
          <a:p>
            <a:endParaRPr lang="fr-FR"/>
          </a:p>
        </p:txBody>
      </p:sp>
      <p:sp>
        <p:nvSpPr>
          <p:cNvPr id="71" name="Text 15">
            <a:extLst>
              <a:ext uri="{FF2B5EF4-FFF2-40B4-BE49-F238E27FC236}">
                <a16:creationId xmlns:a16="http://schemas.microsoft.com/office/drawing/2014/main" id="{8B0874D9-43AE-AAE6-1EE6-73B18E4E8367}"/>
              </a:ext>
            </a:extLst>
          </p:cNvPr>
          <p:cNvSpPr/>
          <p:nvPr/>
        </p:nvSpPr>
        <p:spPr>
          <a:xfrm>
            <a:off x="6052656" y="869330"/>
            <a:ext cx="1930908" cy="475488"/>
          </a:xfrm>
          <a:prstGeom prst="rect">
            <a:avLst/>
          </a:prstGeom>
          <a:noFill/>
          <a:ln/>
        </p:spPr>
        <p:txBody>
          <a:bodyPr wrap="square" lIns="91440" tIns="45720" rIns="91440" bIns="45720" rtlCol="0" anchor="ctr"/>
          <a:lstStyle/>
          <a:p>
            <a:pPr algn="ctr"/>
            <a:r>
              <a:rPr lang="en-US" sz="1000" b="1" dirty="0">
                <a:solidFill>
                  <a:srgbClr val="FFFFFF"/>
                </a:solidFill>
                <a:latin typeface="Calibri"/>
                <a:ea typeface="Calibri"/>
                <a:cs typeface="Calibri"/>
              </a:rPr>
              <a:t>Tête de </a:t>
            </a:r>
            <a:r>
              <a:rPr lang="en-US" sz="1000" b="1" err="1">
                <a:solidFill>
                  <a:srgbClr val="FFFFFF"/>
                </a:solidFill>
                <a:latin typeface="Calibri"/>
                <a:ea typeface="Calibri"/>
                <a:cs typeface="Calibri"/>
              </a:rPr>
              <a:t>classificatio</a:t>
            </a:r>
            <a:r>
              <a:rPr lang="en-US" sz="1000" b="1">
                <a:solidFill>
                  <a:srgbClr val="FFFFFF"/>
                </a:solidFill>
                <a:latin typeface="Calibri"/>
                <a:ea typeface="Calibri"/>
                <a:cs typeface="Calibri"/>
              </a:rPr>
              <a:t>n à deux classes</a:t>
            </a:r>
            <a:endParaRPr lang="fr-FR"/>
          </a:p>
        </p:txBody>
      </p:sp>
      <p:pic>
        <p:nvPicPr>
          <p:cNvPr id="4" name="Picture 3">
            <a:extLst>
              <a:ext uri="{FF2B5EF4-FFF2-40B4-BE49-F238E27FC236}">
                <a16:creationId xmlns:a16="http://schemas.microsoft.com/office/drawing/2014/main" id="{5B9B288D-0191-C96D-0FA8-723318391B05}"/>
              </a:ext>
            </a:extLst>
          </p:cNvPr>
          <p:cNvPicPr>
            <a:picLocks noChangeAspect="1"/>
          </p:cNvPicPr>
          <p:nvPr/>
        </p:nvPicPr>
        <p:blipFill>
          <a:blip r:embed="rId2"/>
          <a:stretch>
            <a:fillRect/>
          </a:stretch>
        </p:blipFill>
        <p:spPr>
          <a:xfrm>
            <a:off x="4080069" y="2355578"/>
            <a:ext cx="5054057" cy="2788038"/>
          </a:xfrm>
          <a:prstGeom prst="rect">
            <a:avLst/>
          </a:prstGeom>
        </p:spPr>
      </p:pic>
    </p:spTree>
    <p:extLst>
      <p:ext uri="{BB962C8B-B14F-4D97-AF65-F5344CB8AC3E}">
        <p14:creationId xmlns:p14="http://schemas.microsoft.com/office/powerpoint/2010/main" val="2254483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txBody>
          <a:bodyPr/>
          <a:lstStyle/>
          <a:p>
            <a:endParaRPr lang="fr-FR"/>
          </a:p>
        </p:txBody>
      </p:sp>
      <p:sp>
        <p:nvSpPr>
          <p:cNvPr id="3" name="Text 1"/>
          <p:cNvSpPr/>
          <p:nvPr/>
        </p:nvSpPr>
        <p:spPr>
          <a:xfrm>
            <a:off x="347472" y="0"/>
            <a:ext cx="8503920" cy="65836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Comparaison des performances et recommandation</a:t>
            </a:r>
            <a:endParaRPr lang="en-US" sz="2100" dirty="0"/>
          </a:p>
        </p:txBody>
      </p:sp>
      <p:graphicFrame>
        <p:nvGraphicFramePr>
          <p:cNvPr id="15" name="Table 14">
            <a:extLst>
              <a:ext uri="{FF2B5EF4-FFF2-40B4-BE49-F238E27FC236}">
                <a16:creationId xmlns:a16="http://schemas.microsoft.com/office/drawing/2014/main" id="{D41C6841-FE0B-4EF7-243A-189060B5DDF2}"/>
              </a:ext>
            </a:extLst>
          </p:cNvPr>
          <p:cNvGraphicFramePr>
            <a:graphicFrameLocks noGrp="1"/>
          </p:cNvGraphicFramePr>
          <p:nvPr>
            <p:extLst>
              <p:ext uri="{D42A27DB-BD31-4B8C-83A1-F6EECF244321}">
                <p14:modId xmlns:p14="http://schemas.microsoft.com/office/powerpoint/2010/main" val="1108935451"/>
              </p:ext>
            </p:extLst>
          </p:nvPr>
        </p:nvGraphicFramePr>
        <p:xfrm>
          <a:off x="1843592" y="924082"/>
          <a:ext cx="5120640" cy="148336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3817136190"/>
                    </a:ext>
                  </a:extLst>
                </a:gridCol>
                <a:gridCol w="1280160">
                  <a:extLst>
                    <a:ext uri="{9D8B030D-6E8A-4147-A177-3AD203B41FA5}">
                      <a16:colId xmlns:a16="http://schemas.microsoft.com/office/drawing/2014/main" val="4181806406"/>
                    </a:ext>
                  </a:extLst>
                </a:gridCol>
                <a:gridCol w="1280160">
                  <a:extLst>
                    <a:ext uri="{9D8B030D-6E8A-4147-A177-3AD203B41FA5}">
                      <a16:colId xmlns:a16="http://schemas.microsoft.com/office/drawing/2014/main" val="972862489"/>
                    </a:ext>
                  </a:extLst>
                </a:gridCol>
                <a:gridCol w="1280160">
                  <a:extLst>
                    <a:ext uri="{9D8B030D-6E8A-4147-A177-3AD203B41FA5}">
                      <a16:colId xmlns:a16="http://schemas.microsoft.com/office/drawing/2014/main" val="209499998"/>
                    </a:ext>
                  </a:extLst>
                </a:gridCol>
              </a:tblGrid>
              <a:tr h="370840">
                <a:tc>
                  <a:txBody>
                    <a:bodyPr/>
                    <a:lstStyle/>
                    <a:p>
                      <a:r>
                        <a:rPr lang="en-US" dirty="0" err="1"/>
                        <a:t>Métrique</a:t>
                      </a:r>
                    </a:p>
                  </a:txBody>
                  <a:tcPr/>
                </a:tc>
                <a:tc>
                  <a:txBody>
                    <a:bodyPr/>
                    <a:lstStyle/>
                    <a:p>
                      <a:r>
                        <a:rPr lang="en-US"/>
                        <a:t>Baseline</a:t>
                      </a:r>
                      <a:endParaRPr lang="en-US" dirty="0"/>
                    </a:p>
                  </a:txBody>
                  <a:tcPr/>
                </a:tc>
                <a:tc>
                  <a:txBody>
                    <a:bodyPr/>
                    <a:lstStyle/>
                    <a:p>
                      <a:r>
                        <a:rPr lang="en-US" dirty="0" err="1"/>
                        <a:t>DistilBERT</a:t>
                      </a:r>
                    </a:p>
                  </a:txBody>
                  <a:tcPr/>
                </a:tc>
                <a:tc>
                  <a:txBody>
                    <a:bodyPr/>
                    <a:lstStyle/>
                    <a:p>
                      <a:r>
                        <a:rPr lang="en-US" dirty="0" err="1"/>
                        <a:t>RoBERTa</a:t>
                      </a:r>
                    </a:p>
                  </a:txBody>
                  <a:tcPr/>
                </a:tc>
                <a:extLst>
                  <a:ext uri="{0D108BD9-81ED-4DB2-BD59-A6C34878D82A}">
                    <a16:rowId xmlns:a16="http://schemas.microsoft.com/office/drawing/2014/main" val="2086787281"/>
                  </a:ext>
                </a:extLst>
              </a:tr>
              <a:tr h="370840">
                <a:tc>
                  <a:txBody>
                    <a:bodyPr/>
                    <a:lstStyle/>
                    <a:p>
                      <a:r>
                        <a:rPr lang="en-US"/>
                        <a:t>F1_score</a:t>
                      </a:r>
                    </a:p>
                  </a:txBody>
                  <a:tcPr/>
                </a:tc>
                <a:tc>
                  <a:txBody>
                    <a:bodyPr/>
                    <a:lstStyle/>
                    <a:p>
                      <a:pPr algn="ctr"/>
                      <a:r>
                        <a:rPr lang="en-US"/>
                        <a:t>91%</a:t>
                      </a:r>
                    </a:p>
                  </a:txBody>
                  <a:tcPr/>
                </a:tc>
                <a:tc>
                  <a:txBody>
                    <a:bodyPr/>
                    <a:lstStyle/>
                    <a:p>
                      <a:pPr algn="ctr"/>
                      <a:r>
                        <a:rPr lang="en-US"/>
                        <a:t>97%</a:t>
                      </a:r>
                    </a:p>
                  </a:txBody>
                  <a:tcPr/>
                </a:tc>
                <a:tc>
                  <a:txBody>
                    <a:bodyPr/>
                    <a:lstStyle/>
                    <a:p>
                      <a:pPr lvl="0" algn="ctr">
                        <a:buNone/>
                      </a:pPr>
                      <a:r>
                        <a:rPr lang="en-US"/>
                        <a:t>97%</a:t>
                      </a:r>
                    </a:p>
                  </a:txBody>
                  <a:tcPr/>
                </a:tc>
                <a:extLst>
                  <a:ext uri="{0D108BD9-81ED-4DB2-BD59-A6C34878D82A}">
                    <a16:rowId xmlns:a16="http://schemas.microsoft.com/office/drawing/2014/main" val="1067997300"/>
                  </a:ext>
                </a:extLst>
              </a:tr>
              <a:tr h="370840">
                <a:tc>
                  <a:txBody>
                    <a:bodyPr/>
                    <a:lstStyle/>
                    <a:p>
                      <a:pPr lvl="0">
                        <a:buNone/>
                      </a:pPr>
                      <a:r>
                        <a:rPr lang="en-US"/>
                        <a:t>Recall</a:t>
                      </a:r>
                    </a:p>
                  </a:txBody>
                  <a:tcPr/>
                </a:tc>
                <a:tc>
                  <a:txBody>
                    <a:bodyPr/>
                    <a:lstStyle/>
                    <a:p>
                      <a:pPr algn="ctr"/>
                      <a:r>
                        <a:rPr lang="en-US"/>
                        <a:t>90%</a:t>
                      </a:r>
                    </a:p>
                  </a:txBody>
                  <a:tcPr/>
                </a:tc>
                <a:tc>
                  <a:txBody>
                    <a:bodyPr/>
                    <a:lstStyle/>
                    <a:p>
                      <a:pPr algn="ctr"/>
                      <a:r>
                        <a:rPr lang="en-US"/>
                        <a:t>95%</a:t>
                      </a:r>
                    </a:p>
                  </a:txBody>
                  <a:tcPr/>
                </a:tc>
                <a:tc>
                  <a:txBody>
                    <a:bodyPr/>
                    <a:lstStyle/>
                    <a:p>
                      <a:pPr lvl="0" algn="ctr">
                        <a:buNone/>
                      </a:pPr>
                      <a:r>
                        <a:rPr lang="en-US"/>
                        <a:t>98%</a:t>
                      </a:r>
                    </a:p>
                  </a:txBody>
                  <a:tcPr/>
                </a:tc>
                <a:extLst>
                  <a:ext uri="{0D108BD9-81ED-4DB2-BD59-A6C34878D82A}">
                    <a16:rowId xmlns:a16="http://schemas.microsoft.com/office/drawing/2014/main" val="172267401"/>
                  </a:ext>
                </a:extLst>
              </a:tr>
              <a:tr h="370840">
                <a:tc>
                  <a:txBody>
                    <a:bodyPr/>
                    <a:lstStyle/>
                    <a:p>
                      <a:r>
                        <a:rPr lang="en-US"/>
                        <a:t>Precision</a:t>
                      </a:r>
                    </a:p>
                  </a:txBody>
                  <a:tcPr/>
                </a:tc>
                <a:tc>
                  <a:txBody>
                    <a:bodyPr/>
                    <a:lstStyle/>
                    <a:p>
                      <a:pPr algn="ctr"/>
                      <a:r>
                        <a:rPr lang="en-US"/>
                        <a:t>91%</a:t>
                      </a:r>
                    </a:p>
                  </a:txBody>
                  <a:tcPr/>
                </a:tc>
                <a:tc>
                  <a:txBody>
                    <a:bodyPr/>
                    <a:lstStyle/>
                    <a:p>
                      <a:pPr algn="ctr"/>
                      <a:r>
                        <a:rPr lang="en-US"/>
                        <a:t>98%</a:t>
                      </a:r>
                    </a:p>
                  </a:txBody>
                  <a:tcPr/>
                </a:tc>
                <a:tc>
                  <a:txBody>
                    <a:bodyPr/>
                    <a:lstStyle/>
                    <a:p>
                      <a:pPr lvl="0" algn="ctr">
                        <a:buNone/>
                      </a:pPr>
                      <a:r>
                        <a:rPr lang="en-US"/>
                        <a:t>97%</a:t>
                      </a:r>
                    </a:p>
                  </a:txBody>
                  <a:tcPr/>
                </a:tc>
                <a:extLst>
                  <a:ext uri="{0D108BD9-81ED-4DB2-BD59-A6C34878D82A}">
                    <a16:rowId xmlns:a16="http://schemas.microsoft.com/office/drawing/2014/main" val="89081773"/>
                  </a:ext>
                </a:extLst>
              </a:tr>
            </a:tbl>
          </a:graphicData>
        </a:graphic>
      </p:graphicFrame>
      <p:sp>
        <p:nvSpPr>
          <p:cNvPr id="17" name="TextBox 16">
            <a:extLst>
              <a:ext uri="{FF2B5EF4-FFF2-40B4-BE49-F238E27FC236}">
                <a16:creationId xmlns:a16="http://schemas.microsoft.com/office/drawing/2014/main" id="{0D172FDB-E58A-69FF-864E-C5AE6FAC6450}"/>
              </a:ext>
            </a:extLst>
          </p:cNvPr>
          <p:cNvSpPr txBox="1"/>
          <p:nvPr/>
        </p:nvSpPr>
        <p:spPr>
          <a:xfrm>
            <a:off x="243729" y="2832286"/>
            <a:ext cx="860611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solidFill>
                  <a:schemeClr val="accent1">
                    <a:lumMod val="49000"/>
                  </a:schemeClr>
                </a:solidFill>
                <a:ea typeface="Calibri"/>
                <a:cs typeface="Calibri"/>
              </a:rPr>
              <a:t>Les </a:t>
            </a:r>
            <a:r>
              <a:rPr lang="en-US" sz="1400" dirty="0" err="1">
                <a:solidFill>
                  <a:schemeClr val="accent1">
                    <a:lumMod val="49000"/>
                  </a:schemeClr>
                </a:solidFill>
                <a:ea typeface="Calibri"/>
                <a:cs typeface="Calibri"/>
              </a:rPr>
              <a:t>modèles</a:t>
            </a:r>
            <a:r>
              <a:rPr lang="en-US" sz="1400" dirty="0">
                <a:solidFill>
                  <a:schemeClr val="accent1">
                    <a:lumMod val="49000"/>
                  </a:schemeClr>
                </a:solidFill>
                <a:ea typeface="Calibri"/>
                <a:cs typeface="Calibri"/>
              </a:rPr>
              <a:t> de types BERT </a:t>
            </a:r>
            <a:r>
              <a:rPr lang="en-US" sz="1400" dirty="0" err="1">
                <a:solidFill>
                  <a:schemeClr val="accent1">
                    <a:lumMod val="49000"/>
                  </a:schemeClr>
                </a:solidFill>
                <a:ea typeface="Calibri"/>
                <a:cs typeface="Calibri"/>
              </a:rPr>
              <a:t>préentrainés</a:t>
            </a:r>
            <a:r>
              <a:rPr lang="en-US" sz="1400" dirty="0">
                <a:solidFill>
                  <a:schemeClr val="accent1">
                    <a:lumMod val="49000"/>
                  </a:schemeClr>
                </a:solidFill>
                <a:ea typeface="Calibri"/>
                <a:cs typeface="Calibri"/>
              </a:rPr>
              <a:t> </a:t>
            </a:r>
            <a:r>
              <a:rPr lang="en-US" sz="1400" dirty="0" err="1">
                <a:solidFill>
                  <a:schemeClr val="accent1">
                    <a:lumMod val="49000"/>
                  </a:schemeClr>
                </a:solidFill>
                <a:ea typeface="Calibri"/>
                <a:cs typeface="Calibri"/>
              </a:rPr>
              <a:t>sont</a:t>
            </a:r>
            <a:r>
              <a:rPr lang="en-US" sz="1400" dirty="0">
                <a:solidFill>
                  <a:schemeClr val="accent1">
                    <a:lumMod val="49000"/>
                  </a:schemeClr>
                </a:solidFill>
                <a:ea typeface="Calibri"/>
                <a:cs typeface="Calibri"/>
              </a:rPr>
              <a:t> plus performant </a:t>
            </a:r>
            <a:r>
              <a:rPr lang="en-US" sz="1400" dirty="0" err="1">
                <a:solidFill>
                  <a:schemeClr val="accent1">
                    <a:lumMod val="49000"/>
                  </a:schemeClr>
                </a:solidFill>
                <a:ea typeface="Calibri"/>
                <a:cs typeface="Calibri"/>
              </a:rPr>
              <a:t>que</a:t>
            </a:r>
            <a:r>
              <a:rPr lang="en-US" sz="1400" dirty="0">
                <a:solidFill>
                  <a:schemeClr val="accent1">
                    <a:lumMod val="49000"/>
                  </a:schemeClr>
                </a:solidFill>
                <a:ea typeface="Calibri"/>
                <a:cs typeface="Calibri"/>
              </a:rPr>
              <a:t> le </a:t>
            </a:r>
            <a:r>
              <a:rPr lang="en-US" sz="1400" dirty="0" err="1">
                <a:solidFill>
                  <a:schemeClr val="accent1">
                    <a:lumMod val="49000"/>
                  </a:schemeClr>
                </a:solidFill>
                <a:ea typeface="Calibri"/>
                <a:cs typeface="Calibri"/>
              </a:rPr>
              <a:t>modèle</a:t>
            </a:r>
            <a:r>
              <a:rPr lang="en-US" sz="1400" dirty="0">
                <a:solidFill>
                  <a:schemeClr val="accent1">
                    <a:lumMod val="49000"/>
                  </a:schemeClr>
                </a:solidFill>
                <a:ea typeface="Calibri"/>
                <a:cs typeface="Calibri"/>
              </a:rPr>
              <a:t> </a:t>
            </a:r>
            <a:r>
              <a:rPr lang="en-US" sz="1400" dirty="0" err="1">
                <a:solidFill>
                  <a:schemeClr val="accent1">
                    <a:lumMod val="49000"/>
                  </a:schemeClr>
                </a:solidFill>
                <a:ea typeface="Calibri"/>
                <a:cs typeface="Calibri"/>
              </a:rPr>
              <a:t>construit</a:t>
            </a:r>
            <a:r>
              <a:rPr lang="en-US" sz="1400" dirty="0">
                <a:solidFill>
                  <a:schemeClr val="accent1">
                    <a:lumMod val="49000"/>
                  </a:schemeClr>
                </a:solidFill>
                <a:ea typeface="Calibri"/>
                <a:cs typeface="Calibri"/>
              </a:rPr>
              <a:t>.</a:t>
            </a:r>
            <a:endParaRPr lang="en-US">
              <a:solidFill>
                <a:schemeClr val="accent1">
                  <a:lumMod val="49000"/>
                </a:schemeClr>
              </a:solidFill>
              <a:ea typeface="Calibri" panose="020F0502020204030204"/>
              <a:cs typeface="Calibri" panose="020F0502020204030204"/>
            </a:endParaRPr>
          </a:p>
          <a:p>
            <a:endParaRPr lang="en-US" sz="1400" dirty="0">
              <a:solidFill>
                <a:schemeClr val="accent1">
                  <a:lumMod val="49000"/>
                </a:schemeClr>
              </a:solidFill>
              <a:ea typeface="Calibri"/>
              <a:cs typeface="Calibri"/>
            </a:endParaRPr>
          </a:p>
          <a:p>
            <a:pPr marL="285750" indent="-285750">
              <a:buFont typeface="Arial"/>
              <a:buChar char="•"/>
            </a:pPr>
            <a:r>
              <a:rPr lang="en-US" sz="1400" dirty="0" err="1">
                <a:solidFill>
                  <a:schemeClr val="accent1">
                    <a:lumMod val="49000"/>
                  </a:schemeClr>
                </a:solidFill>
                <a:ea typeface="Calibri"/>
                <a:cs typeface="Calibri"/>
              </a:rPr>
              <a:t>RoBERTa</a:t>
            </a:r>
            <a:r>
              <a:rPr lang="en-US" sz="1400" dirty="0">
                <a:solidFill>
                  <a:schemeClr val="accent1">
                    <a:lumMod val="49000"/>
                  </a:schemeClr>
                </a:solidFill>
                <a:ea typeface="Calibri"/>
                <a:cs typeface="Calibri"/>
              </a:rPr>
              <a:t> a un </a:t>
            </a:r>
            <a:r>
              <a:rPr lang="en-US" sz="1400" dirty="0" err="1">
                <a:solidFill>
                  <a:schemeClr val="accent1">
                    <a:lumMod val="49000"/>
                  </a:schemeClr>
                </a:solidFill>
                <a:ea typeface="Calibri"/>
                <a:cs typeface="Calibri"/>
              </a:rPr>
              <a:t>meilleur</a:t>
            </a:r>
            <a:r>
              <a:rPr lang="en-US" sz="1400" dirty="0">
                <a:solidFill>
                  <a:schemeClr val="accent1">
                    <a:lumMod val="49000"/>
                  </a:schemeClr>
                </a:solidFill>
                <a:ea typeface="Calibri"/>
                <a:cs typeface="Calibri"/>
              </a:rPr>
              <a:t> score F1 </a:t>
            </a:r>
            <a:r>
              <a:rPr lang="en-US" sz="1400" dirty="0" err="1">
                <a:solidFill>
                  <a:schemeClr val="accent1">
                    <a:lumMod val="49000"/>
                  </a:schemeClr>
                </a:solidFill>
                <a:ea typeface="Calibri"/>
                <a:cs typeface="Calibri"/>
              </a:rPr>
              <a:t>que</a:t>
            </a:r>
            <a:r>
              <a:rPr lang="en-US" sz="1400" dirty="0">
                <a:solidFill>
                  <a:schemeClr val="accent1">
                    <a:lumMod val="49000"/>
                  </a:schemeClr>
                </a:solidFill>
                <a:ea typeface="Calibri"/>
                <a:cs typeface="Calibri"/>
              </a:rPr>
              <a:t> le </a:t>
            </a:r>
            <a:r>
              <a:rPr lang="en-US" sz="1400" dirty="0" err="1">
                <a:solidFill>
                  <a:schemeClr val="accent1">
                    <a:lumMod val="49000"/>
                  </a:schemeClr>
                </a:solidFill>
                <a:ea typeface="Calibri"/>
                <a:cs typeface="Calibri"/>
              </a:rPr>
              <a:t>distilBERT</a:t>
            </a:r>
            <a:r>
              <a:rPr lang="en-US" sz="1400" dirty="0">
                <a:solidFill>
                  <a:schemeClr val="accent1">
                    <a:lumMod val="49000"/>
                  </a:schemeClr>
                </a:solidFill>
                <a:ea typeface="Calibri"/>
                <a:cs typeface="Calibri"/>
              </a:rPr>
              <a:t>.</a:t>
            </a:r>
          </a:p>
          <a:p>
            <a:endParaRPr lang="en-US" sz="1400" dirty="0">
              <a:solidFill>
                <a:schemeClr val="accent1">
                  <a:lumMod val="49000"/>
                </a:schemeClr>
              </a:solidFill>
              <a:ea typeface="Calibri"/>
              <a:cs typeface="Calibri"/>
            </a:endParaRPr>
          </a:p>
          <a:p>
            <a:pPr marL="285750" indent="-285750">
              <a:buFont typeface="Arial"/>
              <a:buChar char="•"/>
            </a:pPr>
            <a:r>
              <a:rPr lang="en-US" sz="1400" dirty="0" err="1">
                <a:solidFill>
                  <a:schemeClr val="accent1">
                    <a:lumMod val="49000"/>
                  </a:schemeClr>
                </a:solidFill>
                <a:latin typeface="Calibri"/>
                <a:ea typeface="Calibri"/>
                <a:cs typeface="Calibri"/>
              </a:rPr>
              <a:t>Priorité</a:t>
            </a:r>
            <a:r>
              <a:rPr lang="en-US" sz="1400" dirty="0">
                <a:solidFill>
                  <a:schemeClr val="accent1">
                    <a:lumMod val="49000"/>
                  </a:schemeClr>
                </a:solidFill>
                <a:latin typeface="Calibri"/>
                <a:ea typeface="Calibri"/>
                <a:cs typeface="Calibri"/>
              </a:rPr>
              <a:t> à la </a:t>
            </a:r>
            <a:r>
              <a:rPr lang="en-US" sz="1400" dirty="0" err="1">
                <a:solidFill>
                  <a:schemeClr val="accent1">
                    <a:lumMod val="49000"/>
                  </a:schemeClr>
                </a:solidFill>
                <a:latin typeface="Calibri"/>
                <a:ea typeface="Calibri"/>
                <a:cs typeface="Calibri"/>
              </a:rPr>
              <a:t>vitesse</a:t>
            </a:r>
            <a:r>
              <a:rPr lang="en-US" sz="1400" dirty="0">
                <a:solidFill>
                  <a:schemeClr val="accent1">
                    <a:lumMod val="49000"/>
                  </a:schemeClr>
                </a:solidFill>
                <a:latin typeface="Calibri"/>
                <a:ea typeface="Calibri"/>
                <a:cs typeface="Calibri"/>
              </a:rPr>
              <a:t> </a:t>
            </a:r>
            <a:r>
              <a:rPr lang="en-US" sz="1400" dirty="0" err="1">
                <a:solidFill>
                  <a:schemeClr val="accent1">
                    <a:lumMod val="49000"/>
                  </a:schemeClr>
                </a:solidFill>
                <a:latin typeface="Calibri"/>
                <a:ea typeface="Calibri"/>
                <a:cs typeface="Calibri"/>
              </a:rPr>
              <a:t>d'inférence</a:t>
            </a:r>
            <a:r>
              <a:rPr lang="en-US" sz="1400" dirty="0">
                <a:solidFill>
                  <a:schemeClr val="accent1">
                    <a:lumMod val="49000"/>
                  </a:schemeClr>
                </a:solidFill>
                <a:latin typeface="Calibri"/>
                <a:ea typeface="Calibri"/>
                <a:cs typeface="Calibri"/>
              </a:rPr>
              <a:t> et à la </a:t>
            </a:r>
            <a:r>
              <a:rPr lang="en-US" sz="1400" dirty="0" err="1">
                <a:solidFill>
                  <a:schemeClr val="accent1">
                    <a:lumMod val="49000"/>
                  </a:schemeClr>
                </a:solidFill>
                <a:latin typeface="Calibri"/>
                <a:ea typeface="Calibri"/>
                <a:cs typeface="Calibri"/>
              </a:rPr>
              <a:t>légèreté</a:t>
            </a:r>
            <a:r>
              <a:rPr lang="en-US" sz="1400" dirty="0">
                <a:solidFill>
                  <a:schemeClr val="accent1">
                    <a:lumMod val="49000"/>
                  </a:schemeClr>
                </a:solidFill>
                <a:latin typeface="Calibri"/>
                <a:ea typeface="Calibri"/>
                <a:cs typeface="Calibri"/>
              </a:rPr>
              <a:t>: </a:t>
            </a:r>
            <a:r>
              <a:rPr lang="en-US" sz="1400" dirty="0" err="1">
                <a:solidFill>
                  <a:schemeClr val="accent1">
                    <a:lumMod val="49000"/>
                  </a:schemeClr>
                </a:solidFill>
                <a:latin typeface="Calibri"/>
                <a:ea typeface="Calibri"/>
                <a:cs typeface="Calibri"/>
              </a:rPr>
              <a:t>DistilBERT</a:t>
            </a:r>
            <a:r>
              <a:rPr lang="en-US" sz="1400" dirty="0">
                <a:solidFill>
                  <a:schemeClr val="accent1">
                    <a:lumMod val="49000"/>
                  </a:schemeClr>
                </a:solidFill>
                <a:latin typeface="Calibri"/>
                <a:ea typeface="Calibri"/>
                <a:cs typeface="Calibri"/>
              </a:rPr>
              <a:t> </a:t>
            </a:r>
            <a:r>
              <a:rPr lang="en-US" sz="1400" dirty="0" err="1">
                <a:solidFill>
                  <a:schemeClr val="accent1">
                    <a:lumMod val="49000"/>
                  </a:schemeClr>
                </a:solidFill>
                <a:latin typeface="Calibri"/>
                <a:ea typeface="Calibri"/>
                <a:cs typeface="Calibri"/>
              </a:rPr>
              <a:t>ou</a:t>
            </a:r>
            <a:r>
              <a:rPr lang="en-US" sz="1400" dirty="0">
                <a:solidFill>
                  <a:schemeClr val="accent1">
                    <a:lumMod val="49000"/>
                  </a:schemeClr>
                </a:solidFill>
                <a:latin typeface="Calibri"/>
                <a:ea typeface="Calibri"/>
                <a:cs typeface="Calibri"/>
              </a:rPr>
              <a:t> </a:t>
            </a:r>
            <a:r>
              <a:rPr lang="en-US" sz="1400" dirty="0" err="1">
                <a:solidFill>
                  <a:schemeClr val="accent1">
                    <a:lumMod val="49000"/>
                  </a:schemeClr>
                </a:solidFill>
                <a:latin typeface="Calibri"/>
                <a:ea typeface="Calibri"/>
                <a:cs typeface="Calibri"/>
              </a:rPr>
              <a:t>Embedding+MLP</a:t>
            </a:r>
            <a:r>
              <a:rPr lang="en-US" sz="1400" dirty="0">
                <a:solidFill>
                  <a:schemeClr val="accent1">
                    <a:lumMod val="49000"/>
                  </a:schemeClr>
                </a:solidFill>
                <a:latin typeface="Calibri"/>
                <a:ea typeface="Calibri"/>
                <a:cs typeface="Calibri"/>
              </a:rPr>
              <a:t>.</a:t>
            </a:r>
          </a:p>
          <a:p>
            <a:endParaRPr lang="en-US" sz="1400" dirty="0">
              <a:solidFill>
                <a:schemeClr val="accent1">
                  <a:lumMod val="49000"/>
                </a:schemeClr>
              </a:solidFill>
              <a:latin typeface="Calibri"/>
              <a:ea typeface="Calibri"/>
              <a:cs typeface="Calibri"/>
            </a:endParaRPr>
          </a:p>
          <a:p>
            <a:pPr marL="285750" indent="-285750">
              <a:buFont typeface="Arial"/>
              <a:buChar char="•"/>
            </a:pPr>
            <a:r>
              <a:rPr lang="en-US" sz="1400" dirty="0" err="1">
                <a:solidFill>
                  <a:schemeClr val="accent1">
                    <a:lumMod val="49000"/>
                  </a:schemeClr>
                </a:solidFill>
                <a:ea typeface="Calibri"/>
                <a:cs typeface="Calibri"/>
              </a:rPr>
              <a:t>Priorité</a:t>
            </a:r>
            <a:r>
              <a:rPr lang="en-US" sz="1400" dirty="0">
                <a:solidFill>
                  <a:schemeClr val="accent1">
                    <a:lumMod val="49000"/>
                  </a:schemeClr>
                </a:solidFill>
                <a:ea typeface="Calibri"/>
                <a:cs typeface="Calibri"/>
              </a:rPr>
              <a:t> à la performance: </a:t>
            </a:r>
            <a:r>
              <a:rPr lang="en-US" sz="1400" dirty="0" err="1">
                <a:solidFill>
                  <a:schemeClr val="accent1">
                    <a:lumMod val="49000"/>
                  </a:schemeClr>
                </a:solidFill>
                <a:ea typeface="Calibri"/>
                <a:cs typeface="Calibri"/>
              </a:rPr>
              <a:t>RoBERTa</a:t>
            </a:r>
            <a:r>
              <a:rPr lang="en-US" sz="1400" dirty="0">
                <a:solidFill>
                  <a:schemeClr val="accent1">
                    <a:lumMod val="49000"/>
                  </a:schemeClr>
                </a:solidFill>
                <a:ea typeface="Calibri"/>
                <a:cs typeface="Calibri"/>
              </a:rPr>
              <a:t> </a:t>
            </a:r>
            <a:r>
              <a:rPr lang="en-US" sz="1400" dirty="0" err="1">
                <a:solidFill>
                  <a:schemeClr val="accent1">
                    <a:lumMod val="49000"/>
                  </a:schemeClr>
                </a:solidFill>
                <a:ea typeface="Calibri"/>
                <a:cs typeface="Calibri"/>
              </a:rPr>
              <a:t>ou</a:t>
            </a:r>
            <a:r>
              <a:rPr lang="en-US" sz="1400" dirty="0">
                <a:solidFill>
                  <a:schemeClr val="accent1">
                    <a:lumMod val="49000"/>
                  </a:schemeClr>
                </a:solidFill>
                <a:ea typeface="Calibri"/>
                <a:cs typeface="Calibri"/>
              </a:rPr>
              <a:t> </a:t>
            </a:r>
            <a:r>
              <a:rPr lang="en-US" sz="1400" dirty="0" err="1">
                <a:solidFill>
                  <a:schemeClr val="accent1">
                    <a:lumMod val="49000"/>
                  </a:schemeClr>
                </a:solidFill>
                <a:ea typeface="Calibri"/>
                <a:cs typeface="Calibri"/>
              </a:rPr>
              <a:t>DistilBERT</a:t>
            </a:r>
            <a:r>
              <a:rPr lang="en-US" sz="1400" dirty="0">
                <a:solidFill>
                  <a:schemeClr val="accent1">
                    <a:lumMod val="49000"/>
                  </a:schemeClr>
                </a:solidFill>
                <a:ea typeface="Calibri"/>
                <a:cs typeface="Calibri"/>
              </a:rPr>
              <a:t>.</a:t>
            </a:r>
          </a:p>
          <a:p>
            <a:endParaRPr lang="en-US" sz="1400">
              <a:solidFill>
                <a:schemeClr val="accent1">
                  <a:lumMod val="49000"/>
                </a:schemeClr>
              </a:solidFill>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6243F"/>
        </a:solidFill>
        <a:effectLst/>
      </p:bgPr>
    </p:bg>
    <p:spTree>
      <p:nvGrpSpPr>
        <p:cNvPr id="1" name="">
          <a:extLst>
            <a:ext uri="{FF2B5EF4-FFF2-40B4-BE49-F238E27FC236}">
              <a16:creationId xmlns:a16="http://schemas.microsoft.com/office/drawing/2014/main" id="{ED40F566-DA33-AA0F-1A11-36B24D46CF2B}"/>
            </a:ext>
          </a:extLst>
        </p:cNvPr>
        <p:cNvGrpSpPr/>
        <p:nvPr/>
      </p:nvGrpSpPr>
      <p:grpSpPr>
        <a:xfrm>
          <a:off x="0" y="0"/>
          <a:ext cx="0" cy="0"/>
          <a:chOff x="0" y="0"/>
          <a:chExt cx="0" cy="0"/>
        </a:xfrm>
      </p:grpSpPr>
      <p:sp>
        <p:nvSpPr>
          <p:cNvPr id="12" name="Text 9">
            <a:extLst>
              <a:ext uri="{FF2B5EF4-FFF2-40B4-BE49-F238E27FC236}">
                <a16:creationId xmlns:a16="http://schemas.microsoft.com/office/drawing/2014/main" id="{602BB7FA-73DE-026D-2D1A-6B340C876417}"/>
              </a:ext>
            </a:extLst>
          </p:cNvPr>
          <p:cNvSpPr/>
          <p:nvPr/>
        </p:nvSpPr>
        <p:spPr>
          <a:xfrm>
            <a:off x="4972050" y="19202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0" name="Text 17">
            <a:extLst>
              <a:ext uri="{FF2B5EF4-FFF2-40B4-BE49-F238E27FC236}">
                <a16:creationId xmlns:a16="http://schemas.microsoft.com/office/drawing/2014/main" id="{526AA76A-A2AF-DFEC-FE76-9247A56B2D91}"/>
              </a:ext>
            </a:extLst>
          </p:cNvPr>
          <p:cNvSpPr/>
          <p:nvPr/>
        </p:nvSpPr>
        <p:spPr>
          <a:xfrm>
            <a:off x="4972050" y="29489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5" name="Slide Number Placeholder 0">
            <a:extLst>
              <a:ext uri="{FF2B5EF4-FFF2-40B4-BE49-F238E27FC236}">
                <a16:creationId xmlns:a16="http://schemas.microsoft.com/office/drawing/2014/main" id="{D2B8AEEA-B098-2027-1478-095929815361}"/>
              </a:ext>
            </a:extLst>
          </p:cNvPr>
          <p:cNvSpPr>
            <a:spLocks noGrp="1"/>
          </p:cNvSpPr>
          <p:nvPr>
            <p:ph type="sldNum" sz="quarter" idx="4294967295"/>
          </p:nvPr>
        </p:nvSpPr>
        <p:spPr>
          <a:xfrm>
            <a:off x="8572500" y="4841748"/>
            <a:ext cx="480060" cy="205740"/>
          </a:xfrm>
          <a:prstGeom prst="rect">
            <a:avLst/>
          </a:prstGeom>
          <a:extLst>
            <a:ext uri="{C572A759-6A51-4108-AA02-DFA0A04FC94B}">
              <ma14:wrappingTextBoxFlag xmlns="" xmlns:ma14="http://schemas.microsoft.com/office/mac/drawingml/2011/main" val="0"/>
            </a:ext>
          </a:extLst>
        </p:spPr>
        <p:txBody>
          <a:bodyPr/>
          <a:lstStyle>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algn="r"/>
            <a:fld id="{F7021451-1387-4CA6-816F-3879F97B5CBC}" type="slidenum">
              <a:rPr lang="fr-FR" b="0" noProof="0" smtClean="0"/>
              <a:t>8</a:t>
            </a:fld>
            <a:endParaRPr lang="fr-FR" noProof="0" dirty="0"/>
          </a:p>
        </p:txBody>
      </p:sp>
      <p:sp>
        <p:nvSpPr>
          <p:cNvPr id="24" name="ZoneTexte 23">
            <a:extLst>
              <a:ext uri="{FF2B5EF4-FFF2-40B4-BE49-F238E27FC236}">
                <a16:creationId xmlns:a16="http://schemas.microsoft.com/office/drawing/2014/main" id="{A543C3DC-317E-7A34-D33C-DD831E8BCDF6}"/>
              </a:ext>
            </a:extLst>
          </p:cNvPr>
          <p:cNvSpPr txBox="1"/>
          <p:nvPr/>
        </p:nvSpPr>
        <p:spPr>
          <a:xfrm>
            <a:off x="1565028" y="1799274"/>
            <a:ext cx="5104682" cy="1038746"/>
          </a:xfrm>
          <a:prstGeom prst="rect">
            <a:avLst/>
          </a:prstGeom>
          <a:noFill/>
        </p:spPr>
        <p:txBody>
          <a:bodyPr wrap="square" lIns="68580" tIns="34290" rIns="68580" bIns="34290" rtlCol="0" anchor="t">
            <a:sp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fr-FR" sz="2100">
                <a:solidFill>
                  <a:schemeClr val="bg1"/>
                </a:solidFill>
                <a:latin typeface="Cambria"/>
                <a:ea typeface="Cambria"/>
              </a:rPr>
              <a:t>Merci</a:t>
            </a:r>
            <a:r>
              <a:rPr lang="fr-FR" sz="2100" noProof="0">
                <a:solidFill>
                  <a:schemeClr val="bg1"/>
                </a:solidFill>
                <a:latin typeface="Cambria"/>
                <a:ea typeface="Cambria"/>
              </a:rPr>
              <a:t> de votre attention !</a:t>
            </a:r>
            <a:endParaRPr lang="fr-FR" sz="1013">
              <a:solidFill>
                <a:schemeClr val="bg1"/>
              </a:solidFill>
              <a:latin typeface="Cambria"/>
              <a:ea typeface="Cambria"/>
            </a:endParaRPr>
          </a:p>
          <a:p>
            <a:pPr algn="ctr"/>
            <a:endParaRPr lang="fr-FR" sz="2100" dirty="0">
              <a:solidFill>
                <a:schemeClr val="bg1"/>
              </a:solidFill>
              <a:latin typeface="Cambria"/>
              <a:ea typeface="Cambria"/>
            </a:endParaRPr>
          </a:p>
          <a:p>
            <a:pPr algn="ctr"/>
            <a:r>
              <a:rPr lang="fr-FR" sz="2100">
                <a:solidFill>
                  <a:schemeClr val="bg1"/>
                </a:solidFill>
                <a:latin typeface="Cambria"/>
                <a:ea typeface="Cambria"/>
              </a:rPr>
              <a:t>Des questions?</a:t>
            </a:r>
            <a:r>
              <a:rPr lang="fr-FR" sz="1000" noProof="0" dirty="0"/>
              <a:t> </a:t>
            </a:r>
            <a:endParaRPr lang="fr-FR" sz="1000" noProof="0" dirty="0">
              <a:ea typeface="Calibri"/>
              <a:cs typeface="Calibri"/>
            </a:endParaRPr>
          </a:p>
        </p:txBody>
      </p:sp>
      <p:sp>
        <p:nvSpPr>
          <p:cNvPr id="2" name="Shape 0">
            <a:extLst>
              <a:ext uri="{FF2B5EF4-FFF2-40B4-BE49-F238E27FC236}">
                <a16:creationId xmlns:a16="http://schemas.microsoft.com/office/drawing/2014/main" id="{AB2DBBB2-0054-B161-A744-D06F2F1E22AC}"/>
              </a:ext>
            </a:extLst>
          </p:cNvPr>
          <p:cNvSpPr/>
          <p:nvPr/>
        </p:nvSpPr>
        <p:spPr>
          <a:xfrm>
            <a:off x="2309076" y="526444"/>
            <a:ext cx="3566160" cy="3566160"/>
          </a:xfrm>
          <a:prstGeom prst="ellipse">
            <a:avLst/>
          </a:prstGeom>
          <a:solidFill>
            <a:srgbClr val="1FA8B8">
              <a:alpha val="13725"/>
            </a:srgbClr>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fr-FR" sz="1013" noProof="0" dirty="0"/>
          </a:p>
        </p:txBody>
      </p:sp>
    </p:spTree>
    <p:extLst>
      <p:ext uri="{BB962C8B-B14F-4D97-AF65-F5344CB8AC3E}">
        <p14:creationId xmlns:p14="http://schemas.microsoft.com/office/powerpoint/2010/main" val="265328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721</Words>
  <Application>Microsoft Office PowerPoint</Application>
  <PresentationFormat>On-screen Show (16:9)</PresentationFormat>
  <Paragraphs>195</Paragraphs>
  <Slides>8</Slides>
  <Notes>7</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Détecteur de Spam AT&amp;T</dc:title>
  <dc:subject>PptxGenJS Presentation</dc:subject>
  <dc:creator>PptxGenJS</dc:creator>
  <cp:lastModifiedBy>Aicha FATHELLAH</cp:lastModifiedBy>
  <cp:revision>507</cp:revision>
  <dcterms:created xsi:type="dcterms:W3CDTF">2026-05-21T19:38:59Z</dcterms:created>
  <dcterms:modified xsi:type="dcterms:W3CDTF">2026-10-24T20:11:42Z</dcterms:modified>
</cp:coreProperties>
</file>