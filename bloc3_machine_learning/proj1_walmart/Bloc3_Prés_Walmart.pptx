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8" r:id="rId3"/>
    <p:sldId id="259" r:id="rId4"/>
    <p:sldId id="268" r:id="rId5"/>
    <p:sldId id="274" r:id="rId6"/>
    <p:sldId id="269" r:id="rId7"/>
    <p:sldId id="270" r:id="rId8"/>
    <p:sldId id="261" r:id="rId9"/>
    <p:sldId id="262" r:id="rId10"/>
    <p:sldId id="271" r:id="rId11"/>
    <p:sldId id="263" r:id="rId12"/>
    <p:sldId id="264" r:id="rId13"/>
    <p:sldId id="265" r:id="rId14"/>
    <p:sldId id="273"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067" dt="2026-10-25T01:01:41.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519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C220"/>
          </a:solidFill>
          <a:ln w="12700">
            <a:solidFill>
              <a:srgbClr val="FFC220"/>
            </a:solidFill>
            <a:prstDash val="solid"/>
          </a:ln>
        </p:spPr>
        <p:txBody>
          <a:bodyPr/>
          <a:lstStyle/>
          <a:p>
            <a:endParaRPr lang="fr-FR" noProof="0" dirty="0"/>
          </a:p>
        </p:txBody>
      </p:sp>
      <p:sp>
        <p:nvSpPr>
          <p:cNvPr id="3" name="Shape 1"/>
          <p:cNvSpPr/>
          <p:nvPr/>
        </p:nvSpPr>
        <p:spPr>
          <a:xfrm>
            <a:off x="457200" y="1108710"/>
            <a:ext cx="8229600" cy="2926080"/>
          </a:xfrm>
          <a:prstGeom prst="rect">
            <a:avLst/>
          </a:prstGeom>
          <a:solidFill>
            <a:srgbClr val="FFFFFF">
              <a:alpha val="92000"/>
            </a:srgbClr>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4" name="Text 2"/>
          <p:cNvSpPr/>
          <p:nvPr/>
        </p:nvSpPr>
        <p:spPr>
          <a:xfrm>
            <a:off x="548640" y="1234440"/>
            <a:ext cx="8046720" cy="548640"/>
          </a:xfrm>
          <a:prstGeom prst="rect">
            <a:avLst/>
          </a:prstGeom>
          <a:noFill/>
          <a:ln/>
        </p:spPr>
        <p:txBody>
          <a:bodyPr wrap="square" lIns="0" tIns="0" rIns="0" bIns="0" rtlCol="0" anchor="ctr"/>
          <a:lstStyle/>
          <a:p>
            <a:pPr marL="0" indent="0" algn="ctr">
              <a:buNone/>
            </a:pPr>
            <a:r>
              <a:rPr lang="fr-FR" sz="1300" b="1" kern="0" spc="800" noProof="0" dirty="0">
                <a:solidFill>
                  <a:srgbClr val="FFC220"/>
                </a:solidFill>
                <a:latin typeface="Calibri" pitchFamily="34" charset="0"/>
                <a:ea typeface="Calibri" pitchFamily="34" charset="-122"/>
                <a:cs typeface="Calibri" pitchFamily="34" charset="-120"/>
              </a:rPr>
              <a:t>WALMART</a:t>
            </a:r>
            <a:endParaRPr lang="fr-FR" sz="1300" noProof="0" dirty="0"/>
          </a:p>
        </p:txBody>
      </p:sp>
      <p:sp>
        <p:nvSpPr>
          <p:cNvPr id="5" name="Text 3"/>
          <p:cNvSpPr/>
          <p:nvPr/>
        </p:nvSpPr>
        <p:spPr>
          <a:xfrm>
            <a:off x="548640" y="1737360"/>
            <a:ext cx="8046720" cy="822960"/>
          </a:xfrm>
          <a:prstGeom prst="rect">
            <a:avLst/>
          </a:prstGeom>
          <a:noFill/>
          <a:ln/>
        </p:spPr>
        <p:txBody>
          <a:bodyPr wrap="square" lIns="0" tIns="0" rIns="0" bIns="0" rtlCol="0" anchor="ctr"/>
          <a:lstStyle/>
          <a:p>
            <a:pPr marL="0" indent="0" algn="ctr">
              <a:buNone/>
            </a:pPr>
            <a:r>
              <a:rPr lang="fr-FR" sz="3400" b="1" noProof="0" dirty="0">
                <a:solidFill>
                  <a:srgbClr val="1E2761"/>
                </a:solidFill>
                <a:latin typeface="Calibri" pitchFamily="34" charset="0"/>
                <a:ea typeface="Calibri" pitchFamily="34" charset="-122"/>
                <a:cs typeface="Calibri" pitchFamily="34" charset="-120"/>
              </a:rPr>
              <a:t>Prédiction des ventes hebdomadaires</a:t>
            </a:r>
            <a:endParaRPr lang="fr-FR" sz="3400" noProof="0" dirty="0"/>
          </a:p>
        </p:txBody>
      </p:sp>
      <p:sp>
        <p:nvSpPr>
          <p:cNvPr id="6" name="Text 4"/>
          <p:cNvSpPr/>
          <p:nvPr/>
        </p:nvSpPr>
        <p:spPr>
          <a:xfrm>
            <a:off x="548640" y="2560320"/>
            <a:ext cx="8046720" cy="457200"/>
          </a:xfrm>
          <a:prstGeom prst="rect">
            <a:avLst/>
          </a:prstGeom>
          <a:noFill/>
          <a:ln/>
        </p:spPr>
        <p:txBody>
          <a:bodyPr wrap="square" lIns="0" tIns="0" rIns="0" bIns="0" rtlCol="0" anchor="ctr"/>
          <a:lstStyle/>
          <a:p>
            <a:pPr marL="0" indent="0" algn="ctr">
              <a:buNone/>
            </a:pPr>
            <a:r>
              <a:rPr lang="fr-FR" sz="1500" noProof="0" dirty="0">
                <a:solidFill>
                  <a:srgbClr val="374151"/>
                </a:solidFill>
                <a:latin typeface="Calibri" pitchFamily="34" charset="0"/>
                <a:ea typeface="Calibri" pitchFamily="34" charset="-122"/>
                <a:cs typeface="Calibri" pitchFamily="34" charset="-120"/>
              </a:rPr>
              <a:t>Projet Machine Learning supervisé - Régression linéaire et régularisée</a:t>
            </a:r>
            <a:endParaRPr lang="fr-FR" sz="1500" noProof="0" dirty="0"/>
          </a:p>
        </p:txBody>
      </p:sp>
      <p:sp>
        <p:nvSpPr>
          <p:cNvPr id="7" name="Shape 5"/>
          <p:cNvSpPr/>
          <p:nvPr/>
        </p:nvSpPr>
        <p:spPr>
          <a:xfrm>
            <a:off x="3200400" y="3063240"/>
            <a:ext cx="2743200" cy="36576"/>
          </a:xfrm>
          <a:prstGeom prst="rect">
            <a:avLst/>
          </a:prstGeom>
          <a:solidFill>
            <a:srgbClr val="0071CE"/>
          </a:solidFill>
          <a:ln w="12700">
            <a:solidFill>
              <a:srgbClr val="0071CE"/>
            </a:solidFill>
            <a:prstDash val="solid"/>
          </a:ln>
        </p:spPr>
        <p:txBody>
          <a:bodyPr/>
          <a:lstStyle/>
          <a:p>
            <a:endParaRPr lang="fr-FR" noProof="0" dirty="0"/>
          </a:p>
        </p:txBody>
      </p:sp>
      <p:sp>
        <p:nvSpPr>
          <p:cNvPr id="8" name="Text 6"/>
          <p:cNvSpPr/>
          <p:nvPr/>
        </p:nvSpPr>
        <p:spPr>
          <a:xfrm>
            <a:off x="548640" y="3200400"/>
            <a:ext cx="8046720" cy="365760"/>
          </a:xfrm>
          <a:prstGeom prst="rect">
            <a:avLst/>
          </a:prstGeom>
          <a:noFill/>
          <a:ln/>
        </p:spPr>
        <p:txBody>
          <a:bodyPr wrap="square" lIns="0" tIns="0" rIns="0" bIns="0" rtlCol="0" anchor="ctr"/>
          <a:lstStyle/>
          <a:p>
            <a:pPr marL="0" indent="0" algn="ctr">
              <a:buNone/>
            </a:pPr>
            <a:r>
              <a:rPr lang="fr-FR" sz="1200" i="1" noProof="0" dirty="0">
                <a:solidFill>
                  <a:srgbClr val="6B7280"/>
                </a:solidFill>
                <a:latin typeface="Calibri"/>
                <a:ea typeface="Calibri"/>
                <a:cs typeface="Calibri"/>
              </a:rPr>
              <a:t>Stack technique : Python  |  pandas  |  </a:t>
            </a:r>
            <a:r>
              <a:rPr lang="fr-FR" sz="1200" i="1" noProof="0" dirty="0" err="1">
                <a:solidFill>
                  <a:srgbClr val="6B7280"/>
                </a:solidFill>
                <a:latin typeface="Calibri"/>
                <a:ea typeface="Calibri"/>
                <a:cs typeface="Calibri"/>
              </a:rPr>
              <a:t>scikit-learn</a:t>
            </a:r>
            <a:r>
              <a:rPr lang="fr-FR" sz="1200" i="1" noProof="0" dirty="0">
                <a:solidFill>
                  <a:srgbClr val="6B7280"/>
                </a:solidFill>
                <a:latin typeface="Calibri"/>
                <a:ea typeface="Calibri"/>
                <a:cs typeface="Calibri"/>
              </a:rPr>
              <a:t> </a:t>
            </a:r>
          </a:p>
        </p:txBody>
      </p:sp>
      <p:sp>
        <p:nvSpPr>
          <p:cNvPr id="9" name="Text 7"/>
          <p:cNvSpPr/>
          <p:nvPr/>
        </p:nvSpPr>
        <p:spPr>
          <a:xfrm>
            <a:off x="274320" y="4663440"/>
            <a:ext cx="8595360" cy="320040"/>
          </a:xfrm>
          <a:prstGeom prst="rect">
            <a:avLst/>
          </a:prstGeom>
          <a:noFill/>
          <a:ln/>
        </p:spPr>
        <p:txBody>
          <a:bodyPr wrap="square" lIns="0" tIns="0" rIns="0" bIns="0" rtlCol="0" anchor="ctr"/>
          <a:lstStyle/>
          <a:p>
            <a:r>
              <a:rPr lang="fr-FR" sz="1000">
                <a:solidFill>
                  <a:schemeClr val="bg1"/>
                </a:solidFill>
                <a:ea typeface="Calibri"/>
                <a:cs typeface="Calibri"/>
              </a:rPr>
              <a:t>Samer MECHHOUD</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fr-FR" noProof="0" dirty="0"/>
          </a:p>
        </p:txBody>
      </p:sp>
      <p:sp>
        <p:nvSpPr>
          <p:cNvPr id="3" name="Text 1"/>
          <p:cNvSpPr/>
          <p:nvPr/>
        </p:nvSpPr>
        <p:spPr>
          <a:xfrm>
            <a:off x="365760" y="73152"/>
            <a:ext cx="8412480" cy="502920"/>
          </a:xfrm>
          <a:prstGeom prst="rect">
            <a:avLst/>
          </a:prstGeom>
          <a:noFill/>
          <a:ln/>
        </p:spPr>
        <p:txBody>
          <a:bodyPr wrap="square" lIns="0" tIns="0" rIns="0" bIns="0" rtlCol="0" anchor="ctr"/>
          <a:lstStyle/>
          <a:p>
            <a:pPr marL="0" indent="0">
              <a:buNone/>
            </a:pPr>
            <a:r>
              <a:rPr lang="fr-FR" sz="2200" b="1" noProof="0" dirty="0">
                <a:solidFill>
                  <a:srgbClr val="FFFFFF"/>
                </a:solidFill>
                <a:latin typeface="Calibri" pitchFamily="34" charset="0"/>
                <a:ea typeface="Calibri" pitchFamily="34" charset="-122"/>
                <a:cs typeface="Calibri" pitchFamily="34" charset="-120"/>
              </a:rPr>
              <a:t>01 - Contexte et objectifs</a:t>
            </a:r>
            <a:endParaRPr lang="fr-FR" sz="2200" noProof="0" dirty="0"/>
          </a:p>
        </p:txBody>
      </p:sp>
      <p:sp>
        <p:nvSpPr>
          <p:cNvPr id="4" name="Shape 2"/>
          <p:cNvSpPr/>
          <p:nvPr/>
        </p:nvSpPr>
        <p:spPr>
          <a:xfrm>
            <a:off x="320040" y="1264920"/>
            <a:ext cx="3855720" cy="309372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5" name="Shape 3"/>
          <p:cNvSpPr/>
          <p:nvPr/>
        </p:nvSpPr>
        <p:spPr>
          <a:xfrm>
            <a:off x="281940" y="1249680"/>
            <a:ext cx="3931920" cy="384048"/>
          </a:xfrm>
          <a:prstGeom prst="rect">
            <a:avLst/>
          </a:prstGeom>
          <a:solidFill>
            <a:srgbClr val="0071CE"/>
          </a:solidFill>
          <a:ln w="12700">
            <a:solidFill>
              <a:srgbClr val="0071CE"/>
            </a:solidFill>
            <a:prstDash val="solid"/>
          </a:ln>
        </p:spPr>
        <p:txBody>
          <a:bodyPr/>
          <a:lstStyle/>
          <a:p>
            <a:endParaRPr lang="fr-FR" noProof="0" dirty="0"/>
          </a:p>
        </p:txBody>
      </p:sp>
      <p:sp>
        <p:nvSpPr>
          <p:cNvPr id="6" name="Text 4"/>
          <p:cNvSpPr/>
          <p:nvPr/>
        </p:nvSpPr>
        <p:spPr>
          <a:xfrm>
            <a:off x="327660" y="1267968"/>
            <a:ext cx="3840480" cy="347472"/>
          </a:xfrm>
          <a:prstGeom prst="rect">
            <a:avLst/>
          </a:prstGeom>
          <a:noFill/>
          <a:ln/>
        </p:spPr>
        <p:txBody>
          <a:bodyPr wrap="square" lIns="0" tIns="0" rIns="0" bIns="0" rtlCol="0" anchor="ctr"/>
          <a:lstStyle/>
          <a:p>
            <a:pPr marL="0" indent="0">
              <a:buNone/>
            </a:pPr>
            <a:r>
              <a:rPr lang="fr-FR" sz="1400" b="1" noProof="0" dirty="0">
                <a:solidFill>
                  <a:srgbClr val="FFFFFF"/>
                </a:solidFill>
                <a:latin typeface="Calibri" pitchFamily="34" charset="0"/>
                <a:ea typeface="Calibri" pitchFamily="34" charset="-122"/>
                <a:cs typeface="Calibri" pitchFamily="34" charset="-120"/>
              </a:rPr>
              <a:t>Contexte</a:t>
            </a:r>
            <a:endParaRPr lang="fr-FR" sz="1400" noProof="0" dirty="0"/>
          </a:p>
        </p:txBody>
      </p:sp>
      <p:sp>
        <p:nvSpPr>
          <p:cNvPr id="7" name="Text 5"/>
          <p:cNvSpPr/>
          <p:nvPr/>
        </p:nvSpPr>
        <p:spPr>
          <a:xfrm>
            <a:off x="419100" y="1706880"/>
            <a:ext cx="3657600" cy="3017520"/>
          </a:xfrm>
          <a:prstGeom prst="rect">
            <a:avLst/>
          </a:prstGeom>
          <a:noFill/>
          <a:ln/>
        </p:spPr>
        <p:txBody>
          <a:bodyPr wrap="square" lIns="0" tIns="0" rIns="0" bIns="0" rtlCol="0" anchor="t"/>
          <a:lstStyle/>
          <a:p>
            <a:pPr marL="0" indent="0">
              <a:buNone/>
            </a:pPr>
            <a:r>
              <a:rPr lang="fr-FR" sz="1200" noProof="0" dirty="0">
                <a:solidFill>
                  <a:srgbClr val="374151"/>
                </a:solidFill>
                <a:latin typeface="Calibri" pitchFamily="34" charset="0"/>
                <a:ea typeface="Calibri" pitchFamily="34" charset="-122"/>
                <a:cs typeface="Calibri" pitchFamily="34" charset="-120"/>
              </a:rPr>
              <a:t>Walmart Inc. est le premier distributeur mondial, fondé en 1962 par Sam Walton.</a:t>
            </a:r>
            <a:endParaRPr lang="fr-FR" sz="1200" noProof="0" dirty="0"/>
          </a:p>
          <a:p>
            <a:pPr marL="0" indent="0">
              <a:buNone/>
            </a:pPr>
            <a:r>
              <a:rPr lang="fr-FR" sz="1200" noProof="0" dirty="0">
                <a:solidFill>
                  <a:srgbClr val="374151"/>
                </a:solidFill>
                <a:latin typeface="Calibri" pitchFamily="34" charset="0"/>
                <a:ea typeface="Calibri" pitchFamily="34" charset="-122"/>
                <a:cs typeface="Calibri" pitchFamily="34" charset="-120"/>
              </a:rPr>
              <a:t> </a:t>
            </a:r>
            <a:endParaRPr lang="fr-FR" sz="1200" noProof="0" dirty="0"/>
          </a:p>
          <a:p>
            <a:pPr marL="0" indent="0">
              <a:buNone/>
            </a:pPr>
            <a:r>
              <a:rPr lang="fr-FR" sz="1200" noProof="0" dirty="0">
                <a:solidFill>
                  <a:srgbClr val="374151"/>
                </a:solidFill>
                <a:latin typeface="Calibri" pitchFamily="34" charset="0"/>
                <a:ea typeface="Calibri" pitchFamily="34" charset="-122"/>
                <a:cs typeface="Calibri" pitchFamily="34" charset="-120"/>
              </a:rPr>
              <a:t>Le service marketing souhaite un modèle capable d'estimer les ventes hebdomadaires de ses magasins.</a:t>
            </a:r>
            <a:endParaRPr lang="fr-FR" sz="1200" noProof="0" dirty="0"/>
          </a:p>
          <a:p>
            <a:pPr marL="0" indent="0">
              <a:buNone/>
            </a:pPr>
            <a:r>
              <a:rPr lang="fr-FR" sz="1200" noProof="0" dirty="0">
                <a:solidFill>
                  <a:srgbClr val="374151"/>
                </a:solidFill>
                <a:latin typeface="Calibri" pitchFamily="34" charset="0"/>
                <a:ea typeface="Calibri" pitchFamily="34" charset="-122"/>
                <a:cs typeface="Calibri" pitchFamily="34" charset="-120"/>
              </a:rPr>
              <a:t> </a:t>
            </a:r>
            <a:endParaRPr lang="fr-FR" sz="1200" noProof="0" dirty="0"/>
          </a:p>
          <a:p>
            <a:pPr marL="0" indent="0">
              <a:buNone/>
            </a:pPr>
            <a:r>
              <a:rPr lang="fr-FR" sz="1200" noProof="0" dirty="0">
                <a:solidFill>
                  <a:srgbClr val="374151"/>
                </a:solidFill>
                <a:latin typeface="Calibri" pitchFamily="34" charset="0"/>
                <a:ea typeface="Calibri" pitchFamily="34" charset="-122"/>
                <a:cs typeface="Calibri" pitchFamily="34" charset="-120"/>
              </a:rPr>
              <a:t>Un tel modèle permettrait de mieux comprendre l'influence des indicateurs économiques et d'optimiser les campagnes marketing.</a:t>
            </a:r>
            <a:endParaRPr lang="fr-FR" sz="1200" noProof="0" dirty="0"/>
          </a:p>
        </p:txBody>
      </p:sp>
      <p:sp>
        <p:nvSpPr>
          <p:cNvPr id="8" name="Shape 6"/>
          <p:cNvSpPr/>
          <p:nvPr/>
        </p:nvSpPr>
        <p:spPr>
          <a:xfrm>
            <a:off x="4617720" y="1264920"/>
            <a:ext cx="4130040" cy="309372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9" name="Shape 7"/>
          <p:cNvSpPr/>
          <p:nvPr/>
        </p:nvSpPr>
        <p:spPr>
          <a:xfrm>
            <a:off x="4579620" y="1249680"/>
            <a:ext cx="4206240" cy="384048"/>
          </a:xfrm>
          <a:prstGeom prst="rect">
            <a:avLst/>
          </a:prstGeom>
          <a:solidFill>
            <a:srgbClr val="FFC220"/>
          </a:solidFill>
          <a:ln w="12700">
            <a:solidFill>
              <a:srgbClr val="FFC220"/>
            </a:solidFill>
            <a:prstDash val="solid"/>
          </a:ln>
        </p:spPr>
        <p:txBody>
          <a:bodyPr/>
          <a:lstStyle/>
          <a:p>
            <a:endParaRPr lang="fr-FR" noProof="0" dirty="0"/>
          </a:p>
        </p:txBody>
      </p:sp>
      <p:sp>
        <p:nvSpPr>
          <p:cNvPr id="10" name="Text 8"/>
          <p:cNvSpPr/>
          <p:nvPr/>
        </p:nvSpPr>
        <p:spPr>
          <a:xfrm>
            <a:off x="4625340" y="1267968"/>
            <a:ext cx="4114800" cy="347472"/>
          </a:xfrm>
          <a:prstGeom prst="rect">
            <a:avLst/>
          </a:prstGeom>
          <a:noFill/>
          <a:ln/>
        </p:spPr>
        <p:txBody>
          <a:bodyPr wrap="square" lIns="0" tIns="0" rIns="0" bIns="0" rtlCol="0" anchor="ctr"/>
          <a:lstStyle/>
          <a:p>
            <a:pPr marL="0" indent="0">
              <a:buNone/>
            </a:pPr>
            <a:r>
              <a:rPr lang="fr-FR" sz="1400" b="1" noProof="0" dirty="0">
                <a:solidFill>
                  <a:srgbClr val="1E2761"/>
                </a:solidFill>
                <a:latin typeface="Calibri" pitchFamily="34" charset="0"/>
                <a:ea typeface="Calibri" pitchFamily="34" charset="-122"/>
                <a:cs typeface="Calibri" pitchFamily="34" charset="-120"/>
              </a:rPr>
              <a:t>Objectifs du projet</a:t>
            </a:r>
            <a:endParaRPr lang="fr-FR" sz="1400" noProof="0" dirty="0"/>
          </a:p>
        </p:txBody>
      </p:sp>
      <p:sp>
        <p:nvSpPr>
          <p:cNvPr id="11" name="Shape 9"/>
          <p:cNvSpPr/>
          <p:nvPr/>
        </p:nvSpPr>
        <p:spPr>
          <a:xfrm>
            <a:off x="4716780" y="1798320"/>
            <a:ext cx="822960" cy="347472"/>
          </a:xfrm>
          <a:prstGeom prst="rect">
            <a:avLst/>
          </a:prstGeom>
          <a:solidFill>
            <a:srgbClr val="1E2761"/>
          </a:solidFill>
          <a:ln w="12700">
            <a:solidFill>
              <a:srgbClr val="1E2761"/>
            </a:solidFill>
            <a:prstDash val="solid"/>
          </a:ln>
        </p:spPr>
        <p:txBody>
          <a:bodyPr/>
          <a:lstStyle/>
          <a:p>
            <a:endParaRPr lang="fr-FR" noProof="0" dirty="0"/>
          </a:p>
        </p:txBody>
      </p:sp>
      <p:sp>
        <p:nvSpPr>
          <p:cNvPr id="12" name="Text 10"/>
          <p:cNvSpPr/>
          <p:nvPr/>
        </p:nvSpPr>
        <p:spPr>
          <a:xfrm>
            <a:off x="4716780" y="1834896"/>
            <a:ext cx="822960" cy="274320"/>
          </a:xfrm>
          <a:prstGeom prst="rect">
            <a:avLst/>
          </a:prstGeom>
          <a:noFill/>
          <a:ln/>
        </p:spPr>
        <p:txBody>
          <a:bodyPr wrap="square" lIns="0" tIns="0" rIns="0" bIns="0" rtlCol="0" anchor="ctr"/>
          <a:lstStyle/>
          <a:p>
            <a:pPr marL="0" indent="0" algn="ctr">
              <a:buNone/>
            </a:pPr>
            <a:r>
              <a:rPr lang="fr-FR" sz="900" b="1" noProof="0" dirty="0">
                <a:solidFill>
                  <a:srgbClr val="FFFFFF"/>
                </a:solidFill>
                <a:latin typeface="Calibri" pitchFamily="34" charset="0"/>
                <a:ea typeface="Calibri" pitchFamily="34" charset="-122"/>
                <a:cs typeface="Calibri" pitchFamily="34" charset="-120"/>
              </a:rPr>
              <a:t>Partie 1</a:t>
            </a:r>
            <a:endParaRPr lang="fr-FR" sz="900" noProof="0" dirty="0"/>
          </a:p>
        </p:txBody>
      </p:sp>
      <p:sp>
        <p:nvSpPr>
          <p:cNvPr id="13" name="Text 11"/>
          <p:cNvSpPr/>
          <p:nvPr/>
        </p:nvSpPr>
        <p:spPr>
          <a:xfrm>
            <a:off x="5603748" y="1834896"/>
            <a:ext cx="3017520" cy="274320"/>
          </a:xfrm>
          <a:prstGeom prst="rect">
            <a:avLst/>
          </a:prstGeom>
          <a:noFill/>
          <a:ln/>
        </p:spPr>
        <p:txBody>
          <a:bodyPr wrap="square" lIns="0" tIns="0" rIns="0" bIns="0" rtlCol="0" anchor="ctr"/>
          <a:lstStyle/>
          <a:p>
            <a:pPr marL="0" indent="0">
              <a:buNone/>
            </a:pPr>
            <a:r>
              <a:rPr lang="fr-FR" sz="1100" noProof="0" dirty="0">
                <a:solidFill>
                  <a:srgbClr val="111827"/>
                </a:solidFill>
                <a:latin typeface="Calibri" pitchFamily="34" charset="0"/>
                <a:ea typeface="Calibri" pitchFamily="34" charset="-122"/>
                <a:cs typeface="Calibri" pitchFamily="34" charset="-120"/>
              </a:rPr>
              <a:t>EDA et prétraitement des données</a:t>
            </a:r>
            <a:endParaRPr lang="fr-FR" sz="1100" noProof="0" dirty="0"/>
          </a:p>
        </p:txBody>
      </p:sp>
      <p:sp>
        <p:nvSpPr>
          <p:cNvPr id="14" name="Shape 12"/>
          <p:cNvSpPr/>
          <p:nvPr/>
        </p:nvSpPr>
        <p:spPr>
          <a:xfrm>
            <a:off x="4716780" y="2529840"/>
            <a:ext cx="822960" cy="347472"/>
          </a:xfrm>
          <a:prstGeom prst="rect">
            <a:avLst/>
          </a:prstGeom>
          <a:solidFill>
            <a:srgbClr val="1E2761"/>
          </a:solidFill>
          <a:ln w="12700">
            <a:solidFill>
              <a:srgbClr val="1E2761"/>
            </a:solidFill>
            <a:prstDash val="solid"/>
          </a:ln>
        </p:spPr>
        <p:txBody>
          <a:bodyPr/>
          <a:lstStyle/>
          <a:p>
            <a:endParaRPr lang="fr-FR" noProof="0" dirty="0"/>
          </a:p>
        </p:txBody>
      </p:sp>
      <p:sp>
        <p:nvSpPr>
          <p:cNvPr id="15" name="Text 13"/>
          <p:cNvSpPr/>
          <p:nvPr/>
        </p:nvSpPr>
        <p:spPr>
          <a:xfrm>
            <a:off x="4716780" y="2566416"/>
            <a:ext cx="822960" cy="274320"/>
          </a:xfrm>
          <a:prstGeom prst="rect">
            <a:avLst/>
          </a:prstGeom>
          <a:noFill/>
          <a:ln/>
        </p:spPr>
        <p:txBody>
          <a:bodyPr wrap="square" lIns="0" tIns="0" rIns="0" bIns="0" rtlCol="0" anchor="ctr"/>
          <a:lstStyle/>
          <a:p>
            <a:pPr marL="0" indent="0" algn="ctr">
              <a:buNone/>
            </a:pPr>
            <a:r>
              <a:rPr lang="fr-FR" sz="900" b="1" noProof="0" dirty="0">
                <a:solidFill>
                  <a:srgbClr val="FFFFFF"/>
                </a:solidFill>
                <a:latin typeface="Calibri" pitchFamily="34" charset="0"/>
                <a:ea typeface="Calibri" pitchFamily="34" charset="-122"/>
                <a:cs typeface="Calibri" pitchFamily="34" charset="-120"/>
              </a:rPr>
              <a:t>Partie 2</a:t>
            </a:r>
            <a:endParaRPr lang="fr-FR" sz="900" noProof="0" dirty="0"/>
          </a:p>
        </p:txBody>
      </p:sp>
      <p:sp>
        <p:nvSpPr>
          <p:cNvPr id="16" name="Text 14"/>
          <p:cNvSpPr/>
          <p:nvPr/>
        </p:nvSpPr>
        <p:spPr>
          <a:xfrm>
            <a:off x="5603748" y="2566416"/>
            <a:ext cx="3017520" cy="274320"/>
          </a:xfrm>
          <a:prstGeom prst="rect">
            <a:avLst/>
          </a:prstGeom>
          <a:noFill/>
          <a:ln/>
        </p:spPr>
        <p:txBody>
          <a:bodyPr wrap="square" lIns="0" tIns="0" rIns="0" bIns="0" rtlCol="0" anchor="ctr"/>
          <a:lstStyle/>
          <a:p>
            <a:pPr marL="0" indent="0">
              <a:buNone/>
            </a:pPr>
            <a:r>
              <a:rPr lang="fr-FR" sz="1100" noProof="0" dirty="0">
                <a:solidFill>
                  <a:srgbClr val="111827"/>
                </a:solidFill>
                <a:latin typeface="Calibri" pitchFamily="34" charset="0"/>
                <a:ea typeface="Calibri" pitchFamily="34" charset="-122"/>
                <a:cs typeface="Calibri" pitchFamily="34" charset="-120"/>
              </a:rPr>
              <a:t>Modèle de régression linéaire (baseline)</a:t>
            </a:r>
            <a:endParaRPr lang="fr-FR" sz="1100" noProof="0" dirty="0"/>
          </a:p>
        </p:txBody>
      </p:sp>
      <p:sp>
        <p:nvSpPr>
          <p:cNvPr id="17" name="Shape 15"/>
          <p:cNvSpPr/>
          <p:nvPr/>
        </p:nvSpPr>
        <p:spPr>
          <a:xfrm>
            <a:off x="4716780" y="3261360"/>
            <a:ext cx="822960" cy="347472"/>
          </a:xfrm>
          <a:prstGeom prst="rect">
            <a:avLst/>
          </a:prstGeom>
          <a:solidFill>
            <a:srgbClr val="1E2761"/>
          </a:solidFill>
          <a:ln w="12700">
            <a:solidFill>
              <a:srgbClr val="1E2761"/>
            </a:solidFill>
            <a:prstDash val="solid"/>
          </a:ln>
        </p:spPr>
        <p:txBody>
          <a:bodyPr/>
          <a:lstStyle/>
          <a:p>
            <a:endParaRPr lang="fr-FR" noProof="0" dirty="0"/>
          </a:p>
        </p:txBody>
      </p:sp>
      <p:sp>
        <p:nvSpPr>
          <p:cNvPr id="18" name="Text 16"/>
          <p:cNvSpPr/>
          <p:nvPr/>
        </p:nvSpPr>
        <p:spPr>
          <a:xfrm>
            <a:off x="4716780" y="3297936"/>
            <a:ext cx="822960" cy="274320"/>
          </a:xfrm>
          <a:prstGeom prst="rect">
            <a:avLst/>
          </a:prstGeom>
          <a:noFill/>
          <a:ln/>
        </p:spPr>
        <p:txBody>
          <a:bodyPr wrap="square" lIns="0" tIns="0" rIns="0" bIns="0" rtlCol="0" anchor="ctr"/>
          <a:lstStyle/>
          <a:p>
            <a:pPr marL="0" indent="0" algn="ctr">
              <a:buNone/>
            </a:pPr>
            <a:r>
              <a:rPr lang="fr-FR" sz="900" b="1" noProof="0" dirty="0">
                <a:solidFill>
                  <a:srgbClr val="FFFFFF"/>
                </a:solidFill>
                <a:latin typeface="Calibri" pitchFamily="34" charset="0"/>
                <a:ea typeface="Calibri" pitchFamily="34" charset="-122"/>
                <a:cs typeface="Calibri" pitchFamily="34" charset="-120"/>
              </a:rPr>
              <a:t>Partie 3</a:t>
            </a:r>
            <a:endParaRPr lang="fr-FR" sz="900" noProof="0" dirty="0"/>
          </a:p>
        </p:txBody>
      </p:sp>
      <p:sp>
        <p:nvSpPr>
          <p:cNvPr id="19" name="Text 17"/>
          <p:cNvSpPr/>
          <p:nvPr/>
        </p:nvSpPr>
        <p:spPr>
          <a:xfrm>
            <a:off x="5603748" y="3259836"/>
            <a:ext cx="3017520" cy="562356"/>
          </a:xfrm>
          <a:prstGeom prst="rect">
            <a:avLst/>
          </a:prstGeom>
          <a:noFill/>
          <a:ln/>
        </p:spPr>
        <p:txBody>
          <a:bodyPr wrap="square" lIns="0" tIns="0" rIns="0" bIns="0" rtlCol="0" anchor="ctr"/>
          <a:lstStyle/>
          <a:p>
            <a:r>
              <a:rPr lang="fr-FR" sz="1100" noProof="0">
                <a:solidFill>
                  <a:srgbClr val="111827"/>
                </a:solidFill>
                <a:latin typeface="Calibri"/>
                <a:ea typeface="Calibri"/>
                <a:cs typeface="Calibri"/>
              </a:rPr>
              <a:t>Régularisation Ridge et Lasso</a:t>
            </a:r>
            <a:r>
              <a:rPr lang="fr-FR" sz="1100">
                <a:solidFill>
                  <a:srgbClr val="111827"/>
                </a:solidFill>
                <a:latin typeface="Calibri"/>
                <a:ea typeface="Calibri"/>
                <a:cs typeface="Calibri"/>
              </a:rPr>
              <a:t> - Optimisation de l'hyperparamètre alpha via GridSearchCV</a:t>
            </a:r>
            <a:endParaRPr lang="fr-FR" sz="1100">
              <a:solidFill>
                <a:srgbClr val="000000"/>
              </a:solidFill>
              <a:latin typeface="Calibri"/>
              <a:ea typeface="Calibri"/>
              <a:cs typeface="Calibri"/>
            </a:endParaRPr>
          </a:p>
          <a:p>
            <a:endParaRPr lang="fr-FR" sz="1100" noProof="0" dirty="0">
              <a:solidFill>
                <a:srgbClr val="111827"/>
              </a:solidFill>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fr-FR" noProof="0" dirty="0"/>
          </a:p>
        </p:txBody>
      </p:sp>
      <p:sp>
        <p:nvSpPr>
          <p:cNvPr id="3" name="Text 1"/>
          <p:cNvSpPr/>
          <p:nvPr/>
        </p:nvSpPr>
        <p:spPr>
          <a:xfrm>
            <a:off x="365760" y="73152"/>
            <a:ext cx="8412480" cy="502920"/>
          </a:xfrm>
          <a:prstGeom prst="rect">
            <a:avLst/>
          </a:prstGeom>
          <a:noFill/>
          <a:ln/>
        </p:spPr>
        <p:txBody>
          <a:bodyPr wrap="square" lIns="0" tIns="0" rIns="0" bIns="0" rtlCol="0" anchor="ctr"/>
          <a:lstStyle/>
          <a:p>
            <a:pPr marL="0" indent="0">
              <a:buNone/>
            </a:pPr>
            <a:r>
              <a:rPr lang="fr-FR" sz="2200" b="1" noProof="0" dirty="0">
                <a:solidFill>
                  <a:srgbClr val="FFFFFF"/>
                </a:solidFill>
                <a:latin typeface="Calibri" pitchFamily="34" charset="0"/>
                <a:ea typeface="Calibri" pitchFamily="34" charset="-122"/>
                <a:cs typeface="Calibri" pitchFamily="34" charset="-120"/>
              </a:rPr>
              <a:t>02 - Description du jeu de </a:t>
            </a:r>
            <a:r>
              <a:rPr lang="fr-FR" sz="2200" b="1" noProof="0" dirty="0" err="1">
                <a:solidFill>
                  <a:srgbClr val="FFFFFF"/>
                </a:solidFill>
                <a:latin typeface="Calibri" pitchFamily="34" charset="0"/>
                <a:ea typeface="Calibri" pitchFamily="34" charset="-122"/>
                <a:cs typeface="Calibri" pitchFamily="34" charset="-120"/>
              </a:rPr>
              <a:t>données</a:t>
            </a:r>
            <a:endParaRPr lang="fr-FR" sz="2200" noProof="0" dirty="0"/>
          </a:p>
        </p:txBody>
      </p:sp>
      <p:sp>
        <p:nvSpPr>
          <p:cNvPr id="4" name="Shape 2"/>
          <p:cNvSpPr/>
          <p:nvPr/>
        </p:nvSpPr>
        <p:spPr>
          <a:xfrm>
            <a:off x="274320" y="822960"/>
            <a:ext cx="1920240" cy="1005840"/>
          </a:xfrm>
          <a:prstGeom prst="rect">
            <a:avLst/>
          </a:prstGeom>
          <a:solidFill>
            <a:srgbClr val="1E2761"/>
          </a:solidFill>
          <a:ln w="12700">
            <a:solidFill>
              <a:srgbClr val="1E2761"/>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5" name="Text 3"/>
          <p:cNvSpPr/>
          <p:nvPr/>
        </p:nvSpPr>
        <p:spPr>
          <a:xfrm>
            <a:off x="274320" y="868680"/>
            <a:ext cx="1920240" cy="548640"/>
          </a:xfrm>
          <a:prstGeom prst="rect">
            <a:avLst/>
          </a:prstGeom>
          <a:noFill/>
          <a:ln/>
        </p:spPr>
        <p:txBody>
          <a:bodyPr wrap="square" lIns="0" tIns="0" rIns="0" bIns="0" rtlCol="0" anchor="ctr"/>
          <a:lstStyle/>
          <a:p>
            <a:pPr marL="0" indent="0" algn="ctr">
              <a:buNone/>
            </a:pPr>
            <a:r>
              <a:rPr lang="fr-FR" sz="3200" b="1" noProof="0" dirty="0">
                <a:solidFill>
                  <a:srgbClr val="FFC220"/>
                </a:solidFill>
                <a:latin typeface="Calibri" pitchFamily="34" charset="0"/>
                <a:ea typeface="Calibri" pitchFamily="34" charset="-122"/>
                <a:cs typeface="Calibri" pitchFamily="34" charset="-120"/>
              </a:rPr>
              <a:t>150</a:t>
            </a:r>
            <a:endParaRPr lang="fr-FR" sz="3200" noProof="0" dirty="0"/>
          </a:p>
        </p:txBody>
      </p:sp>
      <p:sp>
        <p:nvSpPr>
          <p:cNvPr id="6" name="Text 4"/>
          <p:cNvSpPr/>
          <p:nvPr/>
        </p:nvSpPr>
        <p:spPr>
          <a:xfrm>
            <a:off x="274320" y="1389888"/>
            <a:ext cx="1920240" cy="347472"/>
          </a:xfrm>
          <a:prstGeom prst="rect">
            <a:avLst/>
          </a:prstGeom>
          <a:noFill/>
          <a:ln/>
        </p:spPr>
        <p:txBody>
          <a:bodyPr wrap="square" lIns="0" tIns="0" rIns="0" bIns="0" rtlCol="0" anchor="ctr"/>
          <a:lstStyle/>
          <a:p>
            <a:pPr marL="0" indent="0" algn="ctr">
              <a:buNone/>
            </a:pPr>
            <a:r>
              <a:rPr lang="fr-FR" sz="900" noProof="0" dirty="0">
                <a:solidFill>
                  <a:srgbClr val="CADCFC"/>
                </a:solidFill>
                <a:latin typeface="Calibri" pitchFamily="34" charset="0"/>
                <a:ea typeface="Calibri" pitchFamily="34" charset="-122"/>
                <a:cs typeface="Calibri" pitchFamily="34" charset="-120"/>
              </a:rPr>
              <a:t>observations initiales</a:t>
            </a:r>
            <a:endParaRPr lang="fr-FR" sz="900" noProof="0" dirty="0"/>
          </a:p>
        </p:txBody>
      </p:sp>
      <p:sp>
        <p:nvSpPr>
          <p:cNvPr id="7" name="Shape 5"/>
          <p:cNvSpPr/>
          <p:nvPr/>
        </p:nvSpPr>
        <p:spPr>
          <a:xfrm>
            <a:off x="2423160" y="822960"/>
            <a:ext cx="1920240" cy="1005840"/>
          </a:xfrm>
          <a:prstGeom prst="rect">
            <a:avLst/>
          </a:prstGeom>
          <a:solidFill>
            <a:srgbClr val="1E2761"/>
          </a:solidFill>
          <a:ln w="12700">
            <a:solidFill>
              <a:srgbClr val="1E2761"/>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8" name="Text 6"/>
          <p:cNvSpPr/>
          <p:nvPr/>
        </p:nvSpPr>
        <p:spPr>
          <a:xfrm>
            <a:off x="2423160" y="868680"/>
            <a:ext cx="1920240" cy="548640"/>
          </a:xfrm>
          <a:prstGeom prst="rect">
            <a:avLst/>
          </a:prstGeom>
          <a:noFill/>
          <a:ln/>
        </p:spPr>
        <p:txBody>
          <a:bodyPr wrap="square" lIns="0" tIns="0" rIns="0" bIns="0" rtlCol="0" anchor="ctr"/>
          <a:lstStyle/>
          <a:p>
            <a:pPr marL="0" indent="0" algn="ctr">
              <a:buNone/>
            </a:pPr>
            <a:r>
              <a:rPr lang="fr-FR" sz="3200" b="1" noProof="0" dirty="0">
                <a:solidFill>
                  <a:srgbClr val="FFC220"/>
                </a:solidFill>
                <a:latin typeface="Calibri" pitchFamily="34" charset="0"/>
                <a:ea typeface="Calibri" pitchFamily="34" charset="-122"/>
                <a:cs typeface="Calibri" pitchFamily="34" charset="-120"/>
              </a:rPr>
              <a:t>8</a:t>
            </a:r>
            <a:endParaRPr lang="fr-FR" sz="3200" noProof="0" dirty="0"/>
          </a:p>
        </p:txBody>
      </p:sp>
      <p:sp>
        <p:nvSpPr>
          <p:cNvPr id="9" name="Text 7"/>
          <p:cNvSpPr/>
          <p:nvPr/>
        </p:nvSpPr>
        <p:spPr>
          <a:xfrm>
            <a:off x="2423160" y="1389888"/>
            <a:ext cx="1920240" cy="347472"/>
          </a:xfrm>
          <a:prstGeom prst="rect">
            <a:avLst/>
          </a:prstGeom>
          <a:noFill/>
          <a:ln/>
        </p:spPr>
        <p:txBody>
          <a:bodyPr wrap="square" lIns="0" tIns="0" rIns="0" bIns="0" rtlCol="0" anchor="ctr"/>
          <a:lstStyle/>
          <a:p>
            <a:pPr marL="0" indent="0" algn="ctr">
              <a:buNone/>
            </a:pPr>
            <a:r>
              <a:rPr lang="fr-FR" sz="900" noProof="0" dirty="0">
                <a:solidFill>
                  <a:srgbClr val="CADCFC"/>
                </a:solidFill>
                <a:latin typeface="Calibri" pitchFamily="34" charset="0"/>
                <a:ea typeface="Calibri" pitchFamily="34" charset="-122"/>
                <a:cs typeface="Calibri" pitchFamily="34" charset="-120"/>
              </a:rPr>
              <a:t>variables d'origine</a:t>
            </a:r>
            <a:endParaRPr lang="fr-FR" sz="900" noProof="0" dirty="0"/>
          </a:p>
        </p:txBody>
      </p:sp>
      <p:sp>
        <p:nvSpPr>
          <p:cNvPr id="10" name="Shape 8"/>
          <p:cNvSpPr/>
          <p:nvPr/>
        </p:nvSpPr>
        <p:spPr>
          <a:xfrm>
            <a:off x="4572000" y="822960"/>
            <a:ext cx="1920240" cy="1005840"/>
          </a:xfrm>
          <a:prstGeom prst="rect">
            <a:avLst/>
          </a:prstGeom>
          <a:solidFill>
            <a:srgbClr val="1E2761"/>
          </a:solidFill>
          <a:ln w="12700">
            <a:solidFill>
              <a:srgbClr val="1E2761"/>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1" name="Text 9"/>
          <p:cNvSpPr/>
          <p:nvPr/>
        </p:nvSpPr>
        <p:spPr>
          <a:xfrm>
            <a:off x="4572000" y="868680"/>
            <a:ext cx="1920240" cy="548640"/>
          </a:xfrm>
          <a:prstGeom prst="rect">
            <a:avLst/>
          </a:prstGeom>
          <a:noFill/>
          <a:ln/>
        </p:spPr>
        <p:txBody>
          <a:bodyPr wrap="square" lIns="0" tIns="0" rIns="0" bIns="0" rtlCol="0" anchor="ctr"/>
          <a:lstStyle/>
          <a:p>
            <a:pPr marL="0" indent="0" algn="ctr">
              <a:buNone/>
            </a:pPr>
            <a:r>
              <a:rPr lang="fr-FR" sz="3200" b="1">
                <a:solidFill>
                  <a:srgbClr val="FFC220"/>
                </a:solidFill>
                <a:ea typeface="Calibri"/>
                <a:cs typeface="Calibri"/>
              </a:rPr>
              <a:t>109</a:t>
            </a:r>
            <a:endParaRPr lang="fr-FR" sz="3200" b="1" noProof="0" dirty="0">
              <a:solidFill>
                <a:srgbClr val="FFC220"/>
              </a:solidFill>
              <a:ea typeface="Calibri"/>
              <a:cs typeface="Calibri"/>
            </a:endParaRPr>
          </a:p>
        </p:txBody>
      </p:sp>
      <p:sp>
        <p:nvSpPr>
          <p:cNvPr id="12" name="Text 10"/>
          <p:cNvSpPr/>
          <p:nvPr/>
        </p:nvSpPr>
        <p:spPr>
          <a:xfrm>
            <a:off x="4572000" y="1389888"/>
            <a:ext cx="1920240" cy="347472"/>
          </a:xfrm>
          <a:prstGeom prst="rect">
            <a:avLst/>
          </a:prstGeom>
          <a:noFill/>
          <a:ln/>
        </p:spPr>
        <p:txBody>
          <a:bodyPr wrap="square" lIns="0" tIns="0" rIns="0" bIns="0" rtlCol="0" anchor="ctr"/>
          <a:lstStyle/>
          <a:p>
            <a:pPr marL="0" indent="0" algn="ctr">
              <a:buNone/>
            </a:pPr>
            <a:r>
              <a:rPr lang="fr-FR" sz="900" noProof="0" dirty="0">
                <a:solidFill>
                  <a:srgbClr val="CADCFC"/>
                </a:solidFill>
                <a:latin typeface="Calibri" pitchFamily="34" charset="0"/>
                <a:ea typeface="Calibri" pitchFamily="34" charset="-122"/>
                <a:cs typeface="Calibri" pitchFamily="34" charset="-120"/>
              </a:rPr>
              <a:t>observations après nettoyage</a:t>
            </a:r>
            <a:endParaRPr lang="fr-FR" sz="900" noProof="0" dirty="0"/>
          </a:p>
        </p:txBody>
      </p:sp>
      <p:sp>
        <p:nvSpPr>
          <p:cNvPr id="13" name="Shape 11"/>
          <p:cNvSpPr/>
          <p:nvPr/>
        </p:nvSpPr>
        <p:spPr>
          <a:xfrm>
            <a:off x="6720840" y="822960"/>
            <a:ext cx="1920240" cy="1005840"/>
          </a:xfrm>
          <a:prstGeom prst="rect">
            <a:avLst/>
          </a:prstGeom>
          <a:solidFill>
            <a:srgbClr val="1E2761"/>
          </a:solidFill>
          <a:ln w="12700">
            <a:solidFill>
              <a:srgbClr val="1E2761"/>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4" name="Text 12"/>
          <p:cNvSpPr/>
          <p:nvPr/>
        </p:nvSpPr>
        <p:spPr>
          <a:xfrm>
            <a:off x="6720840" y="868680"/>
            <a:ext cx="1920240" cy="548640"/>
          </a:xfrm>
          <a:prstGeom prst="rect">
            <a:avLst/>
          </a:prstGeom>
          <a:noFill/>
          <a:ln/>
        </p:spPr>
        <p:txBody>
          <a:bodyPr wrap="square" lIns="0" tIns="0" rIns="0" bIns="0" rtlCol="0" anchor="ctr"/>
          <a:lstStyle/>
          <a:p>
            <a:pPr marL="0" indent="0" algn="ctr">
              <a:buNone/>
            </a:pPr>
            <a:r>
              <a:rPr lang="fr-FR" sz="3200" b="1">
                <a:solidFill>
                  <a:srgbClr val="FFC220"/>
                </a:solidFill>
                <a:latin typeface="Calibri"/>
                <a:ea typeface="Calibri"/>
                <a:cs typeface="Calibri"/>
              </a:rPr>
              <a:t>36</a:t>
            </a:r>
            <a:endParaRPr lang="fr-FR" sz="3200" noProof="0" dirty="0"/>
          </a:p>
        </p:txBody>
      </p:sp>
      <p:sp>
        <p:nvSpPr>
          <p:cNvPr id="15" name="Text 13"/>
          <p:cNvSpPr/>
          <p:nvPr/>
        </p:nvSpPr>
        <p:spPr>
          <a:xfrm>
            <a:off x="6720840" y="1389888"/>
            <a:ext cx="1920240" cy="347472"/>
          </a:xfrm>
          <a:prstGeom prst="rect">
            <a:avLst/>
          </a:prstGeom>
          <a:noFill/>
          <a:ln/>
        </p:spPr>
        <p:txBody>
          <a:bodyPr wrap="square" lIns="0" tIns="0" rIns="0" bIns="0" rtlCol="0" anchor="ctr"/>
          <a:lstStyle/>
          <a:p>
            <a:pPr marL="0" indent="0" algn="ctr">
              <a:buNone/>
            </a:pPr>
            <a:r>
              <a:rPr lang="fr-FR" sz="900" noProof="0" dirty="0">
                <a:solidFill>
                  <a:srgbClr val="CADCFC"/>
                </a:solidFill>
                <a:latin typeface="Calibri" pitchFamily="34" charset="0"/>
                <a:ea typeface="Calibri" pitchFamily="34" charset="-122"/>
                <a:cs typeface="Calibri" pitchFamily="34" charset="-120"/>
              </a:rPr>
              <a:t>features après preprocessing</a:t>
            </a:r>
            <a:endParaRPr lang="fr-FR" sz="900" noProof="0" dirty="0"/>
          </a:p>
        </p:txBody>
      </p:sp>
      <p:sp>
        <p:nvSpPr>
          <p:cNvPr id="16" name="Text 14"/>
          <p:cNvSpPr/>
          <p:nvPr/>
        </p:nvSpPr>
        <p:spPr>
          <a:xfrm>
            <a:off x="274320" y="1965960"/>
            <a:ext cx="8595360" cy="320040"/>
          </a:xfrm>
          <a:prstGeom prst="rect">
            <a:avLst/>
          </a:prstGeom>
          <a:noFill/>
          <a:ln/>
        </p:spPr>
        <p:txBody>
          <a:bodyPr wrap="square" lIns="0" tIns="0" rIns="0" bIns="0" rtlCol="0" anchor="ctr"/>
          <a:lstStyle/>
          <a:p>
            <a:pPr marL="0" indent="0">
              <a:buNone/>
            </a:pPr>
            <a:r>
              <a:rPr lang="fr-FR" sz="1400" b="1" noProof="0" dirty="0">
                <a:solidFill>
                  <a:srgbClr val="1E2761"/>
                </a:solidFill>
                <a:latin typeface="Calibri" pitchFamily="34" charset="0"/>
                <a:ea typeface="Calibri" pitchFamily="34" charset="-122"/>
                <a:cs typeface="Calibri" pitchFamily="34" charset="-120"/>
              </a:rPr>
              <a:t>Variables du dataset</a:t>
            </a:r>
            <a:endParaRPr lang="fr-FR" sz="1400" noProof="0" dirty="0"/>
          </a:p>
        </p:txBody>
      </p:sp>
      <p:graphicFrame>
        <p:nvGraphicFramePr>
          <p:cNvPr id="17" name="Table 0"/>
          <p:cNvGraphicFramePr>
            <a:graphicFrameLocks noGrp="1"/>
          </p:cNvGraphicFramePr>
          <p:nvPr>
            <p:extLst>
              <p:ext uri="{D42A27DB-BD31-4B8C-83A1-F6EECF244321}">
                <p14:modId xmlns:p14="http://schemas.microsoft.com/office/powerpoint/2010/main" val="940895307"/>
              </p:ext>
            </p:extLst>
          </p:nvPr>
        </p:nvGraphicFramePr>
        <p:xfrm>
          <a:off x="274320" y="2331720"/>
          <a:ext cx="8229600" cy="2517648"/>
        </p:xfrm>
        <a:graphic>
          <a:graphicData uri="http://schemas.openxmlformats.org/drawingml/2006/table">
            <a:tbl>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265176">
                <a:tc>
                  <a:txBody>
                    <a:bodyPr/>
                    <a:lstStyle/>
                    <a:p>
                      <a:pPr marL="0" indent="0">
                        <a:buNone/>
                      </a:pPr>
                      <a:r>
                        <a:rPr lang="fr-FR" sz="1000" b="1" noProof="0" dirty="0">
                          <a:solidFill>
                            <a:srgbClr val="FFFFFF"/>
                          </a:solidFill>
                          <a:latin typeface="Calibri" pitchFamily="34" charset="0"/>
                          <a:ea typeface="Calibri" pitchFamily="34" charset="-122"/>
                          <a:cs typeface="Calibri" pitchFamily="34" charset="-120"/>
                        </a:rPr>
                        <a:t>Variable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fr-FR" sz="1000" b="1" noProof="0" dirty="0">
                          <a:solidFill>
                            <a:srgbClr val="FFFFFF"/>
                          </a:solidFill>
                          <a:latin typeface="Calibri" pitchFamily="34" charset="0"/>
                          <a:ea typeface="Calibri" pitchFamily="34" charset="-122"/>
                          <a:cs typeface="Calibri" pitchFamily="34" charset="-120"/>
                        </a:rPr>
                        <a:t>Type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fr-FR" sz="1000" b="1" noProof="0" dirty="0">
                          <a:solidFill>
                            <a:srgbClr val="FFFFFF"/>
                          </a:solidFill>
                          <a:latin typeface="Calibri" pitchFamily="34" charset="0"/>
                          <a:ea typeface="Calibri" pitchFamily="34" charset="-122"/>
                          <a:cs typeface="Calibri" pitchFamily="34" charset="-120"/>
                        </a:rPr>
                        <a:t>Description</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fr-FR" sz="1000" b="1" noProof="0" dirty="0">
                          <a:solidFill>
                            <a:srgbClr val="FFFFFF"/>
                          </a:solidFill>
                          <a:latin typeface="Calibri" pitchFamily="34" charset="0"/>
                          <a:ea typeface="Calibri" pitchFamily="34" charset="-122"/>
                          <a:cs typeface="Calibri" pitchFamily="34" charset="-120"/>
                        </a:rPr>
                        <a:t>Rôle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65176">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Weekly_Sales</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Numérique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Ventes hebdomadaires ($)</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Target (y)</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Store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Catégorielle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Identifiant du magasin (19 magasins)</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Feature X</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Holiday_Flag</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Catégorielle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Présence d'un jour férié (0 ou 1)</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Feature X</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Temperature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Numérique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Température régionale (degrés F)</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Feature X</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265176">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Fuel_Price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Numérique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Prix du carburant ($)</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Feature X</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r h="265176">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CPI</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Numérique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Indice des prix à la consommation</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Feature X</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6"/>
                  </a:ext>
                </a:extLst>
              </a:tr>
              <a:tr h="265176">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Unemployment</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Numérique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Taux de chômage régional (%)</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Feature X</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7"/>
                  </a:ext>
                </a:extLst>
              </a:tr>
              <a:tr h="265176">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Date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Date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Semaine - décomposée en Year/Month/Day (DayOfWeek écartée - variance nulle)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fr-FR" sz="1000" noProof="0" dirty="0">
                          <a:solidFill>
                            <a:srgbClr val="000000"/>
                          </a:solidFill>
                          <a:latin typeface="Calibri" pitchFamily="34" charset="0"/>
                          <a:ea typeface="Calibri" pitchFamily="34" charset="-122"/>
                          <a:cs typeface="Calibri" pitchFamily="34" charset="-120"/>
                        </a:rPr>
                        <a:t>Feature X (transformée)</a:t>
                      </a:r>
                      <a:endParaRPr lang="fr-FR" sz="10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20000"/>
            <a:ext cx="8412480" cy="440000"/>
          </a:xfrm>
          <a:prstGeom prst="rect">
            <a:avLst/>
          </a:prstGeom>
          <a:noFill/>
        </p:spPr>
        <p:txBody>
          <a:bodyPr wrap="square" lIns="91440" tIns="45720" rIns="91440" bIns="45720" anchor="ctr">
            <a:spAutoFit/>
          </a:bodyPr>
          <a:lstStyle/>
          <a:p>
            <a:r>
              <a:rPr lang="fr-FR" sz="2200" b="1">
                <a:solidFill>
                  <a:srgbClr val="FFFFFF"/>
                </a:solidFill>
                <a:latin typeface="Calibri"/>
              </a:rPr>
              <a:t>03 - EDA</a:t>
            </a:r>
            <a:r>
              <a:rPr lang="en-US" sz="2200" b="1" dirty="0">
                <a:solidFill>
                  <a:srgbClr val="FFFFFF"/>
                </a:solidFill>
                <a:latin typeface="Calibri"/>
              </a:rPr>
              <a:t> </a:t>
            </a:r>
            <a:r>
              <a:rPr sz="2200" b="1">
                <a:solidFill>
                  <a:srgbClr val="FFFFFF"/>
                </a:solidFill>
                <a:latin typeface="Calibri"/>
              </a:rPr>
              <a:t>- Distribution des ventes</a:t>
            </a:r>
            <a:endParaRPr lang="en-US">
              <a:ea typeface="Calibri"/>
              <a:cs typeface="Calibri"/>
            </a:endParaRPr>
          </a:p>
        </p:txBody>
      </p:sp>
      <p:pic>
        <p:nvPicPr>
          <p:cNvPr id="4" name="Picture 3" descr="g01.png"/>
          <p:cNvPicPr>
            <a:picLocks noChangeAspect="1"/>
          </p:cNvPicPr>
          <p:nvPr/>
        </p:nvPicPr>
        <p:blipFill>
          <a:blip r:embed="rId2"/>
          <a:stretch>
            <a:fillRect/>
          </a:stretch>
        </p:blipFill>
        <p:spPr>
          <a:xfrm>
            <a:off x="365760" y="1463782"/>
            <a:ext cx="8412480" cy="2582435"/>
          </a:xfrm>
          <a:prstGeom prst="rect">
            <a:avLst/>
          </a:prstGeom>
        </p:spPr>
      </p:pic>
      <p:sp>
        <p:nvSpPr>
          <p:cNvPr id="5" name="TextBox 4"/>
          <p:cNvSpPr txBox="1"/>
          <p:nvPr/>
        </p:nvSpPr>
        <p:spPr>
          <a:xfrm>
            <a:off x="365760" y="4194220"/>
            <a:ext cx="8412480" cy="261610"/>
          </a:xfrm>
          <a:prstGeom prst="rect">
            <a:avLst/>
          </a:prstGeom>
          <a:noFill/>
        </p:spPr>
        <p:txBody>
          <a:bodyPr wrap="square" lIns="91440" tIns="45720" rIns="91440" bIns="45720" anchor="t">
            <a:spAutoFit/>
          </a:bodyPr>
          <a:lstStyle/>
          <a:p>
            <a:pPr algn="ctr"/>
            <a:r>
              <a:rPr sz="1100" dirty="0">
                <a:solidFill>
                  <a:srgbClr val="374151"/>
                </a:solidFill>
                <a:latin typeface="Calibri"/>
              </a:rPr>
              <a:t>Distribution bimodale des ventes (270k$ à 2,8M$) : deux groupes de magasins aux </a:t>
            </a:r>
            <a:r>
              <a:rPr sz="1100" err="1">
                <a:solidFill>
                  <a:srgbClr val="374151"/>
                </a:solidFill>
                <a:latin typeface="Calibri"/>
              </a:rPr>
              <a:t>profils</a:t>
            </a:r>
            <a:r>
              <a:rPr sz="1100" dirty="0">
                <a:solidFill>
                  <a:srgbClr val="374151"/>
                </a:solidFill>
                <a:latin typeface="Calibri"/>
              </a:rPr>
              <a:t> </a:t>
            </a:r>
            <a:r>
              <a:rPr sz="1100">
                <a:solidFill>
                  <a:srgbClr val="374151"/>
                </a:solidFill>
                <a:latin typeface="Calibri"/>
              </a:rPr>
              <a:t>distincts.</a:t>
            </a:r>
            <a:endParaRPr lang="fr-FR" sz="1100">
              <a:solidFill>
                <a:srgbClr val="374151"/>
              </a:solidFill>
              <a:latin typeface="Calibri"/>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818D259-AEC7-A535-7A2D-92B33D03D555}"/>
              </a:ext>
            </a:extLst>
          </p:cNvPr>
          <p:cNvSpPr/>
          <p:nvPr/>
        </p:nvSpPr>
        <p:spPr>
          <a:xfrm>
            <a:off x="0" y="0"/>
            <a:ext cx="9144000" cy="685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553DE3A-4B9C-9C21-FEA4-540BD5DF951D}"/>
              </a:ext>
            </a:extLst>
          </p:cNvPr>
          <p:cNvSpPr txBox="1"/>
          <p:nvPr/>
        </p:nvSpPr>
        <p:spPr>
          <a:xfrm>
            <a:off x="365760" y="120000"/>
            <a:ext cx="8412480" cy="440000"/>
          </a:xfrm>
          <a:prstGeom prst="rect">
            <a:avLst/>
          </a:prstGeom>
          <a:noFill/>
        </p:spPr>
        <p:txBody>
          <a:bodyPr wrap="square" lIns="91440" tIns="45720" rIns="91440" bIns="45720" anchor="ctr">
            <a:spAutoFit/>
          </a:bodyPr>
          <a:lstStyle/>
          <a:p>
            <a:r>
              <a:rPr sz="2200" b="1" dirty="0" err="1">
                <a:solidFill>
                  <a:srgbClr val="FFFFFF"/>
                </a:solidFill>
                <a:latin typeface="Calibri"/>
              </a:rPr>
              <a:t>Analyse</a:t>
            </a:r>
            <a:r>
              <a:rPr sz="2200" b="1" dirty="0">
                <a:solidFill>
                  <a:srgbClr val="FFFFFF"/>
                </a:solidFill>
                <a:latin typeface="Calibri"/>
              </a:rPr>
              <a:t> </a:t>
            </a:r>
            <a:r>
              <a:rPr sz="2200" b="1" dirty="0" err="1">
                <a:solidFill>
                  <a:srgbClr val="FFFFFF"/>
                </a:solidFill>
                <a:latin typeface="Calibri"/>
              </a:rPr>
              <a:t>exploratoire</a:t>
            </a:r>
            <a:r>
              <a:rPr sz="2200" b="1" dirty="0">
                <a:solidFill>
                  <a:srgbClr val="FFFFFF"/>
                </a:solidFill>
                <a:latin typeface="Calibri"/>
              </a:rPr>
              <a:t> </a:t>
            </a:r>
            <a:r>
              <a:rPr lang="en-US" sz="2200" b="1" dirty="0">
                <a:solidFill>
                  <a:srgbClr val="FFFFFF"/>
                </a:solidFill>
                <a:latin typeface="Calibri"/>
              </a:rPr>
              <a:t>– Evolution des ventes </a:t>
            </a:r>
            <a:endParaRPr lang="en-US" sz="2200" b="1" dirty="0">
              <a:solidFill>
                <a:srgbClr val="FFFFFF"/>
              </a:solidFill>
              <a:latin typeface="Calibri"/>
              <a:ea typeface="Calibri"/>
              <a:cs typeface="Calibri"/>
            </a:endParaRPr>
          </a:p>
        </p:txBody>
      </p:sp>
      <p:pic>
        <p:nvPicPr>
          <p:cNvPr id="6" name="Picture 5">
            <a:extLst>
              <a:ext uri="{FF2B5EF4-FFF2-40B4-BE49-F238E27FC236}">
                <a16:creationId xmlns:a16="http://schemas.microsoft.com/office/drawing/2014/main" id="{C2D33D05-D3BB-51D7-91AB-F35A0E65DFC2}"/>
              </a:ext>
            </a:extLst>
          </p:cNvPr>
          <p:cNvPicPr>
            <a:picLocks noChangeAspect="1"/>
          </p:cNvPicPr>
          <p:nvPr/>
        </p:nvPicPr>
        <p:blipFill>
          <a:blip r:embed="rId2"/>
          <a:stretch>
            <a:fillRect/>
          </a:stretch>
        </p:blipFill>
        <p:spPr>
          <a:xfrm>
            <a:off x="0" y="1166594"/>
            <a:ext cx="9144000" cy="2810312"/>
          </a:xfrm>
          <a:prstGeom prst="rect">
            <a:avLst/>
          </a:prstGeom>
        </p:spPr>
      </p:pic>
      <p:sp>
        <p:nvSpPr>
          <p:cNvPr id="7" name="TextBox 6">
            <a:extLst>
              <a:ext uri="{FF2B5EF4-FFF2-40B4-BE49-F238E27FC236}">
                <a16:creationId xmlns:a16="http://schemas.microsoft.com/office/drawing/2014/main" id="{F21619BD-EDCE-9B25-3C86-317864B23E3A}"/>
              </a:ext>
            </a:extLst>
          </p:cNvPr>
          <p:cNvSpPr txBox="1"/>
          <p:nvPr/>
        </p:nvSpPr>
        <p:spPr>
          <a:xfrm>
            <a:off x="579904" y="3891242"/>
            <a:ext cx="788333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err="1">
                <a:solidFill>
                  <a:schemeClr val="tx2">
                    <a:lumMod val="49000"/>
                  </a:schemeClr>
                </a:solidFill>
              </a:rPr>
              <a:t>Possibilté</a:t>
            </a:r>
            <a:r>
              <a:rPr lang="en-US" sz="1100" dirty="0">
                <a:solidFill>
                  <a:schemeClr val="tx2">
                    <a:lumMod val="49000"/>
                  </a:schemeClr>
                </a:solidFill>
              </a:rPr>
              <a:t> de </a:t>
            </a:r>
            <a:r>
              <a:rPr lang="en-US" sz="1100" dirty="0" err="1">
                <a:solidFill>
                  <a:schemeClr val="tx2">
                    <a:lumMod val="49000"/>
                  </a:schemeClr>
                </a:solidFill>
              </a:rPr>
              <a:t>pésence</a:t>
            </a:r>
            <a:r>
              <a:rPr lang="en-US" sz="1100" dirty="0">
                <a:solidFill>
                  <a:schemeClr val="tx2">
                    <a:lumMod val="49000"/>
                  </a:schemeClr>
                </a:solidFill>
              </a:rPr>
              <a:t> de tendance </a:t>
            </a:r>
            <a:r>
              <a:rPr lang="en-US" sz="1100" dirty="0" err="1">
                <a:solidFill>
                  <a:schemeClr val="tx2">
                    <a:lumMod val="49000"/>
                  </a:schemeClr>
                </a:solidFill>
              </a:rPr>
              <a:t>saisonnière</a:t>
            </a:r>
            <a:r>
              <a:rPr lang="en-US" sz="1100" dirty="0">
                <a:solidFill>
                  <a:schemeClr val="tx2">
                    <a:lumMod val="49000"/>
                  </a:schemeClr>
                </a:solidFill>
              </a:rPr>
              <a:t> --&gt; </a:t>
            </a:r>
            <a:r>
              <a:rPr lang="en-US" sz="1100" dirty="0" err="1">
                <a:solidFill>
                  <a:schemeClr val="tx2">
                    <a:lumMod val="49000"/>
                  </a:schemeClr>
                </a:solidFill>
              </a:rPr>
              <a:t>nécessité</a:t>
            </a:r>
            <a:r>
              <a:rPr lang="en-US" sz="1100" dirty="0">
                <a:solidFill>
                  <a:schemeClr val="tx2">
                    <a:lumMod val="49000"/>
                  </a:schemeClr>
                </a:solidFill>
              </a:rPr>
              <a:t> </a:t>
            </a:r>
            <a:r>
              <a:rPr lang="en-US" sz="1100" dirty="0" err="1">
                <a:solidFill>
                  <a:schemeClr val="tx2">
                    <a:lumMod val="49000"/>
                  </a:schemeClr>
                </a:solidFill>
              </a:rPr>
              <a:t>d'extraction</a:t>
            </a:r>
            <a:r>
              <a:rPr lang="en-US" sz="1100" dirty="0">
                <a:solidFill>
                  <a:schemeClr val="tx2">
                    <a:lumMod val="49000"/>
                  </a:schemeClr>
                </a:solidFill>
              </a:rPr>
              <a:t> des features </a:t>
            </a:r>
            <a:r>
              <a:rPr lang="en-US" sz="1100" dirty="0" err="1">
                <a:solidFill>
                  <a:schemeClr val="tx2">
                    <a:lumMod val="49000"/>
                  </a:schemeClr>
                </a:solidFill>
              </a:rPr>
              <a:t>temporelles</a:t>
            </a:r>
            <a:r>
              <a:rPr lang="en-US" sz="1100" dirty="0">
                <a:solidFill>
                  <a:schemeClr val="tx2">
                    <a:lumMod val="49000"/>
                  </a:schemeClr>
                </a:solidFill>
              </a:rPr>
              <a:t> (Year, Month, Day) </a:t>
            </a:r>
            <a:r>
              <a:rPr lang="en-US" sz="1100" dirty="0" err="1">
                <a:solidFill>
                  <a:schemeClr val="tx2">
                    <a:lumMod val="49000"/>
                  </a:schemeClr>
                </a:solidFill>
              </a:rPr>
              <a:t>depuis</a:t>
            </a:r>
            <a:r>
              <a:rPr lang="en-US" sz="1100" dirty="0">
                <a:solidFill>
                  <a:schemeClr val="tx2">
                    <a:lumMod val="49000"/>
                  </a:schemeClr>
                </a:solidFill>
              </a:rPr>
              <a:t> la </a:t>
            </a:r>
            <a:r>
              <a:rPr lang="en-US" sz="1100" dirty="0" err="1">
                <a:solidFill>
                  <a:schemeClr val="tx2">
                    <a:lumMod val="49000"/>
                  </a:schemeClr>
                </a:solidFill>
              </a:rPr>
              <a:t>colonne</a:t>
            </a:r>
            <a:r>
              <a:rPr lang="en-US" sz="1100" dirty="0">
                <a:solidFill>
                  <a:schemeClr val="tx2">
                    <a:lumMod val="49000"/>
                  </a:schemeClr>
                </a:solidFill>
              </a:rPr>
              <a:t> Date.</a:t>
            </a:r>
            <a:endParaRPr lang="en-US" sz="1100" dirty="0">
              <a:solidFill>
                <a:schemeClr val="tx2">
                  <a:lumMod val="49000"/>
                </a:schemeClr>
              </a:solidFill>
              <a:ea typeface="Calibri"/>
              <a:cs typeface="Calibri"/>
            </a:endParaRPr>
          </a:p>
          <a:p>
            <a:pPr algn="l"/>
            <a:endParaRPr lang="en-US" dirty="0">
              <a:ea typeface="Calibri"/>
              <a:cs typeface="Calibri"/>
            </a:endParaRPr>
          </a:p>
        </p:txBody>
      </p:sp>
    </p:spTree>
    <p:extLst>
      <p:ext uri="{BB962C8B-B14F-4D97-AF65-F5344CB8AC3E}">
        <p14:creationId xmlns:p14="http://schemas.microsoft.com/office/powerpoint/2010/main" val="2054038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20000"/>
            <a:ext cx="8412480" cy="440000"/>
          </a:xfrm>
          <a:prstGeom prst="rect">
            <a:avLst/>
          </a:prstGeom>
          <a:noFill/>
        </p:spPr>
        <p:txBody>
          <a:bodyPr wrap="square" lIns="91440" tIns="45720" rIns="91440" bIns="45720" anchor="ctr">
            <a:spAutoFit/>
          </a:bodyPr>
          <a:lstStyle/>
          <a:p>
            <a:r>
              <a:rPr sz="2200" b="1" dirty="0" err="1">
                <a:solidFill>
                  <a:srgbClr val="FFFFFF"/>
                </a:solidFill>
                <a:latin typeface="Calibri"/>
              </a:rPr>
              <a:t>Analyse</a:t>
            </a:r>
            <a:r>
              <a:rPr sz="2200" b="1" dirty="0">
                <a:solidFill>
                  <a:srgbClr val="FFFFFF"/>
                </a:solidFill>
                <a:latin typeface="Calibri"/>
              </a:rPr>
              <a:t> </a:t>
            </a:r>
            <a:r>
              <a:rPr sz="2200" b="1" dirty="0" err="1">
                <a:solidFill>
                  <a:srgbClr val="FFFFFF"/>
                </a:solidFill>
                <a:latin typeface="Calibri"/>
              </a:rPr>
              <a:t>exploratoire</a:t>
            </a:r>
            <a:r>
              <a:rPr sz="2200" b="1" dirty="0">
                <a:solidFill>
                  <a:srgbClr val="FFFFFF"/>
                </a:solidFill>
                <a:latin typeface="Calibri"/>
              </a:rPr>
              <a:t> </a:t>
            </a:r>
            <a:r>
              <a:rPr lang="en-US" sz="2200" b="1" dirty="0">
                <a:solidFill>
                  <a:srgbClr val="FFFFFF"/>
                </a:solidFill>
                <a:latin typeface="Calibri"/>
              </a:rPr>
              <a:t>– </a:t>
            </a:r>
            <a:r>
              <a:rPr lang="en-US" sz="2200" b="1" dirty="0" err="1">
                <a:solidFill>
                  <a:srgbClr val="FFFFFF"/>
                </a:solidFill>
                <a:latin typeface="Calibri"/>
              </a:rPr>
              <a:t>Effet</a:t>
            </a:r>
            <a:r>
              <a:rPr lang="en-US" sz="2200" b="1" dirty="0">
                <a:solidFill>
                  <a:srgbClr val="FFFFFF"/>
                </a:solidFill>
                <a:latin typeface="Calibri"/>
              </a:rPr>
              <a:t> </a:t>
            </a:r>
            <a:r>
              <a:rPr lang="en-US" sz="2200" b="1" dirty="0" err="1">
                <a:solidFill>
                  <a:srgbClr val="FFFFFF"/>
                </a:solidFill>
                <a:latin typeface="Calibri"/>
              </a:rPr>
              <a:t>magasins</a:t>
            </a:r>
            <a:r>
              <a:rPr lang="en-US" sz="2200" b="1" dirty="0">
                <a:solidFill>
                  <a:srgbClr val="FFFFFF"/>
                </a:solidFill>
                <a:latin typeface="Calibri"/>
              </a:rPr>
              <a:t> et </a:t>
            </a:r>
            <a:r>
              <a:rPr lang="en-US" sz="2200" b="1" dirty="0" err="1">
                <a:solidFill>
                  <a:srgbClr val="FFFFFF"/>
                </a:solidFill>
                <a:latin typeface="Calibri"/>
              </a:rPr>
              <a:t>jours</a:t>
            </a:r>
            <a:r>
              <a:rPr lang="en-US" sz="2200" b="1" dirty="0">
                <a:solidFill>
                  <a:srgbClr val="FFFFFF"/>
                </a:solidFill>
                <a:latin typeface="Calibri"/>
              </a:rPr>
              <a:t> </a:t>
            </a:r>
            <a:r>
              <a:rPr lang="en-US" sz="2200" b="1" dirty="0" err="1">
                <a:solidFill>
                  <a:srgbClr val="FFFFFF"/>
                </a:solidFill>
                <a:latin typeface="Calibri"/>
              </a:rPr>
              <a:t>fériés</a:t>
            </a:r>
            <a:r>
              <a:rPr lang="en-US" sz="2200" b="1" dirty="0">
                <a:solidFill>
                  <a:srgbClr val="FFFFFF"/>
                </a:solidFill>
                <a:latin typeface="Calibri"/>
              </a:rPr>
              <a:t> </a:t>
            </a:r>
            <a:endParaRPr lang="en-US" sz="2200" b="1" dirty="0">
              <a:solidFill>
                <a:srgbClr val="FFFFFF"/>
              </a:solidFill>
              <a:latin typeface="Calibri"/>
              <a:ea typeface="Calibri"/>
              <a:cs typeface="Calibri"/>
            </a:endParaRPr>
          </a:p>
        </p:txBody>
      </p:sp>
      <p:sp>
        <p:nvSpPr>
          <p:cNvPr id="5" name="TextBox 4"/>
          <p:cNvSpPr txBox="1"/>
          <p:nvPr/>
        </p:nvSpPr>
        <p:spPr>
          <a:xfrm>
            <a:off x="365760" y="4217080"/>
            <a:ext cx="8412480" cy="600164"/>
          </a:xfrm>
          <a:prstGeom prst="rect">
            <a:avLst/>
          </a:prstGeom>
          <a:noFill/>
        </p:spPr>
        <p:txBody>
          <a:bodyPr wrap="square" lIns="91440" tIns="45720" rIns="91440" bIns="45720" anchor="t">
            <a:spAutoFit/>
          </a:bodyPr>
          <a:lstStyle/>
          <a:p>
            <a:pPr algn="ctr"/>
            <a:r>
              <a:rPr lang="fr-FR" sz="1100">
                <a:solidFill>
                  <a:srgbClr val="374151"/>
                </a:solidFill>
                <a:latin typeface="Calibri"/>
                <a:ea typeface="Calibri"/>
                <a:cs typeface="Calibri"/>
              </a:rPr>
              <a:t>Hétérogénéité inter-magasins réelle</a:t>
            </a:r>
            <a:endParaRPr lang="en-US" sz="1100">
              <a:ea typeface="Calibri"/>
              <a:cs typeface="Calibri"/>
            </a:endParaRPr>
          </a:p>
          <a:p>
            <a:pPr algn="ctr"/>
            <a:endParaRPr lang="en-US" sz="1100" i="1" dirty="0">
              <a:solidFill>
                <a:srgbClr val="374151"/>
              </a:solidFill>
              <a:latin typeface="Calibri"/>
            </a:endParaRPr>
          </a:p>
          <a:p>
            <a:pPr algn="ctr"/>
            <a:r>
              <a:rPr lang="en-US" sz="1100" i="1" dirty="0">
                <a:solidFill>
                  <a:srgbClr val="374151"/>
                </a:solidFill>
                <a:latin typeface="Calibri"/>
              </a:rPr>
              <a:t>Les</a:t>
            </a:r>
            <a:r>
              <a:rPr sz="1100" i="1" dirty="0">
                <a:solidFill>
                  <a:srgbClr val="374151"/>
                </a:solidFill>
                <a:latin typeface="Calibri"/>
              </a:rPr>
              <a:t> </a:t>
            </a:r>
            <a:r>
              <a:rPr sz="1100" i="1" dirty="0" err="1">
                <a:solidFill>
                  <a:srgbClr val="374151"/>
                </a:solidFill>
                <a:latin typeface="Calibri"/>
              </a:rPr>
              <a:t>semaines</a:t>
            </a:r>
            <a:r>
              <a:rPr sz="1100" i="1" dirty="0">
                <a:solidFill>
                  <a:srgbClr val="374151"/>
                </a:solidFill>
                <a:latin typeface="Calibri"/>
              </a:rPr>
              <a:t> de fêtes </a:t>
            </a:r>
            <a:r>
              <a:rPr sz="1100" i="1" dirty="0" err="1">
                <a:solidFill>
                  <a:srgbClr val="374151"/>
                </a:solidFill>
                <a:latin typeface="Calibri"/>
              </a:rPr>
              <a:t>génèrent</a:t>
            </a:r>
            <a:r>
              <a:rPr sz="1100" i="1" dirty="0">
                <a:solidFill>
                  <a:srgbClr val="374151"/>
                </a:solidFill>
                <a:latin typeface="Calibri"/>
              </a:rPr>
              <a:t> </a:t>
            </a:r>
            <a:r>
              <a:rPr sz="1100" i="1" dirty="0" err="1">
                <a:solidFill>
                  <a:srgbClr val="374151"/>
                </a:solidFill>
                <a:latin typeface="Calibri"/>
              </a:rPr>
              <a:t>en</a:t>
            </a:r>
            <a:r>
              <a:rPr sz="1100" i="1" dirty="0">
                <a:solidFill>
                  <a:srgbClr val="374151"/>
                </a:solidFill>
                <a:latin typeface="Calibri"/>
              </a:rPr>
              <a:t> </a:t>
            </a:r>
            <a:r>
              <a:rPr sz="1100" i="1" dirty="0" err="1">
                <a:solidFill>
                  <a:srgbClr val="374151"/>
                </a:solidFill>
                <a:latin typeface="Calibri"/>
              </a:rPr>
              <a:t>moyenne</a:t>
            </a:r>
            <a:r>
              <a:rPr sz="1100" i="1" dirty="0">
                <a:solidFill>
                  <a:srgbClr val="374151"/>
                </a:solidFill>
                <a:latin typeface="Calibri"/>
              </a:rPr>
              <a:t> +7,5 % de ventes.</a:t>
            </a:r>
            <a:endParaRPr>
              <a:ea typeface="Calibri"/>
              <a:cs typeface="Calibri"/>
            </a:endParaRPr>
          </a:p>
        </p:txBody>
      </p:sp>
      <p:pic>
        <p:nvPicPr>
          <p:cNvPr id="6" name="Picture 5">
            <a:extLst>
              <a:ext uri="{FF2B5EF4-FFF2-40B4-BE49-F238E27FC236}">
                <a16:creationId xmlns:a16="http://schemas.microsoft.com/office/drawing/2014/main" id="{DC230F13-4BC6-B86B-EDDB-2D1842F39779}"/>
              </a:ext>
            </a:extLst>
          </p:cNvPr>
          <p:cNvPicPr>
            <a:picLocks noChangeAspect="1"/>
          </p:cNvPicPr>
          <p:nvPr/>
        </p:nvPicPr>
        <p:blipFill>
          <a:blip r:embed="rId2"/>
          <a:stretch>
            <a:fillRect/>
          </a:stretch>
        </p:blipFill>
        <p:spPr>
          <a:xfrm>
            <a:off x="192405" y="800100"/>
            <a:ext cx="4758690" cy="3413760"/>
          </a:xfrm>
          <a:prstGeom prst="rect">
            <a:avLst/>
          </a:prstGeom>
        </p:spPr>
      </p:pic>
      <p:pic>
        <p:nvPicPr>
          <p:cNvPr id="7" name="Picture 6">
            <a:extLst>
              <a:ext uri="{FF2B5EF4-FFF2-40B4-BE49-F238E27FC236}">
                <a16:creationId xmlns:a16="http://schemas.microsoft.com/office/drawing/2014/main" id="{605C41AD-ADA8-DC2E-949D-B32DA43B1138}"/>
              </a:ext>
            </a:extLst>
          </p:cNvPr>
          <p:cNvPicPr>
            <a:picLocks noChangeAspect="1"/>
          </p:cNvPicPr>
          <p:nvPr/>
        </p:nvPicPr>
        <p:blipFill>
          <a:blip r:embed="rId3"/>
          <a:stretch>
            <a:fillRect/>
          </a:stretch>
        </p:blipFill>
        <p:spPr>
          <a:xfrm>
            <a:off x="5082540" y="799147"/>
            <a:ext cx="4061460" cy="3240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20000"/>
            <a:ext cx="8412480" cy="440000"/>
          </a:xfrm>
          <a:prstGeom prst="rect">
            <a:avLst/>
          </a:prstGeom>
          <a:noFill/>
        </p:spPr>
        <p:txBody>
          <a:bodyPr wrap="square" anchor="ctr">
            <a:spAutoFit/>
          </a:bodyPr>
          <a:lstStyle/>
          <a:p>
            <a:pPr algn="l"/>
            <a:r>
              <a:rPr sz="2200" b="1">
                <a:solidFill>
                  <a:srgbClr val="FFFFFF"/>
                </a:solidFill>
                <a:latin typeface="Calibri"/>
              </a:rPr>
              <a:t>Analyse exploratoire - Matrice de corrélation</a:t>
            </a:r>
          </a:p>
        </p:txBody>
      </p:sp>
      <p:pic>
        <p:nvPicPr>
          <p:cNvPr id="4" name="Picture 3" descr="g05.png"/>
          <p:cNvPicPr>
            <a:picLocks noChangeAspect="1"/>
          </p:cNvPicPr>
          <p:nvPr/>
        </p:nvPicPr>
        <p:blipFill>
          <a:blip r:embed="rId2"/>
          <a:stretch>
            <a:fillRect/>
          </a:stretch>
        </p:blipFill>
        <p:spPr>
          <a:xfrm>
            <a:off x="2399034" y="830000"/>
            <a:ext cx="4345932" cy="3850000"/>
          </a:xfrm>
          <a:prstGeom prst="rect">
            <a:avLst/>
          </a:prstGeom>
        </p:spPr>
      </p:pic>
      <p:sp>
        <p:nvSpPr>
          <p:cNvPr id="5" name="TextBox 4"/>
          <p:cNvSpPr txBox="1"/>
          <p:nvPr/>
        </p:nvSpPr>
        <p:spPr>
          <a:xfrm>
            <a:off x="365760" y="4720000"/>
            <a:ext cx="8412480" cy="261610"/>
          </a:xfrm>
          <a:prstGeom prst="rect">
            <a:avLst/>
          </a:prstGeom>
          <a:noFill/>
        </p:spPr>
        <p:txBody>
          <a:bodyPr wrap="square" lIns="91440" tIns="45720" rIns="91440" bIns="45720" anchor="t">
            <a:spAutoFit/>
          </a:bodyPr>
          <a:lstStyle/>
          <a:p>
            <a:pPr algn="ctr"/>
            <a:r>
              <a:rPr sz="1100" i="1" dirty="0" err="1">
                <a:solidFill>
                  <a:srgbClr val="374151"/>
                </a:solidFill>
                <a:latin typeface="Calibri"/>
              </a:rPr>
              <a:t>Aucune</a:t>
            </a:r>
            <a:r>
              <a:rPr sz="1100" i="1" dirty="0">
                <a:solidFill>
                  <a:srgbClr val="374151"/>
                </a:solidFill>
                <a:latin typeface="Calibri"/>
              </a:rPr>
              <a:t> variable </a:t>
            </a:r>
            <a:r>
              <a:rPr sz="1100" i="1" dirty="0" err="1">
                <a:solidFill>
                  <a:srgbClr val="374151"/>
                </a:solidFill>
                <a:latin typeface="Calibri"/>
              </a:rPr>
              <a:t>seule</a:t>
            </a:r>
            <a:r>
              <a:rPr sz="1100" i="1" dirty="0">
                <a:solidFill>
                  <a:srgbClr val="374151"/>
                </a:solidFill>
                <a:latin typeface="Calibri"/>
              </a:rPr>
              <a:t> </a:t>
            </a:r>
            <a:r>
              <a:rPr sz="1100" i="1" dirty="0" err="1">
                <a:solidFill>
                  <a:srgbClr val="374151"/>
                </a:solidFill>
                <a:latin typeface="Calibri"/>
              </a:rPr>
              <a:t>n'est</a:t>
            </a:r>
            <a:r>
              <a:rPr sz="1100" i="1" dirty="0">
                <a:solidFill>
                  <a:srgbClr val="374151"/>
                </a:solidFill>
                <a:latin typeface="Calibri"/>
              </a:rPr>
              <a:t> </a:t>
            </a:r>
            <a:r>
              <a:rPr sz="1100" i="1" dirty="0" err="1">
                <a:solidFill>
                  <a:srgbClr val="374151"/>
                </a:solidFill>
                <a:latin typeface="Calibri"/>
              </a:rPr>
              <a:t>fortement</a:t>
            </a:r>
            <a:r>
              <a:rPr sz="1100" i="1" dirty="0">
                <a:solidFill>
                  <a:srgbClr val="374151"/>
                </a:solidFill>
                <a:latin typeface="Calibri"/>
              </a:rPr>
              <a:t> </a:t>
            </a:r>
            <a:r>
              <a:rPr sz="1100" i="1" dirty="0" err="1">
                <a:solidFill>
                  <a:srgbClr val="374151"/>
                </a:solidFill>
                <a:latin typeface="Calibri"/>
              </a:rPr>
              <a:t>corrélée</a:t>
            </a:r>
            <a:r>
              <a:rPr sz="1100" i="1" dirty="0">
                <a:solidFill>
                  <a:srgbClr val="374151"/>
                </a:solidFill>
                <a:latin typeface="Calibri"/>
              </a:rPr>
              <a:t> à la </a:t>
            </a:r>
            <a:r>
              <a:rPr sz="1100" i="1" dirty="0" err="1">
                <a:solidFill>
                  <a:srgbClr val="374151"/>
                </a:solidFill>
                <a:latin typeface="Calibri"/>
              </a:rPr>
              <a:t>cible</a:t>
            </a:r>
            <a:r>
              <a:rPr sz="1100" i="1" dirty="0">
                <a:solidFill>
                  <a:srgbClr val="374151"/>
                </a:solidFill>
                <a:latin typeface="Calibri"/>
              </a:rPr>
              <a:t>: </a:t>
            </a:r>
            <a:r>
              <a:rPr lang="en-US" sz="1100" i="1" dirty="0" err="1">
                <a:solidFill>
                  <a:srgbClr val="374151"/>
                </a:solidFill>
                <a:latin typeface="Calibri"/>
              </a:rPr>
              <a:t>c'est</a:t>
            </a:r>
            <a:r>
              <a:rPr lang="en-US" sz="1100" i="1" dirty="0">
                <a:solidFill>
                  <a:srgbClr val="374151"/>
                </a:solidFill>
                <a:latin typeface="Calibri"/>
              </a:rPr>
              <a:t> pour </a:t>
            </a:r>
            <a:r>
              <a:rPr lang="en-US" sz="1100" i="1" dirty="0" err="1">
                <a:solidFill>
                  <a:srgbClr val="374151"/>
                </a:solidFill>
                <a:latin typeface="Calibri"/>
              </a:rPr>
              <a:t>cela</a:t>
            </a:r>
            <a:r>
              <a:rPr lang="en-US" sz="1100" i="1" dirty="0">
                <a:solidFill>
                  <a:srgbClr val="374151"/>
                </a:solidFill>
                <a:latin typeface="Calibri"/>
              </a:rPr>
              <a:t> </a:t>
            </a:r>
            <a:r>
              <a:rPr lang="en-US" sz="1100" i="1" dirty="0" err="1">
                <a:solidFill>
                  <a:srgbClr val="374151"/>
                </a:solidFill>
                <a:latin typeface="Calibri"/>
              </a:rPr>
              <a:t>qu'il</a:t>
            </a:r>
            <a:r>
              <a:rPr lang="en-US" sz="1100" i="1" dirty="0">
                <a:solidFill>
                  <a:srgbClr val="374151"/>
                </a:solidFill>
                <a:latin typeface="Calibri"/>
              </a:rPr>
              <a:t> faut les combiner</a:t>
            </a:r>
            <a:r>
              <a:rPr sz="1100" i="1" dirty="0">
                <a:solidFill>
                  <a:srgbClr val="374151"/>
                </a:solidFill>
                <a:latin typeface="Calibri"/>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fr-FR" noProof="0" dirty="0"/>
          </a:p>
        </p:txBody>
      </p:sp>
      <p:sp>
        <p:nvSpPr>
          <p:cNvPr id="3" name="Text 1"/>
          <p:cNvSpPr/>
          <p:nvPr/>
        </p:nvSpPr>
        <p:spPr>
          <a:xfrm>
            <a:off x="365760" y="73152"/>
            <a:ext cx="8412480" cy="502920"/>
          </a:xfrm>
          <a:prstGeom prst="rect">
            <a:avLst/>
          </a:prstGeom>
          <a:noFill/>
          <a:ln/>
        </p:spPr>
        <p:txBody>
          <a:bodyPr wrap="square" lIns="0" tIns="0" rIns="0" bIns="0" rtlCol="0" anchor="ctr"/>
          <a:lstStyle/>
          <a:p>
            <a:pPr marL="0" indent="0">
              <a:buNone/>
            </a:pPr>
            <a:r>
              <a:rPr lang="fr-FR" sz="2200" b="1" noProof="0" dirty="0">
                <a:solidFill>
                  <a:srgbClr val="FFFFFF"/>
                </a:solidFill>
                <a:latin typeface="Calibri" pitchFamily="34" charset="0"/>
                <a:ea typeface="Calibri" pitchFamily="34" charset="-122"/>
                <a:cs typeface="Calibri" pitchFamily="34" charset="-120"/>
              </a:rPr>
              <a:t>04 - </a:t>
            </a:r>
            <a:r>
              <a:rPr lang="fr-FR" sz="2200" b="1" noProof="0" dirty="0" err="1">
                <a:solidFill>
                  <a:srgbClr val="FFFFFF"/>
                </a:solidFill>
                <a:latin typeface="Calibri" pitchFamily="34" charset="0"/>
                <a:ea typeface="Calibri" pitchFamily="34" charset="-122"/>
                <a:cs typeface="Calibri" pitchFamily="34" charset="-120"/>
              </a:rPr>
              <a:t>Prétraitement</a:t>
            </a:r>
            <a:r>
              <a:rPr lang="fr-FR" sz="2200" b="1" noProof="0" dirty="0">
                <a:solidFill>
                  <a:srgbClr val="FFFFFF"/>
                </a:solidFill>
                <a:latin typeface="Calibri" pitchFamily="34" charset="0"/>
                <a:ea typeface="Calibri" pitchFamily="34" charset="-122"/>
                <a:cs typeface="Calibri" pitchFamily="34" charset="-120"/>
              </a:rPr>
              <a:t> des </a:t>
            </a:r>
            <a:r>
              <a:rPr lang="fr-FR" sz="2200" b="1" noProof="0" dirty="0" err="1">
                <a:solidFill>
                  <a:srgbClr val="FFFFFF"/>
                </a:solidFill>
                <a:latin typeface="Calibri" pitchFamily="34" charset="0"/>
                <a:ea typeface="Calibri" pitchFamily="34" charset="-122"/>
                <a:cs typeface="Calibri" pitchFamily="34" charset="-120"/>
              </a:rPr>
              <a:t>données</a:t>
            </a:r>
            <a:endParaRPr lang="fr-FR" sz="2200" noProof="0" dirty="0"/>
          </a:p>
        </p:txBody>
      </p:sp>
      <p:sp>
        <p:nvSpPr>
          <p:cNvPr id="4" name="Shape 2"/>
          <p:cNvSpPr/>
          <p:nvPr/>
        </p:nvSpPr>
        <p:spPr>
          <a:xfrm>
            <a:off x="274320" y="822960"/>
            <a:ext cx="3931920" cy="402336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5" name="Shape 3"/>
          <p:cNvSpPr/>
          <p:nvPr/>
        </p:nvSpPr>
        <p:spPr>
          <a:xfrm>
            <a:off x="274320" y="822960"/>
            <a:ext cx="3931920" cy="384048"/>
          </a:xfrm>
          <a:prstGeom prst="rect">
            <a:avLst/>
          </a:prstGeom>
          <a:solidFill>
            <a:srgbClr val="0071CE"/>
          </a:solidFill>
          <a:ln w="12700">
            <a:solidFill>
              <a:srgbClr val="0071CE"/>
            </a:solidFill>
            <a:prstDash val="solid"/>
          </a:ln>
        </p:spPr>
        <p:txBody>
          <a:bodyPr/>
          <a:lstStyle/>
          <a:p>
            <a:endParaRPr lang="fr-FR" noProof="0" dirty="0"/>
          </a:p>
        </p:txBody>
      </p:sp>
      <p:sp>
        <p:nvSpPr>
          <p:cNvPr id="6" name="Text 4"/>
          <p:cNvSpPr/>
          <p:nvPr/>
        </p:nvSpPr>
        <p:spPr>
          <a:xfrm>
            <a:off x="320040" y="841248"/>
            <a:ext cx="3840480" cy="347472"/>
          </a:xfrm>
          <a:prstGeom prst="rect">
            <a:avLst/>
          </a:prstGeom>
          <a:noFill/>
          <a:ln/>
        </p:spPr>
        <p:txBody>
          <a:bodyPr wrap="square" lIns="0" tIns="0" rIns="0" bIns="0" rtlCol="0" anchor="ctr"/>
          <a:lstStyle/>
          <a:p>
            <a:pPr marL="0" indent="0">
              <a:buNone/>
            </a:pPr>
            <a:r>
              <a:rPr lang="fr-FR" sz="1300" b="1" noProof="0" dirty="0">
                <a:solidFill>
                  <a:srgbClr val="FFFFFF"/>
                </a:solidFill>
                <a:latin typeface="Calibri" pitchFamily="34" charset="0"/>
                <a:ea typeface="Calibri" pitchFamily="34" charset="-122"/>
                <a:cs typeface="Calibri" pitchFamily="34" charset="-120"/>
              </a:rPr>
              <a:t>Prétraitement avec pandas</a:t>
            </a:r>
            <a:endParaRPr lang="fr-FR" sz="1300" noProof="0" dirty="0"/>
          </a:p>
        </p:txBody>
      </p:sp>
      <p:sp>
        <p:nvSpPr>
          <p:cNvPr id="7" name="Shape 5"/>
          <p:cNvSpPr/>
          <p:nvPr/>
        </p:nvSpPr>
        <p:spPr>
          <a:xfrm>
            <a:off x="411480" y="1353312"/>
            <a:ext cx="658368" cy="292608"/>
          </a:xfrm>
          <a:prstGeom prst="rect">
            <a:avLst/>
          </a:prstGeom>
          <a:solidFill>
            <a:srgbClr val="1E2761"/>
          </a:solidFill>
          <a:ln w="12700">
            <a:solidFill>
              <a:srgbClr val="1E2761"/>
            </a:solidFill>
            <a:prstDash val="solid"/>
          </a:ln>
        </p:spPr>
        <p:txBody>
          <a:bodyPr/>
          <a:lstStyle/>
          <a:p>
            <a:endParaRPr lang="fr-FR" noProof="0" dirty="0"/>
          </a:p>
        </p:txBody>
      </p:sp>
      <p:sp>
        <p:nvSpPr>
          <p:cNvPr id="8" name="Text 6"/>
          <p:cNvSpPr/>
          <p:nvPr/>
        </p:nvSpPr>
        <p:spPr>
          <a:xfrm>
            <a:off x="411480" y="1380744"/>
            <a:ext cx="658368" cy="237744"/>
          </a:xfrm>
          <a:prstGeom prst="rect">
            <a:avLst/>
          </a:prstGeom>
          <a:noFill/>
          <a:ln/>
        </p:spPr>
        <p:txBody>
          <a:bodyPr wrap="square" lIns="0" tIns="0" rIns="0" bIns="0" rtlCol="0" anchor="ctr"/>
          <a:lstStyle/>
          <a:p>
            <a:pPr marL="0" indent="0" algn="ctr">
              <a:buNone/>
            </a:pPr>
            <a:r>
              <a:rPr lang="fr-FR" sz="900" b="1" dirty="0">
                <a:solidFill>
                  <a:srgbClr val="FFFFFF"/>
                </a:solidFill>
                <a:latin typeface="Calibri" pitchFamily="34" charset="0"/>
                <a:ea typeface="Calibri" pitchFamily="34" charset="-122"/>
                <a:cs typeface="Calibri" pitchFamily="34" charset="-120"/>
              </a:rPr>
              <a:t>É</a:t>
            </a:r>
            <a:r>
              <a:rPr lang="fr-FR" sz="900" b="1" noProof="0" dirty="0">
                <a:solidFill>
                  <a:srgbClr val="FFFFFF"/>
                </a:solidFill>
                <a:latin typeface="Calibri" pitchFamily="34" charset="0"/>
                <a:ea typeface="Calibri" pitchFamily="34" charset="-122"/>
                <a:cs typeface="Calibri" pitchFamily="34" charset="-120"/>
              </a:rPr>
              <a:t>tape 1</a:t>
            </a:r>
            <a:endParaRPr lang="fr-FR" sz="900" noProof="0" dirty="0"/>
          </a:p>
        </p:txBody>
      </p:sp>
      <p:sp>
        <p:nvSpPr>
          <p:cNvPr id="9" name="Text 7"/>
          <p:cNvSpPr/>
          <p:nvPr/>
        </p:nvSpPr>
        <p:spPr>
          <a:xfrm>
            <a:off x="1143000" y="1353312"/>
            <a:ext cx="2926080" cy="822960"/>
          </a:xfrm>
          <a:prstGeom prst="rect">
            <a:avLst/>
          </a:prstGeom>
          <a:noFill/>
          <a:ln/>
        </p:spPr>
        <p:txBody>
          <a:bodyPr wrap="square" lIns="0" tIns="0" rIns="0" bIns="0" rtlCol="0" anchor="t"/>
          <a:lstStyle/>
          <a:p>
            <a:pPr marL="0" indent="0">
              <a:buNone/>
            </a:pPr>
            <a:r>
              <a:rPr lang="fr-FR" sz="1100" noProof="0" dirty="0">
                <a:solidFill>
                  <a:srgbClr val="374151"/>
                </a:solidFill>
                <a:latin typeface="Calibri" pitchFamily="34" charset="0"/>
                <a:ea typeface="Calibri" pitchFamily="34" charset="-122"/>
                <a:cs typeface="Calibri" pitchFamily="34" charset="-120"/>
              </a:rPr>
              <a:t>Suppression des 14 lignes ou Weekly_Sales est manquant</a:t>
            </a:r>
            <a:endParaRPr lang="fr-FR" sz="1100" noProof="0" dirty="0"/>
          </a:p>
          <a:p>
            <a:pPr marL="0" indent="0">
              <a:buNone/>
            </a:pPr>
            <a:r>
              <a:rPr lang="fr-FR" sz="1100" noProof="0" dirty="0">
                <a:solidFill>
                  <a:srgbClr val="374151"/>
                </a:solidFill>
                <a:latin typeface="Calibri" pitchFamily="34" charset="0"/>
                <a:ea typeface="Calibri" pitchFamily="34" charset="-122"/>
                <a:cs typeface="Calibri" pitchFamily="34" charset="-120"/>
              </a:rPr>
              <a:t>(aucune imputation sur la variable cible)</a:t>
            </a:r>
            <a:endParaRPr lang="fr-FR" sz="1100" noProof="0" dirty="0"/>
          </a:p>
        </p:txBody>
      </p:sp>
      <p:sp>
        <p:nvSpPr>
          <p:cNvPr id="10" name="Shape 8"/>
          <p:cNvSpPr/>
          <p:nvPr/>
        </p:nvSpPr>
        <p:spPr>
          <a:xfrm>
            <a:off x="411480" y="2450592"/>
            <a:ext cx="658368" cy="292608"/>
          </a:xfrm>
          <a:prstGeom prst="rect">
            <a:avLst/>
          </a:prstGeom>
          <a:solidFill>
            <a:srgbClr val="1E2761"/>
          </a:solidFill>
          <a:ln w="12700">
            <a:solidFill>
              <a:srgbClr val="1E2761"/>
            </a:solidFill>
            <a:prstDash val="solid"/>
          </a:ln>
        </p:spPr>
        <p:txBody>
          <a:bodyPr/>
          <a:lstStyle/>
          <a:p>
            <a:endParaRPr lang="fr-FR" noProof="0" dirty="0"/>
          </a:p>
        </p:txBody>
      </p:sp>
      <p:sp>
        <p:nvSpPr>
          <p:cNvPr id="11" name="Text 9"/>
          <p:cNvSpPr/>
          <p:nvPr/>
        </p:nvSpPr>
        <p:spPr>
          <a:xfrm>
            <a:off x="411480" y="2478024"/>
            <a:ext cx="658368" cy="237744"/>
          </a:xfrm>
          <a:prstGeom prst="rect">
            <a:avLst/>
          </a:prstGeom>
          <a:noFill/>
          <a:ln/>
        </p:spPr>
        <p:txBody>
          <a:bodyPr wrap="square" lIns="0" tIns="0" rIns="0" bIns="0" rtlCol="0" anchor="ctr"/>
          <a:lstStyle/>
          <a:p>
            <a:pPr marL="0" indent="0" algn="ctr">
              <a:buNone/>
            </a:pPr>
            <a:r>
              <a:rPr lang="fr-FR" sz="900" b="1" dirty="0">
                <a:solidFill>
                  <a:srgbClr val="FFFFFF"/>
                </a:solidFill>
                <a:latin typeface="Calibri" pitchFamily="34" charset="0"/>
                <a:ea typeface="Calibri" pitchFamily="34" charset="-122"/>
                <a:cs typeface="Calibri" pitchFamily="34" charset="-120"/>
              </a:rPr>
              <a:t>É</a:t>
            </a:r>
            <a:r>
              <a:rPr lang="fr-FR" sz="900" b="1" noProof="0" dirty="0">
                <a:solidFill>
                  <a:srgbClr val="FFFFFF"/>
                </a:solidFill>
                <a:latin typeface="Calibri" pitchFamily="34" charset="0"/>
                <a:ea typeface="Calibri" pitchFamily="34" charset="-122"/>
                <a:cs typeface="Calibri" pitchFamily="34" charset="-120"/>
              </a:rPr>
              <a:t>tape 2</a:t>
            </a:r>
            <a:endParaRPr lang="fr-FR" sz="900" noProof="0" dirty="0"/>
          </a:p>
        </p:txBody>
      </p:sp>
      <p:sp>
        <p:nvSpPr>
          <p:cNvPr id="12" name="Text 10"/>
          <p:cNvSpPr/>
          <p:nvPr/>
        </p:nvSpPr>
        <p:spPr>
          <a:xfrm>
            <a:off x="1143000" y="2450592"/>
            <a:ext cx="2926080" cy="822960"/>
          </a:xfrm>
          <a:prstGeom prst="rect">
            <a:avLst/>
          </a:prstGeom>
          <a:noFill/>
          <a:ln/>
        </p:spPr>
        <p:txBody>
          <a:bodyPr wrap="square" lIns="0" tIns="0" rIns="0" bIns="0" rtlCol="0" anchor="t"/>
          <a:lstStyle/>
          <a:p>
            <a:pPr marL="0" indent="0">
              <a:buNone/>
            </a:pPr>
            <a:r>
              <a:rPr lang="fr-FR" sz="1100" noProof="0" dirty="0">
                <a:solidFill>
                  <a:srgbClr val="374151"/>
                </a:solidFill>
                <a:latin typeface="Calibri"/>
                <a:ea typeface="Calibri"/>
                <a:cs typeface="Calibri"/>
              </a:rPr>
              <a:t>Décomposition de Date en 3 </a:t>
            </a:r>
            <a:r>
              <a:rPr lang="fr-FR" sz="1100" noProof="0" dirty="0" err="1">
                <a:solidFill>
                  <a:srgbClr val="374151"/>
                </a:solidFill>
                <a:latin typeface="Calibri"/>
                <a:ea typeface="Calibri"/>
                <a:cs typeface="Calibri"/>
              </a:rPr>
              <a:t>features</a:t>
            </a:r>
            <a:r>
              <a:rPr lang="fr-FR" sz="1100" noProof="0" dirty="0">
                <a:solidFill>
                  <a:srgbClr val="374151"/>
                </a:solidFill>
                <a:latin typeface="Calibri"/>
                <a:ea typeface="Calibri"/>
                <a:cs typeface="Calibri"/>
              </a:rPr>
              <a:t> : </a:t>
            </a:r>
            <a:r>
              <a:rPr lang="fr-FR" sz="1100" noProof="0" dirty="0" err="1">
                <a:solidFill>
                  <a:srgbClr val="374151"/>
                </a:solidFill>
                <a:latin typeface="Calibri"/>
                <a:ea typeface="Calibri"/>
                <a:cs typeface="Calibri"/>
              </a:rPr>
              <a:t>Year</a:t>
            </a:r>
            <a:r>
              <a:rPr lang="fr-FR" sz="1100" noProof="0" dirty="0">
                <a:solidFill>
                  <a:srgbClr val="374151"/>
                </a:solidFill>
                <a:latin typeface="Calibri"/>
                <a:ea typeface="Calibri"/>
                <a:cs typeface="Calibri"/>
              </a:rPr>
              <a:t>, </a:t>
            </a:r>
            <a:r>
              <a:rPr lang="fr-FR" sz="1100" noProof="0" dirty="0" err="1">
                <a:solidFill>
                  <a:srgbClr val="374151"/>
                </a:solidFill>
                <a:latin typeface="Calibri"/>
                <a:ea typeface="Calibri"/>
                <a:cs typeface="Calibri"/>
              </a:rPr>
              <a:t>Month</a:t>
            </a:r>
            <a:r>
              <a:rPr lang="fr-FR" sz="1100" noProof="0" dirty="0">
                <a:solidFill>
                  <a:srgbClr val="374151"/>
                </a:solidFill>
                <a:latin typeface="Calibri"/>
                <a:ea typeface="Calibri"/>
                <a:cs typeface="Calibri"/>
              </a:rPr>
              <a:t>, Day</a:t>
            </a:r>
          </a:p>
        </p:txBody>
      </p:sp>
      <p:sp>
        <p:nvSpPr>
          <p:cNvPr id="13" name="Shape 11"/>
          <p:cNvSpPr/>
          <p:nvPr/>
        </p:nvSpPr>
        <p:spPr>
          <a:xfrm>
            <a:off x="411480" y="3547872"/>
            <a:ext cx="658368" cy="292608"/>
          </a:xfrm>
          <a:prstGeom prst="rect">
            <a:avLst/>
          </a:prstGeom>
          <a:solidFill>
            <a:srgbClr val="1E2761"/>
          </a:solidFill>
          <a:ln w="12700">
            <a:solidFill>
              <a:srgbClr val="1E2761"/>
            </a:solidFill>
            <a:prstDash val="solid"/>
          </a:ln>
        </p:spPr>
        <p:txBody>
          <a:bodyPr/>
          <a:lstStyle/>
          <a:p>
            <a:endParaRPr lang="fr-FR" noProof="0" dirty="0"/>
          </a:p>
        </p:txBody>
      </p:sp>
      <p:sp>
        <p:nvSpPr>
          <p:cNvPr id="14" name="Text 12"/>
          <p:cNvSpPr/>
          <p:nvPr/>
        </p:nvSpPr>
        <p:spPr>
          <a:xfrm>
            <a:off x="411480" y="3575304"/>
            <a:ext cx="658368" cy="237744"/>
          </a:xfrm>
          <a:prstGeom prst="rect">
            <a:avLst/>
          </a:prstGeom>
          <a:noFill/>
          <a:ln/>
        </p:spPr>
        <p:txBody>
          <a:bodyPr wrap="square" lIns="0" tIns="0" rIns="0" bIns="0" rtlCol="0" anchor="ctr"/>
          <a:lstStyle/>
          <a:p>
            <a:pPr marL="0" indent="0" algn="ctr">
              <a:buNone/>
            </a:pPr>
            <a:r>
              <a:rPr lang="fr-FR" sz="900" b="1" dirty="0">
                <a:solidFill>
                  <a:srgbClr val="FFFFFF"/>
                </a:solidFill>
                <a:latin typeface="Calibri" pitchFamily="34" charset="0"/>
                <a:ea typeface="Calibri" pitchFamily="34" charset="-122"/>
                <a:cs typeface="Calibri" pitchFamily="34" charset="-120"/>
              </a:rPr>
              <a:t>É</a:t>
            </a:r>
            <a:r>
              <a:rPr lang="fr-FR" sz="900" b="1" noProof="0" dirty="0">
                <a:solidFill>
                  <a:srgbClr val="FFFFFF"/>
                </a:solidFill>
                <a:latin typeface="Calibri" pitchFamily="34" charset="0"/>
                <a:ea typeface="Calibri" pitchFamily="34" charset="-122"/>
                <a:cs typeface="Calibri" pitchFamily="34" charset="-120"/>
              </a:rPr>
              <a:t>tape 3</a:t>
            </a:r>
            <a:endParaRPr lang="fr-FR" sz="900" noProof="0" dirty="0"/>
          </a:p>
        </p:txBody>
      </p:sp>
      <p:sp>
        <p:nvSpPr>
          <p:cNvPr id="15" name="Text 13"/>
          <p:cNvSpPr/>
          <p:nvPr/>
        </p:nvSpPr>
        <p:spPr>
          <a:xfrm>
            <a:off x="1143000" y="3547872"/>
            <a:ext cx="2926080" cy="822960"/>
          </a:xfrm>
          <a:prstGeom prst="rect">
            <a:avLst/>
          </a:prstGeom>
          <a:noFill/>
          <a:ln/>
        </p:spPr>
        <p:txBody>
          <a:bodyPr wrap="square" lIns="0" tIns="0" rIns="0" bIns="0" rtlCol="0" anchor="t"/>
          <a:lstStyle/>
          <a:p>
            <a:r>
              <a:rPr lang="fr-FR" sz="1100" dirty="0">
                <a:solidFill>
                  <a:srgbClr val="374151"/>
                </a:solidFill>
                <a:latin typeface="Calibri"/>
                <a:ea typeface="Calibri"/>
                <a:cs typeface="Calibri"/>
              </a:rPr>
              <a:t>Analyse des</a:t>
            </a:r>
            <a:r>
              <a:rPr lang="fr-FR" sz="1100" noProof="0" dirty="0">
                <a:solidFill>
                  <a:srgbClr val="374151"/>
                </a:solidFill>
                <a:latin typeface="Calibri"/>
                <a:ea typeface="Calibri"/>
                <a:cs typeface="Calibri"/>
              </a:rPr>
              <a:t> </a:t>
            </a:r>
            <a:r>
              <a:rPr lang="fr-FR" sz="1100" noProof="0" dirty="0" err="1">
                <a:solidFill>
                  <a:srgbClr val="374151"/>
                </a:solidFill>
                <a:latin typeface="Calibri"/>
                <a:ea typeface="Calibri"/>
                <a:cs typeface="Calibri"/>
              </a:rPr>
              <a:t>outliers</a:t>
            </a:r>
            <a:r>
              <a:rPr lang="fr-FR" sz="1100" noProof="0" dirty="0">
                <a:solidFill>
                  <a:srgbClr val="374151"/>
                </a:solidFill>
                <a:latin typeface="Calibri"/>
                <a:ea typeface="Calibri"/>
                <a:cs typeface="Calibri"/>
              </a:rPr>
              <a:t> </a:t>
            </a:r>
            <a:r>
              <a:rPr lang="fr-FR" sz="1100" dirty="0" err="1">
                <a:solidFill>
                  <a:srgbClr val="374151"/>
                </a:solidFill>
                <a:latin typeface="Calibri"/>
                <a:ea typeface="Calibri"/>
                <a:cs typeface="Calibri"/>
              </a:rPr>
              <a:t>hor</a:t>
            </a:r>
            <a:r>
              <a:rPr lang="fr-FR" sz="1100" dirty="0">
                <a:solidFill>
                  <a:srgbClr val="374151"/>
                </a:solidFill>
                <a:latin typeface="Calibri"/>
                <a:ea typeface="Calibri"/>
                <a:cs typeface="Calibri"/>
              </a:rPr>
              <a:t>s </a:t>
            </a:r>
            <a:r>
              <a:rPr lang="fr-FR" sz="1100" noProof="0" dirty="0">
                <a:solidFill>
                  <a:srgbClr val="374151"/>
                </a:solidFill>
                <a:latin typeface="Calibri"/>
                <a:ea typeface="Calibri"/>
                <a:cs typeface="Calibri"/>
              </a:rPr>
              <a:t>[</a:t>
            </a:r>
            <a:r>
              <a:rPr lang="fr-FR" sz="1100" dirty="0">
                <a:solidFill>
                  <a:srgbClr val="374151"/>
                </a:solidFill>
                <a:latin typeface="Calibri"/>
                <a:ea typeface="Calibri"/>
                <a:cs typeface="Calibri"/>
              </a:rPr>
              <a:t>Q1–1.5IQR,</a:t>
            </a:r>
            <a:r>
              <a:rPr lang="fr-FR" sz="1100" noProof="0" dirty="0">
                <a:solidFill>
                  <a:srgbClr val="374151"/>
                </a:solidFill>
                <a:latin typeface="Calibri"/>
                <a:ea typeface="Calibri"/>
                <a:cs typeface="Calibri"/>
              </a:rPr>
              <a:t> </a:t>
            </a:r>
            <a:r>
              <a:rPr lang="fr-FR" sz="1100" dirty="0">
                <a:solidFill>
                  <a:srgbClr val="374151"/>
                </a:solidFill>
                <a:latin typeface="Calibri"/>
                <a:ea typeface="Calibri"/>
                <a:cs typeface="Calibri"/>
              </a:rPr>
              <a:t>Q3+1.5IQR</a:t>
            </a:r>
            <a:r>
              <a:rPr lang="fr-FR" sz="1100" noProof="0" dirty="0">
                <a:solidFill>
                  <a:srgbClr val="374151"/>
                </a:solidFill>
                <a:latin typeface="Calibri"/>
                <a:ea typeface="Calibri"/>
                <a:cs typeface="Calibri"/>
              </a:rPr>
              <a:t>]</a:t>
            </a:r>
            <a:endParaRPr lang="fr-FR" sz="1100" noProof="0" dirty="0">
              <a:latin typeface="Calibri"/>
              <a:ea typeface="Calibri"/>
              <a:cs typeface="Calibri"/>
            </a:endParaRPr>
          </a:p>
          <a:p>
            <a:pPr marL="0" indent="0">
              <a:buNone/>
            </a:pPr>
            <a:r>
              <a:rPr lang="fr-FR" sz="1100" noProof="0" dirty="0">
                <a:solidFill>
                  <a:srgbClr val="374151"/>
                </a:solidFill>
                <a:latin typeface="Calibri"/>
                <a:ea typeface="Calibri"/>
                <a:cs typeface="Calibri"/>
              </a:rPr>
              <a:t>sur </a:t>
            </a:r>
            <a:r>
              <a:rPr lang="fr-FR" sz="1100" noProof="0" dirty="0" err="1">
                <a:solidFill>
                  <a:srgbClr val="374151"/>
                </a:solidFill>
                <a:latin typeface="Calibri"/>
                <a:ea typeface="Calibri"/>
                <a:cs typeface="Calibri"/>
              </a:rPr>
              <a:t>Temperature</a:t>
            </a:r>
            <a:r>
              <a:rPr lang="fr-FR" sz="1100" noProof="0" dirty="0">
                <a:solidFill>
                  <a:srgbClr val="374151"/>
                </a:solidFill>
                <a:latin typeface="Calibri"/>
                <a:ea typeface="Calibri"/>
                <a:cs typeface="Calibri"/>
              </a:rPr>
              <a:t>, </a:t>
            </a:r>
            <a:r>
              <a:rPr lang="fr-FR" sz="1100" noProof="0" dirty="0" err="1">
                <a:solidFill>
                  <a:srgbClr val="374151"/>
                </a:solidFill>
                <a:latin typeface="Calibri"/>
                <a:ea typeface="Calibri"/>
                <a:cs typeface="Calibri"/>
              </a:rPr>
              <a:t>Fuel_Price</a:t>
            </a:r>
            <a:r>
              <a:rPr lang="fr-FR" sz="1100" noProof="0" dirty="0">
                <a:solidFill>
                  <a:srgbClr val="374151"/>
                </a:solidFill>
                <a:latin typeface="Calibri"/>
                <a:ea typeface="Calibri"/>
                <a:cs typeface="Calibri"/>
              </a:rPr>
              <a:t>, CPI, </a:t>
            </a:r>
            <a:r>
              <a:rPr lang="fr-FR" sz="1100" noProof="0" dirty="0" err="1">
                <a:solidFill>
                  <a:srgbClr val="374151"/>
                </a:solidFill>
                <a:latin typeface="Calibri"/>
                <a:ea typeface="Calibri"/>
                <a:cs typeface="Calibri"/>
              </a:rPr>
              <a:t>Unemployment</a:t>
            </a:r>
            <a:endParaRPr lang="fr-FR" sz="1100" noProof="0" dirty="0" err="1">
              <a:latin typeface="Calibri"/>
              <a:ea typeface="Calibri"/>
              <a:cs typeface="Calibri"/>
            </a:endParaRPr>
          </a:p>
        </p:txBody>
      </p:sp>
      <p:sp>
        <p:nvSpPr>
          <p:cNvPr id="16" name="Shape 14"/>
          <p:cNvSpPr/>
          <p:nvPr/>
        </p:nvSpPr>
        <p:spPr>
          <a:xfrm>
            <a:off x="4579620" y="952500"/>
            <a:ext cx="4152900" cy="326898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7" name="Shape 15"/>
          <p:cNvSpPr/>
          <p:nvPr/>
        </p:nvSpPr>
        <p:spPr>
          <a:xfrm>
            <a:off x="4572000" y="822960"/>
            <a:ext cx="4206240" cy="384048"/>
          </a:xfrm>
          <a:prstGeom prst="rect">
            <a:avLst/>
          </a:prstGeom>
          <a:solidFill>
            <a:srgbClr val="FFC220"/>
          </a:solidFill>
          <a:ln w="12700">
            <a:solidFill>
              <a:srgbClr val="FFC220"/>
            </a:solidFill>
            <a:prstDash val="solid"/>
          </a:ln>
        </p:spPr>
        <p:txBody>
          <a:bodyPr/>
          <a:lstStyle/>
          <a:p>
            <a:endParaRPr lang="fr-FR" noProof="0" dirty="0"/>
          </a:p>
        </p:txBody>
      </p:sp>
      <p:sp>
        <p:nvSpPr>
          <p:cNvPr id="18" name="Text 16"/>
          <p:cNvSpPr/>
          <p:nvPr/>
        </p:nvSpPr>
        <p:spPr>
          <a:xfrm>
            <a:off x="4617720" y="841248"/>
            <a:ext cx="4114800" cy="347472"/>
          </a:xfrm>
          <a:prstGeom prst="rect">
            <a:avLst/>
          </a:prstGeom>
          <a:noFill/>
          <a:ln/>
        </p:spPr>
        <p:txBody>
          <a:bodyPr wrap="square" lIns="0" tIns="0" rIns="0" bIns="0" rtlCol="0" anchor="ctr"/>
          <a:lstStyle/>
          <a:p>
            <a:pPr marL="0" indent="0">
              <a:buNone/>
            </a:pPr>
            <a:r>
              <a:rPr lang="fr-FR" sz="1300" b="1" noProof="0" dirty="0">
                <a:solidFill>
                  <a:srgbClr val="1E2761"/>
                </a:solidFill>
                <a:latin typeface="Calibri" pitchFamily="34" charset="0"/>
                <a:ea typeface="Calibri" pitchFamily="34" charset="-122"/>
                <a:cs typeface="Calibri" pitchFamily="34" charset="-120"/>
              </a:rPr>
              <a:t>Prétraitement avec scikit-learn</a:t>
            </a:r>
            <a:endParaRPr lang="fr-FR" sz="1300" noProof="0" dirty="0"/>
          </a:p>
        </p:txBody>
      </p:sp>
      <p:sp>
        <p:nvSpPr>
          <p:cNvPr id="19" name="Shape 17"/>
          <p:cNvSpPr/>
          <p:nvPr/>
        </p:nvSpPr>
        <p:spPr>
          <a:xfrm>
            <a:off x="4709160" y="1475232"/>
            <a:ext cx="1188720" cy="292608"/>
          </a:xfrm>
          <a:prstGeom prst="rect">
            <a:avLst/>
          </a:prstGeom>
          <a:solidFill>
            <a:srgbClr val="0071CE"/>
          </a:solidFill>
          <a:ln w="12700">
            <a:solidFill>
              <a:srgbClr val="0071CE"/>
            </a:solidFill>
            <a:prstDash val="solid"/>
          </a:ln>
        </p:spPr>
        <p:txBody>
          <a:bodyPr/>
          <a:lstStyle/>
          <a:p>
            <a:endParaRPr lang="fr-FR" noProof="0" dirty="0"/>
          </a:p>
        </p:txBody>
      </p:sp>
      <p:sp>
        <p:nvSpPr>
          <p:cNvPr id="20" name="Text 18"/>
          <p:cNvSpPr/>
          <p:nvPr/>
        </p:nvSpPr>
        <p:spPr>
          <a:xfrm>
            <a:off x="4709160" y="1502664"/>
            <a:ext cx="1188720" cy="237744"/>
          </a:xfrm>
          <a:prstGeom prst="rect">
            <a:avLst/>
          </a:prstGeom>
          <a:noFill/>
          <a:ln/>
        </p:spPr>
        <p:txBody>
          <a:bodyPr wrap="square" lIns="0" tIns="0" rIns="0" bIns="0" rtlCol="0" anchor="ctr"/>
          <a:lstStyle/>
          <a:p>
            <a:pPr marL="0" indent="0" algn="ctr">
              <a:buNone/>
            </a:pPr>
            <a:r>
              <a:rPr lang="fr-FR" sz="900" b="1" noProof="0" dirty="0" err="1">
                <a:solidFill>
                  <a:srgbClr val="FFFFFF"/>
                </a:solidFill>
                <a:latin typeface="Calibri" pitchFamily="34" charset="0"/>
                <a:ea typeface="Calibri" pitchFamily="34" charset="-122"/>
                <a:cs typeface="Calibri" pitchFamily="34" charset="-120"/>
              </a:rPr>
              <a:t>OneHotEncoder</a:t>
            </a:r>
            <a:endParaRPr lang="fr-FR" sz="900" noProof="0" dirty="0"/>
          </a:p>
        </p:txBody>
      </p:sp>
      <p:sp>
        <p:nvSpPr>
          <p:cNvPr id="21" name="Text 19"/>
          <p:cNvSpPr/>
          <p:nvPr/>
        </p:nvSpPr>
        <p:spPr>
          <a:xfrm>
            <a:off x="5961888" y="1353312"/>
            <a:ext cx="2651760" cy="822960"/>
          </a:xfrm>
          <a:prstGeom prst="rect">
            <a:avLst/>
          </a:prstGeom>
          <a:noFill/>
          <a:ln/>
        </p:spPr>
        <p:txBody>
          <a:bodyPr wrap="square" lIns="0" tIns="0" rIns="0" bIns="0" rtlCol="0" anchor="t"/>
          <a:lstStyle/>
          <a:p>
            <a:pPr marL="0" indent="0">
              <a:buNone/>
            </a:pPr>
            <a:r>
              <a:rPr lang="fr-FR" sz="1100" noProof="0">
                <a:solidFill>
                  <a:srgbClr val="374151"/>
                </a:solidFill>
                <a:latin typeface="Calibri"/>
                <a:ea typeface="Calibri"/>
                <a:cs typeface="Calibri"/>
              </a:rPr>
              <a:t>Store </a:t>
            </a:r>
            <a:endParaRPr lang="fr-FR" sz="1100" noProof="0">
              <a:latin typeface="Calibri"/>
              <a:ea typeface="Calibri"/>
              <a:cs typeface="Calibri"/>
            </a:endParaRPr>
          </a:p>
          <a:p>
            <a:pPr marL="0" indent="0">
              <a:buNone/>
            </a:pPr>
            <a:r>
              <a:rPr lang="fr-FR" sz="1100" noProof="0" err="1">
                <a:solidFill>
                  <a:srgbClr val="374151"/>
                </a:solidFill>
                <a:latin typeface="Calibri"/>
                <a:ea typeface="Calibri"/>
                <a:cs typeface="Calibri"/>
              </a:rPr>
              <a:t>Holiday_Flag</a:t>
            </a:r>
            <a:r>
              <a:rPr lang="fr-FR" sz="1100" noProof="0" dirty="0">
                <a:solidFill>
                  <a:srgbClr val="374151"/>
                </a:solidFill>
                <a:latin typeface="Calibri"/>
                <a:ea typeface="Calibri"/>
                <a:cs typeface="Calibri"/>
              </a:rPr>
              <a:t> </a:t>
            </a:r>
          </a:p>
          <a:p>
            <a:r>
              <a:rPr lang="fr-FR" sz="1100" dirty="0" err="1">
                <a:solidFill>
                  <a:srgbClr val="374151"/>
                </a:solidFill>
                <a:ea typeface="Calibri"/>
                <a:cs typeface="Calibri"/>
              </a:rPr>
              <a:t>Month</a:t>
            </a:r>
          </a:p>
        </p:txBody>
      </p:sp>
      <p:sp>
        <p:nvSpPr>
          <p:cNvPr id="22" name="Shape 20"/>
          <p:cNvSpPr/>
          <p:nvPr/>
        </p:nvSpPr>
        <p:spPr>
          <a:xfrm>
            <a:off x="4709160" y="2503932"/>
            <a:ext cx="1188720" cy="772668"/>
          </a:xfrm>
          <a:prstGeom prst="rect">
            <a:avLst/>
          </a:prstGeom>
          <a:solidFill>
            <a:srgbClr val="0071CE"/>
          </a:solidFill>
          <a:ln w="12700">
            <a:solidFill>
              <a:srgbClr val="0071CE"/>
            </a:solidFill>
            <a:prstDash val="solid"/>
          </a:ln>
        </p:spPr>
        <p:txBody>
          <a:bodyPr/>
          <a:lstStyle/>
          <a:p>
            <a:endParaRPr lang="fr-FR" noProof="0" dirty="0"/>
          </a:p>
        </p:txBody>
      </p:sp>
      <p:sp>
        <p:nvSpPr>
          <p:cNvPr id="23" name="Text 21"/>
          <p:cNvSpPr/>
          <p:nvPr/>
        </p:nvSpPr>
        <p:spPr>
          <a:xfrm>
            <a:off x="4709160" y="2500884"/>
            <a:ext cx="1188720" cy="702564"/>
          </a:xfrm>
          <a:prstGeom prst="rect">
            <a:avLst/>
          </a:prstGeom>
          <a:noFill/>
          <a:ln/>
        </p:spPr>
        <p:txBody>
          <a:bodyPr wrap="square" lIns="0" tIns="0" rIns="0" bIns="0" rtlCol="0" anchor="ctr"/>
          <a:lstStyle/>
          <a:p>
            <a:pPr algn="ctr"/>
            <a:r>
              <a:rPr lang="fr-FR" sz="900" b="1" dirty="0" err="1">
                <a:solidFill>
                  <a:srgbClr val="FFFFFF"/>
                </a:solidFill>
                <a:latin typeface="Calibri"/>
                <a:ea typeface="Calibri"/>
                <a:cs typeface="Calibri"/>
              </a:rPr>
              <a:t>SimpleImputer</a:t>
            </a:r>
            <a:r>
              <a:rPr lang="fr-FR" sz="900" b="1" dirty="0">
                <a:solidFill>
                  <a:srgbClr val="FFFFFF"/>
                </a:solidFill>
                <a:latin typeface="Calibri"/>
                <a:ea typeface="Calibri"/>
                <a:cs typeface="Calibri"/>
              </a:rPr>
              <a:t>(</a:t>
            </a:r>
            <a:r>
              <a:rPr lang="fr-FR" sz="900" b="1" dirty="0" err="1">
                <a:solidFill>
                  <a:srgbClr val="FFFFFF"/>
                </a:solidFill>
                <a:latin typeface="Calibri"/>
                <a:ea typeface="Calibri"/>
                <a:cs typeface="Calibri"/>
              </a:rPr>
              <a:t>median</a:t>
            </a:r>
            <a:r>
              <a:rPr lang="fr-FR" sz="900" b="1" dirty="0">
                <a:solidFill>
                  <a:srgbClr val="FFFFFF"/>
                </a:solidFill>
                <a:latin typeface="Calibri"/>
                <a:ea typeface="Calibri"/>
                <a:cs typeface="Calibri"/>
              </a:rPr>
              <a:t>)</a:t>
            </a:r>
            <a:endParaRPr lang="fr-FR" sz="900" dirty="0" err="1">
              <a:solidFill>
                <a:srgbClr val="000000"/>
              </a:solidFill>
              <a:latin typeface="Calibri"/>
              <a:ea typeface="Calibri"/>
              <a:cs typeface="Calibri"/>
            </a:endParaRPr>
          </a:p>
          <a:p>
            <a:pPr algn="ctr"/>
            <a:r>
              <a:rPr lang="fr-FR" sz="900" b="1">
                <a:solidFill>
                  <a:srgbClr val="FFFFFF"/>
                </a:solidFill>
                <a:latin typeface="Calibri"/>
                <a:ea typeface="Calibri"/>
                <a:cs typeface="Calibri"/>
              </a:rPr>
              <a:t>+ </a:t>
            </a:r>
            <a:endParaRPr lang="fr-FR" sz="900" dirty="0" err="1">
              <a:solidFill>
                <a:srgbClr val="000000"/>
              </a:solidFill>
              <a:latin typeface="Calibri"/>
              <a:ea typeface="Calibri"/>
              <a:cs typeface="Calibri"/>
            </a:endParaRPr>
          </a:p>
          <a:p>
            <a:pPr algn="ctr"/>
            <a:r>
              <a:rPr lang="fr-FR" sz="900" b="1" dirty="0" err="1">
                <a:solidFill>
                  <a:srgbClr val="FFFFFF"/>
                </a:solidFill>
                <a:latin typeface="Calibri"/>
                <a:ea typeface="Calibri"/>
                <a:cs typeface="Calibri"/>
              </a:rPr>
              <a:t>StandardScaler</a:t>
            </a:r>
            <a:endParaRPr lang="fr-FR" sz="900" noProof="0" dirty="0" err="1">
              <a:ea typeface="Calibri"/>
              <a:cs typeface="Calibri"/>
            </a:endParaRPr>
          </a:p>
        </p:txBody>
      </p:sp>
      <p:sp>
        <p:nvSpPr>
          <p:cNvPr id="24" name="Text 22"/>
          <p:cNvSpPr/>
          <p:nvPr/>
        </p:nvSpPr>
        <p:spPr>
          <a:xfrm>
            <a:off x="5961888" y="2595372"/>
            <a:ext cx="2651760" cy="822960"/>
          </a:xfrm>
          <a:prstGeom prst="rect">
            <a:avLst/>
          </a:prstGeom>
          <a:noFill/>
          <a:ln/>
        </p:spPr>
        <p:txBody>
          <a:bodyPr wrap="square" lIns="0" tIns="0" rIns="0" bIns="0" rtlCol="0" anchor="t"/>
          <a:lstStyle/>
          <a:p>
            <a:pPr marL="0" indent="0">
              <a:buNone/>
            </a:pPr>
            <a:r>
              <a:rPr lang="fr-FR" sz="1100" noProof="0" dirty="0" err="1">
                <a:solidFill>
                  <a:srgbClr val="374151"/>
                </a:solidFill>
                <a:latin typeface="Calibri"/>
                <a:ea typeface="Calibri"/>
                <a:cs typeface="Calibri"/>
              </a:rPr>
              <a:t>Temperature</a:t>
            </a:r>
            <a:r>
              <a:rPr lang="fr-FR" sz="1100" noProof="0" dirty="0">
                <a:solidFill>
                  <a:srgbClr val="374151"/>
                </a:solidFill>
                <a:latin typeface="Calibri"/>
                <a:ea typeface="Calibri"/>
                <a:cs typeface="Calibri"/>
              </a:rPr>
              <a:t>, </a:t>
            </a:r>
            <a:r>
              <a:rPr lang="fr-FR" sz="1100" noProof="0" dirty="0" err="1">
                <a:solidFill>
                  <a:srgbClr val="374151"/>
                </a:solidFill>
                <a:latin typeface="Calibri"/>
                <a:ea typeface="Calibri"/>
                <a:cs typeface="Calibri"/>
              </a:rPr>
              <a:t>Fuel_Price</a:t>
            </a:r>
            <a:r>
              <a:rPr lang="fr-FR" sz="1100" noProof="0" dirty="0">
                <a:solidFill>
                  <a:srgbClr val="374151"/>
                </a:solidFill>
                <a:latin typeface="Calibri"/>
                <a:ea typeface="Calibri"/>
                <a:cs typeface="Calibri"/>
              </a:rPr>
              <a:t>, CPI, </a:t>
            </a:r>
            <a:r>
              <a:rPr lang="fr-FR" sz="1100" noProof="0" dirty="0" err="1">
                <a:solidFill>
                  <a:srgbClr val="374151"/>
                </a:solidFill>
                <a:latin typeface="Calibri"/>
                <a:ea typeface="Calibri"/>
                <a:cs typeface="Calibri"/>
              </a:rPr>
              <a:t>Unemployment</a:t>
            </a:r>
            <a:endParaRPr lang="fr-FR" sz="1100" noProof="0" dirty="0" err="1">
              <a:latin typeface="Calibri"/>
              <a:ea typeface="Calibri"/>
              <a:cs typeface="Calibri"/>
            </a:endParaRPr>
          </a:p>
          <a:p>
            <a:pPr marL="0" indent="0">
              <a:buNone/>
            </a:pPr>
            <a:r>
              <a:rPr lang="fr-FR" sz="1100" noProof="0" dirty="0" err="1">
                <a:solidFill>
                  <a:srgbClr val="374151"/>
                </a:solidFill>
                <a:latin typeface="Calibri"/>
                <a:ea typeface="Calibri"/>
                <a:cs typeface="Calibri"/>
              </a:rPr>
              <a:t>Year</a:t>
            </a:r>
            <a:endParaRPr lang="fr-FR" sz="11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fr-FR" noProof="0" dirty="0"/>
          </a:p>
        </p:txBody>
      </p:sp>
      <p:sp>
        <p:nvSpPr>
          <p:cNvPr id="3" name="Text 1"/>
          <p:cNvSpPr/>
          <p:nvPr/>
        </p:nvSpPr>
        <p:spPr>
          <a:xfrm>
            <a:off x="365760" y="73152"/>
            <a:ext cx="8412480" cy="502920"/>
          </a:xfrm>
          <a:prstGeom prst="rect">
            <a:avLst/>
          </a:prstGeom>
          <a:noFill/>
          <a:ln/>
        </p:spPr>
        <p:txBody>
          <a:bodyPr wrap="square" lIns="0" tIns="0" rIns="0" bIns="0" rtlCol="0" anchor="ctr"/>
          <a:lstStyle/>
          <a:p>
            <a:pPr marL="0" indent="0">
              <a:buNone/>
            </a:pPr>
            <a:r>
              <a:rPr lang="fr-FR" sz="2200" b="1" noProof="0">
                <a:solidFill>
                  <a:srgbClr val="FFFFFF"/>
                </a:solidFill>
                <a:latin typeface="Calibri"/>
                <a:ea typeface="Calibri"/>
                <a:cs typeface="Calibri"/>
              </a:rPr>
              <a:t>05 - Modélisation - Régression linéaire (</a:t>
            </a:r>
            <a:r>
              <a:rPr lang="fr-FR" sz="2200" b="1">
                <a:solidFill>
                  <a:srgbClr val="FFFFFF"/>
                </a:solidFill>
                <a:latin typeface="Calibri"/>
                <a:ea typeface="Calibri"/>
                <a:cs typeface="Calibri"/>
              </a:rPr>
              <a:t>Baseline</a:t>
            </a:r>
            <a:r>
              <a:rPr lang="fr-FR" sz="2200" b="1" noProof="0">
                <a:solidFill>
                  <a:srgbClr val="FFFFFF"/>
                </a:solidFill>
                <a:latin typeface="Calibri"/>
                <a:ea typeface="Calibri"/>
                <a:cs typeface="Calibri"/>
              </a:rPr>
              <a:t>)</a:t>
            </a:r>
            <a:endParaRPr lang="fr-FR" sz="2200" noProof="0">
              <a:latin typeface="Calibri"/>
              <a:ea typeface="Calibri"/>
              <a:cs typeface="Calibri"/>
            </a:endParaRPr>
          </a:p>
        </p:txBody>
      </p:sp>
      <p:sp>
        <p:nvSpPr>
          <p:cNvPr id="4" name="Shape 2"/>
          <p:cNvSpPr/>
          <p:nvPr/>
        </p:nvSpPr>
        <p:spPr>
          <a:xfrm>
            <a:off x="274320" y="804672"/>
            <a:ext cx="1920240" cy="96012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5" name="Shape 3"/>
          <p:cNvSpPr/>
          <p:nvPr/>
        </p:nvSpPr>
        <p:spPr>
          <a:xfrm>
            <a:off x="274320" y="804672"/>
            <a:ext cx="1920240" cy="73152"/>
          </a:xfrm>
          <a:prstGeom prst="rect">
            <a:avLst/>
          </a:prstGeom>
          <a:solidFill>
            <a:srgbClr val="059669"/>
          </a:solidFill>
          <a:ln w="12700">
            <a:solidFill>
              <a:srgbClr val="059669"/>
            </a:solidFill>
            <a:prstDash val="solid"/>
          </a:ln>
        </p:spPr>
        <p:txBody>
          <a:bodyPr/>
          <a:lstStyle/>
          <a:p>
            <a:endParaRPr lang="fr-FR" noProof="0" dirty="0"/>
          </a:p>
        </p:txBody>
      </p:sp>
      <p:sp>
        <p:nvSpPr>
          <p:cNvPr id="6" name="Text 4"/>
          <p:cNvSpPr/>
          <p:nvPr/>
        </p:nvSpPr>
        <p:spPr>
          <a:xfrm>
            <a:off x="274320" y="914400"/>
            <a:ext cx="1920240" cy="457200"/>
          </a:xfrm>
          <a:prstGeom prst="rect">
            <a:avLst/>
          </a:prstGeom>
          <a:noFill/>
          <a:ln/>
        </p:spPr>
        <p:txBody>
          <a:bodyPr wrap="square" lIns="0" tIns="0" rIns="0" bIns="0" rtlCol="0" anchor="ctr"/>
          <a:lstStyle/>
          <a:p>
            <a:pPr marL="0" indent="0" algn="ctr">
              <a:buNone/>
            </a:pPr>
            <a:r>
              <a:rPr lang="fr-FR" sz="2200" b="1">
                <a:solidFill>
                  <a:srgbClr val="059669"/>
                </a:solidFill>
                <a:latin typeface="Calibri"/>
                <a:ea typeface="Calibri"/>
                <a:cs typeface="Calibri"/>
              </a:rPr>
              <a:t>0.9841</a:t>
            </a:r>
            <a:endParaRPr lang="fr-FR" sz="2200" noProof="0" dirty="0"/>
          </a:p>
        </p:txBody>
      </p:sp>
      <p:sp>
        <p:nvSpPr>
          <p:cNvPr id="7" name="Text 5"/>
          <p:cNvSpPr/>
          <p:nvPr/>
        </p:nvSpPr>
        <p:spPr>
          <a:xfrm>
            <a:off x="274320" y="1389888"/>
            <a:ext cx="1920240" cy="274320"/>
          </a:xfrm>
          <a:prstGeom prst="rect">
            <a:avLst/>
          </a:prstGeom>
          <a:noFill/>
          <a:ln/>
        </p:spPr>
        <p:txBody>
          <a:bodyPr wrap="square" lIns="0" tIns="0" rIns="0" bIns="0" rtlCol="0" anchor="ctr"/>
          <a:lstStyle/>
          <a:p>
            <a:pPr marL="0" indent="0" algn="ctr">
              <a:buNone/>
            </a:pPr>
            <a:r>
              <a:rPr lang="fr-FR" sz="1000" noProof="0" dirty="0">
                <a:solidFill>
                  <a:srgbClr val="374151"/>
                </a:solidFill>
                <a:latin typeface="Calibri" pitchFamily="34" charset="0"/>
                <a:ea typeface="Calibri" pitchFamily="34" charset="-122"/>
                <a:cs typeface="Calibri" pitchFamily="34" charset="-120"/>
              </a:rPr>
              <a:t>R² Train</a:t>
            </a:r>
            <a:endParaRPr lang="fr-FR" sz="1000" noProof="0" dirty="0"/>
          </a:p>
        </p:txBody>
      </p:sp>
      <p:sp>
        <p:nvSpPr>
          <p:cNvPr id="8" name="Shape 6"/>
          <p:cNvSpPr/>
          <p:nvPr/>
        </p:nvSpPr>
        <p:spPr>
          <a:xfrm>
            <a:off x="2423160" y="804672"/>
            <a:ext cx="1920240" cy="96012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9" name="Shape 7"/>
          <p:cNvSpPr/>
          <p:nvPr/>
        </p:nvSpPr>
        <p:spPr>
          <a:xfrm>
            <a:off x="2423160" y="804672"/>
            <a:ext cx="1920240" cy="73152"/>
          </a:xfrm>
          <a:prstGeom prst="rect">
            <a:avLst/>
          </a:prstGeom>
          <a:solidFill>
            <a:srgbClr val="0071CE"/>
          </a:solidFill>
          <a:ln w="12700">
            <a:solidFill>
              <a:srgbClr val="0071CE"/>
            </a:solidFill>
            <a:prstDash val="solid"/>
          </a:ln>
        </p:spPr>
        <p:txBody>
          <a:bodyPr/>
          <a:lstStyle/>
          <a:p>
            <a:endParaRPr lang="fr-FR" noProof="0" dirty="0"/>
          </a:p>
        </p:txBody>
      </p:sp>
      <p:sp>
        <p:nvSpPr>
          <p:cNvPr id="10" name="Text 8"/>
          <p:cNvSpPr/>
          <p:nvPr/>
        </p:nvSpPr>
        <p:spPr>
          <a:xfrm>
            <a:off x="2423160" y="914400"/>
            <a:ext cx="1920240" cy="457200"/>
          </a:xfrm>
          <a:prstGeom prst="rect">
            <a:avLst/>
          </a:prstGeom>
          <a:noFill/>
          <a:ln/>
        </p:spPr>
        <p:txBody>
          <a:bodyPr wrap="square" lIns="0" tIns="0" rIns="0" bIns="0" rtlCol="0" anchor="ctr"/>
          <a:lstStyle/>
          <a:p>
            <a:pPr marL="0" indent="0" algn="ctr">
              <a:buNone/>
            </a:pPr>
            <a:r>
              <a:rPr lang="fr-FR" sz="2200" b="1">
                <a:solidFill>
                  <a:srgbClr val="0071CE"/>
                </a:solidFill>
                <a:latin typeface="Calibri"/>
                <a:ea typeface="Calibri"/>
                <a:cs typeface="Calibri"/>
              </a:rPr>
              <a:t>0.9742</a:t>
            </a:r>
            <a:endParaRPr lang="fr-FR" sz="2200" noProof="0" dirty="0"/>
          </a:p>
        </p:txBody>
      </p:sp>
      <p:sp>
        <p:nvSpPr>
          <p:cNvPr id="11" name="Text 9"/>
          <p:cNvSpPr/>
          <p:nvPr/>
        </p:nvSpPr>
        <p:spPr>
          <a:xfrm>
            <a:off x="2423160" y="1389888"/>
            <a:ext cx="1920240" cy="274320"/>
          </a:xfrm>
          <a:prstGeom prst="rect">
            <a:avLst/>
          </a:prstGeom>
          <a:noFill/>
          <a:ln/>
        </p:spPr>
        <p:txBody>
          <a:bodyPr wrap="square" lIns="0" tIns="0" rIns="0" bIns="0" rtlCol="0" anchor="ctr"/>
          <a:lstStyle/>
          <a:p>
            <a:pPr marL="0" indent="0" algn="ctr">
              <a:buNone/>
            </a:pPr>
            <a:r>
              <a:rPr lang="fr-FR" sz="1000" noProof="0" dirty="0">
                <a:solidFill>
                  <a:srgbClr val="374151"/>
                </a:solidFill>
                <a:latin typeface="Calibri" pitchFamily="34" charset="0"/>
                <a:ea typeface="Calibri" pitchFamily="34" charset="-122"/>
                <a:cs typeface="Calibri" pitchFamily="34" charset="-120"/>
              </a:rPr>
              <a:t>R² Test</a:t>
            </a:r>
            <a:endParaRPr lang="fr-FR" sz="1000" noProof="0" dirty="0"/>
          </a:p>
        </p:txBody>
      </p:sp>
      <p:sp>
        <p:nvSpPr>
          <p:cNvPr id="12" name="Shape 10"/>
          <p:cNvSpPr/>
          <p:nvPr/>
        </p:nvSpPr>
        <p:spPr>
          <a:xfrm>
            <a:off x="4572000" y="804672"/>
            <a:ext cx="1920240" cy="96012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3" name="Shape 11"/>
          <p:cNvSpPr/>
          <p:nvPr/>
        </p:nvSpPr>
        <p:spPr>
          <a:xfrm>
            <a:off x="4572000" y="804672"/>
            <a:ext cx="1920240" cy="73152"/>
          </a:xfrm>
          <a:prstGeom prst="rect">
            <a:avLst/>
          </a:prstGeom>
          <a:solidFill>
            <a:srgbClr val="E85D4A"/>
          </a:solidFill>
          <a:ln w="12700">
            <a:solidFill>
              <a:srgbClr val="E85D4A"/>
            </a:solidFill>
            <a:prstDash val="solid"/>
          </a:ln>
        </p:spPr>
        <p:txBody>
          <a:bodyPr/>
          <a:lstStyle/>
          <a:p>
            <a:endParaRPr lang="fr-FR" noProof="0" dirty="0"/>
          </a:p>
        </p:txBody>
      </p:sp>
      <p:sp>
        <p:nvSpPr>
          <p:cNvPr id="14" name="Text 12"/>
          <p:cNvSpPr/>
          <p:nvPr/>
        </p:nvSpPr>
        <p:spPr>
          <a:xfrm>
            <a:off x="4572000" y="914400"/>
            <a:ext cx="1920240" cy="457200"/>
          </a:xfrm>
          <a:prstGeom prst="rect">
            <a:avLst/>
          </a:prstGeom>
          <a:noFill/>
          <a:ln/>
        </p:spPr>
        <p:txBody>
          <a:bodyPr wrap="square" lIns="0" tIns="0" rIns="0" bIns="0" rtlCol="0" anchor="ctr"/>
          <a:lstStyle/>
          <a:p>
            <a:pPr algn="ctr"/>
            <a:r>
              <a:rPr lang="fr-FR" sz="2200" b="1">
                <a:solidFill>
                  <a:srgbClr val="E85D4A"/>
                </a:solidFill>
                <a:latin typeface="Calibri"/>
                <a:ea typeface="Calibri"/>
                <a:cs typeface="Calibri"/>
              </a:rPr>
              <a:t>87</a:t>
            </a:r>
            <a:r>
              <a:rPr lang="fr-FR" sz="2200" b="1" noProof="0">
                <a:solidFill>
                  <a:srgbClr val="E85D4A"/>
                </a:solidFill>
                <a:latin typeface="Calibri"/>
                <a:ea typeface="Calibri"/>
                <a:cs typeface="Calibri"/>
              </a:rPr>
              <a:t> </a:t>
            </a:r>
            <a:r>
              <a:rPr lang="fr-FR" sz="2200" b="1">
                <a:solidFill>
                  <a:srgbClr val="E85D4A"/>
                </a:solidFill>
                <a:latin typeface="Calibri"/>
                <a:ea typeface="Calibri"/>
                <a:cs typeface="Calibri"/>
              </a:rPr>
              <a:t>636 </a:t>
            </a:r>
            <a:r>
              <a:rPr lang="fr-FR" sz="2200" b="1" noProof="0">
                <a:solidFill>
                  <a:srgbClr val="E85D4A"/>
                </a:solidFill>
                <a:latin typeface="Calibri"/>
                <a:ea typeface="Calibri"/>
                <a:cs typeface="Calibri"/>
              </a:rPr>
              <a:t>$</a:t>
            </a:r>
            <a:endParaRPr lang="fr-FR" sz="2200" noProof="0">
              <a:latin typeface="Calibri"/>
              <a:ea typeface="Calibri"/>
              <a:cs typeface="Calibri"/>
            </a:endParaRPr>
          </a:p>
        </p:txBody>
      </p:sp>
      <p:sp>
        <p:nvSpPr>
          <p:cNvPr id="15" name="Text 13"/>
          <p:cNvSpPr/>
          <p:nvPr/>
        </p:nvSpPr>
        <p:spPr>
          <a:xfrm>
            <a:off x="4572000" y="1389888"/>
            <a:ext cx="1920240" cy="274320"/>
          </a:xfrm>
          <a:prstGeom prst="rect">
            <a:avLst/>
          </a:prstGeom>
          <a:noFill/>
          <a:ln/>
        </p:spPr>
        <p:txBody>
          <a:bodyPr wrap="square" lIns="0" tIns="0" rIns="0" bIns="0" rtlCol="0" anchor="ctr"/>
          <a:lstStyle/>
          <a:p>
            <a:pPr marL="0" indent="0" algn="ctr">
              <a:buNone/>
            </a:pPr>
            <a:r>
              <a:rPr lang="fr-FR" sz="1000" noProof="0" dirty="0">
                <a:solidFill>
                  <a:srgbClr val="374151"/>
                </a:solidFill>
                <a:latin typeface="Calibri" pitchFamily="34" charset="0"/>
                <a:ea typeface="Calibri" pitchFamily="34" charset="-122"/>
                <a:cs typeface="Calibri" pitchFamily="34" charset="-120"/>
              </a:rPr>
              <a:t>MAE Test</a:t>
            </a:r>
            <a:endParaRPr lang="fr-FR" sz="1000" noProof="0" dirty="0"/>
          </a:p>
        </p:txBody>
      </p:sp>
      <p:sp>
        <p:nvSpPr>
          <p:cNvPr id="16" name="Shape 14"/>
          <p:cNvSpPr/>
          <p:nvPr/>
        </p:nvSpPr>
        <p:spPr>
          <a:xfrm>
            <a:off x="6720840" y="804672"/>
            <a:ext cx="1920240" cy="96012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7" name="Shape 15"/>
          <p:cNvSpPr/>
          <p:nvPr/>
        </p:nvSpPr>
        <p:spPr>
          <a:xfrm>
            <a:off x="6720840" y="804672"/>
            <a:ext cx="1920240" cy="73152"/>
          </a:xfrm>
          <a:prstGeom prst="rect">
            <a:avLst/>
          </a:prstGeom>
          <a:solidFill>
            <a:srgbClr val="E85D4A"/>
          </a:solidFill>
          <a:ln w="12700">
            <a:solidFill>
              <a:srgbClr val="E85D4A"/>
            </a:solidFill>
            <a:prstDash val="solid"/>
          </a:ln>
        </p:spPr>
        <p:txBody>
          <a:bodyPr/>
          <a:lstStyle/>
          <a:p>
            <a:endParaRPr lang="fr-FR" noProof="0" dirty="0"/>
          </a:p>
        </p:txBody>
      </p:sp>
      <p:sp>
        <p:nvSpPr>
          <p:cNvPr id="18" name="Text 16"/>
          <p:cNvSpPr/>
          <p:nvPr/>
        </p:nvSpPr>
        <p:spPr>
          <a:xfrm>
            <a:off x="6720840" y="914400"/>
            <a:ext cx="1920240" cy="457200"/>
          </a:xfrm>
          <a:prstGeom prst="rect">
            <a:avLst/>
          </a:prstGeom>
          <a:noFill/>
          <a:ln/>
        </p:spPr>
        <p:txBody>
          <a:bodyPr wrap="square" lIns="0" tIns="0" rIns="0" bIns="0" rtlCol="0" anchor="ctr"/>
          <a:lstStyle/>
          <a:p>
            <a:pPr marL="0" indent="0" algn="ctr">
              <a:buNone/>
            </a:pPr>
            <a:r>
              <a:rPr lang="fr-FR" sz="2200" b="1">
                <a:solidFill>
                  <a:srgbClr val="E85D4A"/>
                </a:solidFill>
                <a:latin typeface="Calibri"/>
                <a:ea typeface="Calibri"/>
                <a:cs typeface="Calibri"/>
              </a:rPr>
              <a:t>106</a:t>
            </a:r>
            <a:r>
              <a:rPr lang="fr-FR" sz="2200" b="1" noProof="0">
                <a:solidFill>
                  <a:srgbClr val="E85D4A"/>
                </a:solidFill>
                <a:latin typeface="Calibri"/>
                <a:ea typeface="Calibri"/>
                <a:cs typeface="Calibri"/>
              </a:rPr>
              <a:t> </a:t>
            </a:r>
            <a:r>
              <a:rPr lang="fr-FR" sz="2200" b="1">
                <a:solidFill>
                  <a:srgbClr val="E85D4A"/>
                </a:solidFill>
                <a:latin typeface="Calibri"/>
                <a:ea typeface="Calibri"/>
                <a:cs typeface="Calibri"/>
              </a:rPr>
              <a:t>779</a:t>
            </a:r>
            <a:r>
              <a:rPr lang="fr-FR" sz="2200" b="1" noProof="0">
                <a:solidFill>
                  <a:srgbClr val="E85D4A"/>
                </a:solidFill>
                <a:latin typeface="Calibri"/>
                <a:ea typeface="Calibri"/>
                <a:cs typeface="Calibri"/>
              </a:rPr>
              <a:t> $</a:t>
            </a:r>
            <a:endParaRPr lang="fr-FR" sz="2200" noProof="0">
              <a:latin typeface="Calibri"/>
              <a:ea typeface="Calibri"/>
              <a:cs typeface="Calibri"/>
            </a:endParaRPr>
          </a:p>
        </p:txBody>
      </p:sp>
      <p:sp>
        <p:nvSpPr>
          <p:cNvPr id="19" name="Text 17"/>
          <p:cNvSpPr/>
          <p:nvPr/>
        </p:nvSpPr>
        <p:spPr>
          <a:xfrm>
            <a:off x="6720840" y="1389888"/>
            <a:ext cx="1920240" cy="274320"/>
          </a:xfrm>
          <a:prstGeom prst="rect">
            <a:avLst/>
          </a:prstGeom>
          <a:noFill/>
          <a:ln/>
        </p:spPr>
        <p:txBody>
          <a:bodyPr wrap="square" lIns="0" tIns="0" rIns="0" bIns="0" rtlCol="0" anchor="ctr"/>
          <a:lstStyle/>
          <a:p>
            <a:pPr marL="0" indent="0" algn="ctr">
              <a:buNone/>
            </a:pPr>
            <a:r>
              <a:rPr lang="fr-FR" sz="1000" noProof="0" dirty="0">
                <a:solidFill>
                  <a:srgbClr val="374151"/>
                </a:solidFill>
                <a:latin typeface="Calibri" pitchFamily="34" charset="0"/>
                <a:ea typeface="Calibri" pitchFamily="34" charset="-122"/>
                <a:cs typeface="Calibri" pitchFamily="34" charset="-120"/>
              </a:rPr>
              <a:t>RMSE Test</a:t>
            </a:r>
            <a:endParaRPr lang="fr-FR" sz="1000" noProof="0" dirty="0"/>
          </a:p>
        </p:txBody>
      </p:sp>
      <p:sp>
        <p:nvSpPr>
          <p:cNvPr id="20" name="Shape 18"/>
          <p:cNvSpPr/>
          <p:nvPr/>
        </p:nvSpPr>
        <p:spPr>
          <a:xfrm>
            <a:off x="274320" y="1874520"/>
            <a:ext cx="8595360" cy="411480"/>
          </a:xfrm>
          <a:prstGeom prst="rect">
            <a:avLst/>
          </a:prstGeom>
          <a:solidFill>
            <a:srgbClr val="FEF3C7"/>
          </a:solidFill>
          <a:ln w="12700">
            <a:solidFill>
              <a:srgbClr val="F59E0B"/>
            </a:solidFill>
            <a:prstDash val="solid"/>
          </a:ln>
        </p:spPr>
        <p:txBody>
          <a:bodyPr/>
          <a:lstStyle/>
          <a:p>
            <a:endParaRPr lang="fr-FR" noProof="0" dirty="0"/>
          </a:p>
        </p:txBody>
      </p:sp>
      <p:sp>
        <p:nvSpPr>
          <p:cNvPr id="21" name="Text 19"/>
          <p:cNvSpPr/>
          <p:nvPr/>
        </p:nvSpPr>
        <p:spPr>
          <a:xfrm>
            <a:off x="365760" y="1920240"/>
            <a:ext cx="8412480" cy="320040"/>
          </a:xfrm>
          <a:prstGeom prst="rect">
            <a:avLst/>
          </a:prstGeom>
          <a:noFill/>
          <a:ln/>
        </p:spPr>
        <p:txBody>
          <a:bodyPr wrap="square" lIns="0" tIns="0" rIns="0" bIns="0" rtlCol="0" anchor="ctr"/>
          <a:lstStyle/>
          <a:p>
            <a:r>
              <a:rPr lang="fr-FR" sz="1100" b="1" dirty="0">
                <a:solidFill>
                  <a:srgbClr val="92400E"/>
                </a:solidFill>
                <a:latin typeface="Calibri"/>
                <a:ea typeface="Calibri"/>
                <a:cs typeface="Calibri"/>
              </a:rPr>
              <a:t>É</a:t>
            </a:r>
            <a:r>
              <a:rPr lang="fr-FR" sz="1100" b="1" noProof="0" dirty="0" err="1">
                <a:solidFill>
                  <a:srgbClr val="92400E"/>
                </a:solidFill>
                <a:latin typeface="Calibri"/>
                <a:ea typeface="Calibri"/>
                <a:cs typeface="Calibri"/>
              </a:rPr>
              <a:t>cart</a:t>
            </a:r>
            <a:r>
              <a:rPr lang="fr-FR" sz="1100" b="1" noProof="0" dirty="0">
                <a:solidFill>
                  <a:srgbClr val="92400E"/>
                </a:solidFill>
                <a:latin typeface="Calibri"/>
                <a:ea typeface="Calibri"/>
                <a:cs typeface="Calibri"/>
              </a:rPr>
              <a:t> Train-Test : </a:t>
            </a:r>
            <a:r>
              <a:rPr lang="fr-FR" sz="1100" b="1" dirty="0">
                <a:solidFill>
                  <a:srgbClr val="92400E"/>
                </a:solidFill>
                <a:latin typeface="Calibri"/>
                <a:ea typeface="Calibri"/>
                <a:cs typeface="Calibri"/>
              </a:rPr>
              <a:t>0.001 -</a:t>
            </a:r>
            <a:r>
              <a:rPr lang="fr-FR" sz="1100" b="1" noProof="0" dirty="0">
                <a:solidFill>
                  <a:srgbClr val="92400E"/>
                </a:solidFill>
                <a:latin typeface="Calibri"/>
                <a:ea typeface="Calibri"/>
                <a:cs typeface="Calibri"/>
              </a:rPr>
              <a:t> </a:t>
            </a:r>
            <a:r>
              <a:rPr lang="fr-FR" sz="1100" b="1" dirty="0">
                <a:solidFill>
                  <a:srgbClr val="92400E"/>
                </a:solidFill>
                <a:latin typeface="Calibri"/>
                <a:ea typeface="Calibri"/>
                <a:cs typeface="Calibri"/>
              </a:rPr>
              <a:t>Pas de surapprentissage</a:t>
            </a:r>
            <a:r>
              <a:rPr lang="fr-FR" sz="1100" b="1" noProof="0" dirty="0">
                <a:solidFill>
                  <a:srgbClr val="92400E"/>
                </a:solidFill>
                <a:latin typeface="Calibri"/>
                <a:ea typeface="Calibri"/>
                <a:cs typeface="Calibri"/>
              </a:rPr>
              <a:t> (</a:t>
            </a:r>
            <a:r>
              <a:rPr lang="fr-FR" sz="1100" b="1" noProof="0" dirty="0" err="1">
                <a:solidFill>
                  <a:srgbClr val="92400E"/>
                </a:solidFill>
                <a:latin typeface="Calibri"/>
                <a:ea typeface="Calibri"/>
                <a:cs typeface="Calibri"/>
              </a:rPr>
              <a:t>overfitting</a:t>
            </a:r>
            <a:r>
              <a:rPr lang="fr-FR" sz="1100" b="1" noProof="0" dirty="0">
                <a:solidFill>
                  <a:srgbClr val="92400E"/>
                </a:solidFill>
                <a:latin typeface="Calibri"/>
                <a:ea typeface="Calibri"/>
                <a:cs typeface="Calibri"/>
              </a:rPr>
              <a:t>) détecté</a:t>
            </a:r>
            <a:r>
              <a:rPr lang="fr-FR" sz="1100" b="1" dirty="0">
                <a:solidFill>
                  <a:srgbClr val="92400E"/>
                </a:solidFill>
                <a:latin typeface="Calibri"/>
                <a:ea typeface="Calibri"/>
                <a:cs typeface="Calibri"/>
              </a:rPr>
              <a:t>.</a:t>
            </a:r>
            <a:endParaRPr lang="fr-FR" sz="1100" noProof="0" dirty="0">
              <a:latin typeface="Calibri"/>
              <a:ea typeface="Calibri"/>
              <a:cs typeface="Calibri"/>
            </a:endParaRPr>
          </a:p>
        </p:txBody>
      </p:sp>
      <p:pic>
        <p:nvPicPr>
          <p:cNvPr id="48" name="Picture 47" descr="Une image contenant texte, capture d’écran, nombre, Police&#10;&#10;Le contenu généré par l’IA peut être incorrect.">
            <a:extLst>
              <a:ext uri="{FF2B5EF4-FFF2-40B4-BE49-F238E27FC236}">
                <a16:creationId xmlns:a16="http://schemas.microsoft.com/office/drawing/2014/main" id="{01F00B02-C2C5-F92A-C542-9A655ED32443}"/>
              </a:ext>
            </a:extLst>
          </p:cNvPr>
          <p:cNvPicPr>
            <a:picLocks noChangeAspect="1"/>
          </p:cNvPicPr>
          <p:nvPr/>
        </p:nvPicPr>
        <p:blipFill>
          <a:blip r:embed="rId3"/>
          <a:stretch>
            <a:fillRect/>
          </a:stretch>
        </p:blipFill>
        <p:spPr>
          <a:xfrm>
            <a:off x="275273" y="2366010"/>
            <a:ext cx="8593455" cy="2773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20000"/>
            <a:ext cx="8412480" cy="440000"/>
          </a:xfrm>
          <a:prstGeom prst="rect">
            <a:avLst/>
          </a:prstGeom>
          <a:noFill/>
        </p:spPr>
        <p:txBody>
          <a:bodyPr wrap="square" anchor="ctr">
            <a:spAutoFit/>
          </a:bodyPr>
          <a:lstStyle/>
          <a:p>
            <a:pPr algn="l"/>
            <a:r>
              <a:rPr sz="2200" b="1">
                <a:solidFill>
                  <a:srgbClr val="FFFFFF"/>
                </a:solidFill>
                <a:latin typeface="Calibri"/>
              </a:rPr>
              <a:t>Diagnostic du modèle - Régression linéaire</a:t>
            </a:r>
          </a:p>
        </p:txBody>
      </p:sp>
      <p:sp>
        <p:nvSpPr>
          <p:cNvPr id="5" name="TextBox 4"/>
          <p:cNvSpPr txBox="1"/>
          <p:nvPr/>
        </p:nvSpPr>
        <p:spPr>
          <a:xfrm>
            <a:off x="365760" y="3927520"/>
            <a:ext cx="8412480" cy="923330"/>
          </a:xfrm>
          <a:prstGeom prst="rect">
            <a:avLst/>
          </a:prstGeom>
          <a:noFill/>
        </p:spPr>
        <p:txBody>
          <a:bodyPr wrap="square" lIns="91440" tIns="45720" rIns="91440" bIns="45720" anchor="t">
            <a:spAutoFit/>
          </a:bodyPr>
          <a:lstStyle/>
          <a:p>
            <a:pPr algn="ctr"/>
            <a:r>
              <a:rPr lang="fr-FR" sz="1200">
                <a:solidFill>
                  <a:schemeClr val="tx2">
                    <a:lumMod val="49000"/>
                  </a:schemeClr>
                </a:solidFill>
              </a:rPr>
              <a:t>Les prédictions se regroupent autour de la droite parfaite (y=x), confirmant la performance globale du modèle.</a:t>
            </a:r>
            <a:endParaRPr lang="fr-FR" sz="1200">
              <a:solidFill>
                <a:schemeClr val="tx2">
                  <a:lumMod val="49000"/>
                </a:schemeClr>
              </a:solidFill>
              <a:ea typeface="Calibri"/>
              <a:cs typeface="Calibri"/>
            </a:endParaRPr>
          </a:p>
          <a:p>
            <a:pPr algn="ctr"/>
            <a:endParaRPr sz="1200" dirty="0">
              <a:solidFill>
                <a:schemeClr val="tx2">
                  <a:lumMod val="49000"/>
                </a:schemeClr>
              </a:solidFill>
              <a:ea typeface="Calibri"/>
              <a:cs typeface="Calibri"/>
            </a:endParaRPr>
          </a:p>
          <a:p>
            <a:pPr algn="ctr"/>
            <a:r>
              <a:rPr lang="en-US" sz="1200" dirty="0">
                <a:solidFill>
                  <a:schemeClr val="tx2">
                    <a:lumMod val="49000"/>
                  </a:schemeClr>
                </a:solidFill>
              </a:rPr>
              <a:t>les </a:t>
            </a:r>
            <a:r>
              <a:rPr lang="en-US" sz="1200" dirty="0" err="1">
                <a:solidFill>
                  <a:schemeClr val="tx2">
                    <a:lumMod val="49000"/>
                  </a:schemeClr>
                </a:solidFill>
              </a:rPr>
              <a:t>résidus</a:t>
            </a:r>
            <a:r>
              <a:rPr lang="en-US" sz="1200" dirty="0">
                <a:solidFill>
                  <a:schemeClr val="tx2">
                    <a:lumMod val="49000"/>
                  </a:schemeClr>
                </a:solidFill>
              </a:rPr>
              <a:t> </a:t>
            </a:r>
            <a:r>
              <a:rPr lang="en-US" sz="1200" dirty="0" err="1">
                <a:solidFill>
                  <a:schemeClr val="tx2">
                    <a:lumMod val="49000"/>
                  </a:schemeClr>
                </a:solidFill>
              </a:rPr>
              <a:t>sont</a:t>
            </a:r>
            <a:r>
              <a:rPr lang="en-US" sz="1200" dirty="0">
                <a:solidFill>
                  <a:schemeClr val="tx2">
                    <a:lumMod val="49000"/>
                  </a:schemeClr>
                </a:solidFill>
              </a:rPr>
              <a:t> </a:t>
            </a:r>
            <a:r>
              <a:rPr lang="en-US" sz="1200" dirty="0" err="1">
                <a:solidFill>
                  <a:schemeClr val="tx2">
                    <a:lumMod val="49000"/>
                  </a:schemeClr>
                </a:solidFill>
              </a:rPr>
              <a:t>distribués</a:t>
            </a:r>
            <a:r>
              <a:rPr lang="en-US" sz="1200" dirty="0">
                <a:solidFill>
                  <a:schemeClr val="tx2">
                    <a:lumMod val="49000"/>
                  </a:schemeClr>
                </a:solidFill>
              </a:rPr>
              <a:t> </a:t>
            </a:r>
            <a:r>
              <a:rPr lang="en-US" sz="1200" dirty="0" err="1">
                <a:solidFill>
                  <a:schemeClr val="tx2">
                    <a:lumMod val="49000"/>
                  </a:schemeClr>
                </a:solidFill>
              </a:rPr>
              <a:t>aléatoirement</a:t>
            </a:r>
            <a:r>
              <a:rPr lang="en-US" sz="1200" dirty="0">
                <a:solidFill>
                  <a:schemeClr val="tx2">
                    <a:lumMod val="49000"/>
                  </a:schemeClr>
                </a:solidFill>
              </a:rPr>
              <a:t> </a:t>
            </a:r>
            <a:r>
              <a:rPr lang="en-US" sz="1200" dirty="0" err="1">
                <a:solidFill>
                  <a:schemeClr val="tx2">
                    <a:lumMod val="49000"/>
                  </a:schemeClr>
                </a:solidFill>
              </a:rPr>
              <a:t>autour</a:t>
            </a:r>
            <a:r>
              <a:rPr lang="en-US" sz="1200" dirty="0">
                <a:solidFill>
                  <a:schemeClr val="tx2">
                    <a:lumMod val="49000"/>
                  </a:schemeClr>
                </a:solidFill>
              </a:rPr>
              <a:t> de 0 --&gt; absence </a:t>
            </a:r>
            <a:r>
              <a:rPr lang="en-US" sz="1200" dirty="0" err="1">
                <a:solidFill>
                  <a:schemeClr val="tx2">
                    <a:lumMod val="49000"/>
                  </a:schemeClr>
                </a:solidFill>
              </a:rPr>
              <a:t>d'overfitting</a:t>
            </a:r>
            <a:r>
              <a:rPr lang="en-US" sz="1200" dirty="0">
                <a:solidFill>
                  <a:schemeClr val="tx2">
                    <a:lumMod val="49000"/>
                  </a:schemeClr>
                </a:solidFill>
              </a:rPr>
              <a:t>, pas </a:t>
            </a:r>
            <a:r>
              <a:rPr lang="en-US" sz="1200" dirty="0" err="1">
                <a:solidFill>
                  <a:schemeClr val="tx2">
                    <a:lumMod val="49000"/>
                  </a:schemeClr>
                </a:solidFill>
              </a:rPr>
              <a:t>d'effet</a:t>
            </a:r>
            <a:r>
              <a:rPr lang="en-US" sz="1200" dirty="0">
                <a:solidFill>
                  <a:schemeClr val="tx2">
                    <a:lumMod val="49000"/>
                  </a:schemeClr>
                </a:solidFill>
              </a:rPr>
              <a:t> </a:t>
            </a:r>
            <a:r>
              <a:rPr lang="en-US" sz="1200" dirty="0" err="1">
                <a:solidFill>
                  <a:schemeClr val="tx2">
                    <a:lumMod val="49000"/>
                  </a:schemeClr>
                </a:solidFill>
              </a:rPr>
              <a:t>entonnoir</a:t>
            </a:r>
            <a:endParaRPr lang="en-US" sz="1200" dirty="0">
              <a:solidFill>
                <a:schemeClr val="tx2">
                  <a:lumMod val="49000"/>
                </a:schemeClr>
              </a:solidFill>
              <a:ea typeface="Calibri"/>
              <a:cs typeface="Calibri"/>
            </a:endParaRPr>
          </a:p>
          <a:p>
            <a:pPr algn="ctr"/>
            <a:endParaRPr lang="en-US" dirty="0"/>
          </a:p>
        </p:txBody>
      </p:sp>
      <p:pic>
        <p:nvPicPr>
          <p:cNvPr id="6" name="Picture 5">
            <a:extLst>
              <a:ext uri="{FF2B5EF4-FFF2-40B4-BE49-F238E27FC236}">
                <a16:creationId xmlns:a16="http://schemas.microsoft.com/office/drawing/2014/main" id="{C474CCB5-C3EF-647A-E285-15B2DD85AA36}"/>
              </a:ext>
            </a:extLst>
          </p:cNvPr>
          <p:cNvPicPr>
            <a:picLocks noChangeAspect="1"/>
          </p:cNvPicPr>
          <p:nvPr/>
        </p:nvPicPr>
        <p:blipFill>
          <a:blip r:embed="rId2"/>
          <a:stretch>
            <a:fillRect/>
          </a:stretch>
        </p:blipFill>
        <p:spPr>
          <a:xfrm>
            <a:off x="0" y="760220"/>
            <a:ext cx="9144000" cy="309728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fr-FR" noProof="0" dirty="0"/>
          </a:p>
        </p:txBody>
      </p:sp>
      <p:sp>
        <p:nvSpPr>
          <p:cNvPr id="3" name="Text 1"/>
          <p:cNvSpPr/>
          <p:nvPr/>
        </p:nvSpPr>
        <p:spPr>
          <a:xfrm>
            <a:off x="365760" y="73152"/>
            <a:ext cx="8412480" cy="502920"/>
          </a:xfrm>
          <a:prstGeom prst="rect">
            <a:avLst/>
          </a:prstGeom>
          <a:noFill/>
          <a:ln/>
        </p:spPr>
        <p:txBody>
          <a:bodyPr wrap="square" lIns="0" tIns="0" rIns="0" bIns="0" rtlCol="0" anchor="ctr"/>
          <a:lstStyle/>
          <a:p>
            <a:r>
              <a:rPr lang="fr-FR" sz="2200" b="1" noProof="0" dirty="0">
                <a:solidFill>
                  <a:srgbClr val="FFFFFF"/>
                </a:solidFill>
                <a:latin typeface="Calibri"/>
                <a:ea typeface="Calibri"/>
                <a:cs typeface="Calibri"/>
              </a:rPr>
              <a:t>06 - Régularisation - Ridge et Lasso</a:t>
            </a:r>
            <a:r>
              <a:rPr lang="fr-FR" sz="2200" b="1" dirty="0">
                <a:solidFill>
                  <a:srgbClr val="FFFFFF"/>
                </a:solidFill>
                <a:latin typeface="Calibri"/>
                <a:ea typeface="Calibri"/>
                <a:cs typeface="Calibri"/>
              </a:rPr>
              <a:t> + </a:t>
            </a:r>
            <a:r>
              <a:rPr lang="fr-FR" sz="2200" b="1">
                <a:solidFill>
                  <a:srgbClr val="FFFFFF"/>
                </a:solidFill>
                <a:latin typeface="Calibri"/>
                <a:ea typeface="Calibri"/>
                <a:cs typeface="Calibri"/>
              </a:rPr>
              <a:t>GridSearchCV(5)</a:t>
            </a:r>
            <a:endParaRPr lang="fr-FR" sz="2200" noProof="0" dirty="0"/>
          </a:p>
        </p:txBody>
      </p:sp>
      <p:sp>
        <p:nvSpPr>
          <p:cNvPr id="4" name="Shape 2"/>
          <p:cNvSpPr/>
          <p:nvPr/>
        </p:nvSpPr>
        <p:spPr>
          <a:xfrm>
            <a:off x="274320" y="804672"/>
            <a:ext cx="8595360" cy="594360"/>
          </a:xfrm>
          <a:prstGeom prst="rect">
            <a:avLst/>
          </a:prstGeom>
          <a:solidFill>
            <a:srgbClr val="1E2761">
              <a:alpha val="12000"/>
            </a:srgbClr>
          </a:solidFill>
          <a:ln w="12700">
            <a:solidFill>
              <a:srgbClr val="CADCFC"/>
            </a:solidFill>
            <a:prstDash val="solid"/>
          </a:ln>
        </p:spPr>
        <p:txBody>
          <a:bodyPr/>
          <a:lstStyle/>
          <a:p>
            <a:endParaRPr lang="fr-FR" noProof="0" dirty="0"/>
          </a:p>
        </p:txBody>
      </p:sp>
      <p:sp>
        <p:nvSpPr>
          <p:cNvPr id="5" name="Text 3"/>
          <p:cNvSpPr/>
          <p:nvPr/>
        </p:nvSpPr>
        <p:spPr>
          <a:xfrm>
            <a:off x="457200" y="868680"/>
            <a:ext cx="8229600" cy="457200"/>
          </a:xfrm>
          <a:prstGeom prst="rect">
            <a:avLst/>
          </a:prstGeom>
          <a:noFill/>
          <a:ln/>
        </p:spPr>
        <p:txBody>
          <a:bodyPr wrap="square" lIns="0" tIns="0" rIns="0" bIns="0" rtlCol="0" anchor="ctr"/>
          <a:lstStyle/>
          <a:p>
            <a:pPr marL="0" indent="0">
              <a:buNone/>
            </a:pPr>
            <a:r>
              <a:rPr lang="fr-FR" sz="1100" i="1" noProof="0">
                <a:solidFill>
                  <a:srgbClr val="111827"/>
                </a:solidFill>
                <a:latin typeface="Calibri"/>
                <a:ea typeface="Calibri"/>
                <a:cs typeface="Calibri"/>
              </a:rPr>
              <a:t>La régularisation pénalise les grands coefficients. </a:t>
            </a:r>
          </a:p>
          <a:p>
            <a:pPr marL="0" indent="0">
              <a:buNone/>
            </a:pPr>
            <a:r>
              <a:rPr lang="fr-FR" sz="1100" i="1" noProof="0" dirty="0">
                <a:solidFill>
                  <a:srgbClr val="111827"/>
                </a:solidFill>
                <a:latin typeface="Calibri"/>
                <a:ea typeface="Calibri"/>
                <a:cs typeface="Calibri"/>
              </a:rPr>
              <a:t>L'hyperparamètre alpha contrôle la force de la pénalité : plus alpha est grand, plus les </a:t>
            </a:r>
            <a:r>
              <a:rPr lang="fr-FR" sz="1100" i="1" noProof="0" dirty="0" err="1">
                <a:solidFill>
                  <a:srgbClr val="111827"/>
                </a:solidFill>
                <a:latin typeface="Calibri"/>
                <a:ea typeface="Calibri"/>
                <a:cs typeface="Calibri"/>
              </a:rPr>
              <a:t>coéfficients</a:t>
            </a:r>
            <a:r>
              <a:rPr lang="fr-FR" sz="1100" i="1" noProof="0" dirty="0">
                <a:solidFill>
                  <a:srgbClr val="111827"/>
                </a:solidFill>
                <a:latin typeface="Calibri"/>
                <a:ea typeface="Calibri"/>
                <a:cs typeface="Calibri"/>
              </a:rPr>
              <a:t> sont </a:t>
            </a:r>
            <a:r>
              <a:rPr lang="fr-FR" sz="1100" i="1" dirty="0">
                <a:solidFill>
                  <a:srgbClr val="111827"/>
                </a:solidFill>
                <a:latin typeface="Calibri"/>
                <a:ea typeface="Calibri"/>
                <a:cs typeface="Calibri"/>
              </a:rPr>
              <a:t>réduits</a:t>
            </a:r>
            <a:r>
              <a:rPr lang="fr-FR" sz="1100" i="1" noProof="0" dirty="0">
                <a:solidFill>
                  <a:srgbClr val="111827"/>
                </a:solidFill>
                <a:latin typeface="Calibri"/>
                <a:ea typeface="Calibri"/>
                <a:cs typeface="Calibri"/>
              </a:rPr>
              <a:t>.</a:t>
            </a:r>
            <a:endParaRPr lang="fr-FR" sz="1100" noProof="0" dirty="0">
              <a:latin typeface="Calibri"/>
              <a:ea typeface="Calibri"/>
              <a:cs typeface="Calibri"/>
            </a:endParaRPr>
          </a:p>
        </p:txBody>
      </p:sp>
      <p:sp>
        <p:nvSpPr>
          <p:cNvPr id="6" name="Shape 4"/>
          <p:cNvSpPr/>
          <p:nvPr/>
        </p:nvSpPr>
        <p:spPr>
          <a:xfrm>
            <a:off x="274320" y="1508760"/>
            <a:ext cx="4114800" cy="324612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7" name="Shape 5"/>
          <p:cNvSpPr/>
          <p:nvPr/>
        </p:nvSpPr>
        <p:spPr>
          <a:xfrm>
            <a:off x="274320" y="1508760"/>
            <a:ext cx="4114800" cy="384048"/>
          </a:xfrm>
          <a:prstGeom prst="rect">
            <a:avLst/>
          </a:prstGeom>
          <a:solidFill>
            <a:srgbClr val="0071CE"/>
          </a:solidFill>
          <a:ln w="12700">
            <a:solidFill>
              <a:srgbClr val="0071CE"/>
            </a:solidFill>
            <a:prstDash val="solid"/>
          </a:ln>
        </p:spPr>
        <p:txBody>
          <a:bodyPr/>
          <a:lstStyle/>
          <a:p>
            <a:endParaRPr lang="fr-FR" noProof="0" dirty="0"/>
          </a:p>
        </p:txBody>
      </p:sp>
      <p:sp>
        <p:nvSpPr>
          <p:cNvPr id="8" name="Text 6"/>
          <p:cNvSpPr/>
          <p:nvPr/>
        </p:nvSpPr>
        <p:spPr>
          <a:xfrm>
            <a:off x="320040" y="1527048"/>
            <a:ext cx="4023360" cy="347472"/>
          </a:xfrm>
          <a:prstGeom prst="rect">
            <a:avLst/>
          </a:prstGeom>
          <a:noFill/>
          <a:ln/>
        </p:spPr>
        <p:txBody>
          <a:bodyPr wrap="square" lIns="0" tIns="0" rIns="0" bIns="0" rtlCol="0" anchor="ctr"/>
          <a:lstStyle/>
          <a:p>
            <a:pPr marL="0" indent="0">
              <a:buNone/>
            </a:pPr>
            <a:r>
              <a:rPr lang="fr-FR" sz="1300" b="1" noProof="0">
                <a:solidFill>
                  <a:srgbClr val="FFFFFF"/>
                </a:solidFill>
                <a:latin typeface="Calibri"/>
                <a:ea typeface="Calibri"/>
                <a:cs typeface="Calibri"/>
              </a:rPr>
              <a:t>Ridge (L2) - Meilleur alpha = </a:t>
            </a:r>
            <a:r>
              <a:rPr lang="fr-FR" sz="1300" b="1">
                <a:solidFill>
                  <a:srgbClr val="FFFFFF"/>
                </a:solidFill>
                <a:latin typeface="Calibri"/>
                <a:ea typeface="Calibri"/>
                <a:cs typeface="Calibri"/>
              </a:rPr>
              <a:t>0.01</a:t>
            </a:r>
            <a:endParaRPr lang="fr-FR" sz="1300" noProof="0" dirty="0"/>
          </a:p>
        </p:txBody>
      </p:sp>
      <p:sp>
        <p:nvSpPr>
          <p:cNvPr id="9" name="Text 7"/>
          <p:cNvSpPr/>
          <p:nvPr/>
        </p:nvSpPr>
        <p:spPr>
          <a:xfrm>
            <a:off x="411480" y="1965960"/>
            <a:ext cx="3840480" cy="2651760"/>
          </a:xfrm>
          <a:prstGeom prst="rect">
            <a:avLst/>
          </a:prstGeom>
          <a:noFill/>
          <a:ln/>
        </p:spPr>
        <p:txBody>
          <a:bodyPr wrap="square" lIns="0" tIns="0" rIns="0" bIns="0" rtlCol="0" anchor="t"/>
          <a:lstStyle/>
          <a:p>
            <a:pPr marL="0" indent="0">
              <a:buNone/>
            </a:pPr>
            <a:r>
              <a:rPr lang="fr-FR" sz="1100" b="1" noProof="0" dirty="0">
                <a:solidFill>
                  <a:srgbClr val="374151"/>
                </a:solidFill>
                <a:latin typeface="Calibri" pitchFamily="34" charset="0"/>
                <a:ea typeface="Calibri" pitchFamily="34" charset="-122"/>
                <a:cs typeface="Calibri" pitchFamily="34" charset="-120"/>
              </a:rPr>
              <a:t>Principe :</a:t>
            </a:r>
            <a:endParaRPr lang="fr-FR" sz="1100" noProof="0" dirty="0"/>
          </a:p>
          <a:p>
            <a:r>
              <a:rPr lang="fr-FR" sz="1100" noProof="0" dirty="0">
                <a:solidFill>
                  <a:srgbClr val="374151"/>
                </a:solidFill>
                <a:latin typeface="Calibri"/>
                <a:ea typeface="Calibri"/>
                <a:cs typeface="Calibri"/>
              </a:rPr>
              <a:t>Pénalise la somme des carrés des coefficients (L2). </a:t>
            </a:r>
            <a:endParaRPr lang="fr-FR" sz="1100" dirty="0">
              <a:solidFill>
                <a:srgbClr val="000000"/>
              </a:solidFill>
              <a:latin typeface="Calibri"/>
              <a:ea typeface="Calibri"/>
              <a:cs typeface="Calibri"/>
            </a:endParaRPr>
          </a:p>
          <a:p>
            <a:r>
              <a:rPr lang="fr-FR" sz="1100">
                <a:solidFill>
                  <a:srgbClr val="374151"/>
                </a:solidFill>
                <a:latin typeface="Calibri"/>
                <a:ea typeface="Calibri"/>
                <a:cs typeface="Calibri"/>
              </a:rPr>
              <a:t>Ridge a réduit</a:t>
            </a:r>
            <a:r>
              <a:rPr lang="fr-FR" sz="1100" noProof="0">
                <a:solidFill>
                  <a:srgbClr val="374151"/>
                </a:solidFill>
                <a:latin typeface="Calibri"/>
                <a:ea typeface="Calibri"/>
                <a:cs typeface="Calibri"/>
              </a:rPr>
              <a:t> tous les coefficients</a:t>
            </a:r>
            <a:r>
              <a:rPr lang="fr-FR" sz="1100">
                <a:solidFill>
                  <a:srgbClr val="374151"/>
                </a:solidFill>
                <a:latin typeface="Calibri"/>
                <a:ea typeface="Calibri"/>
                <a:cs typeface="Calibri"/>
              </a:rPr>
              <a:t> sans en annuler</a:t>
            </a:r>
            <a:r>
              <a:rPr lang="fr-FR" sz="1100" noProof="0">
                <a:solidFill>
                  <a:srgbClr val="374151"/>
                </a:solidFill>
                <a:latin typeface="Calibri"/>
                <a:ea typeface="Calibri"/>
                <a:cs typeface="Calibri"/>
              </a:rPr>
              <a:t>.</a:t>
            </a:r>
            <a:endParaRPr lang="fr-FR" sz="1100" noProof="0">
              <a:latin typeface="Calibri"/>
              <a:ea typeface="Calibri"/>
              <a:cs typeface="Calibri"/>
            </a:endParaRPr>
          </a:p>
          <a:p>
            <a:pPr marL="0" indent="0">
              <a:buNone/>
            </a:pPr>
            <a:r>
              <a:rPr lang="fr-FR" sz="1100" noProof="0" dirty="0">
                <a:solidFill>
                  <a:srgbClr val="374151"/>
                </a:solidFill>
                <a:latin typeface="Calibri" pitchFamily="34" charset="0"/>
                <a:ea typeface="Calibri" pitchFamily="34" charset="-122"/>
                <a:cs typeface="Calibri" pitchFamily="34" charset="-120"/>
              </a:rPr>
              <a:t> </a:t>
            </a:r>
            <a:endParaRPr lang="fr-FR" sz="1100" noProof="0" dirty="0"/>
          </a:p>
          <a:p>
            <a:pPr marL="0" indent="0">
              <a:buNone/>
            </a:pPr>
            <a:r>
              <a:rPr lang="fr-FR" sz="1100" b="1" noProof="0" dirty="0">
                <a:solidFill>
                  <a:srgbClr val="374151"/>
                </a:solidFill>
                <a:latin typeface="Calibri" pitchFamily="34" charset="0"/>
                <a:ea typeface="Calibri" pitchFamily="34" charset="-122"/>
                <a:cs typeface="Calibri" pitchFamily="34" charset="-120"/>
              </a:rPr>
              <a:t>GridSearchCV (cv=5) :</a:t>
            </a:r>
            <a:endParaRPr lang="fr-FR" sz="1100" noProof="0" dirty="0"/>
          </a:p>
          <a:p>
            <a:pPr marL="0" indent="0">
              <a:buNone/>
            </a:pPr>
            <a:r>
              <a:rPr lang="fr-FR" sz="1100" noProof="0">
                <a:solidFill>
                  <a:srgbClr val="374151"/>
                </a:solidFill>
                <a:latin typeface="Calibri"/>
                <a:ea typeface="Calibri"/>
                <a:cs typeface="Calibri"/>
              </a:rPr>
              <a:t>Meilleur alpha = </a:t>
            </a:r>
            <a:r>
              <a:rPr lang="fr-FR" sz="1100">
                <a:solidFill>
                  <a:srgbClr val="374151"/>
                </a:solidFill>
                <a:latin typeface="Calibri"/>
                <a:ea typeface="Calibri"/>
                <a:cs typeface="Calibri"/>
              </a:rPr>
              <a:t>0.01</a:t>
            </a:r>
            <a:r>
              <a:rPr lang="fr-FR" sz="1100" noProof="0">
                <a:solidFill>
                  <a:srgbClr val="374151"/>
                </a:solidFill>
                <a:latin typeface="Calibri"/>
                <a:ea typeface="Calibri"/>
                <a:cs typeface="Calibri"/>
              </a:rPr>
              <a:t>. </a:t>
            </a:r>
          </a:p>
          <a:p>
            <a:pPr marL="0" indent="0">
              <a:buNone/>
            </a:pPr>
            <a:r>
              <a:rPr lang="fr-FR" sz="1100" noProof="0" dirty="0">
                <a:solidFill>
                  <a:srgbClr val="374151"/>
                </a:solidFill>
                <a:latin typeface="Calibri" pitchFamily="34" charset="0"/>
                <a:ea typeface="Calibri" pitchFamily="34" charset="-122"/>
                <a:cs typeface="Calibri" pitchFamily="34" charset="-120"/>
              </a:rPr>
              <a:t> </a:t>
            </a:r>
            <a:endParaRPr lang="fr-FR" sz="1100" noProof="0" dirty="0"/>
          </a:p>
          <a:p>
            <a:pPr marL="0" indent="0">
              <a:buNone/>
            </a:pPr>
            <a:r>
              <a:rPr lang="fr-FR" sz="1100" b="1" noProof="0" dirty="0">
                <a:solidFill>
                  <a:srgbClr val="374151"/>
                </a:solidFill>
                <a:latin typeface="Calibri" pitchFamily="34" charset="0"/>
                <a:ea typeface="Calibri" pitchFamily="34" charset="-122"/>
                <a:cs typeface="Calibri" pitchFamily="34" charset="-120"/>
              </a:rPr>
              <a:t>Résultats :</a:t>
            </a:r>
            <a:endParaRPr lang="fr-FR" sz="1100" noProof="0" dirty="0"/>
          </a:p>
          <a:p>
            <a:pPr marL="0" indent="0">
              <a:buNone/>
            </a:pPr>
            <a:r>
              <a:rPr lang="fr-FR" sz="1100" noProof="0">
                <a:solidFill>
                  <a:srgbClr val="374151"/>
                </a:solidFill>
                <a:latin typeface="Calibri"/>
                <a:ea typeface="Calibri"/>
                <a:cs typeface="Calibri"/>
              </a:rPr>
              <a:t>R² Train : </a:t>
            </a:r>
            <a:r>
              <a:rPr lang="fr-FR" sz="1100">
                <a:solidFill>
                  <a:srgbClr val="374151"/>
                </a:solidFill>
                <a:latin typeface="Calibri"/>
                <a:ea typeface="Calibri"/>
                <a:cs typeface="Calibri"/>
              </a:rPr>
              <a:t>0.9841</a:t>
            </a:r>
            <a:r>
              <a:rPr lang="fr-FR" sz="1100" noProof="0">
                <a:solidFill>
                  <a:srgbClr val="374151"/>
                </a:solidFill>
                <a:latin typeface="Calibri"/>
                <a:ea typeface="Calibri"/>
                <a:cs typeface="Calibri"/>
              </a:rPr>
              <a:t>  |  R² Test : </a:t>
            </a:r>
            <a:r>
              <a:rPr lang="fr-FR" sz="1100">
                <a:solidFill>
                  <a:srgbClr val="374151"/>
                </a:solidFill>
                <a:latin typeface="Calibri"/>
                <a:ea typeface="Calibri"/>
                <a:cs typeface="Calibri"/>
              </a:rPr>
              <a:t>0.9757</a:t>
            </a:r>
            <a:endParaRPr lang="fr-FR" sz="1100" noProof="0">
              <a:latin typeface="Calibri"/>
              <a:ea typeface="Calibri"/>
              <a:cs typeface="Calibri"/>
            </a:endParaRPr>
          </a:p>
          <a:p>
            <a:r>
              <a:rPr lang="fr-FR" sz="1100" noProof="0">
                <a:solidFill>
                  <a:srgbClr val="374151"/>
                </a:solidFill>
                <a:latin typeface="Calibri"/>
                <a:ea typeface="Calibri"/>
                <a:cs typeface="Calibri"/>
              </a:rPr>
              <a:t>MAE : </a:t>
            </a:r>
            <a:r>
              <a:rPr lang="fr-FR" sz="1100">
                <a:solidFill>
                  <a:srgbClr val="374151"/>
                </a:solidFill>
                <a:latin typeface="Calibri"/>
                <a:ea typeface="Calibri"/>
                <a:cs typeface="Calibri"/>
              </a:rPr>
              <a:t>83</a:t>
            </a:r>
            <a:r>
              <a:rPr lang="fr-FR" sz="1100" noProof="0">
                <a:solidFill>
                  <a:srgbClr val="374151"/>
                </a:solidFill>
                <a:latin typeface="Calibri"/>
                <a:ea typeface="Calibri"/>
                <a:cs typeface="Calibri"/>
              </a:rPr>
              <a:t> </a:t>
            </a:r>
            <a:r>
              <a:rPr lang="fr-FR" sz="1100">
                <a:solidFill>
                  <a:srgbClr val="374151"/>
                </a:solidFill>
                <a:latin typeface="Calibri"/>
                <a:ea typeface="Calibri"/>
                <a:cs typeface="Calibri"/>
              </a:rPr>
              <a:t>709 </a:t>
            </a:r>
            <a:r>
              <a:rPr lang="fr-FR" sz="1100" noProof="0">
                <a:solidFill>
                  <a:srgbClr val="374151"/>
                </a:solidFill>
                <a:latin typeface="Calibri"/>
                <a:ea typeface="Calibri"/>
                <a:cs typeface="Calibri"/>
              </a:rPr>
              <a:t>$  |  RMSE : </a:t>
            </a:r>
            <a:r>
              <a:rPr lang="fr-FR" sz="1100">
                <a:solidFill>
                  <a:srgbClr val="374151"/>
                </a:solidFill>
                <a:latin typeface="Calibri"/>
                <a:ea typeface="Calibri"/>
                <a:cs typeface="Calibri"/>
              </a:rPr>
              <a:t>103  738</a:t>
            </a:r>
            <a:r>
              <a:rPr lang="fr-FR" sz="1100" noProof="0">
                <a:solidFill>
                  <a:srgbClr val="374151"/>
                </a:solidFill>
                <a:latin typeface="Calibri"/>
                <a:ea typeface="Calibri"/>
                <a:cs typeface="Calibri"/>
              </a:rPr>
              <a:t> $</a:t>
            </a:r>
            <a:endParaRPr lang="fr-FR" sz="1100" noProof="0">
              <a:latin typeface="Calibri"/>
              <a:ea typeface="Calibri"/>
              <a:cs typeface="Calibri"/>
            </a:endParaRPr>
          </a:p>
          <a:p>
            <a:r>
              <a:rPr lang="fr-FR" sz="1100" dirty="0">
                <a:solidFill>
                  <a:srgbClr val="374151"/>
                </a:solidFill>
                <a:latin typeface="Calibri"/>
                <a:ea typeface="Calibri"/>
                <a:cs typeface="Calibri"/>
              </a:rPr>
              <a:t>Les erreurs ont baiss</a:t>
            </a:r>
            <a:r>
              <a:rPr lang="fr-FR" sz="1100">
                <a:solidFill>
                  <a:srgbClr val="374151"/>
                </a:solidFill>
                <a:latin typeface="Calibri"/>
                <a:ea typeface="Calibri"/>
                <a:cs typeface="Calibri"/>
              </a:rPr>
              <a:t>é par rapport au modèle de base.</a:t>
            </a:r>
            <a:endParaRPr lang="fr-FR" sz="1100" dirty="0">
              <a:solidFill>
                <a:srgbClr val="374151"/>
              </a:solidFill>
              <a:ea typeface="Calibri"/>
              <a:cs typeface="Calibri"/>
            </a:endParaRPr>
          </a:p>
        </p:txBody>
      </p:sp>
      <p:sp>
        <p:nvSpPr>
          <p:cNvPr id="10" name="Shape 8"/>
          <p:cNvSpPr/>
          <p:nvPr/>
        </p:nvSpPr>
        <p:spPr>
          <a:xfrm>
            <a:off x="4663440" y="1508760"/>
            <a:ext cx="4206240" cy="324612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11" name="Shape 9"/>
          <p:cNvSpPr/>
          <p:nvPr/>
        </p:nvSpPr>
        <p:spPr>
          <a:xfrm>
            <a:off x="4663440" y="1508760"/>
            <a:ext cx="4206240" cy="384048"/>
          </a:xfrm>
          <a:prstGeom prst="rect">
            <a:avLst/>
          </a:prstGeom>
          <a:solidFill>
            <a:srgbClr val="FFC220"/>
          </a:solidFill>
          <a:ln w="12700">
            <a:solidFill>
              <a:srgbClr val="FFC220"/>
            </a:solidFill>
            <a:prstDash val="solid"/>
          </a:ln>
        </p:spPr>
        <p:txBody>
          <a:bodyPr/>
          <a:lstStyle/>
          <a:p>
            <a:endParaRPr lang="fr-FR" noProof="0" dirty="0"/>
          </a:p>
        </p:txBody>
      </p:sp>
      <p:sp>
        <p:nvSpPr>
          <p:cNvPr id="12" name="Text 10"/>
          <p:cNvSpPr/>
          <p:nvPr/>
        </p:nvSpPr>
        <p:spPr>
          <a:xfrm>
            <a:off x="4709160" y="1527048"/>
            <a:ext cx="4114800" cy="347472"/>
          </a:xfrm>
          <a:prstGeom prst="rect">
            <a:avLst/>
          </a:prstGeom>
          <a:noFill/>
          <a:ln/>
        </p:spPr>
        <p:txBody>
          <a:bodyPr wrap="square" lIns="0" tIns="0" rIns="0" bIns="0" rtlCol="0" anchor="ctr"/>
          <a:lstStyle/>
          <a:p>
            <a:pPr marL="0" indent="0">
              <a:buNone/>
            </a:pPr>
            <a:r>
              <a:rPr lang="fr-FR" sz="1300" b="1" noProof="0" dirty="0">
                <a:solidFill>
                  <a:srgbClr val="1E2761"/>
                </a:solidFill>
                <a:latin typeface="Calibri" pitchFamily="34" charset="0"/>
                <a:ea typeface="Calibri" pitchFamily="34" charset="-122"/>
                <a:cs typeface="Calibri" pitchFamily="34" charset="-120"/>
              </a:rPr>
              <a:t>Lasso (L1) - Meilleur alpha = 1000</a:t>
            </a:r>
            <a:endParaRPr lang="fr-FR" sz="1300" noProof="0" dirty="0"/>
          </a:p>
        </p:txBody>
      </p:sp>
      <p:sp>
        <p:nvSpPr>
          <p:cNvPr id="13" name="Text 11"/>
          <p:cNvSpPr/>
          <p:nvPr/>
        </p:nvSpPr>
        <p:spPr>
          <a:xfrm>
            <a:off x="4800600" y="1965960"/>
            <a:ext cx="3931920" cy="2651760"/>
          </a:xfrm>
          <a:prstGeom prst="rect">
            <a:avLst/>
          </a:prstGeom>
          <a:noFill/>
          <a:ln/>
        </p:spPr>
        <p:txBody>
          <a:bodyPr wrap="square" lIns="0" tIns="0" rIns="0" bIns="0" rtlCol="0" anchor="t"/>
          <a:lstStyle/>
          <a:p>
            <a:pPr marL="0" indent="0">
              <a:buNone/>
            </a:pPr>
            <a:r>
              <a:rPr lang="fr-FR" sz="1100" b="1" noProof="0" dirty="0">
                <a:solidFill>
                  <a:srgbClr val="374151"/>
                </a:solidFill>
                <a:latin typeface="Calibri" pitchFamily="34" charset="0"/>
                <a:ea typeface="Calibri" pitchFamily="34" charset="-122"/>
                <a:cs typeface="Calibri" pitchFamily="34" charset="-120"/>
              </a:rPr>
              <a:t>Principe :</a:t>
            </a:r>
            <a:endParaRPr lang="fr-FR" sz="1100" noProof="0" dirty="0"/>
          </a:p>
          <a:p>
            <a:r>
              <a:rPr lang="fr-FR" sz="1100" noProof="0" dirty="0">
                <a:solidFill>
                  <a:srgbClr val="374151"/>
                </a:solidFill>
                <a:latin typeface="Calibri"/>
                <a:ea typeface="Calibri"/>
                <a:cs typeface="Calibri"/>
              </a:rPr>
              <a:t>Pénalise la somme des valeurs absolues (L1). </a:t>
            </a:r>
            <a:endParaRPr lang="fr-FR" sz="1100">
              <a:solidFill>
                <a:srgbClr val="000000"/>
              </a:solidFill>
              <a:latin typeface="Calibri"/>
              <a:ea typeface="Calibri"/>
              <a:cs typeface="Calibri"/>
            </a:endParaRPr>
          </a:p>
          <a:p>
            <a:r>
              <a:rPr lang="fr-FR" sz="1100" dirty="0">
                <a:solidFill>
                  <a:srgbClr val="374151"/>
                </a:solidFill>
                <a:latin typeface="Calibri"/>
                <a:ea typeface="Calibri"/>
                <a:cs typeface="Calibri"/>
              </a:rPr>
              <a:t>Lasso a annulé 8 </a:t>
            </a:r>
            <a:r>
              <a:rPr lang="fr-FR" sz="1100" dirty="0" err="1">
                <a:solidFill>
                  <a:srgbClr val="374151"/>
                </a:solidFill>
                <a:latin typeface="Calibri"/>
                <a:ea typeface="Calibri"/>
                <a:cs typeface="Calibri"/>
              </a:rPr>
              <a:t>features</a:t>
            </a:r>
            <a:r>
              <a:rPr lang="fr-FR" sz="1100" dirty="0">
                <a:solidFill>
                  <a:srgbClr val="374151"/>
                </a:solidFill>
                <a:latin typeface="Calibri"/>
                <a:ea typeface="Calibri"/>
                <a:cs typeface="Calibri"/>
              </a:rPr>
              <a:t> dont </a:t>
            </a:r>
            <a:r>
              <a:rPr lang="fr-FR" sz="1100" dirty="0">
                <a:solidFill>
                  <a:schemeClr val="tx2">
                    <a:lumMod val="49000"/>
                  </a:schemeClr>
                </a:solidFill>
                <a:latin typeface="Calibri"/>
                <a:ea typeface="Calibri"/>
                <a:cs typeface="Calibri"/>
              </a:rPr>
              <a:t>Holiday_Flag_1.0, CPI, </a:t>
            </a:r>
            <a:r>
              <a:rPr lang="fr-FR" sz="1100" dirty="0" err="1">
                <a:solidFill>
                  <a:schemeClr val="tx2">
                    <a:lumMod val="49000"/>
                  </a:schemeClr>
                </a:solidFill>
                <a:latin typeface="Calibri"/>
                <a:ea typeface="Calibri"/>
                <a:cs typeface="Calibri"/>
              </a:rPr>
              <a:t>Unemployment</a:t>
            </a:r>
            <a:r>
              <a:rPr lang="fr-FR" sz="1100" dirty="0">
                <a:solidFill>
                  <a:schemeClr val="tx2">
                    <a:lumMod val="49000"/>
                  </a:schemeClr>
                </a:solidFill>
                <a:latin typeface="Calibri"/>
                <a:ea typeface="Calibri"/>
                <a:cs typeface="Calibri"/>
              </a:rPr>
              <a:t>.</a:t>
            </a:r>
            <a:endParaRPr lang="fr-FR" sz="1100" noProof="0">
              <a:solidFill>
                <a:schemeClr val="tx2">
                  <a:lumMod val="49000"/>
                </a:schemeClr>
              </a:solidFill>
              <a:latin typeface="Calibri"/>
              <a:ea typeface="Calibri"/>
              <a:cs typeface="Calibri"/>
            </a:endParaRPr>
          </a:p>
          <a:p>
            <a:pPr marL="0" indent="0">
              <a:buNone/>
            </a:pPr>
            <a:r>
              <a:rPr lang="fr-FR" sz="1100" noProof="0" dirty="0">
                <a:solidFill>
                  <a:srgbClr val="374151"/>
                </a:solidFill>
                <a:latin typeface="Calibri" pitchFamily="34" charset="0"/>
                <a:ea typeface="Calibri" pitchFamily="34" charset="-122"/>
                <a:cs typeface="Calibri" pitchFamily="34" charset="-120"/>
              </a:rPr>
              <a:t> </a:t>
            </a:r>
            <a:endParaRPr lang="fr-FR" sz="1100" noProof="0" dirty="0"/>
          </a:p>
          <a:p>
            <a:pPr marL="0" indent="0">
              <a:buNone/>
            </a:pPr>
            <a:r>
              <a:rPr lang="fr-FR" sz="1100" b="1" noProof="0" dirty="0">
                <a:solidFill>
                  <a:srgbClr val="374151"/>
                </a:solidFill>
                <a:latin typeface="Calibri" pitchFamily="34" charset="0"/>
                <a:ea typeface="Calibri" pitchFamily="34" charset="-122"/>
                <a:cs typeface="Calibri" pitchFamily="34" charset="-120"/>
              </a:rPr>
              <a:t>GridSearchCV (cv=5) :</a:t>
            </a:r>
            <a:endParaRPr lang="fr-FR" sz="1100" noProof="0" dirty="0"/>
          </a:p>
          <a:p>
            <a:pPr marL="0" indent="0">
              <a:buNone/>
            </a:pPr>
            <a:r>
              <a:rPr lang="fr-FR" sz="1100" noProof="0">
                <a:solidFill>
                  <a:srgbClr val="374151"/>
                </a:solidFill>
                <a:latin typeface="Calibri"/>
                <a:ea typeface="Calibri"/>
                <a:cs typeface="Calibri"/>
              </a:rPr>
              <a:t>Meilleur alpha = 1000.</a:t>
            </a:r>
            <a:r>
              <a:rPr lang="fr-FR" sz="1100" noProof="0" dirty="0">
                <a:solidFill>
                  <a:srgbClr val="374151"/>
                </a:solidFill>
                <a:latin typeface="Calibri"/>
                <a:ea typeface="Calibri"/>
                <a:cs typeface="Calibri"/>
              </a:rPr>
              <a:t> </a:t>
            </a:r>
            <a:endParaRPr lang="fr-FR" sz="1100" noProof="0" dirty="0">
              <a:latin typeface="Calibri"/>
              <a:ea typeface="Calibri"/>
              <a:cs typeface="Calibri"/>
            </a:endParaRPr>
          </a:p>
          <a:p>
            <a:endParaRPr lang="fr-FR" sz="1100" dirty="0">
              <a:solidFill>
                <a:srgbClr val="374151"/>
              </a:solidFill>
              <a:latin typeface="Calibri"/>
              <a:ea typeface="Calibri"/>
              <a:cs typeface="Calibri"/>
            </a:endParaRPr>
          </a:p>
          <a:p>
            <a:pPr marL="0" indent="0">
              <a:buNone/>
            </a:pPr>
            <a:r>
              <a:rPr lang="fr-FR" sz="1100" b="1" noProof="0" dirty="0">
                <a:solidFill>
                  <a:srgbClr val="374151"/>
                </a:solidFill>
                <a:latin typeface="Calibri" pitchFamily="34" charset="0"/>
                <a:ea typeface="Calibri" pitchFamily="34" charset="-122"/>
                <a:cs typeface="Calibri" pitchFamily="34" charset="-120"/>
              </a:rPr>
              <a:t>Résultats :</a:t>
            </a:r>
            <a:endParaRPr lang="fr-FR" sz="1100" noProof="0" dirty="0"/>
          </a:p>
          <a:p>
            <a:pPr marL="0" indent="0">
              <a:buNone/>
            </a:pPr>
            <a:r>
              <a:rPr lang="fr-FR" sz="1100" noProof="0">
                <a:solidFill>
                  <a:srgbClr val="374151"/>
                </a:solidFill>
                <a:latin typeface="Calibri"/>
                <a:ea typeface="Calibri"/>
                <a:cs typeface="Calibri"/>
              </a:rPr>
              <a:t>R² Train : </a:t>
            </a:r>
            <a:r>
              <a:rPr lang="fr-FR" sz="1100">
                <a:solidFill>
                  <a:srgbClr val="374151"/>
                </a:solidFill>
                <a:latin typeface="Calibri"/>
                <a:ea typeface="Calibri"/>
                <a:cs typeface="Calibri"/>
              </a:rPr>
              <a:t>0.9818</a:t>
            </a:r>
            <a:r>
              <a:rPr lang="fr-FR" sz="1100" noProof="0">
                <a:solidFill>
                  <a:srgbClr val="374151"/>
                </a:solidFill>
                <a:latin typeface="Calibri"/>
                <a:ea typeface="Calibri"/>
                <a:cs typeface="Calibri"/>
              </a:rPr>
              <a:t>  |  R² Test : </a:t>
            </a:r>
            <a:r>
              <a:rPr lang="fr-FR" sz="1100">
                <a:solidFill>
                  <a:srgbClr val="374151"/>
                </a:solidFill>
                <a:latin typeface="Calibri"/>
                <a:ea typeface="Calibri"/>
                <a:cs typeface="Calibri"/>
              </a:rPr>
              <a:t>0.9768</a:t>
            </a:r>
            <a:endParaRPr lang="fr-FR" sz="1100" noProof="0">
              <a:latin typeface="Calibri"/>
              <a:ea typeface="Calibri"/>
              <a:cs typeface="Calibri"/>
            </a:endParaRPr>
          </a:p>
          <a:p>
            <a:pPr marL="0" indent="0">
              <a:buNone/>
            </a:pPr>
            <a:r>
              <a:rPr lang="fr-FR" sz="1100" noProof="0">
                <a:solidFill>
                  <a:srgbClr val="374151"/>
                </a:solidFill>
                <a:latin typeface="Calibri"/>
                <a:ea typeface="Calibri"/>
                <a:cs typeface="Calibri"/>
              </a:rPr>
              <a:t>MAE : </a:t>
            </a:r>
            <a:r>
              <a:rPr lang="fr-FR" sz="1100">
                <a:solidFill>
                  <a:srgbClr val="374151"/>
                </a:solidFill>
                <a:latin typeface="Calibri"/>
                <a:ea typeface="Calibri"/>
                <a:cs typeface="Calibri"/>
              </a:rPr>
              <a:t>76</a:t>
            </a:r>
            <a:r>
              <a:rPr lang="fr-FR" sz="1100" noProof="0">
                <a:solidFill>
                  <a:srgbClr val="374151"/>
                </a:solidFill>
                <a:latin typeface="Calibri"/>
                <a:ea typeface="Calibri"/>
                <a:cs typeface="Calibri"/>
              </a:rPr>
              <a:t> </a:t>
            </a:r>
            <a:r>
              <a:rPr lang="fr-FR" sz="1100">
                <a:solidFill>
                  <a:srgbClr val="374151"/>
                </a:solidFill>
                <a:latin typeface="Calibri"/>
                <a:ea typeface="Calibri"/>
                <a:cs typeface="Calibri"/>
              </a:rPr>
              <a:t>396</a:t>
            </a:r>
            <a:r>
              <a:rPr lang="fr-FR" sz="1100" noProof="0">
                <a:solidFill>
                  <a:srgbClr val="374151"/>
                </a:solidFill>
                <a:latin typeface="Calibri"/>
                <a:ea typeface="Calibri"/>
                <a:cs typeface="Calibri"/>
              </a:rPr>
              <a:t> $  |  RMSE : </a:t>
            </a:r>
            <a:r>
              <a:rPr lang="fr-FR" sz="1100">
                <a:solidFill>
                  <a:srgbClr val="374151"/>
                </a:solidFill>
                <a:latin typeface="Calibri"/>
                <a:ea typeface="Calibri"/>
                <a:cs typeface="Calibri"/>
              </a:rPr>
              <a:t>101</a:t>
            </a:r>
            <a:r>
              <a:rPr lang="fr-FR" sz="1100" noProof="0">
                <a:solidFill>
                  <a:srgbClr val="374151"/>
                </a:solidFill>
                <a:latin typeface="Calibri"/>
                <a:ea typeface="Calibri"/>
                <a:cs typeface="Calibri"/>
              </a:rPr>
              <a:t> </a:t>
            </a:r>
            <a:r>
              <a:rPr lang="fr-FR" sz="1100">
                <a:solidFill>
                  <a:srgbClr val="374151"/>
                </a:solidFill>
                <a:latin typeface="Calibri"/>
                <a:ea typeface="Calibri"/>
                <a:cs typeface="Calibri"/>
              </a:rPr>
              <a:t>263</a:t>
            </a:r>
            <a:r>
              <a:rPr lang="fr-FR" sz="1100" noProof="0">
                <a:solidFill>
                  <a:srgbClr val="374151"/>
                </a:solidFill>
                <a:latin typeface="Calibri"/>
                <a:ea typeface="Calibri"/>
                <a:cs typeface="Calibri"/>
              </a:rPr>
              <a:t> $</a:t>
            </a:r>
            <a:endParaRPr lang="fr-FR" sz="1100" noProof="0">
              <a:latin typeface="Calibri"/>
              <a:ea typeface="Calibri"/>
              <a:cs typeface="Calibri"/>
            </a:endParaRPr>
          </a:p>
          <a:p>
            <a:r>
              <a:rPr lang="fr-FR" sz="1100" dirty="0">
                <a:solidFill>
                  <a:srgbClr val="374151"/>
                </a:solidFill>
                <a:latin typeface="Calibri"/>
                <a:ea typeface="Calibri"/>
                <a:cs typeface="Calibri"/>
              </a:rPr>
              <a:t>Les erreurs ont </a:t>
            </a:r>
            <a:r>
              <a:rPr lang="fr-FR" sz="1100">
                <a:solidFill>
                  <a:srgbClr val="374151"/>
                </a:solidFill>
                <a:latin typeface="Calibri"/>
                <a:ea typeface="Calibri"/>
                <a:cs typeface="Calibri"/>
              </a:rPr>
              <a:t>encore baissé.</a:t>
            </a:r>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fr-FR" noProof="0" dirty="0"/>
          </a:p>
        </p:txBody>
      </p:sp>
      <p:sp>
        <p:nvSpPr>
          <p:cNvPr id="3" name="Text 1"/>
          <p:cNvSpPr/>
          <p:nvPr/>
        </p:nvSpPr>
        <p:spPr>
          <a:xfrm>
            <a:off x="365760" y="73152"/>
            <a:ext cx="8412480" cy="502920"/>
          </a:xfrm>
          <a:prstGeom prst="rect">
            <a:avLst/>
          </a:prstGeom>
          <a:noFill/>
          <a:ln/>
        </p:spPr>
        <p:txBody>
          <a:bodyPr wrap="square" lIns="0" tIns="0" rIns="0" bIns="0" rtlCol="0" anchor="ctr"/>
          <a:lstStyle/>
          <a:p>
            <a:pPr marL="0" indent="0">
              <a:buNone/>
            </a:pPr>
            <a:r>
              <a:rPr lang="fr-FR" sz="2200" b="1" noProof="0" dirty="0">
                <a:solidFill>
                  <a:srgbClr val="FFFFFF"/>
                </a:solidFill>
                <a:latin typeface="Calibri" pitchFamily="34" charset="0"/>
                <a:ea typeface="Calibri" pitchFamily="34" charset="-122"/>
                <a:cs typeface="Calibri" pitchFamily="34" charset="-120"/>
              </a:rPr>
              <a:t>07 - Résultats et comparaison des modèles</a:t>
            </a:r>
            <a:endParaRPr lang="fr-FR" sz="2200" noProof="0" dirty="0"/>
          </a:p>
        </p:txBody>
      </p:sp>
      <p:sp>
        <p:nvSpPr>
          <p:cNvPr id="4" name="Text 2"/>
          <p:cNvSpPr/>
          <p:nvPr/>
        </p:nvSpPr>
        <p:spPr>
          <a:xfrm>
            <a:off x="274320" y="777240"/>
            <a:ext cx="8595360" cy="292608"/>
          </a:xfrm>
          <a:prstGeom prst="rect">
            <a:avLst/>
          </a:prstGeom>
          <a:noFill/>
          <a:ln/>
        </p:spPr>
        <p:txBody>
          <a:bodyPr wrap="square" lIns="0" tIns="0" rIns="0" bIns="0" rtlCol="0" anchor="ctr"/>
          <a:lstStyle/>
          <a:p>
            <a:pPr marL="0" indent="0">
              <a:buNone/>
            </a:pPr>
            <a:r>
              <a:rPr lang="fr-FR" sz="1400" b="1" noProof="0" dirty="0">
                <a:solidFill>
                  <a:srgbClr val="1E2761"/>
                </a:solidFill>
                <a:latin typeface="Calibri" pitchFamily="34" charset="0"/>
                <a:ea typeface="Calibri" pitchFamily="34" charset="-122"/>
                <a:cs typeface="Calibri" pitchFamily="34" charset="-120"/>
              </a:rPr>
              <a:t>Tableau de performance comparatif</a:t>
            </a:r>
            <a:endParaRPr lang="fr-FR" sz="1400" noProof="0" dirty="0"/>
          </a:p>
        </p:txBody>
      </p:sp>
      <p:graphicFrame>
        <p:nvGraphicFramePr>
          <p:cNvPr id="10" name="Table 0"/>
          <p:cNvGraphicFramePr>
            <a:graphicFrameLocks noGrp="1"/>
          </p:cNvGraphicFramePr>
          <p:nvPr>
            <p:extLst>
              <p:ext uri="{D42A27DB-BD31-4B8C-83A1-F6EECF244321}">
                <p14:modId xmlns:p14="http://schemas.microsoft.com/office/powerpoint/2010/main" val="1671450831"/>
              </p:ext>
            </p:extLst>
          </p:nvPr>
        </p:nvGraphicFramePr>
        <p:xfrm>
          <a:off x="274320" y="1097280"/>
          <a:ext cx="8869680" cy="1170432"/>
        </p:xfrm>
        <a:graphic>
          <a:graphicData uri="http://schemas.openxmlformats.org/drawingml/2006/table">
            <a:tbl>
              <a:tblPr/>
              <a:tblGrid>
                <a:gridCol w="21945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292608">
                <a:tc>
                  <a:txBody>
                    <a:bodyPr/>
                    <a:lstStyle/>
                    <a:p>
                      <a:pPr marL="0" indent="0">
                        <a:buNone/>
                      </a:pPr>
                      <a:r>
                        <a:rPr lang="fr-FR" sz="1100" b="1" noProof="0" dirty="0">
                          <a:solidFill>
                            <a:srgbClr val="FFFFFF"/>
                          </a:solidFill>
                          <a:latin typeface="Calibri" pitchFamily="34" charset="0"/>
                          <a:ea typeface="Calibri" pitchFamily="34" charset="-122"/>
                          <a:cs typeface="Calibri" pitchFamily="34" charset="-120"/>
                        </a:rPr>
                        <a:t>Modèle</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fr-FR" sz="1100" b="1" noProof="0" dirty="0">
                          <a:solidFill>
                            <a:srgbClr val="FFFFFF"/>
                          </a:solidFill>
                          <a:latin typeface="Calibri" pitchFamily="34" charset="0"/>
                          <a:ea typeface="Calibri" pitchFamily="34" charset="-122"/>
                          <a:cs typeface="Calibri" pitchFamily="34" charset="-120"/>
                        </a:rPr>
                        <a:t>R² Train</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fr-FR" sz="1100" b="1" noProof="0" dirty="0">
                          <a:solidFill>
                            <a:srgbClr val="FFFFFF"/>
                          </a:solidFill>
                          <a:latin typeface="Calibri" pitchFamily="34" charset="0"/>
                          <a:ea typeface="Calibri" pitchFamily="34" charset="-122"/>
                          <a:cs typeface="Calibri" pitchFamily="34" charset="-120"/>
                        </a:rPr>
                        <a:t>R² Test</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fr-FR" sz="1100" b="1" noProof="0" dirty="0">
                          <a:solidFill>
                            <a:srgbClr val="FFFFFF"/>
                          </a:solidFill>
                          <a:latin typeface="Calibri" pitchFamily="34" charset="0"/>
                          <a:ea typeface="Calibri" pitchFamily="34" charset="-122"/>
                          <a:cs typeface="Calibri" pitchFamily="34" charset="-120"/>
                        </a:rPr>
                        <a:t>MAE Test</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fr-FR" sz="1100" b="1" noProof="0" dirty="0">
                          <a:solidFill>
                            <a:srgbClr val="FFFFFF"/>
                          </a:solidFill>
                          <a:latin typeface="Calibri" pitchFamily="34" charset="0"/>
                          <a:ea typeface="Calibri" pitchFamily="34" charset="-122"/>
                          <a:cs typeface="Calibri" pitchFamily="34" charset="-120"/>
                        </a:rPr>
                        <a:t>RMSE Test</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fr-FR" sz="1100" b="1" noProof="0" dirty="0">
                          <a:solidFill>
                            <a:srgbClr val="FFFFFF"/>
                          </a:solidFill>
                          <a:latin typeface="Calibri" pitchFamily="34" charset="0"/>
                          <a:ea typeface="Calibri" pitchFamily="34" charset="-122"/>
                          <a:cs typeface="Calibri" pitchFamily="34" charset="-120"/>
                        </a:rPr>
                        <a:t>Ecart Train-Test</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92608">
                <a:tc>
                  <a:txBody>
                    <a:bodyPr/>
                    <a:lstStyle/>
                    <a:p>
                      <a:pPr marL="0" indent="0">
                        <a:buNone/>
                      </a:pPr>
                      <a:r>
                        <a:rPr lang="fr-FR" sz="1100" noProof="0" dirty="0">
                          <a:solidFill>
                            <a:srgbClr val="000000"/>
                          </a:solidFill>
                          <a:latin typeface="Calibri" pitchFamily="34" charset="0"/>
                          <a:ea typeface="Calibri" pitchFamily="34" charset="-122"/>
                          <a:cs typeface="Calibri" pitchFamily="34" charset="-120"/>
                        </a:rPr>
                        <a:t>Régression Linéaire</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noProof="0">
                          <a:solidFill>
                            <a:srgbClr val="000000"/>
                          </a:solidFill>
                          <a:latin typeface="Calibri"/>
                          <a:ea typeface="Calibri"/>
                          <a:cs typeface="Calibri"/>
                        </a:rPr>
                        <a:t>0.9841</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noProof="0">
                          <a:solidFill>
                            <a:srgbClr val="000000"/>
                          </a:solidFill>
                          <a:latin typeface="Calibri"/>
                          <a:ea typeface="Calibri"/>
                          <a:cs typeface="Calibri"/>
                        </a:rPr>
                        <a:t>0.9742</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noProof="0">
                          <a:solidFill>
                            <a:srgbClr val="000000"/>
                          </a:solidFill>
                          <a:latin typeface="Calibri"/>
                          <a:ea typeface="Calibri"/>
                          <a:cs typeface="Calibri"/>
                        </a:rPr>
                        <a:t>87 636 $</a:t>
                      </a:r>
                      <a:endParaRPr lang="fr-FR" sz="1100" noProof="0">
                        <a:latin typeface="Calibri"/>
                        <a:ea typeface="Calibri"/>
                        <a:cs typeface="Calibri"/>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noProof="0">
                          <a:solidFill>
                            <a:srgbClr val="000000"/>
                          </a:solidFill>
                          <a:latin typeface="Calibri"/>
                          <a:ea typeface="Calibri"/>
                          <a:cs typeface="Calibri"/>
                        </a:rPr>
                        <a:t>106 779 $</a:t>
                      </a:r>
                      <a:endParaRPr lang="fr-FR" sz="1100" noProof="0">
                        <a:latin typeface="Calibri"/>
                        <a:ea typeface="Calibri"/>
                        <a:cs typeface="Calibri"/>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b="0" noProof="0">
                          <a:solidFill>
                            <a:schemeClr val="tx2">
                              <a:lumMod val="49000"/>
                            </a:schemeClr>
                          </a:solidFill>
                          <a:latin typeface="Calibri"/>
                          <a:ea typeface="Calibri"/>
                          <a:cs typeface="Calibri"/>
                        </a:rPr>
                        <a:t>0.0099</a:t>
                      </a: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fr-FR" sz="1100" noProof="0">
                          <a:solidFill>
                            <a:srgbClr val="000000"/>
                          </a:solidFill>
                          <a:latin typeface="Calibri"/>
                          <a:ea typeface="Calibri"/>
                          <a:cs typeface="Calibri"/>
                        </a:rPr>
                        <a:t>Ridge (alpha = 0.01)</a:t>
                      </a:r>
                      <a:endParaRPr lang="fr-FR" sz="1100" noProof="0">
                        <a:latin typeface="Calibri"/>
                        <a:ea typeface="Calibri"/>
                        <a:cs typeface="Calibri"/>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noProof="0">
                          <a:solidFill>
                            <a:srgbClr val="000000"/>
                          </a:solidFill>
                          <a:latin typeface="Calibri"/>
                          <a:ea typeface="Calibri"/>
                          <a:cs typeface="Calibri"/>
                        </a:rPr>
                        <a:t>0.9841</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noProof="0">
                          <a:solidFill>
                            <a:srgbClr val="000000"/>
                          </a:solidFill>
                          <a:latin typeface="Calibri"/>
                          <a:ea typeface="Calibri"/>
                          <a:cs typeface="Calibri"/>
                        </a:rPr>
                        <a:t>0.9757</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noProof="0">
                          <a:solidFill>
                            <a:srgbClr val="000000"/>
                          </a:solidFill>
                          <a:latin typeface="Calibri"/>
                          <a:ea typeface="Calibri"/>
                          <a:cs typeface="Calibri"/>
                        </a:rPr>
                        <a:t>83 709 $</a:t>
                      </a:r>
                      <a:endParaRPr lang="fr-FR" sz="1100" noProof="0">
                        <a:latin typeface="Calibri"/>
                        <a:ea typeface="Calibri"/>
                        <a:cs typeface="Calibri"/>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noProof="0">
                          <a:solidFill>
                            <a:srgbClr val="000000"/>
                          </a:solidFill>
                          <a:latin typeface="Calibri"/>
                          <a:ea typeface="Calibri"/>
                          <a:cs typeface="Calibri"/>
                        </a:rPr>
                        <a:t>103 738 $</a:t>
                      </a:r>
                      <a:endParaRPr lang="fr-FR" sz="1100" noProof="0">
                        <a:latin typeface="Calibri"/>
                        <a:ea typeface="Calibri"/>
                        <a:cs typeface="Calibri"/>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lgn="ctr">
                        <a:buNone/>
                      </a:pPr>
                      <a:r>
                        <a:rPr lang="fr-FR" sz="1100" b="0" noProof="0">
                          <a:solidFill>
                            <a:schemeClr val="tx2">
                              <a:lumMod val="49000"/>
                            </a:schemeClr>
                          </a:solidFill>
                          <a:latin typeface="Calibri"/>
                          <a:ea typeface="Calibri"/>
                          <a:cs typeface="Calibri"/>
                        </a:rPr>
                        <a:t>0.0084</a:t>
                      </a: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fr-FR" sz="1100" b="1" noProof="0" dirty="0">
                          <a:solidFill>
                            <a:srgbClr val="000000"/>
                          </a:solidFill>
                          <a:latin typeface="Calibri" pitchFamily="34" charset="0"/>
                          <a:ea typeface="Calibri" pitchFamily="34" charset="-122"/>
                          <a:cs typeface="Calibri" pitchFamily="34" charset="-120"/>
                        </a:rPr>
                        <a:t>Lasso (alpha = 1000)</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CFDF5"/>
                    </a:solidFill>
                  </a:tcPr>
                </a:tc>
                <a:tc>
                  <a:txBody>
                    <a:bodyPr/>
                    <a:lstStyle/>
                    <a:p>
                      <a:pPr marL="0" indent="0" algn="ctr">
                        <a:buNone/>
                      </a:pPr>
                      <a:r>
                        <a:rPr lang="fr-FR" sz="1100" b="0" noProof="0">
                          <a:solidFill>
                            <a:srgbClr val="000000"/>
                          </a:solidFill>
                          <a:latin typeface="Calibri"/>
                          <a:ea typeface="Calibri"/>
                          <a:cs typeface="Calibri"/>
                        </a:rPr>
                        <a:t>0.9818</a:t>
                      </a:r>
                      <a:endParaRPr lang="fr-FR" sz="1100" b="0" noProof="0">
                        <a:latin typeface="Calibri"/>
                        <a:ea typeface="Calibri"/>
                        <a:cs typeface="Calibri"/>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CFDF5"/>
                    </a:solidFill>
                  </a:tcPr>
                </a:tc>
                <a:tc>
                  <a:txBody>
                    <a:bodyPr/>
                    <a:lstStyle/>
                    <a:p>
                      <a:pPr marL="0" indent="0" algn="ctr">
                        <a:buNone/>
                      </a:pPr>
                      <a:r>
                        <a:rPr lang="fr-FR" sz="1100" b="0" noProof="0">
                          <a:solidFill>
                            <a:schemeClr val="tx1"/>
                          </a:solidFill>
                          <a:latin typeface="Calibri"/>
                          <a:ea typeface="Calibri"/>
                          <a:cs typeface="Calibri"/>
                        </a:rPr>
                        <a:t>0.7968</a:t>
                      </a: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CFDF5"/>
                    </a:solidFill>
                  </a:tcPr>
                </a:tc>
                <a:tc>
                  <a:txBody>
                    <a:bodyPr/>
                    <a:lstStyle/>
                    <a:p>
                      <a:pPr marL="0" indent="0" algn="ctr">
                        <a:buNone/>
                      </a:pPr>
                      <a:r>
                        <a:rPr lang="fr-FR" sz="1100" b="1" noProof="0">
                          <a:solidFill>
                            <a:srgbClr val="059669"/>
                          </a:solidFill>
                          <a:latin typeface="Calibri"/>
                          <a:ea typeface="Calibri"/>
                          <a:cs typeface="Calibri"/>
                        </a:rPr>
                        <a:t>76 369 $</a:t>
                      </a:r>
                      <a:endParaRPr lang="fr-FR" sz="1100" noProof="0">
                        <a:latin typeface="Calibri"/>
                        <a:ea typeface="Calibri"/>
                        <a:cs typeface="Calibri"/>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CFDF5"/>
                    </a:solidFill>
                  </a:tcPr>
                </a:tc>
                <a:tc>
                  <a:txBody>
                    <a:bodyPr/>
                    <a:lstStyle/>
                    <a:p>
                      <a:pPr marL="0" indent="0" algn="ctr">
                        <a:buNone/>
                      </a:pPr>
                      <a:r>
                        <a:rPr lang="fr-FR" sz="1100" b="1" noProof="0">
                          <a:solidFill>
                            <a:srgbClr val="059669"/>
                          </a:solidFill>
                          <a:latin typeface="Calibri"/>
                          <a:ea typeface="Calibri"/>
                          <a:cs typeface="Calibri"/>
                        </a:rPr>
                        <a:t>101 263 $</a:t>
                      </a:r>
                      <a:endParaRPr lang="fr-FR" sz="1100" noProof="0">
                        <a:latin typeface="Calibri"/>
                        <a:ea typeface="Calibri"/>
                        <a:cs typeface="Calibri"/>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CFDF5"/>
                    </a:solidFill>
                  </a:tcPr>
                </a:tc>
                <a:tc>
                  <a:txBody>
                    <a:bodyPr/>
                    <a:lstStyle/>
                    <a:p>
                      <a:pPr marL="0" indent="0" algn="ctr">
                        <a:buNone/>
                      </a:pPr>
                      <a:r>
                        <a:rPr lang="fr-FR" sz="1100" b="1" noProof="0">
                          <a:solidFill>
                            <a:srgbClr val="059669"/>
                          </a:solidFill>
                          <a:latin typeface="Calibri"/>
                          <a:ea typeface="Calibri"/>
                          <a:cs typeface="Calibri"/>
                        </a:rPr>
                        <a:t>0.0050</a:t>
                      </a:r>
                      <a:endParaRPr lang="fr-FR" sz="1100" noProof="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CFDF5"/>
                    </a:solidFill>
                  </a:tcPr>
                </a:tc>
                <a:extLst>
                  <a:ext uri="{0D108BD9-81ED-4DB2-BD59-A6C34878D82A}">
                    <a16:rowId xmlns:a16="http://schemas.microsoft.com/office/drawing/2014/main" val="10003"/>
                  </a:ext>
                </a:extLst>
              </a:tr>
            </a:tbl>
          </a:graphicData>
        </a:graphic>
      </p:graphicFrame>
      <p:sp>
        <p:nvSpPr>
          <p:cNvPr id="8" name="Text 4"/>
          <p:cNvSpPr/>
          <p:nvPr/>
        </p:nvSpPr>
        <p:spPr>
          <a:xfrm>
            <a:off x="4716780" y="2514600"/>
            <a:ext cx="4152900" cy="1935480"/>
          </a:xfrm>
          <a:prstGeom prst="rect">
            <a:avLst/>
          </a:prstGeom>
          <a:noFill/>
          <a:ln/>
        </p:spPr>
        <p:txBody>
          <a:bodyPr wrap="square" lIns="0" tIns="0" rIns="0" bIns="0" rtlCol="0" anchor="ctr"/>
          <a:lstStyle/>
          <a:p>
            <a:r>
              <a:rPr lang="fr-FR" sz="1100">
                <a:solidFill>
                  <a:schemeClr val="tx2">
                    <a:lumMod val="49000"/>
                  </a:schemeClr>
                </a:solidFill>
              </a:rPr>
              <a:t>Ridge réduit l'erreur MAE de 4.6%.</a:t>
            </a:r>
            <a:endParaRPr lang="fr-FR" sz="1100">
              <a:solidFill>
                <a:schemeClr val="tx2">
                  <a:lumMod val="49000"/>
                </a:schemeClr>
              </a:solidFill>
              <a:ea typeface="Calibri"/>
              <a:cs typeface="Calibri"/>
            </a:endParaRPr>
          </a:p>
          <a:p>
            <a:endParaRPr lang="fr-FR" sz="1100" dirty="0">
              <a:solidFill>
                <a:schemeClr val="tx2">
                  <a:lumMod val="49000"/>
                </a:schemeClr>
              </a:solidFill>
              <a:ea typeface="Calibri"/>
              <a:cs typeface="Calibri"/>
            </a:endParaRPr>
          </a:p>
          <a:p>
            <a:r>
              <a:rPr lang="fr-FR" sz="1100">
                <a:solidFill>
                  <a:schemeClr val="tx2">
                    <a:lumMod val="49000"/>
                  </a:schemeClr>
                </a:solidFill>
                <a:ea typeface="Calibri"/>
                <a:cs typeface="Calibri"/>
              </a:rPr>
              <a:t>Lasso la réduit de 12.6%.</a:t>
            </a:r>
            <a:endParaRPr lang="fr-FR" sz="1100" noProof="0" dirty="0">
              <a:solidFill>
                <a:schemeClr val="tx2">
                  <a:lumMod val="49000"/>
                </a:schemeClr>
              </a:solidFill>
              <a:ea typeface="Calibri"/>
              <a:cs typeface="Calibri"/>
            </a:endParaRPr>
          </a:p>
          <a:p>
            <a:endParaRPr lang="fr-FR" sz="1200" b="1" dirty="0">
              <a:solidFill>
                <a:srgbClr val="1E2761"/>
              </a:solidFill>
              <a:ea typeface="Calibri"/>
              <a:cs typeface="Calibri"/>
            </a:endParaRPr>
          </a:p>
        </p:txBody>
      </p:sp>
      <p:pic>
        <p:nvPicPr>
          <p:cNvPr id="5" name="Picture 4">
            <a:extLst>
              <a:ext uri="{FF2B5EF4-FFF2-40B4-BE49-F238E27FC236}">
                <a16:creationId xmlns:a16="http://schemas.microsoft.com/office/drawing/2014/main" id="{FC0286C1-C56C-5EA3-1A5D-EB9C5E704A3F}"/>
              </a:ext>
            </a:extLst>
          </p:cNvPr>
          <p:cNvPicPr>
            <a:picLocks noChangeAspect="1"/>
          </p:cNvPicPr>
          <p:nvPr/>
        </p:nvPicPr>
        <p:blipFill>
          <a:blip r:embed="rId3"/>
          <a:stretch>
            <a:fillRect/>
          </a:stretch>
        </p:blipFill>
        <p:spPr>
          <a:xfrm>
            <a:off x="105728" y="2267902"/>
            <a:ext cx="4467225" cy="28784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txBody>
          <a:bodyPr/>
          <a:lstStyle/>
          <a:p>
            <a:endParaRPr lang="fr-FR" noProof="0" dirty="0"/>
          </a:p>
        </p:txBody>
      </p:sp>
      <p:sp>
        <p:nvSpPr>
          <p:cNvPr id="3" name="Text 1"/>
          <p:cNvSpPr/>
          <p:nvPr/>
        </p:nvSpPr>
        <p:spPr>
          <a:xfrm>
            <a:off x="365760" y="73152"/>
            <a:ext cx="8412480" cy="502920"/>
          </a:xfrm>
          <a:prstGeom prst="rect">
            <a:avLst/>
          </a:prstGeom>
          <a:noFill/>
          <a:ln/>
        </p:spPr>
        <p:txBody>
          <a:bodyPr wrap="square" lIns="0" tIns="0" rIns="0" bIns="0" rtlCol="0" anchor="ctr"/>
          <a:lstStyle/>
          <a:p>
            <a:pPr marL="0" indent="0">
              <a:buNone/>
            </a:pPr>
            <a:r>
              <a:rPr lang="fr-FR" sz="2200" b="1" noProof="0" dirty="0">
                <a:solidFill>
                  <a:srgbClr val="FFFFFF"/>
                </a:solidFill>
                <a:latin typeface="Calibri" pitchFamily="34" charset="0"/>
                <a:ea typeface="Calibri" pitchFamily="34" charset="-122"/>
                <a:cs typeface="Calibri" pitchFamily="34" charset="-120"/>
              </a:rPr>
              <a:t>08 - Conclusions et recommandations</a:t>
            </a:r>
            <a:endParaRPr lang="fr-FR" sz="2200" noProof="0" dirty="0"/>
          </a:p>
        </p:txBody>
      </p:sp>
      <p:sp>
        <p:nvSpPr>
          <p:cNvPr id="4" name="Shape 2"/>
          <p:cNvSpPr/>
          <p:nvPr/>
        </p:nvSpPr>
        <p:spPr>
          <a:xfrm>
            <a:off x="274320" y="804672"/>
            <a:ext cx="8595360" cy="640080"/>
          </a:xfrm>
          <a:prstGeom prst="rect">
            <a:avLst/>
          </a:prstGeom>
          <a:solidFill>
            <a:srgbClr val="059669">
              <a:alpha val="12000"/>
            </a:srgbClr>
          </a:solidFill>
          <a:ln w="12700">
            <a:solidFill>
              <a:srgbClr val="059669"/>
            </a:solidFill>
            <a:prstDash val="solid"/>
          </a:ln>
        </p:spPr>
        <p:txBody>
          <a:bodyPr/>
          <a:lstStyle/>
          <a:p>
            <a:endParaRPr lang="fr-FR" noProof="0" dirty="0"/>
          </a:p>
        </p:txBody>
      </p:sp>
      <p:sp>
        <p:nvSpPr>
          <p:cNvPr id="5" name="Text 3"/>
          <p:cNvSpPr/>
          <p:nvPr/>
        </p:nvSpPr>
        <p:spPr>
          <a:xfrm>
            <a:off x="457200" y="868680"/>
            <a:ext cx="8229600" cy="457200"/>
          </a:xfrm>
          <a:prstGeom prst="rect">
            <a:avLst/>
          </a:prstGeom>
          <a:noFill/>
          <a:ln/>
        </p:spPr>
        <p:txBody>
          <a:bodyPr wrap="square" lIns="0" tIns="0" rIns="0" bIns="0" rtlCol="0" anchor="ctr"/>
          <a:lstStyle/>
          <a:p>
            <a:r>
              <a:rPr lang="fr-FR" sz="1100" b="1" noProof="0">
                <a:solidFill>
                  <a:srgbClr val="065F46"/>
                </a:solidFill>
                <a:latin typeface="Calibri"/>
                <a:ea typeface="Calibri"/>
                <a:cs typeface="Calibri"/>
              </a:rPr>
              <a:t>Modèle recommandé : Lasso (alpha = 1000) - MAE et RMSE les plus faibles, sélection automatique de variables</a:t>
            </a:r>
            <a:r>
              <a:rPr lang="fr-FR" sz="1100" b="1">
                <a:solidFill>
                  <a:srgbClr val="065F46"/>
                </a:solidFill>
                <a:latin typeface="Calibri"/>
                <a:ea typeface="Calibri"/>
                <a:cs typeface="Calibri"/>
              </a:rPr>
              <a:t>, modèle moins </a:t>
            </a:r>
            <a:r>
              <a:rPr lang="fr-FR" sz="1100" b="1" err="1">
                <a:solidFill>
                  <a:srgbClr val="065F46"/>
                </a:solidFill>
                <a:latin typeface="Calibri"/>
                <a:ea typeface="Calibri"/>
                <a:cs typeface="Calibri"/>
              </a:rPr>
              <a:t>comple</a:t>
            </a:r>
            <a:r>
              <a:rPr lang="fr-FR" sz="1100" b="1">
                <a:solidFill>
                  <a:srgbClr val="065F46"/>
                </a:solidFill>
                <a:latin typeface="Calibri"/>
                <a:ea typeface="Calibri"/>
                <a:cs typeface="Calibri"/>
              </a:rPr>
              <a:t>xe.</a:t>
            </a:r>
            <a:endParaRPr lang="fr-FR" sz="1100" noProof="0">
              <a:latin typeface="Calibri"/>
              <a:ea typeface="Calibri"/>
              <a:cs typeface="Calibri"/>
            </a:endParaRPr>
          </a:p>
        </p:txBody>
      </p:sp>
      <p:sp>
        <p:nvSpPr>
          <p:cNvPr id="6" name="Shape 4"/>
          <p:cNvSpPr/>
          <p:nvPr/>
        </p:nvSpPr>
        <p:spPr>
          <a:xfrm>
            <a:off x="274320" y="1554480"/>
            <a:ext cx="4023360" cy="329184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7" name="Shape 5"/>
          <p:cNvSpPr/>
          <p:nvPr/>
        </p:nvSpPr>
        <p:spPr>
          <a:xfrm>
            <a:off x="274320" y="1554480"/>
            <a:ext cx="4023360" cy="384048"/>
          </a:xfrm>
          <a:prstGeom prst="rect">
            <a:avLst/>
          </a:prstGeom>
          <a:solidFill>
            <a:srgbClr val="1E2761"/>
          </a:solidFill>
          <a:ln w="12700">
            <a:solidFill>
              <a:srgbClr val="1E2761"/>
            </a:solidFill>
            <a:prstDash val="solid"/>
          </a:ln>
        </p:spPr>
        <p:txBody>
          <a:bodyPr/>
          <a:lstStyle/>
          <a:p>
            <a:endParaRPr lang="fr-FR" noProof="0" dirty="0"/>
          </a:p>
        </p:txBody>
      </p:sp>
      <p:sp>
        <p:nvSpPr>
          <p:cNvPr id="8" name="Text 6"/>
          <p:cNvSpPr/>
          <p:nvPr/>
        </p:nvSpPr>
        <p:spPr>
          <a:xfrm>
            <a:off x="320040" y="1572768"/>
            <a:ext cx="3931920" cy="347472"/>
          </a:xfrm>
          <a:prstGeom prst="rect">
            <a:avLst/>
          </a:prstGeom>
          <a:noFill/>
          <a:ln/>
        </p:spPr>
        <p:txBody>
          <a:bodyPr wrap="square" lIns="0" tIns="0" rIns="0" bIns="0" rtlCol="0" anchor="ctr"/>
          <a:lstStyle/>
          <a:p>
            <a:pPr marL="0" indent="0">
              <a:buNone/>
            </a:pPr>
            <a:r>
              <a:rPr lang="fr-FR" sz="1300" b="1" noProof="0" dirty="0">
                <a:solidFill>
                  <a:srgbClr val="FFFFFF"/>
                </a:solidFill>
                <a:latin typeface="Calibri" pitchFamily="34" charset="0"/>
                <a:ea typeface="Calibri" pitchFamily="34" charset="-122"/>
                <a:cs typeface="Calibri" pitchFamily="34" charset="-120"/>
              </a:rPr>
              <a:t>Variables les plus importantes</a:t>
            </a:r>
            <a:endParaRPr lang="fr-FR" sz="1300" noProof="0" dirty="0"/>
          </a:p>
        </p:txBody>
      </p:sp>
      <p:sp>
        <p:nvSpPr>
          <p:cNvPr id="11" name="Text 9"/>
          <p:cNvSpPr/>
          <p:nvPr/>
        </p:nvSpPr>
        <p:spPr>
          <a:xfrm>
            <a:off x="795528" y="2048256"/>
            <a:ext cx="1371600" cy="292608"/>
          </a:xfrm>
          <a:prstGeom prst="rect">
            <a:avLst/>
          </a:prstGeom>
          <a:noFill/>
          <a:ln/>
        </p:spPr>
        <p:txBody>
          <a:bodyPr wrap="square" lIns="0" tIns="0" rIns="0" bIns="0" rtlCol="0" anchor="ctr"/>
          <a:lstStyle/>
          <a:p>
            <a:pPr marL="0" indent="0">
              <a:buNone/>
            </a:pPr>
            <a:r>
              <a:rPr lang="fr-FR" sz="1100" b="1" noProof="0" dirty="0">
                <a:solidFill>
                  <a:srgbClr val="111827"/>
                </a:solidFill>
                <a:latin typeface="Calibri" pitchFamily="34" charset="0"/>
                <a:ea typeface="Calibri" pitchFamily="34" charset="-122"/>
                <a:cs typeface="Calibri" pitchFamily="34" charset="-120"/>
              </a:rPr>
              <a:t>Store</a:t>
            </a:r>
            <a:endParaRPr lang="fr-FR" sz="1100" noProof="0" dirty="0"/>
          </a:p>
        </p:txBody>
      </p:sp>
      <p:sp>
        <p:nvSpPr>
          <p:cNvPr id="12" name="Text 10"/>
          <p:cNvSpPr/>
          <p:nvPr/>
        </p:nvSpPr>
        <p:spPr>
          <a:xfrm>
            <a:off x="795528" y="2322576"/>
            <a:ext cx="3337560" cy="256032"/>
          </a:xfrm>
          <a:prstGeom prst="rect">
            <a:avLst/>
          </a:prstGeom>
          <a:noFill/>
          <a:ln/>
        </p:spPr>
        <p:txBody>
          <a:bodyPr wrap="square" lIns="0" tIns="0" rIns="0" bIns="0" rtlCol="0" anchor="ctr"/>
          <a:lstStyle/>
          <a:p>
            <a:pPr marL="0" indent="0">
              <a:buNone/>
            </a:pPr>
            <a:r>
              <a:rPr lang="fr-FR" sz="950" noProof="0" dirty="0">
                <a:solidFill>
                  <a:srgbClr val="6B7280"/>
                </a:solidFill>
                <a:latin typeface="Calibri" pitchFamily="34" charset="0"/>
                <a:ea typeface="Calibri" pitchFamily="34" charset="-122"/>
                <a:cs typeface="Calibri" pitchFamily="34" charset="-120"/>
              </a:rPr>
              <a:t>Facteur dominant - hétérogénéité forte entre magasins</a:t>
            </a:r>
            <a:endParaRPr lang="fr-FR" sz="950" noProof="0" dirty="0"/>
          </a:p>
        </p:txBody>
      </p:sp>
      <p:sp>
        <p:nvSpPr>
          <p:cNvPr id="15" name="Text 13"/>
          <p:cNvSpPr/>
          <p:nvPr/>
        </p:nvSpPr>
        <p:spPr>
          <a:xfrm>
            <a:off x="795528" y="2596896"/>
            <a:ext cx="1371600" cy="292608"/>
          </a:xfrm>
          <a:prstGeom prst="rect">
            <a:avLst/>
          </a:prstGeom>
          <a:noFill/>
          <a:ln/>
        </p:spPr>
        <p:txBody>
          <a:bodyPr wrap="square" lIns="0" tIns="0" rIns="0" bIns="0" rtlCol="0" anchor="ctr"/>
          <a:lstStyle/>
          <a:p>
            <a:pPr marL="0" indent="0">
              <a:buNone/>
            </a:pPr>
            <a:r>
              <a:rPr lang="fr-FR" sz="1100" b="1" dirty="0" err="1">
                <a:solidFill>
                  <a:srgbClr val="111827"/>
                </a:solidFill>
                <a:latin typeface="Calibri"/>
                <a:ea typeface="Calibri"/>
                <a:cs typeface="Calibri"/>
              </a:rPr>
              <a:t>Month</a:t>
            </a:r>
            <a:r>
              <a:rPr lang="fr-FR" sz="1100" b="1" dirty="0">
                <a:solidFill>
                  <a:srgbClr val="111827"/>
                </a:solidFill>
                <a:latin typeface="Calibri"/>
                <a:ea typeface="Calibri"/>
                <a:cs typeface="Calibri"/>
              </a:rPr>
              <a:t>/</a:t>
            </a:r>
            <a:r>
              <a:rPr lang="fr-FR" sz="1100" b="1" dirty="0" err="1">
                <a:solidFill>
                  <a:srgbClr val="111827"/>
                </a:solidFill>
                <a:latin typeface="Calibri"/>
                <a:ea typeface="Calibri"/>
                <a:cs typeface="Calibri"/>
              </a:rPr>
              <a:t>Year</a:t>
            </a:r>
            <a:endParaRPr lang="en-US" dirty="0" err="1"/>
          </a:p>
        </p:txBody>
      </p:sp>
      <p:sp>
        <p:nvSpPr>
          <p:cNvPr id="16" name="Text 14"/>
          <p:cNvSpPr/>
          <p:nvPr/>
        </p:nvSpPr>
        <p:spPr>
          <a:xfrm>
            <a:off x="795528" y="2871216"/>
            <a:ext cx="3337560" cy="256032"/>
          </a:xfrm>
          <a:prstGeom prst="rect">
            <a:avLst/>
          </a:prstGeom>
          <a:noFill/>
          <a:ln/>
        </p:spPr>
        <p:txBody>
          <a:bodyPr wrap="square" lIns="0" tIns="0" rIns="0" bIns="0" rtlCol="0" anchor="ctr"/>
          <a:lstStyle/>
          <a:p>
            <a:r>
              <a:rPr lang="fr-FR" sz="1000">
                <a:solidFill>
                  <a:srgbClr val="6B7280"/>
                </a:solidFill>
                <a:latin typeface="Calibri"/>
                <a:ea typeface="Calibri"/>
                <a:cs typeface="Calibri"/>
              </a:rPr>
              <a:t>Facteur dominant - </a:t>
            </a:r>
            <a:r>
              <a:rPr lang="fr-FR" sz="950">
                <a:solidFill>
                  <a:srgbClr val="6B7280"/>
                </a:solidFill>
                <a:latin typeface="Calibri"/>
                <a:ea typeface="Calibri"/>
                <a:cs typeface="Calibri"/>
              </a:rPr>
              <a:t>Tendances saisonnières des</a:t>
            </a:r>
            <a:r>
              <a:rPr lang="fr-FR" sz="950" noProof="0">
                <a:solidFill>
                  <a:srgbClr val="6B7280"/>
                </a:solidFill>
                <a:latin typeface="Calibri"/>
                <a:ea typeface="Calibri"/>
                <a:cs typeface="Calibri"/>
              </a:rPr>
              <a:t> ventes</a:t>
            </a:r>
            <a:endParaRPr lang="fr-FR" sz="950" noProof="0">
              <a:latin typeface="Calibri"/>
              <a:ea typeface="Calibri"/>
              <a:cs typeface="Calibri"/>
            </a:endParaRPr>
          </a:p>
        </p:txBody>
      </p:sp>
      <p:sp>
        <p:nvSpPr>
          <p:cNvPr id="19" name="Text 17"/>
          <p:cNvSpPr/>
          <p:nvPr/>
        </p:nvSpPr>
        <p:spPr>
          <a:xfrm>
            <a:off x="795528" y="3145536"/>
            <a:ext cx="1371600" cy="292608"/>
          </a:xfrm>
          <a:prstGeom prst="rect">
            <a:avLst/>
          </a:prstGeom>
          <a:noFill/>
          <a:ln/>
        </p:spPr>
        <p:txBody>
          <a:bodyPr wrap="square" lIns="0" tIns="0" rIns="0" bIns="0" rtlCol="0" anchor="ctr"/>
          <a:lstStyle/>
          <a:p>
            <a:pPr marL="0" indent="0">
              <a:buNone/>
            </a:pPr>
            <a:r>
              <a:rPr lang="fr-FR" sz="1100" b="1" noProof="0" dirty="0" err="1">
                <a:solidFill>
                  <a:srgbClr val="111827"/>
                </a:solidFill>
                <a:latin typeface="Calibri"/>
                <a:ea typeface="Calibri"/>
                <a:cs typeface="Calibri"/>
              </a:rPr>
              <a:t>Unemployment</a:t>
            </a:r>
            <a:r>
              <a:rPr lang="fr-FR" sz="1100" b="1" dirty="0">
                <a:solidFill>
                  <a:srgbClr val="111827"/>
                </a:solidFill>
                <a:latin typeface="Calibri"/>
                <a:ea typeface="Calibri"/>
                <a:cs typeface="Calibri"/>
              </a:rPr>
              <a:t>/CPI</a:t>
            </a:r>
            <a:endParaRPr lang="fr-FR" sz="1100" noProof="0" dirty="0"/>
          </a:p>
        </p:txBody>
      </p:sp>
      <p:sp>
        <p:nvSpPr>
          <p:cNvPr id="20" name="Text 18"/>
          <p:cNvSpPr/>
          <p:nvPr/>
        </p:nvSpPr>
        <p:spPr>
          <a:xfrm>
            <a:off x="795528" y="3419856"/>
            <a:ext cx="3337560" cy="256032"/>
          </a:xfrm>
          <a:prstGeom prst="rect">
            <a:avLst/>
          </a:prstGeom>
          <a:noFill/>
          <a:ln/>
        </p:spPr>
        <p:txBody>
          <a:bodyPr wrap="square" lIns="0" tIns="0" rIns="0" bIns="0" rtlCol="0" anchor="ctr"/>
          <a:lstStyle/>
          <a:p>
            <a:r>
              <a:rPr lang="fr-FR" sz="950">
                <a:solidFill>
                  <a:srgbClr val="6B7280"/>
                </a:solidFill>
                <a:latin typeface="Calibri"/>
                <a:ea typeface="Calibri"/>
                <a:cs typeface="Calibri"/>
              </a:rPr>
              <a:t>Absorbées par </a:t>
            </a:r>
            <a:r>
              <a:rPr lang="fr-FR" sz="950" err="1">
                <a:solidFill>
                  <a:srgbClr val="6B7280"/>
                </a:solidFill>
                <a:latin typeface="Calibri"/>
                <a:ea typeface="Calibri"/>
                <a:cs typeface="Calibri"/>
              </a:rPr>
              <a:t>Sto</a:t>
            </a:r>
            <a:r>
              <a:rPr lang="fr-FR" sz="950">
                <a:solidFill>
                  <a:srgbClr val="6B7280"/>
                </a:solidFill>
                <a:latin typeface="Calibri"/>
                <a:ea typeface="Calibri"/>
                <a:cs typeface="Calibri"/>
              </a:rPr>
              <a:t>re</a:t>
            </a:r>
            <a:endParaRPr lang="en-US"/>
          </a:p>
        </p:txBody>
      </p:sp>
      <p:sp>
        <p:nvSpPr>
          <p:cNvPr id="27" name="Text 25"/>
          <p:cNvSpPr/>
          <p:nvPr/>
        </p:nvSpPr>
        <p:spPr>
          <a:xfrm>
            <a:off x="795528" y="3755136"/>
            <a:ext cx="1371600" cy="292608"/>
          </a:xfrm>
          <a:prstGeom prst="rect">
            <a:avLst/>
          </a:prstGeom>
          <a:noFill/>
          <a:ln/>
        </p:spPr>
        <p:txBody>
          <a:bodyPr wrap="square" lIns="0" tIns="0" rIns="0" bIns="0" rtlCol="0" anchor="ctr"/>
          <a:lstStyle/>
          <a:p>
            <a:pPr marL="0" indent="0">
              <a:buNone/>
            </a:pPr>
            <a:r>
              <a:rPr lang="fr-FR" sz="1100" b="1" noProof="0" dirty="0">
                <a:solidFill>
                  <a:srgbClr val="111827"/>
                </a:solidFill>
                <a:latin typeface="Calibri" pitchFamily="34" charset="0"/>
                <a:ea typeface="Calibri" pitchFamily="34" charset="-122"/>
                <a:cs typeface="Calibri" pitchFamily="34" charset="-120"/>
              </a:rPr>
              <a:t>Holiday_Flag</a:t>
            </a:r>
            <a:endParaRPr lang="fr-FR" sz="1100" noProof="0" dirty="0"/>
          </a:p>
        </p:txBody>
      </p:sp>
      <p:sp>
        <p:nvSpPr>
          <p:cNvPr id="28" name="Text 26"/>
          <p:cNvSpPr/>
          <p:nvPr/>
        </p:nvSpPr>
        <p:spPr>
          <a:xfrm>
            <a:off x="795528" y="4052316"/>
            <a:ext cx="3337560" cy="256032"/>
          </a:xfrm>
          <a:prstGeom prst="rect">
            <a:avLst/>
          </a:prstGeom>
          <a:noFill/>
          <a:ln/>
        </p:spPr>
        <p:txBody>
          <a:bodyPr wrap="square" lIns="0" tIns="0" rIns="0" bIns="0" rtlCol="0" anchor="ctr"/>
          <a:lstStyle/>
          <a:p>
            <a:r>
              <a:rPr lang="fr-FR" sz="950" dirty="0">
                <a:solidFill>
                  <a:srgbClr val="6B7280"/>
                </a:solidFill>
                <a:latin typeface="Calibri"/>
                <a:ea typeface="Calibri"/>
                <a:cs typeface="Calibri"/>
              </a:rPr>
              <a:t>Absorbée par </a:t>
            </a:r>
            <a:r>
              <a:rPr lang="fr-FR" sz="950" dirty="0" err="1">
                <a:solidFill>
                  <a:srgbClr val="6B7280"/>
                </a:solidFill>
                <a:latin typeface="Calibri"/>
                <a:ea typeface="Calibri"/>
                <a:cs typeface="Calibri"/>
              </a:rPr>
              <a:t>Month</a:t>
            </a:r>
            <a:r>
              <a:rPr lang="fr-FR" sz="950" dirty="0">
                <a:solidFill>
                  <a:srgbClr val="6B7280"/>
                </a:solidFill>
                <a:latin typeface="Calibri"/>
                <a:ea typeface="Calibri"/>
                <a:cs typeface="Calibri"/>
              </a:rPr>
              <a:t>/</a:t>
            </a:r>
            <a:r>
              <a:rPr lang="fr-FR" sz="950" dirty="0" err="1">
                <a:solidFill>
                  <a:srgbClr val="6B7280"/>
                </a:solidFill>
                <a:latin typeface="Calibri"/>
                <a:ea typeface="Calibri"/>
                <a:cs typeface="Calibri"/>
              </a:rPr>
              <a:t>Year</a:t>
            </a:r>
            <a:endParaRPr lang="en-US" dirty="0" err="1"/>
          </a:p>
        </p:txBody>
      </p:sp>
      <p:sp>
        <p:nvSpPr>
          <p:cNvPr id="29" name="Shape 27"/>
          <p:cNvSpPr/>
          <p:nvPr/>
        </p:nvSpPr>
        <p:spPr>
          <a:xfrm>
            <a:off x="4572000" y="1554480"/>
            <a:ext cx="4297680" cy="3291840"/>
          </a:xfrm>
          <a:prstGeom prst="rect">
            <a:avLst/>
          </a:prstGeom>
          <a:solidFill>
            <a:srgbClr val="FFFFFF"/>
          </a:solidFill>
          <a:ln w="12700">
            <a:solidFill>
              <a:srgbClr val="CADCFC"/>
            </a:solidFill>
            <a:prstDash val="solid"/>
          </a:ln>
          <a:effectLst>
            <a:outerShdw blurRad="101600" dist="38100" dir="8100000" algn="bl" rotWithShape="0">
              <a:srgbClr val="000000">
                <a:alpha val="12000"/>
              </a:srgbClr>
            </a:outerShdw>
          </a:effectLst>
        </p:spPr>
        <p:txBody>
          <a:bodyPr/>
          <a:lstStyle/>
          <a:p>
            <a:endParaRPr lang="fr-FR" noProof="0" dirty="0"/>
          </a:p>
        </p:txBody>
      </p:sp>
      <p:sp>
        <p:nvSpPr>
          <p:cNvPr id="30" name="Shape 28"/>
          <p:cNvSpPr/>
          <p:nvPr/>
        </p:nvSpPr>
        <p:spPr>
          <a:xfrm>
            <a:off x="4572000" y="1554480"/>
            <a:ext cx="4297680" cy="384048"/>
          </a:xfrm>
          <a:prstGeom prst="rect">
            <a:avLst/>
          </a:prstGeom>
          <a:solidFill>
            <a:srgbClr val="FFC220"/>
          </a:solidFill>
          <a:ln w="12700">
            <a:solidFill>
              <a:srgbClr val="FFC220"/>
            </a:solidFill>
            <a:prstDash val="solid"/>
          </a:ln>
        </p:spPr>
        <p:txBody>
          <a:bodyPr/>
          <a:lstStyle/>
          <a:p>
            <a:endParaRPr lang="fr-FR" noProof="0" dirty="0"/>
          </a:p>
        </p:txBody>
      </p:sp>
      <p:sp>
        <p:nvSpPr>
          <p:cNvPr id="31" name="Text 29"/>
          <p:cNvSpPr/>
          <p:nvPr/>
        </p:nvSpPr>
        <p:spPr>
          <a:xfrm>
            <a:off x="4617720" y="1572768"/>
            <a:ext cx="4206240" cy="347472"/>
          </a:xfrm>
          <a:prstGeom prst="rect">
            <a:avLst/>
          </a:prstGeom>
          <a:noFill/>
          <a:ln/>
        </p:spPr>
        <p:txBody>
          <a:bodyPr wrap="square" lIns="0" tIns="0" rIns="0" bIns="0" rtlCol="0" anchor="ctr"/>
          <a:lstStyle/>
          <a:p>
            <a:r>
              <a:rPr lang="fr-FR" sz="1300" b="1" dirty="0" err="1">
                <a:solidFill>
                  <a:srgbClr val="1E2761"/>
                </a:solidFill>
                <a:latin typeface="Calibri"/>
                <a:ea typeface="Calibri"/>
                <a:cs typeface="Calibri"/>
              </a:rPr>
              <a:t>Recommendations</a:t>
            </a:r>
            <a:r>
              <a:rPr lang="fr-FR" sz="1300" b="1" dirty="0">
                <a:solidFill>
                  <a:srgbClr val="1E2761"/>
                </a:solidFill>
                <a:latin typeface="Calibri"/>
                <a:ea typeface="Calibri"/>
                <a:cs typeface="Calibri"/>
              </a:rPr>
              <a:t> pour le service marketing</a:t>
            </a:r>
            <a:endParaRPr lang="en-US" dirty="0"/>
          </a:p>
        </p:txBody>
      </p:sp>
      <p:sp>
        <p:nvSpPr>
          <p:cNvPr id="33" name="Text 31"/>
          <p:cNvSpPr/>
          <p:nvPr/>
        </p:nvSpPr>
        <p:spPr>
          <a:xfrm>
            <a:off x="4709160" y="2289048"/>
            <a:ext cx="4107180" cy="1889760"/>
          </a:xfrm>
          <a:prstGeom prst="rect">
            <a:avLst/>
          </a:prstGeom>
          <a:noFill/>
          <a:ln/>
        </p:spPr>
        <p:txBody>
          <a:bodyPr wrap="square" lIns="0" tIns="0" rIns="0" bIns="0" rtlCol="0" anchor="ctr"/>
          <a:lstStyle/>
          <a:p>
            <a:pPr marL="342900" indent="-342900">
              <a:buSzPct val="100000"/>
              <a:buFont typeface="Arial"/>
              <a:buChar char="•"/>
            </a:pPr>
            <a:r>
              <a:rPr lang="fr-FR" sz="1100">
                <a:solidFill>
                  <a:srgbClr val="374151"/>
                </a:solidFill>
                <a:latin typeface="Calibri"/>
                <a:ea typeface="Calibri"/>
                <a:cs typeface="Calibri"/>
              </a:rPr>
              <a:t>Concentrer les budgets promotionnels </a:t>
            </a:r>
            <a:r>
              <a:rPr lang="fr-FR" sz="1100" noProof="0">
                <a:solidFill>
                  <a:srgbClr val="374151"/>
                </a:solidFill>
                <a:latin typeface="Calibri"/>
                <a:ea typeface="Calibri"/>
                <a:cs typeface="Calibri"/>
              </a:rPr>
              <a:t>sur </a:t>
            </a:r>
            <a:r>
              <a:rPr lang="fr-FR" sz="1100">
                <a:solidFill>
                  <a:srgbClr val="374151"/>
                </a:solidFill>
                <a:latin typeface="Calibri"/>
                <a:ea typeface="Calibri"/>
                <a:cs typeface="Calibri"/>
              </a:rPr>
              <a:t>les semaines </a:t>
            </a:r>
            <a:r>
              <a:rPr lang="fr-FR" sz="1100" noProof="0">
                <a:solidFill>
                  <a:srgbClr val="374151"/>
                </a:solidFill>
                <a:latin typeface="Calibri"/>
                <a:ea typeface="Calibri"/>
                <a:cs typeface="Calibri"/>
              </a:rPr>
              <a:t>de </a:t>
            </a:r>
            <a:r>
              <a:rPr lang="fr-FR" sz="1100">
                <a:solidFill>
                  <a:srgbClr val="374151"/>
                </a:solidFill>
                <a:latin typeface="Calibri"/>
                <a:ea typeface="Calibri"/>
                <a:cs typeface="Calibri"/>
              </a:rPr>
              <a:t>fêtes. Planifier les campagnes en avance.</a:t>
            </a:r>
            <a:endParaRPr lang="fr-FR" sz="1100">
              <a:solidFill>
                <a:srgbClr val="000000"/>
              </a:solidFill>
              <a:latin typeface="Calibri"/>
              <a:ea typeface="Calibri"/>
              <a:cs typeface="Calibri"/>
            </a:endParaRPr>
          </a:p>
          <a:p>
            <a:pPr marL="342900" indent="-342900">
              <a:buSzPct val="100000"/>
              <a:buChar char="•"/>
            </a:pPr>
            <a:endParaRPr lang="fr-FR" sz="1100" noProof="0" dirty="0">
              <a:solidFill>
                <a:srgbClr val="374151"/>
              </a:solidFill>
              <a:latin typeface="Calibri"/>
              <a:ea typeface="Calibri"/>
              <a:cs typeface="Calibri"/>
            </a:endParaRPr>
          </a:p>
          <a:p>
            <a:pPr marL="342900" indent="-342900">
              <a:buSzPct val="100000"/>
              <a:buFont typeface="Arial"/>
              <a:buChar char="•"/>
            </a:pPr>
            <a:r>
              <a:rPr lang="fr-FR" sz="1100">
                <a:solidFill>
                  <a:srgbClr val="374151"/>
                </a:solidFill>
                <a:latin typeface="Calibri"/>
                <a:ea typeface="Calibri"/>
                <a:cs typeface="Calibri"/>
              </a:rPr>
              <a:t>Intensifier les promotions dans les bassins d'emploi fragilisés. Adapter la stratégie par zone géographique.</a:t>
            </a:r>
            <a:endParaRPr lang="fr-FR" sz="1100" dirty="0">
              <a:solidFill>
                <a:srgbClr val="374151"/>
              </a:solidFill>
              <a:latin typeface="Calibri"/>
              <a:ea typeface="Calibri"/>
              <a:cs typeface="Calibri"/>
            </a:endParaRPr>
          </a:p>
          <a:p>
            <a:pPr marL="342900" indent="-342900">
              <a:buSzPct val="100000"/>
              <a:buFont typeface="Arial"/>
              <a:buChar char="•"/>
            </a:pPr>
            <a:endParaRPr lang="fr-FR" sz="1100" noProof="0" dirty="0">
              <a:solidFill>
                <a:srgbClr val="374151"/>
              </a:solidFill>
              <a:ea typeface="Calibri"/>
              <a:cs typeface="Calibri"/>
            </a:endParaRPr>
          </a:p>
          <a:p>
            <a:pPr marL="342900" indent="-342900">
              <a:buSzPct val="100000"/>
              <a:buFont typeface="Arial"/>
              <a:buChar char="•"/>
            </a:pPr>
            <a:r>
              <a:rPr lang="fr-FR" sz="1100">
                <a:solidFill>
                  <a:srgbClr val="374151"/>
                </a:solidFill>
                <a:ea typeface="Calibri"/>
                <a:cs typeface="Calibri"/>
              </a:rPr>
              <a:t>Renforcer les offres prix lors des phases d'inflation. Adapter le positionnement sur les produits essentiels.</a:t>
            </a:r>
            <a:endParaRPr lang="fr-FR" sz="1100">
              <a:solidFill>
                <a:srgbClr val="000000"/>
              </a:solidFill>
              <a:ea typeface="Calibri"/>
              <a:cs typeface="Calibri"/>
            </a:endParaRPr>
          </a:p>
          <a:p>
            <a:pPr marL="342900" indent="-342900">
              <a:buSzPct val="100000"/>
              <a:buFont typeface="Arial"/>
              <a:buChar char="•"/>
            </a:pPr>
            <a:endParaRPr lang="fr-FR" sz="900" dirty="0">
              <a:solidFill>
                <a:srgbClr val="374151"/>
              </a:solidFill>
              <a:ea typeface="Calibri"/>
              <a:cs typeface="Calibri"/>
            </a:endParaRPr>
          </a:p>
          <a:p>
            <a:pPr marL="342900" indent="-342900">
              <a:buSzPct val="100000"/>
              <a:buChar char="•"/>
            </a:pPr>
            <a:endParaRPr lang="fr-FR" sz="1050" dirty="0">
              <a:solidFill>
                <a:srgbClr val="374151"/>
              </a:solidFill>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243F"/>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4972050" y="19202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4972050" y="2948940"/>
            <a:ext cx="480060" cy="480060"/>
          </a:xfrm>
          <a:prstGeom prst="rect">
            <a:avLst/>
          </a:prstGeom>
          <a:noFill/>
          <a:ln/>
        </p:spPr>
        <p:txBody>
          <a:bodyPr wrap="square" lIns="0" tIns="0" rIns="0" bIns="0" rtlCol="0" anchor="ct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buNone/>
            </a:pPr>
            <a:endParaRPr lang="fr-FR" sz="225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8572500" y="4841748"/>
            <a:ext cx="480060" cy="205740"/>
          </a:xfrm>
          <a:prstGeom prst="rect">
            <a:avLst/>
          </a:prstGeom>
          <a:extLst>
            <a:ext uri="{C572A759-6A51-4108-AA02-DFA0A04FC94B}">
              <ma14:wrappingTextBoxFlag xmlns="" xmlns:ma14="http://schemas.microsoft.com/office/mac/drawingml/2011/main" val="0"/>
            </a:ext>
          </a:extLst>
        </p:spPr>
        <p:txBody>
          <a:bodyPr/>
          <a:lstStyle>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algn="r"/>
            <a:fld id="{F7021451-1387-4CA6-816F-3879F97B5CBC}" type="slidenum">
              <a:rPr lang="fr-FR" b="0" noProof="0" smtClean="0"/>
              <a:t>14</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1565028" y="1799274"/>
            <a:ext cx="5104682" cy="1038746"/>
          </a:xfrm>
          <a:prstGeom prst="rect">
            <a:avLst/>
          </a:prstGeom>
          <a:noFill/>
        </p:spPr>
        <p:txBody>
          <a:bodyPr wrap="square" lIns="68580" tIns="34290" rIns="68580" bIns="34290" rtlCol="0" anchor="t">
            <a:spAutoFit/>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fr-FR" sz="2100">
                <a:solidFill>
                  <a:schemeClr val="bg1"/>
                </a:solidFill>
                <a:latin typeface="Cambria"/>
                <a:ea typeface="Cambria"/>
              </a:rPr>
              <a:t>Merci</a:t>
            </a:r>
            <a:r>
              <a:rPr lang="fr-FR" sz="2100" noProof="0">
                <a:solidFill>
                  <a:schemeClr val="bg1"/>
                </a:solidFill>
                <a:latin typeface="Cambria"/>
                <a:ea typeface="Cambria"/>
              </a:rPr>
              <a:t> de votre attention !</a:t>
            </a:r>
            <a:endParaRPr lang="fr-FR" sz="1013">
              <a:solidFill>
                <a:schemeClr val="bg1"/>
              </a:solidFill>
              <a:latin typeface="Cambria"/>
              <a:ea typeface="Cambria"/>
            </a:endParaRPr>
          </a:p>
          <a:p>
            <a:pPr algn="ctr"/>
            <a:endParaRPr lang="fr-FR" sz="2100" dirty="0">
              <a:solidFill>
                <a:schemeClr val="bg1"/>
              </a:solidFill>
              <a:latin typeface="Cambria"/>
              <a:ea typeface="Cambria"/>
            </a:endParaRPr>
          </a:p>
          <a:p>
            <a:pPr algn="ctr"/>
            <a:r>
              <a:rPr lang="fr-FR" sz="2100">
                <a:solidFill>
                  <a:schemeClr val="bg1"/>
                </a:solidFill>
                <a:latin typeface="Cambria"/>
                <a:ea typeface="Cambria"/>
              </a:rPr>
              <a:t>Des questions?</a:t>
            </a:r>
            <a:r>
              <a:rPr lang="fr-FR" sz="1000" noProof="0" dirty="0"/>
              <a:t> </a:t>
            </a:r>
            <a:endParaRPr lang="fr-FR" sz="1000" noProof="0" dirty="0">
              <a:ea typeface="Calibri"/>
              <a:cs typeface="Calibri"/>
            </a:endParaRPr>
          </a:p>
        </p:txBody>
      </p:sp>
      <p:sp>
        <p:nvSpPr>
          <p:cNvPr id="2" name="Shape 0">
            <a:extLst>
              <a:ext uri="{FF2B5EF4-FFF2-40B4-BE49-F238E27FC236}">
                <a16:creationId xmlns:a16="http://schemas.microsoft.com/office/drawing/2014/main" id="{AB2DBBB2-0054-B161-A744-D06F2F1E22AC}"/>
              </a:ext>
            </a:extLst>
          </p:cNvPr>
          <p:cNvSpPr/>
          <p:nvPr/>
        </p:nvSpPr>
        <p:spPr>
          <a:xfrm>
            <a:off x="2309076" y="526444"/>
            <a:ext cx="3566160" cy="3566160"/>
          </a:xfrm>
          <a:prstGeom prst="ellipse">
            <a:avLst/>
          </a:prstGeom>
          <a:solidFill>
            <a:srgbClr val="1FA8B8">
              <a:alpha val="13725"/>
            </a:srgbClr>
          </a:solidFill>
          <a:ln/>
        </p:spPr>
        <p:txBody>
          <a:bodyPr/>
          <a:lstStyle>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fr-FR" sz="1013" noProof="0" dirty="0"/>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1440</Words>
  <Application>Microsoft Office PowerPoint</Application>
  <PresentationFormat>On-screen Show (16:9)</PresentationFormat>
  <Paragraphs>266</Paragraphs>
  <Slides>14</Slides>
  <Notes>9</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Walmart - Prediction des ventes hebdomadaires</dc:title>
  <dc:subject>PptxGenJS Presentation</dc:subject>
  <dc:creator>PptxGenJS</dc:creator>
  <cp:lastModifiedBy>Aicha FATHELLAH</cp:lastModifiedBy>
  <cp:revision>378</cp:revision>
  <dcterms:created xsi:type="dcterms:W3CDTF">2026-05-13T19:11:33Z</dcterms:created>
  <dcterms:modified xsi:type="dcterms:W3CDTF">2026-10-25T01:03:45Z</dcterms:modified>
</cp:coreProperties>
</file>