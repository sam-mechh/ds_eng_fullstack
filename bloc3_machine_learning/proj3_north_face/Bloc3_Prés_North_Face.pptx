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1" dt="2026-10-24T18:45:39.824"/>
    <p1510:client id="{56E43221-AEC0-0116-FC5C-52519F3605F3}" v="49" dt="2026-10-24T19:47:32.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B3FF81F-9985-4107-AD7F-0581C5AF6BE3}" type="datetimeFigureOut">
              <a:t>24/10/2026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043106B1-F40B-4534-A39C-562C456CD374}" type="slidenum">
              <a:t>‹N°›</a:t>
            </a:fld>
            <a:endParaRPr lang="en-US"/>
          </a:p>
        </p:txBody>
      </p:sp>
    </p:spTree>
    <p:extLst>
      <p:ext uri="{BB962C8B-B14F-4D97-AF65-F5344CB8AC3E}">
        <p14:creationId xmlns:p14="http://schemas.microsoft.com/office/powerpoint/2010/main" val="4239258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192C"/>
          </a:solidFill>
          <a:ln w="12700">
            <a:solidFill>
              <a:srgbClr val="E8192C"/>
            </a:solidFill>
            <a:prstDash val="solid"/>
          </a:ln>
        </p:spPr>
      </p:sp>
      <p:sp>
        <p:nvSpPr>
          <p:cNvPr id="3" name="Text 1"/>
          <p:cNvSpPr/>
          <p:nvPr/>
        </p:nvSpPr>
        <p:spPr>
          <a:xfrm>
            <a:off x="845820" y="1135380"/>
            <a:ext cx="8321040" cy="731520"/>
          </a:xfrm>
          <a:prstGeom prst="rect">
            <a:avLst/>
          </a:prstGeom>
          <a:noFill/>
          <a:ln/>
        </p:spPr>
        <p:txBody>
          <a:bodyPr wrap="square" lIns="0" tIns="0" rIns="0" bIns="0" rtlCol="0" anchor="ctr"/>
          <a:lstStyle/>
          <a:p>
            <a:pPr marL="0" indent="0">
              <a:buNone/>
            </a:pPr>
            <a:r>
              <a:rPr lang="en-US" sz="4000" b="1" kern="0" spc="400" dirty="0">
                <a:solidFill>
                  <a:srgbClr val="FFFFFF"/>
                </a:solidFill>
                <a:latin typeface="Arial Black" pitchFamily="34" charset="0"/>
                <a:ea typeface="Arial Black" pitchFamily="34" charset="-122"/>
                <a:cs typeface="Arial Black" pitchFamily="34" charset="-120"/>
              </a:rPr>
              <a:t>THE NORTH FACE</a:t>
            </a:r>
            <a:endParaRPr lang="en-US" sz="4000" dirty="0"/>
          </a:p>
        </p:txBody>
      </p:sp>
      <p:sp>
        <p:nvSpPr>
          <p:cNvPr id="4" name="Text 2"/>
          <p:cNvSpPr/>
          <p:nvPr/>
        </p:nvSpPr>
        <p:spPr>
          <a:xfrm>
            <a:off x="845820" y="2004060"/>
            <a:ext cx="8321040" cy="502920"/>
          </a:xfrm>
          <a:prstGeom prst="rect">
            <a:avLst/>
          </a:prstGeom>
          <a:noFill/>
          <a:ln/>
        </p:spPr>
        <p:txBody>
          <a:bodyPr wrap="square" lIns="0" tIns="0" rIns="0" bIns="0" rtlCol="0" anchor="ctr"/>
          <a:lstStyle/>
          <a:p>
            <a:pPr marL="0" indent="0">
              <a:buNone/>
            </a:pPr>
            <a:r>
              <a:rPr lang="en-US" sz="2200" dirty="0">
                <a:solidFill>
                  <a:srgbClr val="E8192C"/>
                </a:solidFill>
                <a:latin typeface="Calibri" pitchFamily="34" charset="0"/>
                <a:ea typeface="Calibri" pitchFamily="34" charset="-122"/>
                <a:cs typeface="Calibri" pitchFamily="34" charset="-120"/>
              </a:rPr>
              <a:t>Commerce électronique : dynamiser les ventes en ligne</a:t>
            </a:r>
            <a:endParaRPr lang="en-US" sz="2200" dirty="0"/>
          </a:p>
        </p:txBody>
      </p:sp>
      <p:sp>
        <p:nvSpPr>
          <p:cNvPr id="5" name="Shape 3"/>
          <p:cNvSpPr/>
          <p:nvPr/>
        </p:nvSpPr>
        <p:spPr>
          <a:xfrm>
            <a:off x="845820" y="2598420"/>
            <a:ext cx="4114800" cy="36576"/>
          </a:xfrm>
          <a:prstGeom prst="rect">
            <a:avLst/>
          </a:prstGeom>
          <a:solidFill>
            <a:srgbClr val="CCCCCC"/>
          </a:solidFill>
          <a:ln w="12700">
            <a:solidFill>
              <a:srgbClr val="CCCCCC"/>
            </a:solidFill>
            <a:prstDash val="solid"/>
          </a:ln>
        </p:spPr>
      </p:sp>
      <p:sp>
        <p:nvSpPr>
          <p:cNvPr id="6" name="Text 4"/>
          <p:cNvSpPr/>
          <p:nvPr/>
        </p:nvSpPr>
        <p:spPr>
          <a:xfrm>
            <a:off x="845820" y="2781300"/>
            <a:ext cx="8321040" cy="365760"/>
          </a:xfrm>
          <a:prstGeom prst="rect">
            <a:avLst/>
          </a:prstGeom>
          <a:noFill/>
          <a:ln/>
        </p:spPr>
        <p:txBody>
          <a:bodyPr wrap="square" lIns="0" tIns="0" rIns="0" bIns="0" rtlCol="0" anchor="ctr"/>
          <a:lstStyle/>
          <a:p>
            <a:pPr marL="0" indent="0">
              <a:buNone/>
            </a:pPr>
            <a:r>
              <a:rPr lang="en-US" sz="1400" dirty="0">
                <a:solidFill>
                  <a:srgbClr val="CCCCCC"/>
                </a:solidFill>
                <a:latin typeface="Calibri" pitchFamily="34" charset="0"/>
                <a:ea typeface="Calibri" pitchFamily="34" charset="-122"/>
                <a:cs typeface="Calibri" pitchFamily="34" charset="-120"/>
              </a:rPr>
              <a:t>Apprentissage automatique appliqué au catalogue produits</a:t>
            </a:r>
            <a:endParaRPr lang="en-US" sz="1400" dirty="0"/>
          </a:p>
        </p:txBody>
      </p:sp>
      <p:sp>
        <p:nvSpPr>
          <p:cNvPr id="23" name="ZoneTexte 22">
            <a:extLst>
              <a:ext uri="{FF2B5EF4-FFF2-40B4-BE49-F238E27FC236}">
                <a16:creationId xmlns:a16="http://schemas.microsoft.com/office/drawing/2014/main" id="{7CC9F6F9-D49A-2925-3000-D200589D1DA3}"/>
              </a:ext>
            </a:extLst>
          </p:cNvPr>
          <p:cNvSpPr txBox="1"/>
          <p:nvPr/>
        </p:nvSpPr>
        <p:spPr>
          <a:xfrm>
            <a:off x="874058" y="4118162"/>
            <a:ext cx="24793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solidFill>
                  <a:schemeClr val="bg1"/>
                </a:solidFill>
                <a:ea typeface="Calibri"/>
                <a:cs typeface="Calibri"/>
              </a:rPr>
              <a:t>Samer MECHHOUD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8192C"/>
          </a:solidFill>
          <a:ln w="12700">
            <a:solidFill>
              <a:srgbClr val="E8192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CONTEXTE ET PROJET</a:t>
            </a:r>
            <a:endParaRPr lang="en-US" sz="2600" dirty="0"/>
          </a:p>
        </p:txBody>
      </p:sp>
      <p:sp>
        <p:nvSpPr>
          <p:cNvPr id="4" name="Shape 2"/>
          <p:cNvSpPr/>
          <p:nvPr/>
        </p:nvSpPr>
        <p:spPr>
          <a:xfrm>
            <a:off x="274320" y="960120"/>
            <a:ext cx="4023360" cy="356616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5" name="Text 3"/>
          <p:cNvSpPr/>
          <p:nvPr/>
        </p:nvSpPr>
        <p:spPr>
          <a:xfrm>
            <a:off x="457200" y="1097280"/>
            <a:ext cx="3657600" cy="320040"/>
          </a:xfrm>
          <a:prstGeom prst="rect">
            <a:avLst/>
          </a:prstGeom>
          <a:noFill/>
          <a:ln/>
        </p:spPr>
        <p:txBody>
          <a:bodyPr wrap="square" lIns="0" tIns="0" rIns="0" bIns="0" rtlCol="0" anchor="ctr"/>
          <a:lstStyle/>
          <a:p>
            <a:pPr marL="0" indent="0">
              <a:buNone/>
            </a:pPr>
            <a:r>
              <a:rPr lang="en-US" sz="1300" b="1" kern="0" spc="100" dirty="0">
                <a:solidFill>
                  <a:srgbClr val="E8192C"/>
                </a:solidFill>
                <a:latin typeface="Arial Black" pitchFamily="34" charset="0"/>
                <a:ea typeface="Arial Black" pitchFamily="34" charset="-122"/>
                <a:cs typeface="Arial Black" pitchFamily="34" charset="-120"/>
              </a:rPr>
              <a:t>L'ENTREPRISE</a:t>
            </a:r>
            <a:endParaRPr lang="en-US" sz="1300" dirty="0"/>
          </a:p>
        </p:txBody>
      </p:sp>
      <p:sp>
        <p:nvSpPr>
          <p:cNvPr id="6" name="Text 4"/>
          <p:cNvSpPr/>
          <p:nvPr/>
        </p:nvSpPr>
        <p:spPr>
          <a:xfrm>
            <a:off x="457200" y="1508760"/>
            <a:ext cx="3657600" cy="2560320"/>
          </a:xfrm>
          <a:prstGeom prst="rect">
            <a:avLst/>
          </a:prstGeom>
          <a:noFill/>
          <a:ln/>
        </p:spPr>
        <p:txBody>
          <a:bodyPr wrap="square" lIns="0" tIns="0" rIns="0" bIns="0" rtlCol="0" anchor="t"/>
          <a:lstStyle/>
          <a:p>
            <a:pPr marL="0" indent="0">
              <a:buNone/>
            </a:pPr>
            <a:r>
              <a:rPr lang="en-US" sz="1300" b="1" dirty="0">
                <a:solidFill>
                  <a:srgbClr val="1A1A1A"/>
                </a:solidFill>
                <a:latin typeface="Calibri" pitchFamily="34" charset="0"/>
                <a:ea typeface="Calibri" pitchFamily="34" charset="-122"/>
                <a:cs typeface="Calibri" pitchFamily="34" charset="-120"/>
              </a:rPr>
              <a:t>The North Face</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Fondée en 1968 pour équiper les grimpeurs, The North Face produit des vêtements, chaussures et équipements de plein air.</a:t>
            </a:r>
            <a:endParaRPr lang="en-US" sz="1300" dirty="0"/>
          </a:p>
          <a:p>
            <a:pPr marL="0" indent="0">
              <a:buNone/>
            </a:pP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D'abord spécialisée outdoor, la marque est devenue une icône de la mode dans les années 2000.</a:t>
            </a:r>
            <a:endParaRPr lang="en-US" sz="1300" dirty="0"/>
          </a:p>
        </p:txBody>
      </p:sp>
      <p:sp>
        <p:nvSpPr>
          <p:cNvPr id="7" name="Shape 5"/>
          <p:cNvSpPr/>
          <p:nvPr/>
        </p:nvSpPr>
        <p:spPr>
          <a:xfrm>
            <a:off x="4572000" y="777240"/>
            <a:ext cx="4297680" cy="356616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Text 6"/>
          <p:cNvSpPr/>
          <p:nvPr/>
        </p:nvSpPr>
        <p:spPr>
          <a:xfrm>
            <a:off x="4754880" y="1097280"/>
            <a:ext cx="3931920" cy="320040"/>
          </a:xfrm>
          <a:prstGeom prst="rect">
            <a:avLst/>
          </a:prstGeom>
          <a:noFill/>
          <a:ln/>
        </p:spPr>
        <p:txBody>
          <a:bodyPr wrap="square" lIns="0" tIns="0" rIns="0" bIns="0" rtlCol="0" anchor="ctr"/>
          <a:lstStyle/>
          <a:p>
            <a:pPr marL="0" indent="0">
              <a:buNone/>
            </a:pPr>
            <a:r>
              <a:rPr lang="en-US" sz="1300" b="1" kern="0" spc="100" dirty="0">
                <a:solidFill>
                  <a:srgbClr val="E8192C"/>
                </a:solidFill>
                <a:latin typeface="Arial Black" pitchFamily="34" charset="0"/>
                <a:ea typeface="Arial Black" pitchFamily="34" charset="-122"/>
                <a:cs typeface="Arial Black" pitchFamily="34" charset="-120"/>
              </a:rPr>
              <a:t>OBJECTIF MARKETING</a:t>
            </a:r>
            <a:endParaRPr lang="en-US" sz="1300" dirty="0"/>
          </a:p>
        </p:txBody>
      </p:sp>
      <p:sp>
        <p:nvSpPr>
          <p:cNvPr id="9" name="Text 7"/>
          <p:cNvSpPr/>
          <p:nvPr/>
        </p:nvSpPr>
        <p:spPr>
          <a:xfrm>
            <a:off x="4754880" y="1508760"/>
            <a:ext cx="3931920" cy="5029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Booster les ventes sur thenorthface.fr grâce au machine learning.</a:t>
            </a:r>
            <a:endParaRPr lang="en-US" sz="1300" dirty="0"/>
          </a:p>
        </p:txBody>
      </p:sp>
      <p:sp>
        <p:nvSpPr>
          <p:cNvPr id="10" name="Shape 8"/>
          <p:cNvSpPr/>
          <p:nvPr/>
        </p:nvSpPr>
        <p:spPr>
          <a:xfrm>
            <a:off x="4754880" y="2209800"/>
            <a:ext cx="347472" cy="347472"/>
          </a:xfrm>
          <a:prstGeom prst="rect">
            <a:avLst/>
          </a:prstGeom>
          <a:solidFill>
            <a:srgbClr val="E8192C"/>
          </a:solidFill>
          <a:ln w="12700">
            <a:solidFill>
              <a:srgbClr val="E8192C"/>
            </a:solidFill>
            <a:prstDash val="solid"/>
          </a:ln>
        </p:spPr>
      </p:sp>
      <p:sp>
        <p:nvSpPr>
          <p:cNvPr id="11" name="Text 9"/>
          <p:cNvSpPr/>
          <p:nvPr/>
        </p:nvSpPr>
        <p:spPr>
          <a:xfrm>
            <a:off x="4754880" y="22098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2" name="Text 10"/>
          <p:cNvSpPr/>
          <p:nvPr/>
        </p:nvSpPr>
        <p:spPr>
          <a:xfrm>
            <a:off x="5166360" y="2130552"/>
            <a:ext cx="3520440" cy="68580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Système de recommandation</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"Vous aimerez aussi..." sur chaque page produit</a:t>
            </a:r>
            <a:endParaRPr lang="en-US" sz="1200" dirty="0"/>
          </a:p>
        </p:txBody>
      </p:sp>
      <p:sp>
        <p:nvSpPr>
          <p:cNvPr id="13" name="Shape 11"/>
          <p:cNvSpPr/>
          <p:nvPr/>
        </p:nvSpPr>
        <p:spPr>
          <a:xfrm>
            <a:off x="4754880" y="3383280"/>
            <a:ext cx="347472" cy="347472"/>
          </a:xfrm>
          <a:prstGeom prst="rect">
            <a:avLst/>
          </a:prstGeom>
          <a:solidFill>
            <a:srgbClr val="E8192C"/>
          </a:solidFill>
          <a:ln w="12700">
            <a:solidFill>
              <a:srgbClr val="E8192C"/>
            </a:solidFill>
            <a:prstDash val="solid"/>
          </a:ln>
        </p:spPr>
      </p:sp>
      <p:sp>
        <p:nvSpPr>
          <p:cNvPr id="14" name="Text 12"/>
          <p:cNvSpPr/>
          <p:nvPr/>
        </p:nvSpPr>
        <p:spPr>
          <a:xfrm>
            <a:off x="4754880" y="33832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5166360" y="3364992"/>
            <a:ext cx="3520440" cy="68580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Extraction de thèmes</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Réévaluer et restructurer les catégories du catalogue</a:t>
            </a:r>
            <a:endParaRPr lang="en-US" sz="1200" dirty="0"/>
          </a:p>
        </p:txBody>
      </p:sp>
      <p:sp>
        <p:nvSpPr>
          <p:cNvPr id="16" name="Shape 14"/>
          <p:cNvSpPr/>
          <p:nvPr/>
        </p:nvSpPr>
        <p:spPr>
          <a:xfrm>
            <a:off x="274320" y="4663440"/>
            <a:ext cx="8595360" cy="347472"/>
          </a:xfrm>
          <a:prstGeom prst="rect">
            <a:avLst/>
          </a:prstGeom>
          <a:solidFill>
            <a:srgbClr val="1A1A1A"/>
          </a:solidFill>
          <a:ln w="12700">
            <a:solidFill>
              <a:srgbClr val="1A1A1A"/>
            </a:solidFill>
            <a:prstDash val="solid"/>
          </a:ln>
        </p:spPr>
      </p:sp>
      <p:sp>
        <p:nvSpPr>
          <p:cNvPr id="17" name="Text 15"/>
          <p:cNvSpPr/>
          <p:nvPr/>
        </p:nvSpPr>
        <p:spPr>
          <a:xfrm>
            <a:off x="457200" y="4663440"/>
            <a:ext cx="8321040" cy="347472"/>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Corpus : 500 descriptions de produits du catalogue The North Face  |  Source : sample-data.csv</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1A"/>
          </a:solidFill>
          <a:ln w="12700">
            <a:solidFill>
              <a:srgbClr val="1A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PIPELINE TECHNIQUE</a:t>
            </a:r>
            <a:endParaRPr lang="en-US" sz="2600" dirty="0"/>
          </a:p>
        </p:txBody>
      </p:sp>
      <p:sp>
        <p:nvSpPr>
          <p:cNvPr id="4" name="Shape 2"/>
          <p:cNvSpPr/>
          <p:nvPr/>
        </p:nvSpPr>
        <p:spPr>
          <a:xfrm>
            <a:off x="228600" y="1051560"/>
            <a:ext cx="1554480" cy="292608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5" name="Shape 3"/>
          <p:cNvSpPr/>
          <p:nvPr/>
        </p:nvSpPr>
        <p:spPr>
          <a:xfrm>
            <a:off x="228600" y="1051560"/>
            <a:ext cx="1554480" cy="109728"/>
          </a:xfrm>
          <a:prstGeom prst="rect">
            <a:avLst/>
          </a:prstGeom>
          <a:solidFill>
            <a:srgbClr val="E8192C"/>
          </a:solidFill>
          <a:ln w="12700">
            <a:solidFill>
              <a:srgbClr val="E8192C"/>
            </a:solidFill>
            <a:prstDash val="solid"/>
          </a:ln>
        </p:spPr>
      </p:sp>
      <p:sp>
        <p:nvSpPr>
          <p:cNvPr id="6" name="Shape 4"/>
          <p:cNvSpPr/>
          <p:nvPr/>
        </p:nvSpPr>
        <p:spPr>
          <a:xfrm>
            <a:off x="777240" y="1207008"/>
            <a:ext cx="457200" cy="457200"/>
          </a:xfrm>
          <a:prstGeom prst="ellipse">
            <a:avLst/>
          </a:prstGeom>
          <a:solidFill>
            <a:srgbClr val="E8192C"/>
          </a:solidFill>
          <a:ln w="12700">
            <a:solidFill>
              <a:srgbClr val="E8192C"/>
            </a:solidFill>
            <a:prstDash val="solid"/>
          </a:ln>
        </p:spPr>
      </p:sp>
      <p:sp>
        <p:nvSpPr>
          <p:cNvPr id="7" name="Text 5"/>
          <p:cNvSpPr/>
          <p:nvPr/>
        </p:nvSpPr>
        <p:spPr>
          <a:xfrm>
            <a:off x="777240" y="1207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8" name="Text 6"/>
          <p:cNvSpPr/>
          <p:nvPr/>
        </p:nvSpPr>
        <p:spPr>
          <a:xfrm>
            <a:off x="301752" y="1755648"/>
            <a:ext cx="1408176" cy="64008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Données brutes</a:t>
            </a:r>
            <a:endParaRPr lang="en-US" sz="1200" dirty="0"/>
          </a:p>
        </p:txBody>
      </p:sp>
      <p:sp>
        <p:nvSpPr>
          <p:cNvPr id="9" name="Text 7"/>
          <p:cNvSpPr/>
          <p:nvPr/>
        </p:nvSpPr>
        <p:spPr>
          <a:xfrm>
            <a:off x="301752" y="2450592"/>
            <a:ext cx="1408176" cy="137160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500 descriptions</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HTML (CSV)</a:t>
            </a:r>
            <a:endParaRPr lang="en-US" sz="1100" dirty="0"/>
          </a:p>
        </p:txBody>
      </p:sp>
      <p:sp>
        <p:nvSpPr>
          <p:cNvPr id="10" name="Text 8"/>
          <p:cNvSpPr/>
          <p:nvPr/>
        </p:nvSpPr>
        <p:spPr>
          <a:xfrm>
            <a:off x="1856232" y="2331720"/>
            <a:ext cx="182880" cy="274320"/>
          </a:xfrm>
          <a:prstGeom prst="rect">
            <a:avLst/>
          </a:prstGeom>
          <a:noFill/>
          <a:ln/>
        </p:spPr>
        <p:txBody>
          <a:bodyPr wrap="square" lIns="0" tIns="0" rIns="0" bIns="0" rtlCol="0" anchor="ctr"/>
          <a:lstStyle/>
          <a:p>
            <a:pPr marL="0" indent="0" algn="ctr">
              <a:buNone/>
            </a:pPr>
            <a:r>
              <a:rPr lang="en-US" sz="1400" b="1" dirty="0">
                <a:solidFill>
                  <a:srgbClr val="E8192C"/>
                </a:solidFill>
                <a:latin typeface="Arial Black" pitchFamily="34" charset="0"/>
                <a:ea typeface="Arial Black" pitchFamily="34" charset="-122"/>
                <a:cs typeface="Arial Black" pitchFamily="34" charset="-120"/>
              </a:rPr>
              <a:t>&gt;</a:t>
            </a:r>
            <a:endParaRPr lang="en-US" sz="1400" dirty="0"/>
          </a:p>
        </p:txBody>
      </p:sp>
      <p:sp>
        <p:nvSpPr>
          <p:cNvPr id="11" name="Shape 9"/>
          <p:cNvSpPr/>
          <p:nvPr/>
        </p:nvSpPr>
        <p:spPr>
          <a:xfrm>
            <a:off x="2011680" y="1051560"/>
            <a:ext cx="1554480" cy="292608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12" name="Shape 10"/>
          <p:cNvSpPr/>
          <p:nvPr/>
        </p:nvSpPr>
        <p:spPr>
          <a:xfrm>
            <a:off x="2011680" y="1051560"/>
            <a:ext cx="1554480" cy="109728"/>
          </a:xfrm>
          <a:prstGeom prst="rect">
            <a:avLst/>
          </a:prstGeom>
          <a:solidFill>
            <a:srgbClr val="E8192C"/>
          </a:solidFill>
          <a:ln w="12700">
            <a:solidFill>
              <a:srgbClr val="E8192C"/>
            </a:solidFill>
            <a:prstDash val="solid"/>
          </a:ln>
        </p:spPr>
      </p:sp>
      <p:sp>
        <p:nvSpPr>
          <p:cNvPr id="13" name="Shape 11"/>
          <p:cNvSpPr/>
          <p:nvPr/>
        </p:nvSpPr>
        <p:spPr>
          <a:xfrm>
            <a:off x="2560320" y="1207008"/>
            <a:ext cx="457200" cy="457200"/>
          </a:xfrm>
          <a:prstGeom prst="ellipse">
            <a:avLst/>
          </a:prstGeom>
          <a:solidFill>
            <a:srgbClr val="E8192C"/>
          </a:solidFill>
          <a:ln w="12700">
            <a:solidFill>
              <a:srgbClr val="E8192C"/>
            </a:solidFill>
            <a:prstDash val="solid"/>
          </a:ln>
        </p:spPr>
      </p:sp>
      <p:sp>
        <p:nvSpPr>
          <p:cNvPr id="14" name="Text 12"/>
          <p:cNvSpPr/>
          <p:nvPr/>
        </p:nvSpPr>
        <p:spPr>
          <a:xfrm>
            <a:off x="2560320" y="1207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5" name="Text 13"/>
          <p:cNvSpPr/>
          <p:nvPr/>
        </p:nvSpPr>
        <p:spPr>
          <a:xfrm>
            <a:off x="2084832" y="1755648"/>
            <a:ext cx="1408176" cy="64008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Prétraitement</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spaCy</a:t>
            </a:r>
            <a:endParaRPr lang="en-US" sz="1200" dirty="0"/>
          </a:p>
        </p:txBody>
      </p:sp>
      <p:sp>
        <p:nvSpPr>
          <p:cNvPr id="16" name="Text 14"/>
          <p:cNvSpPr/>
          <p:nvPr/>
        </p:nvSpPr>
        <p:spPr>
          <a:xfrm>
            <a:off x="2084832" y="2450592"/>
            <a:ext cx="1408176" cy="137160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Nettoyage HTML</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Lemmatisation</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Stop words</a:t>
            </a:r>
            <a:endParaRPr lang="en-US" sz="1100" dirty="0"/>
          </a:p>
        </p:txBody>
      </p:sp>
      <p:sp>
        <p:nvSpPr>
          <p:cNvPr id="17" name="Text 15"/>
          <p:cNvSpPr/>
          <p:nvPr/>
        </p:nvSpPr>
        <p:spPr>
          <a:xfrm>
            <a:off x="3639312" y="2331720"/>
            <a:ext cx="182880" cy="274320"/>
          </a:xfrm>
          <a:prstGeom prst="rect">
            <a:avLst/>
          </a:prstGeom>
          <a:noFill/>
          <a:ln/>
        </p:spPr>
        <p:txBody>
          <a:bodyPr wrap="square" lIns="0" tIns="0" rIns="0" bIns="0" rtlCol="0" anchor="ctr"/>
          <a:lstStyle/>
          <a:p>
            <a:pPr marL="0" indent="0" algn="ctr">
              <a:buNone/>
            </a:pPr>
            <a:r>
              <a:rPr lang="en-US" sz="1400" b="1" dirty="0">
                <a:solidFill>
                  <a:srgbClr val="E8192C"/>
                </a:solidFill>
                <a:latin typeface="Arial Black" pitchFamily="34" charset="0"/>
                <a:ea typeface="Arial Black" pitchFamily="34" charset="-122"/>
                <a:cs typeface="Arial Black" pitchFamily="34" charset="-120"/>
              </a:rPr>
              <a:t>&gt;</a:t>
            </a:r>
            <a:endParaRPr lang="en-US" sz="1400" dirty="0"/>
          </a:p>
        </p:txBody>
      </p:sp>
      <p:sp>
        <p:nvSpPr>
          <p:cNvPr id="18" name="Shape 16"/>
          <p:cNvSpPr/>
          <p:nvPr/>
        </p:nvSpPr>
        <p:spPr>
          <a:xfrm>
            <a:off x="3794760" y="1051560"/>
            <a:ext cx="1554480" cy="292608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19" name="Shape 17"/>
          <p:cNvSpPr/>
          <p:nvPr/>
        </p:nvSpPr>
        <p:spPr>
          <a:xfrm>
            <a:off x="3794760" y="1051560"/>
            <a:ext cx="1554480" cy="109728"/>
          </a:xfrm>
          <a:prstGeom prst="rect">
            <a:avLst/>
          </a:prstGeom>
          <a:solidFill>
            <a:srgbClr val="E8192C"/>
          </a:solidFill>
          <a:ln w="12700">
            <a:solidFill>
              <a:srgbClr val="E8192C"/>
            </a:solidFill>
            <a:prstDash val="solid"/>
          </a:ln>
        </p:spPr>
      </p:sp>
      <p:sp>
        <p:nvSpPr>
          <p:cNvPr id="20" name="Shape 18"/>
          <p:cNvSpPr/>
          <p:nvPr/>
        </p:nvSpPr>
        <p:spPr>
          <a:xfrm>
            <a:off x="4343400" y="1207008"/>
            <a:ext cx="457200" cy="457200"/>
          </a:xfrm>
          <a:prstGeom prst="ellipse">
            <a:avLst/>
          </a:prstGeom>
          <a:solidFill>
            <a:srgbClr val="E8192C"/>
          </a:solidFill>
          <a:ln w="12700">
            <a:solidFill>
              <a:srgbClr val="E8192C"/>
            </a:solidFill>
            <a:prstDash val="solid"/>
          </a:ln>
        </p:spPr>
      </p:sp>
      <p:sp>
        <p:nvSpPr>
          <p:cNvPr id="21" name="Text 19"/>
          <p:cNvSpPr/>
          <p:nvPr/>
        </p:nvSpPr>
        <p:spPr>
          <a:xfrm>
            <a:off x="4343400" y="1207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22" name="Text 20"/>
          <p:cNvSpPr/>
          <p:nvPr/>
        </p:nvSpPr>
        <p:spPr>
          <a:xfrm>
            <a:off x="3867912" y="1755648"/>
            <a:ext cx="1408176" cy="64008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TF-IDF</a:t>
            </a:r>
            <a:endParaRPr lang="en-US" sz="1200" dirty="0"/>
          </a:p>
        </p:txBody>
      </p:sp>
      <p:sp>
        <p:nvSpPr>
          <p:cNvPr id="23" name="Text 21"/>
          <p:cNvSpPr/>
          <p:nvPr/>
        </p:nvSpPr>
        <p:spPr>
          <a:xfrm>
            <a:off x="3867912" y="2450592"/>
            <a:ext cx="1408176" cy="137160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5 000 termes</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Unigrams +</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Bigrams</a:t>
            </a:r>
            <a:endParaRPr lang="en-US" sz="1100" dirty="0"/>
          </a:p>
        </p:txBody>
      </p:sp>
      <p:sp>
        <p:nvSpPr>
          <p:cNvPr id="24" name="Text 22"/>
          <p:cNvSpPr/>
          <p:nvPr/>
        </p:nvSpPr>
        <p:spPr>
          <a:xfrm>
            <a:off x="5422392" y="2331720"/>
            <a:ext cx="182880" cy="274320"/>
          </a:xfrm>
          <a:prstGeom prst="rect">
            <a:avLst/>
          </a:prstGeom>
          <a:noFill/>
          <a:ln/>
        </p:spPr>
        <p:txBody>
          <a:bodyPr wrap="square" lIns="0" tIns="0" rIns="0" bIns="0" rtlCol="0" anchor="ctr"/>
          <a:lstStyle/>
          <a:p>
            <a:pPr marL="0" indent="0" algn="ctr">
              <a:buNone/>
            </a:pPr>
            <a:r>
              <a:rPr lang="en-US" sz="1400" b="1" dirty="0">
                <a:solidFill>
                  <a:srgbClr val="E8192C"/>
                </a:solidFill>
                <a:latin typeface="Arial Black" pitchFamily="34" charset="0"/>
                <a:ea typeface="Arial Black" pitchFamily="34" charset="-122"/>
                <a:cs typeface="Arial Black" pitchFamily="34" charset="-120"/>
              </a:rPr>
              <a:t>&gt;</a:t>
            </a:r>
            <a:endParaRPr lang="en-US" sz="1400" dirty="0"/>
          </a:p>
        </p:txBody>
      </p:sp>
      <p:sp>
        <p:nvSpPr>
          <p:cNvPr id="25" name="Shape 23"/>
          <p:cNvSpPr/>
          <p:nvPr/>
        </p:nvSpPr>
        <p:spPr>
          <a:xfrm>
            <a:off x="5577840" y="1051560"/>
            <a:ext cx="1554480" cy="292608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26" name="Shape 24"/>
          <p:cNvSpPr/>
          <p:nvPr/>
        </p:nvSpPr>
        <p:spPr>
          <a:xfrm>
            <a:off x="5577840" y="1051560"/>
            <a:ext cx="1554480" cy="109728"/>
          </a:xfrm>
          <a:prstGeom prst="rect">
            <a:avLst/>
          </a:prstGeom>
          <a:solidFill>
            <a:srgbClr val="E8192C"/>
          </a:solidFill>
          <a:ln w="12700">
            <a:solidFill>
              <a:srgbClr val="E8192C"/>
            </a:solidFill>
            <a:prstDash val="solid"/>
          </a:ln>
        </p:spPr>
      </p:sp>
      <p:sp>
        <p:nvSpPr>
          <p:cNvPr id="27" name="Shape 25"/>
          <p:cNvSpPr/>
          <p:nvPr/>
        </p:nvSpPr>
        <p:spPr>
          <a:xfrm>
            <a:off x="6126480" y="1207008"/>
            <a:ext cx="457200" cy="457200"/>
          </a:xfrm>
          <a:prstGeom prst="ellipse">
            <a:avLst/>
          </a:prstGeom>
          <a:solidFill>
            <a:srgbClr val="E8192C"/>
          </a:solidFill>
          <a:ln w="12700">
            <a:solidFill>
              <a:srgbClr val="E8192C"/>
            </a:solidFill>
            <a:prstDash val="solid"/>
          </a:ln>
        </p:spPr>
      </p:sp>
      <p:sp>
        <p:nvSpPr>
          <p:cNvPr id="28" name="Text 26"/>
          <p:cNvSpPr/>
          <p:nvPr/>
        </p:nvSpPr>
        <p:spPr>
          <a:xfrm>
            <a:off x="6126480" y="1207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29" name="Text 27"/>
          <p:cNvSpPr/>
          <p:nvPr/>
        </p:nvSpPr>
        <p:spPr>
          <a:xfrm>
            <a:off x="5650992" y="1755648"/>
            <a:ext cx="1408176" cy="64008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DBSCAN</a:t>
            </a:r>
            <a:endParaRPr lang="en-US" sz="1200" dirty="0"/>
          </a:p>
        </p:txBody>
      </p:sp>
      <p:sp>
        <p:nvSpPr>
          <p:cNvPr id="30" name="Text 28"/>
          <p:cNvSpPr/>
          <p:nvPr/>
        </p:nvSpPr>
        <p:spPr>
          <a:xfrm>
            <a:off x="5650992" y="2450592"/>
            <a:ext cx="1408176" cy="1371600"/>
          </a:xfrm>
          <a:prstGeom prst="rect">
            <a:avLst/>
          </a:prstGeom>
          <a:noFill/>
          <a:ln/>
        </p:spPr>
        <p:txBody>
          <a:bodyPr wrap="square" lIns="0" tIns="0" rIns="0" bIns="0"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Distance cosinus</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eps=0.72</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min_samples=3</a:t>
            </a:r>
            <a:endParaRPr lang="en-US" sz="1100" dirty="0"/>
          </a:p>
        </p:txBody>
      </p:sp>
      <p:sp>
        <p:nvSpPr>
          <p:cNvPr id="31" name="Text 29"/>
          <p:cNvSpPr/>
          <p:nvPr/>
        </p:nvSpPr>
        <p:spPr>
          <a:xfrm>
            <a:off x="7205472" y="2331720"/>
            <a:ext cx="182880" cy="274320"/>
          </a:xfrm>
          <a:prstGeom prst="rect">
            <a:avLst/>
          </a:prstGeom>
          <a:noFill/>
          <a:ln/>
        </p:spPr>
        <p:txBody>
          <a:bodyPr wrap="square" lIns="0" tIns="0" rIns="0" bIns="0" rtlCol="0" anchor="ctr"/>
          <a:lstStyle/>
          <a:p>
            <a:pPr marL="0" indent="0" algn="ctr">
              <a:buNone/>
            </a:pPr>
            <a:r>
              <a:rPr lang="en-US" sz="1400" b="1" dirty="0">
                <a:solidFill>
                  <a:srgbClr val="E8192C"/>
                </a:solidFill>
                <a:latin typeface="Arial Black" pitchFamily="34" charset="0"/>
                <a:ea typeface="Arial Black" pitchFamily="34" charset="-122"/>
                <a:cs typeface="Arial Black" pitchFamily="34" charset="-120"/>
              </a:rPr>
              <a:t>&gt;</a:t>
            </a:r>
            <a:endParaRPr lang="en-US" sz="1400" dirty="0"/>
          </a:p>
        </p:txBody>
      </p:sp>
      <p:sp>
        <p:nvSpPr>
          <p:cNvPr id="32" name="Shape 30"/>
          <p:cNvSpPr/>
          <p:nvPr/>
        </p:nvSpPr>
        <p:spPr>
          <a:xfrm>
            <a:off x="7360920" y="1051560"/>
            <a:ext cx="1554480" cy="292608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33" name="Shape 31"/>
          <p:cNvSpPr/>
          <p:nvPr/>
        </p:nvSpPr>
        <p:spPr>
          <a:xfrm>
            <a:off x="7360920" y="1051560"/>
            <a:ext cx="1554480" cy="109728"/>
          </a:xfrm>
          <a:prstGeom prst="rect">
            <a:avLst/>
          </a:prstGeom>
          <a:solidFill>
            <a:srgbClr val="E8192C"/>
          </a:solidFill>
          <a:ln w="12700">
            <a:solidFill>
              <a:srgbClr val="E8192C"/>
            </a:solidFill>
            <a:prstDash val="solid"/>
          </a:ln>
        </p:spPr>
      </p:sp>
      <p:sp>
        <p:nvSpPr>
          <p:cNvPr id="34" name="Shape 32"/>
          <p:cNvSpPr/>
          <p:nvPr/>
        </p:nvSpPr>
        <p:spPr>
          <a:xfrm>
            <a:off x="7909560" y="1207008"/>
            <a:ext cx="457200" cy="457200"/>
          </a:xfrm>
          <a:prstGeom prst="ellipse">
            <a:avLst/>
          </a:prstGeom>
          <a:solidFill>
            <a:srgbClr val="E8192C"/>
          </a:solidFill>
          <a:ln w="12700">
            <a:solidFill>
              <a:srgbClr val="E8192C"/>
            </a:solidFill>
            <a:prstDash val="solid"/>
          </a:ln>
        </p:spPr>
      </p:sp>
      <p:sp>
        <p:nvSpPr>
          <p:cNvPr id="35" name="Text 33"/>
          <p:cNvSpPr/>
          <p:nvPr/>
        </p:nvSpPr>
        <p:spPr>
          <a:xfrm>
            <a:off x="7909560" y="1207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36" name="Text 34"/>
          <p:cNvSpPr/>
          <p:nvPr/>
        </p:nvSpPr>
        <p:spPr>
          <a:xfrm>
            <a:off x="7434072" y="1755648"/>
            <a:ext cx="1408176" cy="64008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LSA / SVD</a:t>
            </a:r>
            <a:endParaRPr lang="en-US" sz="1200" dirty="0"/>
          </a:p>
        </p:txBody>
      </p:sp>
      <p:sp>
        <p:nvSpPr>
          <p:cNvPr id="37" name="Text 35"/>
          <p:cNvSpPr/>
          <p:nvPr/>
        </p:nvSpPr>
        <p:spPr>
          <a:xfrm>
            <a:off x="7434072" y="2450592"/>
            <a:ext cx="1408176" cy="1371600"/>
          </a:xfrm>
          <a:prstGeom prst="rect">
            <a:avLst/>
          </a:prstGeom>
          <a:noFill/>
          <a:ln/>
        </p:spPr>
        <p:txBody>
          <a:bodyPr wrap="square" lIns="0" tIns="0" rIns="0" bIns="0" rtlCol="0" anchor="ctr"/>
          <a:lstStyle/>
          <a:p>
            <a:pPr marL="0" indent="0" algn="ctr">
              <a:buNone/>
            </a:pPr>
            <a:r>
              <a:rPr lang="en-US" sz="1100" dirty="0">
                <a:solidFill>
                  <a:srgbClr val="555555"/>
                </a:solidFill>
                <a:latin typeface="Calibri"/>
                <a:ea typeface="Calibri"/>
                <a:cs typeface="Calibri"/>
              </a:rPr>
              <a:t>20 </a:t>
            </a:r>
            <a:r>
              <a:rPr lang="en-US" sz="1100" dirty="0" err="1">
                <a:solidFill>
                  <a:srgbClr val="555555"/>
                </a:solidFill>
                <a:latin typeface="Calibri"/>
                <a:ea typeface="Calibri"/>
                <a:cs typeface="Calibri"/>
              </a:rPr>
              <a:t>thèmes</a:t>
            </a:r>
            <a:endParaRPr lang="en-US" sz="1100" dirty="0" err="1">
              <a:latin typeface="Calibri"/>
              <a:ea typeface="Calibri"/>
              <a:cs typeface="Calibri"/>
            </a:endParaRPr>
          </a:p>
          <a:p>
            <a:pPr marL="0" indent="0" algn="ctr">
              <a:buNone/>
            </a:pPr>
            <a:r>
              <a:rPr lang="en-US" sz="1100" dirty="0" err="1">
                <a:solidFill>
                  <a:srgbClr val="555555"/>
                </a:solidFill>
                <a:latin typeface="Calibri"/>
                <a:ea typeface="Calibri"/>
                <a:cs typeface="Calibri"/>
              </a:rPr>
              <a:t>latents</a:t>
            </a:r>
            <a:endParaRPr lang="en-US" sz="1100" dirty="0" err="1">
              <a:latin typeface="Calibri"/>
              <a:ea typeface="Calibri"/>
              <a:cs typeface="Calibri"/>
            </a:endParaRPr>
          </a:p>
        </p:txBody>
      </p:sp>
      <p:sp>
        <p:nvSpPr>
          <p:cNvPr id="38" name="Text 36"/>
          <p:cNvSpPr/>
          <p:nvPr/>
        </p:nvSpPr>
        <p:spPr>
          <a:xfrm>
            <a:off x="365760" y="4251960"/>
            <a:ext cx="8412480" cy="365760"/>
          </a:xfrm>
          <a:prstGeom prst="rect">
            <a:avLst/>
          </a:prstGeom>
          <a:noFill/>
          <a:ln/>
        </p:spPr>
        <p:txBody>
          <a:bodyPr wrap="square" lIns="0" tIns="0" rIns="0" bIns="0"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Toutes les étapes sont implémentées en Python dans le notebook Jupyter fourni.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8192C"/>
          </a:solidFill>
          <a:ln w="12700">
            <a:solidFill>
              <a:srgbClr val="E8192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kern="0" spc="100" dirty="0">
                <a:solidFill>
                  <a:srgbClr val="FFFFFF"/>
                </a:solidFill>
                <a:latin typeface="Arial Black" pitchFamily="34" charset="0"/>
                <a:ea typeface="Arial Black" pitchFamily="34" charset="-122"/>
                <a:cs typeface="Arial Black" pitchFamily="34" charset="-120"/>
              </a:rPr>
              <a:t>PARTIE 1 - CLUSTERING DBSCAN</a:t>
            </a:r>
            <a:endParaRPr lang="en-US" sz="2400" dirty="0"/>
          </a:p>
        </p:txBody>
      </p:sp>
      <p:sp>
        <p:nvSpPr>
          <p:cNvPr id="4" name="Shape 2"/>
          <p:cNvSpPr/>
          <p:nvPr/>
        </p:nvSpPr>
        <p:spPr>
          <a:xfrm>
            <a:off x="274320" y="960120"/>
            <a:ext cx="3840480" cy="388620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5" name="Text 3"/>
          <p:cNvSpPr/>
          <p:nvPr/>
        </p:nvSpPr>
        <p:spPr>
          <a:xfrm>
            <a:off x="457200" y="1097280"/>
            <a:ext cx="3474720" cy="292608"/>
          </a:xfrm>
          <a:prstGeom prst="rect">
            <a:avLst/>
          </a:prstGeom>
          <a:noFill/>
          <a:ln/>
        </p:spPr>
        <p:txBody>
          <a:bodyPr wrap="square" lIns="0" tIns="0" rIns="0" bIns="0" rtlCol="0" anchor="ctr"/>
          <a:lstStyle/>
          <a:p>
            <a:pPr marL="0" indent="0">
              <a:buNone/>
            </a:pPr>
            <a:r>
              <a:rPr lang="en-US" sz="1300" b="1" kern="0" spc="100" dirty="0">
                <a:solidFill>
                  <a:srgbClr val="E8192C"/>
                </a:solidFill>
                <a:latin typeface="Arial Black" pitchFamily="34" charset="0"/>
                <a:ea typeface="Arial Black" pitchFamily="34" charset="-122"/>
                <a:cs typeface="Arial Black" pitchFamily="34" charset="-120"/>
              </a:rPr>
              <a:t>PRINCIPE</a:t>
            </a:r>
            <a:endParaRPr lang="en-US" sz="1300" dirty="0"/>
          </a:p>
        </p:txBody>
      </p:sp>
      <p:sp>
        <p:nvSpPr>
          <p:cNvPr id="6" name="Shape 4"/>
          <p:cNvSpPr/>
          <p:nvPr/>
        </p:nvSpPr>
        <p:spPr>
          <a:xfrm>
            <a:off x="457200" y="1508760"/>
            <a:ext cx="54864" cy="457200"/>
          </a:xfrm>
          <a:prstGeom prst="rect">
            <a:avLst/>
          </a:prstGeom>
          <a:solidFill>
            <a:srgbClr val="E8192C"/>
          </a:solidFill>
          <a:ln w="12700">
            <a:solidFill>
              <a:srgbClr val="E8192C"/>
            </a:solidFill>
            <a:prstDash val="solid"/>
          </a:ln>
        </p:spPr>
      </p:sp>
      <p:sp>
        <p:nvSpPr>
          <p:cNvPr id="7" name="Text 5"/>
          <p:cNvSpPr/>
          <p:nvPr/>
        </p:nvSpPr>
        <p:spPr>
          <a:xfrm>
            <a:off x="594360" y="1490472"/>
            <a:ext cx="3337560" cy="493776"/>
          </a:xfrm>
          <a:prstGeom prst="rect">
            <a:avLst/>
          </a:prstGeom>
          <a:noFill/>
          <a:ln/>
        </p:spPr>
        <p:txBody>
          <a:bodyPr wrap="square" lIns="0" tIns="0" rIns="0" bIns="0" rtlCol="0" anchor="ctr"/>
          <a:lstStyle/>
          <a:p>
            <a:pPr marL="0" indent="0">
              <a:buNone/>
            </a:pPr>
            <a:r>
              <a:rPr lang="en-US" sz="1150" dirty="0">
                <a:solidFill>
                  <a:srgbClr val="555555"/>
                </a:solidFill>
                <a:latin typeface="Calibri" pitchFamily="34" charset="0"/>
                <a:ea typeface="Calibri" pitchFamily="34" charset="-122"/>
                <a:cs typeface="Calibri" pitchFamily="34" charset="-120"/>
              </a:rPr>
              <a:t>Algorithme basé sur la densité : détecte automatiquement le nombre de clusters</a:t>
            </a:r>
            <a:endParaRPr lang="en-US" sz="1150" dirty="0"/>
          </a:p>
        </p:txBody>
      </p:sp>
      <p:sp>
        <p:nvSpPr>
          <p:cNvPr id="8" name="Shape 6"/>
          <p:cNvSpPr/>
          <p:nvPr/>
        </p:nvSpPr>
        <p:spPr>
          <a:xfrm>
            <a:off x="457200" y="2258568"/>
            <a:ext cx="54864" cy="457200"/>
          </a:xfrm>
          <a:prstGeom prst="rect">
            <a:avLst/>
          </a:prstGeom>
          <a:solidFill>
            <a:srgbClr val="E8192C"/>
          </a:solidFill>
          <a:ln w="12700">
            <a:solidFill>
              <a:srgbClr val="E8192C"/>
            </a:solidFill>
            <a:prstDash val="solid"/>
          </a:ln>
        </p:spPr>
      </p:sp>
      <p:sp>
        <p:nvSpPr>
          <p:cNvPr id="9" name="Text 7"/>
          <p:cNvSpPr/>
          <p:nvPr/>
        </p:nvSpPr>
        <p:spPr>
          <a:xfrm>
            <a:off x="594360" y="2240280"/>
            <a:ext cx="3337560" cy="493776"/>
          </a:xfrm>
          <a:prstGeom prst="rect">
            <a:avLst/>
          </a:prstGeom>
          <a:noFill/>
          <a:ln/>
        </p:spPr>
        <p:txBody>
          <a:bodyPr wrap="square" lIns="0" tIns="0" rIns="0" bIns="0" rtlCol="0" anchor="ctr"/>
          <a:lstStyle/>
          <a:p>
            <a:pPr marL="0" indent="0">
              <a:buNone/>
            </a:pPr>
            <a:r>
              <a:rPr lang="en-US" sz="1150" dirty="0">
                <a:solidFill>
                  <a:srgbClr val="555555"/>
                </a:solidFill>
                <a:latin typeface="Calibri" pitchFamily="34" charset="0"/>
                <a:ea typeface="Calibri" pitchFamily="34" charset="-122"/>
                <a:cs typeface="Calibri" pitchFamily="34" charset="-120"/>
              </a:rPr>
              <a:t>Distance cosinus adaptée aux données textuelles TF-IDF</a:t>
            </a:r>
            <a:endParaRPr lang="en-US" sz="1150" dirty="0"/>
          </a:p>
        </p:txBody>
      </p:sp>
      <p:sp>
        <p:nvSpPr>
          <p:cNvPr id="10" name="Shape 8"/>
          <p:cNvSpPr/>
          <p:nvPr/>
        </p:nvSpPr>
        <p:spPr>
          <a:xfrm>
            <a:off x="457200" y="3008376"/>
            <a:ext cx="54864" cy="457200"/>
          </a:xfrm>
          <a:prstGeom prst="rect">
            <a:avLst/>
          </a:prstGeom>
          <a:solidFill>
            <a:srgbClr val="E8192C"/>
          </a:solidFill>
          <a:ln w="12700">
            <a:solidFill>
              <a:srgbClr val="E8192C"/>
            </a:solidFill>
            <a:prstDash val="solid"/>
          </a:ln>
        </p:spPr>
      </p:sp>
      <p:sp>
        <p:nvSpPr>
          <p:cNvPr id="11" name="Text 9"/>
          <p:cNvSpPr/>
          <p:nvPr/>
        </p:nvSpPr>
        <p:spPr>
          <a:xfrm>
            <a:off x="594360" y="2990088"/>
            <a:ext cx="3337560" cy="493776"/>
          </a:xfrm>
          <a:prstGeom prst="rect">
            <a:avLst/>
          </a:prstGeom>
          <a:noFill/>
          <a:ln/>
        </p:spPr>
        <p:txBody>
          <a:bodyPr wrap="square" lIns="0" tIns="0" rIns="0" bIns="0" rtlCol="0" anchor="ctr"/>
          <a:lstStyle/>
          <a:p>
            <a:pPr marL="0" indent="0">
              <a:buNone/>
            </a:pPr>
            <a:r>
              <a:rPr lang="en-US" sz="1150" dirty="0">
                <a:solidFill>
                  <a:srgbClr val="555555"/>
                </a:solidFill>
                <a:latin typeface="Calibri" pitchFamily="34" charset="0"/>
                <a:ea typeface="Calibri" pitchFamily="34" charset="-122"/>
                <a:cs typeface="Calibri" pitchFamily="34" charset="-120"/>
              </a:rPr>
              <a:t>Identifie les outliers (label = -1) sans les forcer dans un cluster</a:t>
            </a:r>
            <a:endParaRPr lang="en-US" sz="1150" dirty="0"/>
          </a:p>
        </p:txBody>
      </p:sp>
      <p:sp>
        <p:nvSpPr>
          <p:cNvPr id="12" name="Text 10"/>
          <p:cNvSpPr/>
          <p:nvPr/>
        </p:nvSpPr>
        <p:spPr>
          <a:xfrm>
            <a:off x="457200" y="3749040"/>
            <a:ext cx="3474720" cy="256032"/>
          </a:xfrm>
          <a:prstGeom prst="rect">
            <a:avLst/>
          </a:prstGeom>
          <a:noFill/>
          <a:ln/>
        </p:spPr>
        <p:txBody>
          <a:bodyPr wrap="square" lIns="0" tIns="0" rIns="0" bIns="0" rtlCol="0" anchor="ctr"/>
          <a:lstStyle/>
          <a:p>
            <a:pPr marL="0" indent="0">
              <a:buNone/>
            </a:pPr>
            <a:r>
              <a:rPr lang="en-US" sz="1200" b="1" dirty="0" err="1">
                <a:solidFill>
                  <a:srgbClr val="1A1A1A"/>
                </a:solidFill>
                <a:latin typeface="Calibri"/>
                <a:ea typeface="Calibri"/>
                <a:cs typeface="Calibri"/>
              </a:rPr>
              <a:t>Paramètres</a:t>
            </a:r>
          </a:p>
        </p:txBody>
      </p:sp>
      <p:sp>
        <p:nvSpPr>
          <p:cNvPr id="13" name="Text 11"/>
          <p:cNvSpPr/>
          <p:nvPr/>
        </p:nvSpPr>
        <p:spPr>
          <a:xfrm>
            <a:off x="457200" y="4023360"/>
            <a:ext cx="3474720" cy="475488"/>
          </a:xfrm>
          <a:prstGeom prst="rect">
            <a:avLst/>
          </a:prstGeom>
          <a:noFill/>
          <a:ln/>
        </p:spPr>
        <p:txBody>
          <a:bodyPr wrap="square" lIns="0" tIns="0" rIns="0" bIns="0" rtlCol="0" anchor="ctr"/>
          <a:lstStyle/>
          <a:p>
            <a:pPr marL="0" indent="0">
              <a:buNone/>
            </a:pPr>
            <a:r>
              <a:rPr lang="en-US" sz="1050" i="1" dirty="0">
                <a:solidFill>
                  <a:srgbClr val="555555"/>
                </a:solidFill>
                <a:latin typeface="Calibri"/>
                <a:ea typeface="Calibri"/>
                <a:cs typeface="Calibri"/>
              </a:rPr>
              <a:t>eps = 0.72  |  </a:t>
            </a:r>
            <a:r>
              <a:rPr lang="en-US" sz="1050" i="1" dirty="0" err="1">
                <a:solidFill>
                  <a:srgbClr val="555555"/>
                </a:solidFill>
                <a:latin typeface="Calibri"/>
                <a:ea typeface="Calibri"/>
                <a:cs typeface="Calibri"/>
              </a:rPr>
              <a:t>min_samples</a:t>
            </a:r>
            <a:r>
              <a:rPr lang="en-US" sz="1050" i="1" dirty="0">
                <a:solidFill>
                  <a:srgbClr val="555555"/>
                </a:solidFill>
                <a:latin typeface="Calibri"/>
                <a:ea typeface="Calibri"/>
                <a:cs typeface="Calibri"/>
              </a:rPr>
              <a:t> = 3  |  metric = 'cosine' </a:t>
            </a:r>
          </a:p>
        </p:txBody>
      </p:sp>
      <p:sp>
        <p:nvSpPr>
          <p:cNvPr id="14" name="Shape 12"/>
          <p:cNvSpPr/>
          <p:nvPr/>
        </p:nvSpPr>
        <p:spPr>
          <a:xfrm>
            <a:off x="4389120" y="960120"/>
            <a:ext cx="2148840" cy="16459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15" name="Shape 13"/>
          <p:cNvSpPr/>
          <p:nvPr/>
        </p:nvSpPr>
        <p:spPr>
          <a:xfrm>
            <a:off x="4389120" y="960120"/>
            <a:ext cx="2148840" cy="73152"/>
          </a:xfrm>
          <a:prstGeom prst="rect">
            <a:avLst/>
          </a:prstGeom>
          <a:solidFill>
            <a:srgbClr val="E8192C"/>
          </a:solidFill>
          <a:ln w="12700">
            <a:solidFill>
              <a:srgbClr val="E8192C"/>
            </a:solidFill>
            <a:prstDash val="solid"/>
          </a:ln>
        </p:spPr>
      </p:sp>
      <p:sp>
        <p:nvSpPr>
          <p:cNvPr id="16" name="Text 14"/>
          <p:cNvSpPr/>
          <p:nvPr/>
        </p:nvSpPr>
        <p:spPr>
          <a:xfrm>
            <a:off x="4389120" y="1161288"/>
            <a:ext cx="2148840" cy="822960"/>
          </a:xfrm>
          <a:prstGeom prst="rect">
            <a:avLst/>
          </a:prstGeom>
          <a:noFill/>
          <a:ln/>
        </p:spPr>
        <p:txBody>
          <a:bodyPr wrap="square" lIns="0" tIns="0" rIns="0" bIns="0" rtlCol="0" anchor="ctr"/>
          <a:lstStyle/>
          <a:p>
            <a:pPr marL="0" indent="0" algn="ctr">
              <a:buNone/>
            </a:pPr>
            <a:r>
              <a:rPr lang="en-US" sz="3600" b="1" dirty="0">
                <a:solidFill>
                  <a:srgbClr val="E8192C"/>
                </a:solidFill>
                <a:latin typeface="Arial Black" pitchFamily="34" charset="0"/>
                <a:ea typeface="Arial Black" pitchFamily="34" charset="-122"/>
                <a:cs typeface="Arial Black" pitchFamily="34" charset="-120"/>
              </a:rPr>
              <a:t>14</a:t>
            </a:r>
            <a:endParaRPr lang="en-US" sz="3600" dirty="0"/>
          </a:p>
        </p:txBody>
      </p:sp>
      <p:sp>
        <p:nvSpPr>
          <p:cNvPr id="17" name="Text 15"/>
          <p:cNvSpPr/>
          <p:nvPr/>
        </p:nvSpPr>
        <p:spPr>
          <a:xfrm>
            <a:off x="4389120" y="2011680"/>
            <a:ext cx="2148840" cy="502920"/>
          </a:xfrm>
          <a:prstGeom prst="rect">
            <a:avLst/>
          </a:prstGeom>
          <a:noFill/>
          <a:ln/>
        </p:spPr>
        <p:txBody>
          <a:bodyPr wrap="square" lIns="0" tIns="0" rIns="0" bIns="0" rtlCol="0" anchor="ctr"/>
          <a:lstStyle/>
          <a:p>
            <a:pPr marL="0" indent="0" algn="ctr">
              <a:buNone/>
            </a:pPr>
            <a:r>
              <a:rPr lang="en-US" sz="1150" dirty="0">
                <a:solidFill>
                  <a:srgbClr val="555555"/>
                </a:solidFill>
                <a:latin typeface="Calibri" pitchFamily="34" charset="0"/>
                <a:ea typeface="Calibri" pitchFamily="34" charset="-122"/>
                <a:cs typeface="Calibri" pitchFamily="34" charset="-120"/>
              </a:rPr>
              <a:t>clusters formés</a:t>
            </a:r>
            <a:endParaRPr lang="en-US" sz="1150" dirty="0"/>
          </a:p>
        </p:txBody>
      </p:sp>
      <p:sp>
        <p:nvSpPr>
          <p:cNvPr id="18" name="Shape 16"/>
          <p:cNvSpPr/>
          <p:nvPr/>
        </p:nvSpPr>
        <p:spPr>
          <a:xfrm>
            <a:off x="6766560" y="960120"/>
            <a:ext cx="2148840" cy="16459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19" name="Shape 17"/>
          <p:cNvSpPr/>
          <p:nvPr/>
        </p:nvSpPr>
        <p:spPr>
          <a:xfrm>
            <a:off x="6766560" y="960120"/>
            <a:ext cx="2148840" cy="73152"/>
          </a:xfrm>
          <a:prstGeom prst="rect">
            <a:avLst/>
          </a:prstGeom>
          <a:solidFill>
            <a:srgbClr val="E8192C"/>
          </a:solidFill>
          <a:ln w="12700">
            <a:solidFill>
              <a:srgbClr val="E8192C"/>
            </a:solidFill>
            <a:prstDash val="solid"/>
          </a:ln>
        </p:spPr>
      </p:sp>
      <p:sp>
        <p:nvSpPr>
          <p:cNvPr id="20" name="Text 18"/>
          <p:cNvSpPr/>
          <p:nvPr/>
        </p:nvSpPr>
        <p:spPr>
          <a:xfrm>
            <a:off x="6766560" y="1161288"/>
            <a:ext cx="2148840" cy="822960"/>
          </a:xfrm>
          <a:prstGeom prst="rect">
            <a:avLst/>
          </a:prstGeom>
          <a:noFill/>
          <a:ln/>
        </p:spPr>
        <p:txBody>
          <a:bodyPr wrap="square" lIns="0" tIns="0" rIns="0" bIns="0" rtlCol="0" anchor="ctr"/>
          <a:lstStyle/>
          <a:p>
            <a:pPr marL="0" indent="0" algn="ctr">
              <a:buNone/>
            </a:pPr>
            <a:r>
              <a:rPr lang="en-US" sz="3600" b="1">
                <a:solidFill>
                  <a:srgbClr val="E8192C"/>
                </a:solidFill>
                <a:latin typeface="Arial Black"/>
                <a:ea typeface="Arial Black" pitchFamily="34" charset="-122"/>
                <a:cs typeface="Arial Black" pitchFamily="34" charset="-120"/>
              </a:rPr>
              <a:t>5.4%</a:t>
            </a:r>
            <a:endParaRPr lang="en-US" sz="3600">
              <a:latin typeface="Arial Black"/>
            </a:endParaRPr>
          </a:p>
        </p:txBody>
      </p:sp>
      <p:sp>
        <p:nvSpPr>
          <p:cNvPr id="21" name="Text 19"/>
          <p:cNvSpPr/>
          <p:nvPr/>
        </p:nvSpPr>
        <p:spPr>
          <a:xfrm>
            <a:off x="6766560" y="2011680"/>
            <a:ext cx="2148840" cy="502920"/>
          </a:xfrm>
          <a:prstGeom prst="rect">
            <a:avLst/>
          </a:prstGeom>
          <a:noFill/>
          <a:ln/>
        </p:spPr>
        <p:txBody>
          <a:bodyPr wrap="square" lIns="0" tIns="0" rIns="0" bIns="0" rtlCol="0" anchor="ctr"/>
          <a:lstStyle/>
          <a:p>
            <a:pPr marL="0" indent="0" algn="ctr">
              <a:buNone/>
            </a:pPr>
            <a:r>
              <a:rPr lang="en-US" sz="1150" dirty="0">
                <a:solidFill>
                  <a:srgbClr val="555555"/>
                </a:solidFill>
                <a:latin typeface="Calibri" pitchFamily="34" charset="0"/>
                <a:ea typeface="Calibri" pitchFamily="34" charset="-122"/>
                <a:cs typeface="Calibri" pitchFamily="34" charset="-120"/>
              </a:rPr>
              <a:t>taux d'outliers</a:t>
            </a:r>
            <a:endParaRPr lang="en-US" sz="1150" dirty="0"/>
          </a:p>
        </p:txBody>
      </p:sp>
      <p:sp>
        <p:nvSpPr>
          <p:cNvPr id="22" name="Shape 20"/>
          <p:cNvSpPr/>
          <p:nvPr/>
        </p:nvSpPr>
        <p:spPr>
          <a:xfrm>
            <a:off x="4389120" y="2880360"/>
            <a:ext cx="2148840" cy="16459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3" name="Shape 21"/>
          <p:cNvSpPr/>
          <p:nvPr/>
        </p:nvSpPr>
        <p:spPr>
          <a:xfrm>
            <a:off x="4389120" y="2880360"/>
            <a:ext cx="2148840" cy="73152"/>
          </a:xfrm>
          <a:prstGeom prst="rect">
            <a:avLst/>
          </a:prstGeom>
          <a:solidFill>
            <a:srgbClr val="E8192C"/>
          </a:solidFill>
          <a:ln w="12700">
            <a:solidFill>
              <a:srgbClr val="E8192C"/>
            </a:solidFill>
            <a:prstDash val="solid"/>
          </a:ln>
        </p:spPr>
      </p:sp>
      <p:sp>
        <p:nvSpPr>
          <p:cNvPr id="24" name="Text 22"/>
          <p:cNvSpPr/>
          <p:nvPr/>
        </p:nvSpPr>
        <p:spPr>
          <a:xfrm>
            <a:off x="4389120" y="3081528"/>
            <a:ext cx="2148840" cy="822960"/>
          </a:xfrm>
          <a:prstGeom prst="rect">
            <a:avLst/>
          </a:prstGeom>
          <a:noFill/>
          <a:ln/>
        </p:spPr>
        <p:txBody>
          <a:bodyPr wrap="square" lIns="0" tIns="0" rIns="0" bIns="0" rtlCol="0" anchor="ctr"/>
          <a:lstStyle/>
          <a:p>
            <a:pPr marL="0" indent="0" algn="ctr">
              <a:buNone/>
            </a:pPr>
            <a:r>
              <a:rPr lang="en-US" sz="3600" b="1">
                <a:solidFill>
                  <a:srgbClr val="E8192C"/>
                </a:solidFill>
                <a:latin typeface="Arial Black"/>
              </a:rPr>
              <a:t>241</a:t>
            </a:r>
            <a:endParaRPr lang="en-US" sz="3600" dirty="0"/>
          </a:p>
        </p:txBody>
      </p:sp>
      <p:sp>
        <p:nvSpPr>
          <p:cNvPr id="25" name="Text 23"/>
          <p:cNvSpPr/>
          <p:nvPr/>
        </p:nvSpPr>
        <p:spPr>
          <a:xfrm>
            <a:off x="4389120" y="3931920"/>
            <a:ext cx="2148840" cy="502920"/>
          </a:xfrm>
          <a:prstGeom prst="rect">
            <a:avLst/>
          </a:prstGeom>
          <a:noFill/>
          <a:ln/>
        </p:spPr>
        <p:txBody>
          <a:bodyPr wrap="square" lIns="0" tIns="0" rIns="0" bIns="0" rtlCol="0" anchor="ctr"/>
          <a:lstStyle/>
          <a:p>
            <a:pPr marL="0" indent="0" algn="ctr">
              <a:buNone/>
            </a:pPr>
            <a:r>
              <a:rPr lang="en-US" sz="1150" dirty="0">
                <a:solidFill>
                  <a:srgbClr val="555555"/>
                </a:solidFill>
                <a:latin typeface="Calibri" pitchFamily="34" charset="0"/>
                <a:ea typeface="Calibri" pitchFamily="34" charset="-122"/>
                <a:cs typeface="Calibri" pitchFamily="34" charset="-120"/>
              </a:rPr>
              <a:t>max produits / cluster</a:t>
            </a:r>
            <a:endParaRPr lang="en-US" sz="1150" dirty="0"/>
          </a:p>
        </p:txBody>
      </p:sp>
      <p:sp>
        <p:nvSpPr>
          <p:cNvPr id="26" name="Shape 24"/>
          <p:cNvSpPr/>
          <p:nvPr/>
        </p:nvSpPr>
        <p:spPr>
          <a:xfrm>
            <a:off x="6766560" y="2880360"/>
            <a:ext cx="2148840" cy="16459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7" name="Shape 25"/>
          <p:cNvSpPr/>
          <p:nvPr/>
        </p:nvSpPr>
        <p:spPr>
          <a:xfrm>
            <a:off x="6766560" y="2880360"/>
            <a:ext cx="2148840" cy="73152"/>
          </a:xfrm>
          <a:prstGeom prst="rect">
            <a:avLst/>
          </a:prstGeom>
          <a:solidFill>
            <a:srgbClr val="E8192C"/>
          </a:solidFill>
          <a:ln w="12700">
            <a:solidFill>
              <a:srgbClr val="E8192C"/>
            </a:solidFill>
            <a:prstDash val="solid"/>
          </a:ln>
        </p:spPr>
      </p:sp>
      <p:sp>
        <p:nvSpPr>
          <p:cNvPr id="28" name="Text 26"/>
          <p:cNvSpPr/>
          <p:nvPr/>
        </p:nvSpPr>
        <p:spPr>
          <a:xfrm>
            <a:off x="6766560" y="3081528"/>
            <a:ext cx="2148840" cy="822960"/>
          </a:xfrm>
          <a:prstGeom prst="rect">
            <a:avLst/>
          </a:prstGeom>
          <a:noFill/>
          <a:ln/>
        </p:spPr>
        <p:txBody>
          <a:bodyPr wrap="square" lIns="0" tIns="0" rIns="0" bIns="0" rtlCol="0" anchor="ctr"/>
          <a:lstStyle/>
          <a:p>
            <a:pPr marL="0" indent="0" algn="ctr">
              <a:buNone/>
            </a:pPr>
            <a:r>
              <a:rPr lang="en-US" sz="3600" b="1" dirty="0">
                <a:solidFill>
                  <a:srgbClr val="E8192C"/>
                </a:solidFill>
                <a:latin typeface="Arial Black" pitchFamily="34" charset="0"/>
                <a:ea typeface="Arial Black" pitchFamily="34" charset="-122"/>
                <a:cs typeface="Arial Black" pitchFamily="34" charset="-120"/>
              </a:rPr>
              <a:t>3</a:t>
            </a:r>
            <a:endParaRPr lang="en-US" sz="3600" dirty="0"/>
          </a:p>
        </p:txBody>
      </p:sp>
      <p:sp>
        <p:nvSpPr>
          <p:cNvPr id="29" name="Text 27"/>
          <p:cNvSpPr/>
          <p:nvPr/>
        </p:nvSpPr>
        <p:spPr>
          <a:xfrm>
            <a:off x="6766560" y="3931920"/>
            <a:ext cx="2148840" cy="502920"/>
          </a:xfrm>
          <a:prstGeom prst="rect">
            <a:avLst/>
          </a:prstGeom>
          <a:noFill/>
          <a:ln/>
        </p:spPr>
        <p:txBody>
          <a:bodyPr wrap="square" lIns="0" tIns="0" rIns="0" bIns="0" rtlCol="0" anchor="ctr"/>
          <a:lstStyle/>
          <a:p>
            <a:pPr marL="0" indent="0" algn="ctr">
              <a:buNone/>
            </a:pPr>
            <a:r>
              <a:rPr lang="en-US" sz="1150" dirty="0">
                <a:solidFill>
                  <a:srgbClr val="555555"/>
                </a:solidFill>
                <a:latin typeface="Calibri" pitchFamily="34" charset="0"/>
                <a:ea typeface="Calibri" pitchFamily="34" charset="-122"/>
                <a:cs typeface="Calibri" pitchFamily="34" charset="-120"/>
              </a:rPr>
              <a:t>min produits / cluster</a:t>
            </a:r>
            <a:endParaRPr lang="en-US" sz="1150" dirty="0"/>
          </a:p>
        </p:txBody>
      </p:sp>
      <p:sp>
        <p:nvSpPr>
          <p:cNvPr id="30" name="Text 28"/>
          <p:cNvSpPr/>
          <p:nvPr/>
        </p:nvSpPr>
        <p:spPr>
          <a:xfrm>
            <a:off x="4389120" y="4663440"/>
            <a:ext cx="4572000" cy="347472"/>
          </a:xfrm>
          <a:prstGeom prst="rect">
            <a:avLst/>
          </a:prstGeom>
          <a:noFill/>
          <a:ln/>
        </p:spPr>
        <p:txBody>
          <a:bodyPr wrap="square" lIns="0" tIns="0" rIns="0" bIns="0" rtlCol="0" anchor="ctr"/>
          <a:lstStyle/>
          <a:p>
            <a:pPr marL="0" indent="0">
              <a:buNone/>
            </a:pPr>
            <a:r>
              <a:rPr lang="en-US" sz="1000" i="1" dirty="0">
                <a:solidFill>
                  <a:srgbClr val="555555"/>
                </a:solidFill>
                <a:latin typeface="Calibri"/>
                <a:ea typeface="Calibri"/>
                <a:cs typeface="Calibri"/>
              </a:rPr>
              <a:t>Les </a:t>
            </a:r>
            <a:r>
              <a:rPr lang="en-US" sz="1000" i="1" dirty="0" err="1">
                <a:solidFill>
                  <a:srgbClr val="555555"/>
                </a:solidFill>
                <a:latin typeface="Calibri"/>
                <a:ea typeface="Calibri"/>
                <a:cs typeface="Calibri"/>
              </a:rPr>
              <a:t>wordclouds</a:t>
            </a:r>
            <a:r>
              <a:rPr lang="en-US" sz="1000" i="1" dirty="0">
                <a:solidFill>
                  <a:srgbClr val="555555"/>
                </a:solidFill>
                <a:latin typeface="Calibri"/>
                <a:ea typeface="Calibri"/>
                <a:cs typeface="Calibri"/>
              </a:rPr>
              <a:t> (page </a:t>
            </a:r>
            <a:r>
              <a:rPr lang="en-US" sz="1000" i="1" dirty="0" err="1">
                <a:solidFill>
                  <a:srgbClr val="555555"/>
                </a:solidFill>
                <a:latin typeface="Calibri"/>
                <a:ea typeface="Calibri"/>
                <a:cs typeface="Calibri"/>
              </a:rPr>
              <a:t>suivante</a:t>
            </a:r>
            <a:r>
              <a:rPr lang="en-US" sz="1000" i="1" dirty="0">
                <a:solidFill>
                  <a:srgbClr val="555555"/>
                </a:solidFill>
                <a:latin typeface="Calibri"/>
                <a:ea typeface="Calibri"/>
                <a:cs typeface="Calibri"/>
              </a:rPr>
              <a:t>) </a:t>
            </a:r>
            <a:r>
              <a:rPr lang="en-US" sz="1000" i="1" dirty="0" err="1">
                <a:solidFill>
                  <a:srgbClr val="555555"/>
                </a:solidFill>
                <a:latin typeface="Calibri"/>
                <a:ea typeface="Calibri"/>
                <a:cs typeface="Calibri"/>
              </a:rPr>
              <a:t>confirment</a:t>
            </a:r>
            <a:r>
              <a:rPr lang="en-US" sz="1000" i="1" dirty="0">
                <a:solidFill>
                  <a:srgbClr val="555555"/>
                </a:solidFill>
                <a:latin typeface="Calibri"/>
                <a:ea typeface="Calibri"/>
                <a:cs typeface="Calibri"/>
              </a:rPr>
              <a:t> la </a:t>
            </a:r>
            <a:r>
              <a:rPr lang="en-US" sz="1000" i="1" dirty="0" err="1">
                <a:solidFill>
                  <a:srgbClr val="555555"/>
                </a:solidFill>
                <a:latin typeface="Calibri"/>
                <a:ea typeface="Calibri"/>
                <a:cs typeface="Calibri"/>
              </a:rPr>
              <a:t>cohérence</a:t>
            </a:r>
            <a:r>
              <a:rPr lang="en-US" sz="1000" i="1" dirty="0">
                <a:solidFill>
                  <a:srgbClr val="555555"/>
                </a:solidFill>
                <a:latin typeface="Calibri"/>
                <a:ea typeface="Calibri"/>
                <a:cs typeface="Calibri"/>
              </a:rPr>
              <a:t> </a:t>
            </a:r>
            <a:r>
              <a:rPr lang="en-US" sz="1000" i="1" dirty="0" err="1">
                <a:solidFill>
                  <a:srgbClr val="555555"/>
                </a:solidFill>
                <a:latin typeface="Calibri"/>
                <a:ea typeface="Calibri"/>
                <a:cs typeface="Calibri"/>
              </a:rPr>
              <a:t>sémantique</a:t>
            </a:r>
            <a:r>
              <a:rPr lang="en-US" sz="1000" i="1" dirty="0">
                <a:solidFill>
                  <a:srgbClr val="555555"/>
                </a:solidFill>
                <a:latin typeface="Calibri"/>
                <a:ea typeface="Calibri"/>
                <a:cs typeface="Calibri"/>
              </a:rPr>
              <a:t> de </a:t>
            </a:r>
            <a:r>
              <a:rPr lang="en-US" sz="1000" i="1" dirty="0" err="1">
                <a:solidFill>
                  <a:srgbClr val="555555"/>
                </a:solidFill>
                <a:latin typeface="Calibri"/>
                <a:ea typeface="Calibri"/>
                <a:cs typeface="Calibri"/>
              </a:rPr>
              <a:t>chaque</a:t>
            </a:r>
            <a:r>
              <a:rPr lang="en-US" sz="1000" i="1" dirty="0">
                <a:solidFill>
                  <a:srgbClr val="555555"/>
                </a:solidFill>
                <a:latin typeface="Calibri"/>
                <a:ea typeface="Calibri"/>
                <a:cs typeface="Calibri"/>
              </a:rPr>
              <a:t> cluster : sous-</a:t>
            </a:r>
            <a:r>
              <a:rPr lang="en-US" sz="1000" i="1" dirty="0" err="1">
                <a:solidFill>
                  <a:srgbClr val="555555"/>
                </a:solidFill>
                <a:latin typeface="Calibri"/>
                <a:ea typeface="Calibri"/>
                <a:cs typeface="Calibri"/>
              </a:rPr>
              <a:t>vêtements</a:t>
            </a:r>
            <a:r>
              <a:rPr lang="en-US" sz="1000" i="1" dirty="0">
                <a:solidFill>
                  <a:srgbClr val="555555"/>
                </a:solidFill>
                <a:latin typeface="Calibri"/>
                <a:ea typeface="Calibri"/>
                <a:cs typeface="Calibri"/>
              </a:rPr>
              <a:t>, </a:t>
            </a:r>
            <a:r>
              <a:rPr lang="en-US" sz="1000" i="1" dirty="0" err="1">
                <a:solidFill>
                  <a:srgbClr val="555555"/>
                </a:solidFill>
                <a:latin typeface="Calibri"/>
                <a:ea typeface="Calibri"/>
                <a:cs typeface="Calibri"/>
              </a:rPr>
              <a:t>vestes</a:t>
            </a:r>
            <a:r>
              <a:rPr lang="en-US" sz="1000" i="1" dirty="0">
                <a:solidFill>
                  <a:srgbClr val="555555"/>
                </a:solidFill>
                <a:latin typeface="Calibri"/>
                <a:ea typeface="Calibri"/>
                <a:cs typeface="Calibri"/>
              </a:rPr>
              <a:t>, </a:t>
            </a:r>
            <a:r>
              <a:rPr lang="en-US" sz="1000" i="1" dirty="0" err="1">
                <a:solidFill>
                  <a:srgbClr val="555555"/>
                </a:solidFill>
                <a:latin typeface="Calibri"/>
                <a:ea typeface="Calibri"/>
                <a:cs typeface="Calibri"/>
              </a:rPr>
              <a:t>pantalons</a:t>
            </a:r>
            <a:r>
              <a:rPr lang="en-US" sz="1000" i="1" dirty="0">
                <a:solidFill>
                  <a:srgbClr val="555555"/>
                </a:solidFill>
                <a:latin typeface="Calibri"/>
                <a:ea typeface="Calibri"/>
                <a:cs typeface="Calibri"/>
              </a:rPr>
              <a:t>, chaussures, sacs, </a:t>
            </a:r>
            <a:r>
              <a:rPr lang="en-US" sz="1000" i="1" dirty="0" err="1">
                <a:solidFill>
                  <a:srgbClr val="555555"/>
                </a:solidFill>
                <a:latin typeface="Calibri"/>
                <a:ea typeface="Calibri"/>
                <a:cs typeface="Calibri"/>
              </a:rPr>
              <a:t>laine</a:t>
            </a:r>
            <a:r>
              <a:rPr lang="en-US" sz="1000" i="1" dirty="0">
                <a:solidFill>
                  <a:srgbClr val="555555"/>
                </a:solidFill>
                <a:latin typeface="Calibri"/>
                <a:ea typeface="Calibri"/>
                <a:cs typeface="Calibri"/>
              </a:rPr>
              <a:t> </a:t>
            </a:r>
            <a:r>
              <a:rPr lang="en-US" sz="1000" i="1">
                <a:solidFill>
                  <a:srgbClr val="555555"/>
                </a:solidFill>
                <a:latin typeface="Calibri"/>
                <a:ea typeface="Calibri"/>
                <a:cs typeface="Calibri"/>
              </a:rPr>
              <a:t>mérino, etc.</a:t>
            </a:r>
            <a:endParaRPr lang="en-US" sz="1000">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8192C"/>
          </a:solidFill>
          <a:ln w="12700">
            <a:solidFill>
              <a:srgbClr val="E8192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kern="0" spc="100" dirty="0">
                <a:solidFill>
                  <a:srgbClr val="FFFFFF"/>
                </a:solidFill>
                <a:latin typeface="Arial Black" pitchFamily="34" charset="0"/>
                <a:ea typeface="Arial Black" pitchFamily="34" charset="-122"/>
                <a:cs typeface="Arial Black" pitchFamily="34" charset="-120"/>
              </a:rPr>
              <a:t>WORDCLOUDS PAR CLUSTER DBSCAN</a:t>
            </a:r>
            <a:endParaRPr lang="en-US" sz="2000" dirty="0"/>
          </a:p>
        </p:txBody>
      </p:sp>
      <p:sp>
        <p:nvSpPr>
          <p:cNvPr id="5" name="Text 2"/>
          <p:cNvSpPr/>
          <p:nvPr/>
        </p:nvSpPr>
        <p:spPr>
          <a:xfrm>
            <a:off x="274320" y="4549140"/>
            <a:ext cx="8595360" cy="274320"/>
          </a:xfrm>
          <a:prstGeom prst="rect">
            <a:avLst/>
          </a:prstGeom>
          <a:noFill/>
          <a:ln/>
        </p:spPr>
        <p:txBody>
          <a:bodyPr wrap="square" lIns="0" tIns="0" rIns="0" bIns="0"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14 clusters sémantiques identifiés — chaque nuage révèle les termes les plus caractéristiques du groupe.</a:t>
            </a:r>
            <a:endParaRPr lang="en-US" sz="1000" dirty="0"/>
          </a:p>
        </p:txBody>
      </p:sp>
      <p:pic>
        <p:nvPicPr>
          <p:cNvPr id="6" name="Picture 5">
            <a:extLst>
              <a:ext uri="{FF2B5EF4-FFF2-40B4-BE49-F238E27FC236}">
                <a16:creationId xmlns:a16="http://schemas.microsoft.com/office/drawing/2014/main" id="{0BB7EBAB-9702-3F69-9909-64DAA452A024}"/>
              </a:ext>
            </a:extLst>
          </p:cNvPr>
          <p:cNvPicPr>
            <a:picLocks noChangeAspect="1"/>
          </p:cNvPicPr>
          <p:nvPr/>
        </p:nvPicPr>
        <p:blipFill>
          <a:blip r:embed="rId3"/>
          <a:stretch>
            <a:fillRect/>
          </a:stretch>
        </p:blipFill>
        <p:spPr>
          <a:xfrm>
            <a:off x="123825" y="1090613"/>
            <a:ext cx="4324350" cy="2962275"/>
          </a:xfrm>
          <a:prstGeom prst="rect">
            <a:avLst/>
          </a:prstGeom>
        </p:spPr>
      </p:pic>
      <p:pic>
        <p:nvPicPr>
          <p:cNvPr id="7" name="Picture 6">
            <a:extLst>
              <a:ext uri="{FF2B5EF4-FFF2-40B4-BE49-F238E27FC236}">
                <a16:creationId xmlns:a16="http://schemas.microsoft.com/office/drawing/2014/main" id="{3E11F10E-3899-C4B5-6EA5-C2C6ADF9C185}"/>
              </a:ext>
            </a:extLst>
          </p:cNvPr>
          <p:cNvPicPr>
            <a:picLocks noChangeAspect="1"/>
          </p:cNvPicPr>
          <p:nvPr/>
        </p:nvPicPr>
        <p:blipFill>
          <a:blip r:embed="rId4"/>
          <a:stretch>
            <a:fillRect/>
          </a:stretch>
        </p:blipFill>
        <p:spPr>
          <a:xfrm>
            <a:off x="4446270" y="1085850"/>
            <a:ext cx="4533900" cy="3124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1A"/>
          </a:solidFill>
          <a:ln w="12700">
            <a:solidFill>
              <a:srgbClr val="1A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kern="0" spc="100" dirty="0">
                <a:solidFill>
                  <a:srgbClr val="FFFFFF"/>
                </a:solidFill>
                <a:latin typeface="Arial Black" pitchFamily="34" charset="0"/>
                <a:ea typeface="Arial Black" pitchFamily="34" charset="-122"/>
                <a:cs typeface="Arial Black" pitchFamily="34" charset="-120"/>
              </a:rPr>
              <a:t>PARTIE 2 - SYSTÈME DE RECOMMANDATION</a:t>
            </a:r>
            <a:endParaRPr lang="en-US" sz="2200" dirty="0"/>
          </a:p>
        </p:txBody>
      </p:sp>
      <p:sp>
        <p:nvSpPr>
          <p:cNvPr id="4" name="Shape 2"/>
          <p:cNvSpPr/>
          <p:nvPr/>
        </p:nvSpPr>
        <p:spPr>
          <a:xfrm>
            <a:off x="320040" y="1097280"/>
            <a:ext cx="640080" cy="640080"/>
          </a:xfrm>
          <a:prstGeom prst="ellipse">
            <a:avLst/>
          </a:prstGeom>
          <a:solidFill>
            <a:srgbClr val="E8192C"/>
          </a:solidFill>
          <a:ln w="12700">
            <a:solidFill>
              <a:srgbClr val="E8192C"/>
            </a:solidFill>
            <a:prstDash val="solid"/>
          </a:ln>
        </p:spPr>
      </p:sp>
      <p:sp>
        <p:nvSpPr>
          <p:cNvPr id="5" name="Text 3"/>
          <p:cNvSpPr/>
          <p:nvPr/>
        </p:nvSpPr>
        <p:spPr>
          <a:xfrm>
            <a:off x="320040" y="10972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Shape 4"/>
          <p:cNvSpPr/>
          <p:nvPr/>
        </p:nvSpPr>
        <p:spPr>
          <a:xfrm>
            <a:off x="1097280" y="1005840"/>
            <a:ext cx="7772400" cy="100584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7" name="Text 5"/>
          <p:cNvSpPr/>
          <p:nvPr/>
        </p:nvSpPr>
        <p:spPr>
          <a:xfrm>
            <a:off x="1280160" y="1078992"/>
            <a:ext cx="74066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Identifier le cluster</a:t>
            </a:r>
            <a:endParaRPr lang="en-US" sz="1400" dirty="0"/>
          </a:p>
        </p:txBody>
      </p:sp>
      <p:sp>
        <p:nvSpPr>
          <p:cNvPr id="8" name="Text 6"/>
          <p:cNvSpPr/>
          <p:nvPr/>
        </p:nvSpPr>
        <p:spPr>
          <a:xfrm>
            <a:off x="1280160" y="1417320"/>
            <a:ext cx="7406640" cy="45720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On récupère le cluster DBSCAN du produit consulté par l'utilisateur.</a:t>
            </a:r>
            <a:endParaRPr lang="en-US" sz="1200" dirty="0"/>
          </a:p>
        </p:txBody>
      </p:sp>
      <p:sp>
        <p:nvSpPr>
          <p:cNvPr id="9" name="Shape 7"/>
          <p:cNvSpPr/>
          <p:nvPr/>
        </p:nvSpPr>
        <p:spPr>
          <a:xfrm>
            <a:off x="612648" y="2011680"/>
            <a:ext cx="54864" cy="228600"/>
          </a:xfrm>
          <a:prstGeom prst="rect">
            <a:avLst/>
          </a:prstGeom>
          <a:solidFill>
            <a:srgbClr val="E8192C"/>
          </a:solidFill>
          <a:ln w="12700">
            <a:solidFill>
              <a:srgbClr val="E8192C"/>
            </a:solidFill>
            <a:prstDash val="solid"/>
          </a:ln>
        </p:spPr>
      </p:sp>
      <p:sp>
        <p:nvSpPr>
          <p:cNvPr id="10" name="Shape 8"/>
          <p:cNvSpPr/>
          <p:nvPr/>
        </p:nvSpPr>
        <p:spPr>
          <a:xfrm>
            <a:off x="320040" y="2331720"/>
            <a:ext cx="640080" cy="640080"/>
          </a:xfrm>
          <a:prstGeom prst="ellipse">
            <a:avLst/>
          </a:prstGeom>
          <a:solidFill>
            <a:srgbClr val="E8192C"/>
          </a:solidFill>
          <a:ln w="12700">
            <a:solidFill>
              <a:srgbClr val="E8192C"/>
            </a:solidFill>
            <a:prstDash val="solid"/>
          </a:ln>
        </p:spPr>
      </p:sp>
      <p:sp>
        <p:nvSpPr>
          <p:cNvPr id="11" name="Text 9"/>
          <p:cNvSpPr/>
          <p:nvPr/>
        </p:nvSpPr>
        <p:spPr>
          <a:xfrm>
            <a:off x="320040" y="23317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1097280" y="2240280"/>
            <a:ext cx="7772400" cy="100584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13" name="Text 11"/>
          <p:cNvSpPr/>
          <p:nvPr/>
        </p:nvSpPr>
        <p:spPr>
          <a:xfrm>
            <a:off x="1280160" y="2313432"/>
            <a:ext cx="74066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Calculer la similarité</a:t>
            </a:r>
            <a:endParaRPr lang="en-US" sz="1400" dirty="0"/>
          </a:p>
        </p:txBody>
      </p:sp>
      <p:sp>
        <p:nvSpPr>
          <p:cNvPr id="14" name="Text 12"/>
          <p:cNvSpPr/>
          <p:nvPr/>
        </p:nvSpPr>
        <p:spPr>
          <a:xfrm>
            <a:off x="1280160" y="2651760"/>
            <a:ext cx="7406640" cy="457200"/>
          </a:xfrm>
          <a:prstGeom prst="rect">
            <a:avLst/>
          </a:prstGeom>
          <a:noFill/>
          <a:ln/>
        </p:spPr>
        <p:txBody>
          <a:bodyPr wrap="square" lIns="0" tIns="0" rIns="0" bIns="0" rtlCol="0" anchor="ctr"/>
          <a:lstStyle/>
          <a:p>
            <a:pPr marL="0" indent="0">
              <a:buNone/>
            </a:pPr>
            <a:r>
              <a:rPr lang="en-US" sz="1200" dirty="0">
                <a:solidFill>
                  <a:srgbClr val="555555"/>
                </a:solidFill>
                <a:latin typeface="Calibri" pitchFamily="34" charset="0"/>
                <a:ea typeface="Calibri" pitchFamily="34" charset="-122"/>
                <a:cs typeface="Calibri" pitchFamily="34" charset="-120"/>
              </a:rPr>
              <a:t>On calcule la similarité cosinus entre ce produit et tous ses voisins du même cluster via la matrice TF-IDF.</a:t>
            </a:r>
            <a:endParaRPr lang="en-US" sz="1200" dirty="0"/>
          </a:p>
        </p:txBody>
      </p:sp>
      <p:sp>
        <p:nvSpPr>
          <p:cNvPr id="15" name="Shape 13"/>
          <p:cNvSpPr/>
          <p:nvPr/>
        </p:nvSpPr>
        <p:spPr>
          <a:xfrm>
            <a:off x="612648" y="3246120"/>
            <a:ext cx="54864" cy="228600"/>
          </a:xfrm>
          <a:prstGeom prst="rect">
            <a:avLst/>
          </a:prstGeom>
          <a:solidFill>
            <a:srgbClr val="E8192C"/>
          </a:solidFill>
          <a:ln w="12700">
            <a:solidFill>
              <a:srgbClr val="E8192C"/>
            </a:solidFill>
            <a:prstDash val="solid"/>
          </a:ln>
        </p:spPr>
      </p:sp>
      <p:sp>
        <p:nvSpPr>
          <p:cNvPr id="16" name="Shape 14"/>
          <p:cNvSpPr/>
          <p:nvPr/>
        </p:nvSpPr>
        <p:spPr>
          <a:xfrm>
            <a:off x="320040" y="3566160"/>
            <a:ext cx="640080" cy="640080"/>
          </a:xfrm>
          <a:prstGeom prst="ellipse">
            <a:avLst/>
          </a:prstGeom>
          <a:solidFill>
            <a:srgbClr val="E8192C"/>
          </a:solidFill>
          <a:ln w="12700">
            <a:solidFill>
              <a:srgbClr val="E8192C"/>
            </a:solidFill>
            <a:prstDash val="solid"/>
          </a:ln>
        </p:spPr>
      </p:sp>
      <p:sp>
        <p:nvSpPr>
          <p:cNvPr id="17" name="Text 15"/>
          <p:cNvSpPr/>
          <p:nvPr/>
        </p:nvSpPr>
        <p:spPr>
          <a:xfrm>
            <a:off x="320040" y="35661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8" name="Shape 16"/>
          <p:cNvSpPr/>
          <p:nvPr/>
        </p:nvSpPr>
        <p:spPr>
          <a:xfrm>
            <a:off x="1097280" y="3474720"/>
            <a:ext cx="7772400" cy="1005840"/>
          </a:xfrm>
          <a:prstGeom prst="rect">
            <a:avLst/>
          </a:prstGeom>
          <a:solidFill>
            <a:srgbClr val="F4F4F4"/>
          </a:solidFill>
          <a:ln w="12700">
            <a:solidFill>
              <a:srgbClr val="CCCCCC"/>
            </a:solidFill>
            <a:prstDash val="solid"/>
          </a:ln>
          <a:effectLst>
            <a:outerShdw blurRad="101600" dist="38100" dir="8100000" algn="bl" rotWithShape="0">
              <a:srgbClr val="000000">
                <a:alpha val="12000"/>
              </a:srgbClr>
            </a:outerShdw>
          </a:effectLst>
        </p:spPr>
      </p:sp>
      <p:sp>
        <p:nvSpPr>
          <p:cNvPr id="19" name="Text 17"/>
          <p:cNvSpPr/>
          <p:nvPr/>
        </p:nvSpPr>
        <p:spPr>
          <a:xfrm>
            <a:off x="1280160" y="3547872"/>
            <a:ext cx="740664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Retourner les 5 plus proches</a:t>
            </a:r>
            <a:endParaRPr lang="en-US" sz="1400" dirty="0"/>
          </a:p>
        </p:txBody>
      </p:sp>
      <p:sp>
        <p:nvSpPr>
          <p:cNvPr id="20" name="Text 18"/>
          <p:cNvSpPr/>
          <p:nvPr/>
        </p:nvSpPr>
        <p:spPr>
          <a:xfrm>
            <a:off x="1280160" y="3886200"/>
            <a:ext cx="7406640" cy="457200"/>
          </a:xfrm>
          <a:prstGeom prst="rect">
            <a:avLst/>
          </a:prstGeom>
          <a:noFill/>
          <a:ln/>
        </p:spPr>
        <p:txBody>
          <a:bodyPr wrap="square" lIns="0" tIns="0" rIns="0" bIns="0" rtlCol="0" anchor="ctr"/>
          <a:lstStyle/>
          <a:p>
            <a:pPr marL="0" indent="0">
              <a:buNone/>
            </a:pPr>
            <a:r>
              <a:rPr lang="en-US" sz="1200" dirty="0">
                <a:solidFill>
                  <a:srgbClr val="555555"/>
                </a:solidFill>
                <a:latin typeface="Calibri"/>
                <a:ea typeface="Calibri"/>
                <a:cs typeface="Calibri"/>
              </a:rPr>
              <a:t>On </a:t>
            </a:r>
            <a:r>
              <a:rPr lang="en-US" sz="1200" dirty="0" err="1">
                <a:solidFill>
                  <a:srgbClr val="555555"/>
                </a:solidFill>
                <a:latin typeface="Calibri"/>
                <a:ea typeface="Calibri"/>
                <a:cs typeface="Calibri"/>
              </a:rPr>
              <a:t>retourne</a:t>
            </a:r>
            <a:r>
              <a:rPr lang="en-US" sz="1200" dirty="0">
                <a:solidFill>
                  <a:srgbClr val="555555"/>
                </a:solidFill>
                <a:latin typeface="Calibri"/>
                <a:ea typeface="Calibri"/>
                <a:cs typeface="Calibri"/>
              </a:rPr>
              <a:t> les 5 </a:t>
            </a:r>
            <a:r>
              <a:rPr lang="en-US" sz="1200" dirty="0" err="1">
                <a:solidFill>
                  <a:srgbClr val="555555"/>
                </a:solidFill>
                <a:latin typeface="Calibri"/>
                <a:ea typeface="Calibri"/>
                <a:cs typeface="Calibri"/>
              </a:rPr>
              <a:t>produits</a:t>
            </a:r>
            <a:r>
              <a:rPr lang="en-US" sz="1200" dirty="0">
                <a:solidFill>
                  <a:srgbClr val="555555"/>
                </a:solidFill>
                <a:latin typeface="Calibri"/>
                <a:ea typeface="Calibri"/>
                <a:cs typeface="Calibri"/>
              </a:rPr>
              <a:t> par </a:t>
            </a:r>
            <a:r>
              <a:rPr lang="en-US" sz="1200" dirty="0" err="1">
                <a:solidFill>
                  <a:srgbClr val="555555"/>
                </a:solidFill>
                <a:latin typeface="Calibri"/>
                <a:ea typeface="Calibri"/>
                <a:cs typeface="Calibri"/>
              </a:rPr>
              <a:t>ordre</a:t>
            </a:r>
            <a:r>
              <a:rPr lang="en-US" sz="1200" dirty="0">
                <a:solidFill>
                  <a:srgbClr val="555555"/>
                </a:solidFill>
                <a:latin typeface="Calibri"/>
                <a:ea typeface="Calibri"/>
                <a:cs typeface="Calibri"/>
              </a:rPr>
              <a:t> </a:t>
            </a:r>
            <a:r>
              <a:rPr lang="en-US" sz="1200" dirty="0" err="1">
                <a:solidFill>
                  <a:srgbClr val="555555"/>
                </a:solidFill>
                <a:latin typeface="Calibri"/>
                <a:ea typeface="Calibri"/>
                <a:cs typeface="Calibri"/>
              </a:rPr>
              <a:t>décroissant</a:t>
            </a:r>
            <a:r>
              <a:rPr lang="en-US" sz="1200" dirty="0">
                <a:solidFill>
                  <a:srgbClr val="555555"/>
                </a:solidFill>
                <a:latin typeface="Calibri"/>
                <a:ea typeface="Calibri"/>
                <a:cs typeface="Calibri"/>
              </a:rPr>
              <a:t> de </a:t>
            </a:r>
            <a:r>
              <a:rPr lang="en-US" sz="1200" dirty="0" err="1">
                <a:solidFill>
                  <a:srgbClr val="555555"/>
                </a:solidFill>
                <a:latin typeface="Calibri"/>
                <a:ea typeface="Calibri"/>
                <a:cs typeface="Calibri"/>
              </a:rPr>
              <a:t>similarité</a:t>
            </a:r>
            <a:r>
              <a:rPr lang="en-US" sz="1200" dirty="0">
                <a:solidFill>
                  <a:srgbClr val="555555"/>
                </a:solidFill>
                <a:latin typeface="Calibri"/>
                <a:ea typeface="Calibri"/>
                <a:cs typeface="Calibri"/>
              </a:rPr>
              <a:t> </a:t>
            </a:r>
            <a:r>
              <a:rPr lang="en-US" sz="1200" dirty="0" err="1">
                <a:solidFill>
                  <a:srgbClr val="555555"/>
                </a:solidFill>
                <a:latin typeface="Calibri"/>
                <a:ea typeface="Calibri"/>
                <a:cs typeface="Calibri"/>
              </a:rPr>
              <a:t>cosinus</a:t>
            </a:r>
            <a:r>
              <a:rPr lang="en-US" sz="1200" dirty="0">
                <a:solidFill>
                  <a:srgbClr val="555555"/>
                </a:solidFill>
                <a:latin typeface="Calibri"/>
                <a:ea typeface="Calibri"/>
                <a:cs typeface="Calibri"/>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8192C"/>
          </a:solidFill>
          <a:ln w="12700">
            <a:solidFill>
              <a:srgbClr val="E8192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kern="0" spc="100" dirty="0">
                <a:solidFill>
                  <a:srgbClr val="FFFFFF"/>
                </a:solidFill>
                <a:latin typeface="Arial Black" pitchFamily="34" charset="0"/>
                <a:ea typeface="Arial Black" pitchFamily="34" charset="-122"/>
                <a:cs typeface="Arial Black" pitchFamily="34" charset="-120"/>
              </a:rPr>
              <a:t>PARTIE 3 - MODÉLISATION THÉMATIQUE LSA</a:t>
            </a:r>
            <a:endParaRPr lang="en-US" sz="2200" dirty="0"/>
          </a:p>
        </p:txBody>
      </p:sp>
      <p:sp>
        <p:nvSpPr>
          <p:cNvPr id="4" name="Shape 2"/>
          <p:cNvSpPr/>
          <p:nvPr/>
        </p:nvSpPr>
        <p:spPr>
          <a:xfrm>
            <a:off x="274320" y="914400"/>
            <a:ext cx="8595360" cy="8686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5" name="Text 3"/>
          <p:cNvSpPr/>
          <p:nvPr/>
        </p:nvSpPr>
        <p:spPr>
          <a:xfrm>
            <a:off x="457200" y="978408"/>
            <a:ext cx="8229600" cy="292608"/>
          </a:xfrm>
          <a:prstGeom prst="rect">
            <a:avLst/>
          </a:prstGeom>
          <a:noFill/>
          <a:ln/>
        </p:spPr>
        <p:txBody>
          <a:bodyPr wrap="square" lIns="0" tIns="0" rIns="0" bIns="0" rtlCol="0" anchor="ctr"/>
          <a:lstStyle/>
          <a:p>
            <a:pPr marL="0" indent="0">
              <a:buNone/>
            </a:pPr>
            <a:r>
              <a:rPr lang="en-US" sz="1300" b="1" dirty="0">
                <a:solidFill>
                  <a:srgbClr val="E8192C"/>
                </a:solidFill>
                <a:latin typeface="Arial Black" pitchFamily="34" charset="0"/>
                <a:ea typeface="Arial Black" pitchFamily="34" charset="-122"/>
                <a:cs typeface="Arial Black" pitchFamily="34" charset="-120"/>
              </a:rPr>
              <a:t>Analyse Sémantique Latente (LSA) avec TruncatedSVD</a:t>
            </a:r>
            <a:endParaRPr lang="en-US" sz="1300" dirty="0"/>
          </a:p>
        </p:txBody>
      </p:sp>
      <p:sp>
        <p:nvSpPr>
          <p:cNvPr id="6" name="Text 4"/>
          <p:cNvSpPr/>
          <p:nvPr/>
        </p:nvSpPr>
        <p:spPr>
          <a:xfrm>
            <a:off x="457200" y="1280160"/>
            <a:ext cx="8229600" cy="438912"/>
          </a:xfrm>
          <a:prstGeom prst="rect">
            <a:avLst/>
          </a:prstGeom>
          <a:noFill/>
          <a:ln/>
        </p:spPr>
        <p:txBody>
          <a:bodyPr wrap="square" lIns="0" tIns="0" rIns="0" bIns="0" rtlCol="0" anchor="ctr"/>
          <a:lstStyle/>
          <a:p>
            <a:pPr marL="0" indent="0">
              <a:buNone/>
            </a:pPr>
            <a:r>
              <a:rPr lang="en-US" sz="1150" dirty="0" err="1">
                <a:solidFill>
                  <a:srgbClr val="555555"/>
                </a:solidFill>
                <a:latin typeface="Calibri"/>
                <a:ea typeface="Calibri"/>
                <a:cs typeface="Calibri"/>
              </a:rPr>
              <a:t>Contrairement</a:t>
            </a:r>
            <a:r>
              <a:rPr lang="en-US" sz="1150" dirty="0">
                <a:solidFill>
                  <a:srgbClr val="555555"/>
                </a:solidFill>
                <a:latin typeface="Calibri"/>
                <a:ea typeface="Calibri"/>
                <a:cs typeface="Calibri"/>
              </a:rPr>
              <a:t> au clustering, la LSA </a:t>
            </a:r>
            <a:r>
              <a:rPr lang="en-US" sz="1150" dirty="0" err="1">
                <a:solidFill>
                  <a:srgbClr val="555555"/>
                </a:solidFill>
                <a:latin typeface="Calibri"/>
                <a:ea typeface="Calibri"/>
                <a:cs typeface="Calibri"/>
              </a:rPr>
              <a:t>projette</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chaque</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produit</a:t>
            </a:r>
            <a:r>
              <a:rPr lang="en-US" sz="1150" dirty="0">
                <a:solidFill>
                  <a:srgbClr val="555555"/>
                </a:solidFill>
                <a:latin typeface="Calibri"/>
                <a:ea typeface="Calibri"/>
                <a:cs typeface="Calibri"/>
              </a:rPr>
              <a:t> dans un </a:t>
            </a:r>
            <a:r>
              <a:rPr lang="en-US" sz="1150" dirty="0" err="1">
                <a:solidFill>
                  <a:srgbClr val="555555"/>
                </a:solidFill>
                <a:latin typeface="Calibri"/>
                <a:ea typeface="Calibri"/>
                <a:cs typeface="Calibri"/>
              </a:rPr>
              <a:t>espace</a:t>
            </a:r>
            <a:r>
              <a:rPr lang="en-US" sz="1150" dirty="0">
                <a:solidFill>
                  <a:srgbClr val="555555"/>
                </a:solidFill>
                <a:latin typeface="Calibri"/>
                <a:ea typeface="Calibri"/>
                <a:cs typeface="Calibri"/>
              </a:rPr>
              <a:t> multi-</a:t>
            </a:r>
            <a:r>
              <a:rPr lang="en-US" sz="1150" dirty="0" err="1">
                <a:solidFill>
                  <a:srgbClr val="555555"/>
                </a:solidFill>
                <a:latin typeface="Calibri"/>
                <a:ea typeface="Calibri"/>
                <a:cs typeface="Calibri"/>
              </a:rPr>
              <a:t>thèmes</a:t>
            </a:r>
            <a:r>
              <a:rPr lang="en-US" sz="1150" dirty="0">
                <a:solidFill>
                  <a:srgbClr val="555555"/>
                </a:solidFill>
                <a:latin typeface="Calibri"/>
                <a:ea typeface="Calibri"/>
                <a:cs typeface="Calibri"/>
              </a:rPr>
              <a:t> : un </a:t>
            </a:r>
            <a:r>
              <a:rPr lang="en-US" sz="1150" dirty="0" err="1">
                <a:solidFill>
                  <a:srgbClr val="555555"/>
                </a:solidFill>
                <a:latin typeface="Calibri"/>
                <a:ea typeface="Calibri"/>
                <a:cs typeface="Calibri"/>
              </a:rPr>
              <a:t>même</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produit</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peut</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être</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associé</a:t>
            </a:r>
            <a:r>
              <a:rPr lang="en-US" sz="1150" dirty="0">
                <a:solidFill>
                  <a:srgbClr val="555555"/>
                </a:solidFill>
                <a:latin typeface="Calibri"/>
                <a:ea typeface="Calibri"/>
                <a:cs typeface="Calibri"/>
              </a:rPr>
              <a:t> à </a:t>
            </a:r>
            <a:r>
              <a:rPr lang="en-US" sz="1150" dirty="0" err="1">
                <a:solidFill>
                  <a:srgbClr val="555555"/>
                </a:solidFill>
                <a:latin typeface="Calibri"/>
                <a:ea typeface="Calibri"/>
                <a:cs typeface="Calibri"/>
              </a:rPr>
              <a:t>plusieurs</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thèmes</a:t>
            </a:r>
            <a:r>
              <a:rPr lang="en-US" sz="1150" dirty="0">
                <a:solidFill>
                  <a:srgbClr val="555555"/>
                </a:solidFill>
                <a:latin typeface="Calibri"/>
                <a:ea typeface="Calibri"/>
                <a:cs typeface="Calibri"/>
              </a:rPr>
              <a:t> </a:t>
            </a:r>
            <a:r>
              <a:rPr lang="en-US" sz="1150" dirty="0" err="1">
                <a:solidFill>
                  <a:srgbClr val="555555"/>
                </a:solidFill>
                <a:latin typeface="Calibri"/>
                <a:ea typeface="Calibri"/>
                <a:cs typeface="Calibri"/>
              </a:rPr>
              <a:t>simultanément</a:t>
            </a:r>
            <a:r>
              <a:rPr lang="en-US" sz="1150" dirty="0">
                <a:solidFill>
                  <a:srgbClr val="555555"/>
                </a:solidFill>
                <a:latin typeface="Calibri"/>
                <a:ea typeface="Calibri"/>
                <a:cs typeface="Calibri"/>
              </a:rPr>
              <a:t>.</a:t>
            </a:r>
            <a:endParaRPr lang="en-US" sz="1150" dirty="0"/>
          </a:p>
        </p:txBody>
      </p:sp>
      <p:sp>
        <p:nvSpPr>
          <p:cNvPr id="7" name="Shape 5"/>
          <p:cNvSpPr/>
          <p:nvPr/>
        </p:nvSpPr>
        <p:spPr>
          <a:xfrm>
            <a:off x="274320" y="1920240"/>
            <a:ext cx="1965960" cy="13258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Shape 6"/>
          <p:cNvSpPr/>
          <p:nvPr/>
        </p:nvSpPr>
        <p:spPr>
          <a:xfrm>
            <a:off x="274320" y="1920240"/>
            <a:ext cx="1965960" cy="64008"/>
          </a:xfrm>
          <a:prstGeom prst="rect">
            <a:avLst/>
          </a:prstGeom>
          <a:solidFill>
            <a:srgbClr val="E8192C"/>
          </a:solidFill>
          <a:ln w="12700">
            <a:solidFill>
              <a:srgbClr val="E8192C"/>
            </a:solidFill>
            <a:prstDash val="solid"/>
          </a:ln>
        </p:spPr>
      </p:sp>
      <p:sp>
        <p:nvSpPr>
          <p:cNvPr id="9" name="Text 7"/>
          <p:cNvSpPr/>
          <p:nvPr/>
        </p:nvSpPr>
        <p:spPr>
          <a:xfrm>
            <a:off x="274320" y="2011680"/>
            <a:ext cx="1965960" cy="658368"/>
          </a:xfrm>
          <a:prstGeom prst="rect">
            <a:avLst/>
          </a:prstGeom>
          <a:noFill/>
          <a:ln/>
        </p:spPr>
        <p:txBody>
          <a:bodyPr wrap="square" lIns="0" tIns="0" rIns="0" bIns="0" rtlCol="0" anchor="ctr"/>
          <a:lstStyle/>
          <a:p>
            <a:pPr marL="0" indent="0" algn="ctr">
              <a:buNone/>
            </a:pPr>
            <a:r>
              <a:rPr lang="en-US" sz="3000" b="1">
                <a:solidFill>
                  <a:srgbClr val="E8192C"/>
                </a:solidFill>
                <a:latin typeface="Arial Black"/>
              </a:rPr>
              <a:t>20</a:t>
            </a:r>
            <a:endParaRPr lang="en-US" sz="3000" dirty="0"/>
          </a:p>
        </p:txBody>
      </p:sp>
      <p:sp>
        <p:nvSpPr>
          <p:cNvPr id="10" name="Text 8"/>
          <p:cNvSpPr/>
          <p:nvPr/>
        </p:nvSpPr>
        <p:spPr>
          <a:xfrm>
            <a:off x="274320" y="2688336"/>
            <a:ext cx="1965960" cy="502920"/>
          </a:xfrm>
          <a:prstGeom prst="rect">
            <a:avLst/>
          </a:prstGeom>
          <a:noFill/>
          <a:ln/>
        </p:spPr>
        <p:txBody>
          <a:bodyPr wrap="square" lIns="0" tIns="0" rIns="0" bIns="0" rtlCol="0" anchor="ctr"/>
          <a:lstStyle/>
          <a:p>
            <a:pPr marL="0" indent="0" algn="ctr">
              <a:buNone/>
            </a:pPr>
            <a:r>
              <a:rPr lang="en-US" sz="1050" dirty="0">
                <a:solidFill>
                  <a:srgbClr val="555555"/>
                </a:solidFill>
                <a:latin typeface="Calibri" pitchFamily="34" charset="0"/>
                <a:ea typeface="Calibri" pitchFamily="34" charset="-122"/>
                <a:cs typeface="Calibri" pitchFamily="34" charset="-120"/>
              </a:rPr>
              <a:t>thèmes latents</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extraits</a:t>
            </a:r>
            <a:endParaRPr lang="en-US" sz="1050" dirty="0"/>
          </a:p>
        </p:txBody>
      </p:sp>
      <p:sp>
        <p:nvSpPr>
          <p:cNvPr id="11" name="Shape 9"/>
          <p:cNvSpPr/>
          <p:nvPr/>
        </p:nvSpPr>
        <p:spPr>
          <a:xfrm>
            <a:off x="2450592" y="1920240"/>
            <a:ext cx="1965960" cy="13258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12" name="Shape 10"/>
          <p:cNvSpPr/>
          <p:nvPr/>
        </p:nvSpPr>
        <p:spPr>
          <a:xfrm>
            <a:off x="2450592" y="1920240"/>
            <a:ext cx="1965960" cy="64008"/>
          </a:xfrm>
          <a:prstGeom prst="rect">
            <a:avLst/>
          </a:prstGeom>
          <a:solidFill>
            <a:srgbClr val="E8192C"/>
          </a:solidFill>
          <a:ln w="12700">
            <a:solidFill>
              <a:srgbClr val="E8192C"/>
            </a:solidFill>
            <a:prstDash val="solid"/>
          </a:ln>
        </p:spPr>
      </p:sp>
      <p:sp>
        <p:nvSpPr>
          <p:cNvPr id="13" name="Text 11"/>
          <p:cNvSpPr/>
          <p:nvPr/>
        </p:nvSpPr>
        <p:spPr>
          <a:xfrm>
            <a:off x="2450592" y="2011680"/>
            <a:ext cx="1965960" cy="658368"/>
          </a:xfrm>
          <a:prstGeom prst="rect">
            <a:avLst/>
          </a:prstGeom>
          <a:noFill/>
          <a:ln/>
        </p:spPr>
        <p:txBody>
          <a:bodyPr wrap="square" lIns="0" tIns="0" rIns="0" bIns="0" rtlCol="0" anchor="ctr"/>
          <a:lstStyle/>
          <a:p>
            <a:pPr marL="0" indent="0" algn="ctr">
              <a:buNone/>
            </a:pPr>
            <a:r>
              <a:rPr lang="en-US" sz="3000" b="1">
                <a:solidFill>
                  <a:srgbClr val="E8192C"/>
                </a:solidFill>
                <a:latin typeface="Arial Black"/>
              </a:rPr>
              <a:t>30.5%</a:t>
            </a:r>
            <a:endParaRPr lang="en-US" sz="3000">
              <a:latin typeface="Arial Black"/>
            </a:endParaRPr>
          </a:p>
        </p:txBody>
      </p:sp>
      <p:sp>
        <p:nvSpPr>
          <p:cNvPr id="14" name="Text 12"/>
          <p:cNvSpPr/>
          <p:nvPr/>
        </p:nvSpPr>
        <p:spPr>
          <a:xfrm>
            <a:off x="2450592" y="2688336"/>
            <a:ext cx="1965960" cy="502920"/>
          </a:xfrm>
          <a:prstGeom prst="rect">
            <a:avLst/>
          </a:prstGeom>
          <a:noFill/>
          <a:ln/>
        </p:spPr>
        <p:txBody>
          <a:bodyPr wrap="square" lIns="0" tIns="0" rIns="0" bIns="0" rtlCol="0" anchor="ctr"/>
          <a:lstStyle/>
          <a:p>
            <a:pPr marL="0" indent="0" algn="ctr">
              <a:buNone/>
            </a:pPr>
            <a:r>
              <a:rPr lang="en-US" sz="1050" dirty="0">
                <a:solidFill>
                  <a:srgbClr val="555555"/>
                </a:solidFill>
                <a:latin typeface="Calibri"/>
                <a:ea typeface="Calibri"/>
                <a:cs typeface="Calibri"/>
              </a:rPr>
              <a:t>variance </a:t>
            </a:r>
            <a:r>
              <a:rPr lang="en-US" sz="1050" dirty="0" err="1">
                <a:solidFill>
                  <a:srgbClr val="555555"/>
                </a:solidFill>
                <a:latin typeface="Calibri"/>
                <a:ea typeface="Calibri"/>
                <a:cs typeface="Calibri"/>
              </a:rPr>
              <a:t>expliquée</a:t>
            </a:r>
            <a:endParaRPr lang="en-US" sz="1050" dirty="0" err="1">
              <a:latin typeface="Calibri"/>
              <a:ea typeface="Calibri"/>
              <a:cs typeface="Calibri"/>
            </a:endParaRPr>
          </a:p>
          <a:p>
            <a:pPr algn="ctr"/>
            <a:r>
              <a:rPr lang="en-US" sz="1050" dirty="0">
                <a:solidFill>
                  <a:srgbClr val="555555"/>
                </a:solidFill>
                <a:latin typeface="Calibri"/>
                <a:ea typeface="Calibri"/>
                <a:cs typeface="Calibri"/>
              </a:rPr>
              <a:t>par 20 </a:t>
            </a:r>
            <a:r>
              <a:rPr lang="en-US" sz="1050" dirty="0" err="1">
                <a:solidFill>
                  <a:srgbClr val="555555"/>
                </a:solidFill>
                <a:latin typeface="Calibri"/>
                <a:ea typeface="Calibri"/>
                <a:cs typeface="Calibri"/>
              </a:rPr>
              <a:t>composantes</a:t>
            </a:r>
            <a:endParaRPr lang="en-US" sz="1050" dirty="0" err="1">
              <a:latin typeface="Calibri"/>
              <a:ea typeface="Calibri"/>
              <a:cs typeface="Calibri"/>
            </a:endParaRPr>
          </a:p>
        </p:txBody>
      </p:sp>
      <p:sp>
        <p:nvSpPr>
          <p:cNvPr id="15" name="Shape 13"/>
          <p:cNvSpPr/>
          <p:nvPr/>
        </p:nvSpPr>
        <p:spPr>
          <a:xfrm>
            <a:off x="4626864" y="1920240"/>
            <a:ext cx="1965960" cy="13258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16" name="Shape 14"/>
          <p:cNvSpPr/>
          <p:nvPr/>
        </p:nvSpPr>
        <p:spPr>
          <a:xfrm>
            <a:off x="4626864" y="1920240"/>
            <a:ext cx="1965960" cy="64008"/>
          </a:xfrm>
          <a:prstGeom prst="rect">
            <a:avLst/>
          </a:prstGeom>
          <a:solidFill>
            <a:srgbClr val="E8192C"/>
          </a:solidFill>
          <a:ln w="12700">
            <a:solidFill>
              <a:srgbClr val="E8192C"/>
            </a:solidFill>
            <a:prstDash val="solid"/>
          </a:ln>
        </p:spPr>
      </p:sp>
      <p:sp>
        <p:nvSpPr>
          <p:cNvPr id="17" name="Text 15"/>
          <p:cNvSpPr/>
          <p:nvPr/>
        </p:nvSpPr>
        <p:spPr>
          <a:xfrm>
            <a:off x="4626864" y="2011680"/>
            <a:ext cx="1965960" cy="658368"/>
          </a:xfrm>
          <a:prstGeom prst="rect">
            <a:avLst/>
          </a:prstGeom>
          <a:noFill/>
          <a:ln/>
        </p:spPr>
        <p:txBody>
          <a:bodyPr wrap="square" lIns="0" tIns="0" rIns="0" bIns="0" rtlCol="0" anchor="ctr"/>
          <a:lstStyle/>
          <a:p>
            <a:pPr marL="0" indent="0" algn="ctr">
              <a:buNone/>
            </a:pPr>
            <a:r>
              <a:rPr lang="en-US" sz="3000" b="1" dirty="0">
                <a:solidFill>
                  <a:srgbClr val="E8192C"/>
                </a:solidFill>
                <a:latin typeface="Arial Black" pitchFamily="34" charset="0"/>
                <a:ea typeface="Arial Black" pitchFamily="34" charset="-122"/>
                <a:cs typeface="Arial Black" pitchFamily="34" charset="-120"/>
              </a:rPr>
              <a:t>500</a:t>
            </a:r>
            <a:endParaRPr lang="en-US" sz="3000" dirty="0"/>
          </a:p>
        </p:txBody>
      </p:sp>
      <p:sp>
        <p:nvSpPr>
          <p:cNvPr id="18" name="Text 16"/>
          <p:cNvSpPr/>
          <p:nvPr/>
        </p:nvSpPr>
        <p:spPr>
          <a:xfrm>
            <a:off x="4626864" y="2688336"/>
            <a:ext cx="1965960" cy="502920"/>
          </a:xfrm>
          <a:prstGeom prst="rect">
            <a:avLst/>
          </a:prstGeom>
          <a:noFill/>
          <a:ln/>
        </p:spPr>
        <p:txBody>
          <a:bodyPr wrap="square" lIns="0" tIns="0" rIns="0" bIns="0" rtlCol="0" anchor="ctr"/>
          <a:lstStyle/>
          <a:p>
            <a:pPr marL="0" indent="0" algn="ctr">
              <a:buNone/>
            </a:pPr>
            <a:r>
              <a:rPr lang="en-US" sz="1050" dirty="0">
                <a:solidFill>
                  <a:srgbClr val="555555"/>
                </a:solidFill>
                <a:latin typeface="Calibri" pitchFamily="34" charset="0"/>
                <a:ea typeface="Calibri" pitchFamily="34" charset="-122"/>
                <a:cs typeface="Calibri" pitchFamily="34" charset="-120"/>
              </a:rPr>
              <a:t>produits</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recodés</a:t>
            </a:r>
            <a:endParaRPr lang="en-US" sz="1050" dirty="0"/>
          </a:p>
        </p:txBody>
      </p:sp>
      <p:sp>
        <p:nvSpPr>
          <p:cNvPr id="19" name="Shape 17"/>
          <p:cNvSpPr/>
          <p:nvPr/>
        </p:nvSpPr>
        <p:spPr>
          <a:xfrm>
            <a:off x="6803136" y="1920240"/>
            <a:ext cx="1965960" cy="13258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0" name="Shape 18"/>
          <p:cNvSpPr/>
          <p:nvPr/>
        </p:nvSpPr>
        <p:spPr>
          <a:xfrm>
            <a:off x="6803136" y="1920240"/>
            <a:ext cx="1965960" cy="64008"/>
          </a:xfrm>
          <a:prstGeom prst="rect">
            <a:avLst/>
          </a:prstGeom>
          <a:solidFill>
            <a:srgbClr val="E8192C"/>
          </a:solidFill>
          <a:ln w="12700">
            <a:solidFill>
              <a:srgbClr val="E8192C"/>
            </a:solidFill>
            <a:prstDash val="solid"/>
          </a:ln>
        </p:spPr>
      </p:sp>
      <p:sp>
        <p:nvSpPr>
          <p:cNvPr id="21" name="Text 19"/>
          <p:cNvSpPr/>
          <p:nvPr/>
        </p:nvSpPr>
        <p:spPr>
          <a:xfrm>
            <a:off x="6803136" y="2011680"/>
            <a:ext cx="1965960" cy="658368"/>
          </a:xfrm>
          <a:prstGeom prst="rect">
            <a:avLst/>
          </a:prstGeom>
          <a:noFill/>
          <a:ln/>
        </p:spPr>
        <p:txBody>
          <a:bodyPr wrap="square" lIns="0" tIns="0" rIns="0" bIns="0" rtlCol="0" anchor="ctr"/>
          <a:lstStyle/>
          <a:p>
            <a:pPr marL="0" indent="0" algn="ctr">
              <a:buNone/>
            </a:pPr>
            <a:r>
              <a:rPr lang="en-US" sz="1300" b="1" dirty="0">
                <a:solidFill>
                  <a:srgbClr val="E8192C"/>
                </a:solidFill>
                <a:latin typeface="Calibri" pitchFamily="34" charset="0"/>
                <a:ea typeface="Calibri" pitchFamily="34" charset="-122"/>
                <a:cs typeface="Calibri" pitchFamily="34" charset="-120"/>
              </a:rPr>
              <a:t>topic_encoded_df</a:t>
            </a:r>
            <a:endParaRPr lang="en-US" sz="1300" dirty="0"/>
          </a:p>
        </p:txBody>
      </p:sp>
      <p:sp>
        <p:nvSpPr>
          <p:cNvPr id="22" name="Text 20"/>
          <p:cNvSpPr/>
          <p:nvPr/>
        </p:nvSpPr>
        <p:spPr>
          <a:xfrm>
            <a:off x="6803136" y="2688336"/>
            <a:ext cx="1965960" cy="502920"/>
          </a:xfrm>
          <a:prstGeom prst="rect">
            <a:avLst/>
          </a:prstGeom>
          <a:noFill/>
          <a:ln/>
        </p:spPr>
        <p:txBody>
          <a:bodyPr wrap="square" lIns="0" tIns="0" rIns="0" bIns="0" rtlCol="0" anchor="ctr"/>
          <a:lstStyle/>
          <a:p>
            <a:pPr marL="0" indent="0" algn="ctr">
              <a:buNone/>
            </a:pPr>
            <a:r>
              <a:rPr lang="en-US" sz="1050" dirty="0">
                <a:solidFill>
                  <a:srgbClr val="555555"/>
                </a:solidFill>
                <a:latin typeface="Calibri" pitchFamily="34" charset="0"/>
                <a:ea typeface="Calibri" pitchFamily="34" charset="-122"/>
                <a:cs typeface="Calibri" pitchFamily="34" charset="-120"/>
              </a:rPr>
              <a:t>matrice</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document × thèmes</a:t>
            </a:r>
            <a:endParaRPr lang="en-US" sz="1050" dirty="0"/>
          </a:p>
        </p:txBody>
      </p:sp>
      <p:pic>
        <p:nvPicPr>
          <p:cNvPr id="24" name="Picture 23">
            <a:extLst>
              <a:ext uri="{FF2B5EF4-FFF2-40B4-BE49-F238E27FC236}">
                <a16:creationId xmlns:a16="http://schemas.microsoft.com/office/drawing/2014/main" id="{51B2CDE5-3C03-DFBD-A7B1-5C6E7D582B31}"/>
              </a:ext>
            </a:extLst>
          </p:cNvPr>
          <p:cNvPicPr>
            <a:picLocks noChangeAspect="1"/>
          </p:cNvPicPr>
          <p:nvPr/>
        </p:nvPicPr>
        <p:blipFill>
          <a:blip r:embed="rId3"/>
          <a:stretch>
            <a:fillRect/>
          </a:stretch>
        </p:blipFill>
        <p:spPr>
          <a:xfrm>
            <a:off x="365760" y="3358658"/>
            <a:ext cx="8321040" cy="17866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8192C"/>
          </a:solidFill>
          <a:ln w="12700">
            <a:solidFill>
              <a:srgbClr val="E8192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kern="0" spc="100" dirty="0">
                <a:solidFill>
                  <a:srgbClr val="FFFFFF"/>
                </a:solidFill>
                <a:latin typeface="Arial Black" pitchFamily="34" charset="0"/>
                <a:ea typeface="Arial Black" pitchFamily="34" charset="-122"/>
                <a:cs typeface="Arial Black" pitchFamily="34" charset="-120"/>
              </a:rPr>
              <a:t>WORDCLOUDS PAR THÈME LSA (TruncatedSVD)</a:t>
            </a:r>
            <a:endParaRPr lang="en-US" sz="2000" dirty="0"/>
          </a:p>
        </p:txBody>
      </p:sp>
      <p:pic>
        <p:nvPicPr>
          <p:cNvPr id="6" name="Picture 5">
            <a:extLst>
              <a:ext uri="{FF2B5EF4-FFF2-40B4-BE49-F238E27FC236}">
                <a16:creationId xmlns:a16="http://schemas.microsoft.com/office/drawing/2014/main" id="{EBAC046F-D686-3A05-2926-AB270C44C0C8}"/>
              </a:ext>
            </a:extLst>
          </p:cNvPr>
          <p:cNvPicPr>
            <a:picLocks noChangeAspect="1"/>
          </p:cNvPicPr>
          <p:nvPr/>
        </p:nvPicPr>
        <p:blipFill>
          <a:blip r:embed="rId3"/>
          <a:stretch>
            <a:fillRect/>
          </a:stretch>
        </p:blipFill>
        <p:spPr>
          <a:xfrm>
            <a:off x="3810" y="929640"/>
            <a:ext cx="4457700" cy="3086100"/>
          </a:xfrm>
          <a:prstGeom prst="rect">
            <a:avLst/>
          </a:prstGeom>
        </p:spPr>
      </p:pic>
      <p:pic>
        <p:nvPicPr>
          <p:cNvPr id="7" name="Picture 6">
            <a:extLst>
              <a:ext uri="{FF2B5EF4-FFF2-40B4-BE49-F238E27FC236}">
                <a16:creationId xmlns:a16="http://schemas.microsoft.com/office/drawing/2014/main" id="{6BDE2859-2BEC-2671-5C00-A8100E9F6F24}"/>
              </a:ext>
            </a:extLst>
          </p:cNvPr>
          <p:cNvPicPr>
            <a:picLocks noChangeAspect="1"/>
          </p:cNvPicPr>
          <p:nvPr/>
        </p:nvPicPr>
        <p:blipFill>
          <a:blip r:embed="rId4"/>
          <a:stretch>
            <a:fillRect/>
          </a:stretch>
        </p:blipFill>
        <p:spPr>
          <a:xfrm>
            <a:off x="4467225" y="1090613"/>
            <a:ext cx="4476750" cy="2962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8192C"/>
          </a:solidFill>
          <a:ln w="12700">
            <a:solidFill>
              <a:srgbClr val="E8192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kern="0" spc="200">
                <a:solidFill>
                  <a:srgbClr val="FFFFFF"/>
                </a:solidFill>
                <a:latin typeface="Arial Black"/>
                <a:ea typeface="Arial Black" pitchFamily="34" charset="-122"/>
                <a:cs typeface="Arial Black" pitchFamily="34" charset="-120"/>
              </a:rPr>
              <a:t>SYNTHÈSE ET CONCLUSION</a:t>
            </a:r>
            <a:endParaRPr lang="en-US" sz="2400" dirty="0"/>
          </a:p>
        </p:txBody>
      </p:sp>
      <p:sp>
        <p:nvSpPr>
          <p:cNvPr id="4" name="Shape 2"/>
          <p:cNvSpPr/>
          <p:nvPr/>
        </p:nvSpPr>
        <p:spPr>
          <a:xfrm>
            <a:off x="274320" y="960120"/>
            <a:ext cx="2743200" cy="3977640"/>
          </a:xfrm>
          <a:prstGeom prst="rect">
            <a:avLst/>
          </a:prstGeom>
          <a:solidFill>
            <a:srgbClr val="232323"/>
          </a:solidFill>
          <a:ln w="12700">
            <a:solidFill>
              <a:srgbClr val="232323"/>
            </a:solidFill>
            <a:prstDash val="solid"/>
          </a:ln>
          <a:effectLst>
            <a:outerShdw blurRad="101600" dist="38100" dir="8100000" algn="bl" rotWithShape="0">
              <a:srgbClr val="000000">
                <a:alpha val="12000"/>
              </a:srgbClr>
            </a:outerShdw>
          </a:effectLst>
        </p:spPr>
      </p:sp>
      <p:sp>
        <p:nvSpPr>
          <p:cNvPr id="5" name="Shape 3"/>
          <p:cNvSpPr/>
          <p:nvPr/>
        </p:nvSpPr>
        <p:spPr>
          <a:xfrm>
            <a:off x="274320" y="960120"/>
            <a:ext cx="2743200" cy="73152"/>
          </a:xfrm>
          <a:prstGeom prst="rect">
            <a:avLst/>
          </a:prstGeom>
          <a:solidFill>
            <a:srgbClr val="E8192C"/>
          </a:solidFill>
          <a:ln w="12700">
            <a:solidFill>
              <a:srgbClr val="E8192C"/>
            </a:solidFill>
            <a:prstDash val="solid"/>
          </a:ln>
        </p:spPr>
      </p:sp>
      <p:sp>
        <p:nvSpPr>
          <p:cNvPr id="6" name="Text 4"/>
          <p:cNvSpPr/>
          <p:nvPr/>
        </p:nvSpPr>
        <p:spPr>
          <a:xfrm>
            <a:off x="384048" y="1078992"/>
            <a:ext cx="548640" cy="347472"/>
          </a:xfrm>
          <a:prstGeom prst="rect">
            <a:avLst/>
          </a:prstGeom>
          <a:noFill/>
          <a:ln/>
        </p:spPr>
        <p:txBody>
          <a:bodyPr wrap="square" lIns="0" tIns="0" rIns="0" bIns="0" rtlCol="0" anchor="ctr"/>
          <a:lstStyle/>
          <a:p>
            <a:pPr marL="0" indent="0">
              <a:buNone/>
            </a:pPr>
            <a:r>
              <a:rPr lang="en-US" sz="1800" b="1" dirty="0">
                <a:solidFill>
                  <a:srgbClr val="E8192C"/>
                </a:solidFill>
                <a:latin typeface="Arial Black" pitchFamily="34" charset="0"/>
                <a:ea typeface="Arial Black" pitchFamily="34" charset="-122"/>
                <a:cs typeface="Arial Black" pitchFamily="34" charset="-120"/>
              </a:rPr>
              <a:t>01</a:t>
            </a:r>
            <a:endParaRPr lang="en-US" sz="1800" dirty="0"/>
          </a:p>
        </p:txBody>
      </p:sp>
      <p:sp>
        <p:nvSpPr>
          <p:cNvPr id="7" name="Text 5"/>
          <p:cNvSpPr/>
          <p:nvPr/>
        </p:nvSpPr>
        <p:spPr>
          <a:xfrm>
            <a:off x="384048" y="1463040"/>
            <a:ext cx="2523744"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Clustering DBSCAN</a:t>
            </a:r>
            <a:endParaRPr lang="en-US" sz="1300" dirty="0"/>
          </a:p>
        </p:txBody>
      </p:sp>
      <p:sp>
        <p:nvSpPr>
          <p:cNvPr id="8" name="Shape 6"/>
          <p:cNvSpPr/>
          <p:nvPr/>
        </p:nvSpPr>
        <p:spPr>
          <a:xfrm>
            <a:off x="384048" y="1920240"/>
            <a:ext cx="2523744" cy="27432"/>
          </a:xfrm>
          <a:prstGeom prst="rect">
            <a:avLst/>
          </a:prstGeom>
          <a:solidFill>
            <a:srgbClr val="3A3A3A"/>
          </a:solidFill>
          <a:ln w="12700">
            <a:solidFill>
              <a:srgbClr val="3A3A3A"/>
            </a:solidFill>
            <a:prstDash val="solid"/>
          </a:ln>
        </p:spPr>
      </p:sp>
      <p:sp>
        <p:nvSpPr>
          <p:cNvPr id="9" name="Text 7"/>
          <p:cNvSpPr/>
          <p:nvPr/>
        </p:nvSpPr>
        <p:spPr>
          <a:xfrm>
            <a:off x="384048" y="2029968"/>
            <a:ext cx="2523744" cy="4389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14 clusters sémantiques identifiés</a:t>
            </a:r>
            <a:endParaRPr lang="en-US" sz="1150" dirty="0"/>
          </a:p>
        </p:txBody>
      </p:sp>
      <p:sp>
        <p:nvSpPr>
          <p:cNvPr id="10" name="Text 8"/>
          <p:cNvSpPr/>
          <p:nvPr/>
        </p:nvSpPr>
        <p:spPr>
          <a:xfrm>
            <a:off x="384048" y="2532888"/>
            <a:ext cx="2523744" cy="438912"/>
          </a:xfrm>
          <a:prstGeom prst="rect">
            <a:avLst/>
          </a:prstGeom>
          <a:noFill/>
          <a:ln/>
        </p:spPr>
        <p:txBody>
          <a:bodyPr wrap="square" lIns="0" tIns="0" rIns="0" bIns="0" rtlCol="0" anchor="ctr"/>
          <a:lstStyle/>
          <a:p>
            <a:r>
              <a:rPr lang="en-US" sz="1150" b="1" dirty="0">
                <a:solidFill>
                  <a:srgbClr val="E8192C"/>
                </a:solidFill>
                <a:latin typeface="Calibri"/>
                <a:ea typeface="Calibri"/>
                <a:cs typeface="Calibri"/>
              </a:rPr>
              <a:t>- </a:t>
            </a:r>
            <a:r>
              <a:rPr lang="en-US" sz="1150" dirty="0" err="1">
                <a:solidFill>
                  <a:srgbClr val="CCCCCC"/>
                </a:solidFill>
                <a:latin typeface="Calibri"/>
                <a:ea typeface="Calibri"/>
                <a:cs typeface="Calibri"/>
              </a:rPr>
              <a:t>Seulement</a:t>
            </a:r>
            <a:r>
              <a:rPr lang="en-US" sz="1150" dirty="0">
                <a:solidFill>
                  <a:srgbClr val="CCCCCC"/>
                </a:solidFill>
                <a:latin typeface="Calibri"/>
                <a:ea typeface="Calibri"/>
                <a:cs typeface="Calibri"/>
              </a:rPr>
              <a:t> 5.4% </a:t>
            </a:r>
            <a:r>
              <a:rPr lang="en-US" sz="1150" dirty="0" err="1">
                <a:solidFill>
                  <a:srgbClr val="CCCCCC"/>
                </a:solidFill>
                <a:latin typeface="Calibri"/>
                <a:ea typeface="Calibri"/>
                <a:cs typeface="Calibri"/>
              </a:rPr>
              <a:t>d'outliers</a:t>
            </a:r>
            <a:endParaRPr lang="en-US" sz="1150" dirty="0" err="1">
              <a:latin typeface="Calibri"/>
              <a:ea typeface="Calibri"/>
              <a:cs typeface="Calibri"/>
            </a:endParaRPr>
          </a:p>
        </p:txBody>
      </p:sp>
      <p:sp>
        <p:nvSpPr>
          <p:cNvPr id="11" name="Text 9"/>
          <p:cNvSpPr/>
          <p:nvPr/>
        </p:nvSpPr>
        <p:spPr>
          <a:xfrm>
            <a:off x="384048" y="3035808"/>
            <a:ext cx="2523744" cy="438912"/>
          </a:xfrm>
          <a:prstGeom prst="rect">
            <a:avLst/>
          </a:prstGeom>
          <a:noFill/>
          <a:ln/>
        </p:spPr>
        <p:txBody>
          <a:bodyPr wrap="square" lIns="0" tIns="0" rIns="0" bIns="0" rtlCol="0" anchor="ctr"/>
          <a:lstStyle/>
          <a:p>
            <a:r>
              <a:rPr lang="en-US" sz="1150" b="1" dirty="0">
                <a:solidFill>
                  <a:srgbClr val="E8192C"/>
                </a:solidFill>
                <a:latin typeface="Calibri"/>
                <a:ea typeface="Calibri"/>
                <a:cs typeface="Calibri"/>
              </a:rPr>
              <a:t>- </a:t>
            </a:r>
            <a:r>
              <a:rPr lang="en-US" sz="1200" dirty="0" err="1">
                <a:solidFill>
                  <a:srgbClr val="CCCCCC"/>
                </a:solidFill>
                <a:latin typeface="Calibri"/>
                <a:ea typeface="Calibri"/>
                <a:cs typeface="Calibri"/>
              </a:rPr>
              <a:t>spaCy</a:t>
            </a:r>
            <a:r>
              <a:rPr lang="en-US" sz="1200" dirty="0">
                <a:solidFill>
                  <a:srgbClr val="CCCCCC"/>
                </a:solidFill>
                <a:latin typeface="Calibri"/>
                <a:ea typeface="Calibri"/>
                <a:cs typeface="Calibri"/>
              </a:rPr>
              <a:t> </a:t>
            </a:r>
            <a:r>
              <a:rPr lang="en-US" sz="1150" dirty="0">
                <a:solidFill>
                  <a:srgbClr val="CCCCCC"/>
                </a:solidFill>
                <a:latin typeface="Calibri"/>
                <a:ea typeface="Calibri"/>
                <a:cs typeface="Calibri"/>
              </a:rPr>
              <a:t>+ TF-IDF + </a:t>
            </a:r>
            <a:r>
              <a:rPr lang="en-US" sz="1200" dirty="0">
                <a:solidFill>
                  <a:srgbClr val="CCCCCC"/>
                </a:solidFill>
                <a:latin typeface="Calibri"/>
                <a:ea typeface="Calibri"/>
                <a:cs typeface="Calibri"/>
              </a:rPr>
              <a:t>Distance </a:t>
            </a:r>
            <a:r>
              <a:rPr lang="en-US" sz="1200" dirty="0" err="1">
                <a:solidFill>
                  <a:srgbClr val="CCCCCC"/>
                </a:solidFill>
                <a:latin typeface="Calibri"/>
                <a:ea typeface="Calibri"/>
                <a:cs typeface="Calibri"/>
              </a:rPr>
              <a:t>cosinus</a:t>
            </a:r>
            <a:r>
              <a:rPr lang="en-US" sz="1200" dirty="0">
                <a:solidFill>
                  <a:srgbClr val="CCCCCC"/>
                </a:solidFill>
                <a:latin typeface="Calibri"/>
                <a:ea typeface="Calibri"/>
                <a:cs typeface="Calibri"/>
              </a:rPr>
              <a:t> </a:t>
            </a:r>
            <a:r>
              <a:rPr lang="en-US" sz="1150" dirty="0">
                <a:solidFill>
                  <a:srgbClr val="CCCCCC"/>
                </a:solidFill>
                <a:latin typeface="Calibri"/>
                <a:ea typeface="Calibri"/>
                <a:cs typeface="Calibri"/>
              </a:rPr>
              <a:t> </a:t>
            </a:r>
            <a:endParaRPr lang="en-US" dirty="0"/>
          </a:p>
        </p:txBody>
      </p:sp>
      <p:sp>
        <p:nvSpPr>
          <p:cNvPr id="12" name="Text 10"/>
          <p:cNvSpPr/>
          <p:nvPr/>
        </p:nvSpPr>
        <p:spPr>
          <a:xfrm>
            <a:off x="384048" y="3538728"/>
            <a:ext cx="2523744" cy="4389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Wordclouds : cohérence validée</a:t>
            </a:r>
            <a:endParaRPr lang="en-US" sz="1150" dirty="0"/>
          </a:p>
        </p:txBody>
      </p:sp>
      <p:sp>
        <p:nvSpPr>
          <p:cNvPr id="13" name="Shape 11"/>
          <p:cNvSpPr/>
          <p:nvPr/>
        </p:nvSpPr>
        <p:spPr>
          <a:xfrm>
            <a:off x="3218688" y="982980"/>
            <a:ext cx="2743200" cy="3977640"/>
          </a:xfrm>
          <a:prstGeom prst="rect">
            <a:avLst/>
          </a:prstGeom>
          <a:solidFill>
            <a:srgbClr val="232323"/>
          </a:solidFill>
          <a:ln w="12700">
            <a:solidFill>
              <a:srgbClr val="232323"/>
            </a:solidFill>
            <a:prstDash val="solid"/>
          </a:ln>
          <a:effectLst>
            <a:outerShdw blurRad="101600" dist="38100" dir="8100000" algn="bl" rotWithShape="0">
              <a:srgbClr val="000000">
                <a:alpha val="12000"/>
              </a:srgbClr>
            </a:outerShdw>
          </a:effectLst>
        </p:spPr>
      </p:sp>
      <p:sp>
        <p:nvSpPr>
          <p:cNvPr id="14" name="Shape 12"/>
          <p:cNvSpPr/>
          <p:nvPr/>
        </p:nvSpPr>
        <p:spPr>
          <a:xfrm>
            <a:off x="3218688" y="960120"/>
            <a:ext cx="2743200" cy="73152"/>
          </a:xfrm>
          <a:prstGeom prst="rect">
            <a:avLst/>
          </a:prstGeom>
          <a:solidFill>
            <a:srgbClr val="E8192C"/>
          </a:solidFill>
          <a:ln w="12700">
            <a:solidFill>
              <a:srgbClr val="E8192C"/>
            </a:solidFill>
            <a:prstDash val="solid"/>
          </a:ln>
        </p:spPr>
      </p:sp>
      <p:sp>
        <p:nvSpPr>
          <p:cNvPr id="15" name="Text 13"/>
          <p:cNvSpPr/>
          <p:nvPr/>
        </p:nvSpPr>
        <p:spPr>
          <a:xfrm>
            <a:off x="3328416" y="1078992"/>
            <a:ext cx="548640" cy="347472"/>
          </a:xfrm>
          <a:prstGeom prst="rect">
            <a:avLst/>
          </a:prstGeom>
          <a:noFill/>
          <a:ln/>
        </p:spPr>
        <p:txBody>
          <a:bodyPr wrap="square" lIns="0" tIns="0" rIns="0" bIns="0" rtlCol="0" anchor="ctr"/>
          <a:lstStyle/>
          <a:p>
            <a:pPr marL="0" indent="0">
              <a:buNone/>
            </a:pPr>
            <a:r>
              <a:rPr lang="en-US" sz="1800" b="1" dirty="0">
                <a:solidFill>
                  <a:srgbClr val="E8192C"/>
                </a:solidFill>
                <a:latin typeface="Arial Black" pitchFamily="34" charset="0"/>
                <a:ea typeface="Arial Black" pitchFamily="34" charset="-122"/>
                <a:cs typeface="Arial Black" pitchFamily="34" charset="-120"/>
              </a:rPr>
              <a:t>02</a:t>
            </a:r>
            <a:endParaRPr lang="en-US" sz="1800" dirty="0"/>
          </a:p>
        </p:txBody>
      </p:sp>
      <p:sp>
        <p:nvSpPr>
          <p:cNvPr id="16" name="Text 14"/>
          <p:cNvSpPr/>
          <p:nvPr/>
        </p:nvSpPr>
        <p:spPr>
          <a:xfrm>
            <a:off x="3328416" y="1463040"/>
            <a:ext cx="2523744"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Recommandation</a:t>
            </a:r>
            <a:endParaRPr lang="en-US" sz="1300" dirty="0"/>
          </a:p>
        </p:txBody>
      </p:sp>
      <p:sp>
        <p:nvSpPr>
          <p:cNvPr id="17" name="Shape 15"/>
          <p:cNvSpPr/>
          <p:nvPr/>
        </p:nvSpPr>
        <p:spPr>
          <a:xfrm>
            <a:off x="3328416" y="1920240"/>
            <a:ext cx="2523744" cy="27432"/>
          </a:xfrm>
          <a:prstGeom prst="rect">
            <a:avLst/>
          </a:prstGeom>
          <a:solidFill>
            <a:srgbClr val="3A3A3A"/>
          </a:solidFill>
          <a:ln w="12700">
            <a:solidFill>
              <a:srgbClr val="3A3A3A"/>
            </a:solidFill>
            <a:prstDash val="solid"/>
          </a:ln>
        </p:spPr>
      </p:sp>
      <p:sp>
        <p:nvSpPr>
          <p:cNvPr id="19" name="Text 17"/>
          <p:cNvSpPr/>
          <p:nvPr/>
        </p:nvSpPr>
        <p:spPr>
          <a:xfrm>
            <a:off x="3328416" y="2029968"/>
            <a:ext cx="2523744" cy="4389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Tri par similarité cosinus décroissante</a:t>
            </a:r>
            <a:endParaRPr lang="en-US" sz="1150" dirty="0"/>
          </a:p>
        </p:txBody>
      </p:sp>
      <p:sp>
        <p:nvSpPr>
          <p:cNvPr id="20" name="Text 18"/>
          <p:cNvSpPr/>
          <p:nvPr/>
        </p:nvSpPr>
        <p:spPr>
          <a:xfrm>
            <a:off x="3328416" y="2570988"/>
            <a:ext cx="2523744" cy="4008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5 produits les plus pertinents</a:t>
            </a:r>
            <a:endParaRPr lang="en-US" sz="1150" dirty="0"/>
          </a:p>
        </p:txBody>
      </p:sp>
      <p:sp>
        <p:nvSpPr>
          <p:cNvPr id="21" name="Text 19"/>
          <p:cNvSpPr/>
          <p:nvPr/>
        </p:nvSpPr>
        <p:spPr>
          <a:xfrm>
            <a:off x="3328416" y="3035808"/>
            <a:ext cx="2523744" cy="43129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Interface utilisateur via input()</a:t>
            </a:r>
            <a:endParaRPr lang="en-US" sz="1150" dirty="0"/>
          </a:p>
        </p:txBody>
      </p:sp>
      <p:sp>
        <p:nvSpPr>
          <p:cNvPr id="22" name="Shape 20"/>
          <p:cNvSpPr/>
          <p:nvPr/>
        </p:nvSpPr>
        <p:spPr>
          <a:xfrm>
            <a:off x="6163056" y="960120"/>
            <a:ext cx="2743200" cy="3977640"/>
          </a:xfrm>
          <a:prstGeom prst="rect">
            <a:avLst/>
          </a:prstGeom>
          <a:solidFill>
            <a:srgbClr val="232323"/>
          </a:solidFill>
          <a:ln w="12700">
            <a:solidFill>
              <a:srgbClr val="232323"/>
            </a:solidFill>
            <a:prstDash val="solid"/>
          </a:ln>
          <a:effectLst>
            <a:outerShdw blurRad="101600" dist="38100" dir="8100000" algn="bl" rotWithShape="0">
              <a:srgbClr val="000000">
                <a:alpha val="12000"/>
              </a:srgbClr>
            </a:outerShdw>
          </a:effectLst>
        </p:spPr>
      </p:sp>
      <p:sp>
        <p:nvSpPr>
          <p:cNvPr id="23" name="Shape 21"/>
          <p:cNvSpPr/>
          <p:nvPr/>
        </p:nvSpPr>
        <p:spPr>
          <a:xfrm>
            <a:off x="6163056" y="960120"/>
            <a:ext cx="2743200" cy="73152"/>
          </a:xfrm>
          <a:prstGeom prst="rect">
            <a:avLst/>
          </a:prstGeom>
          <a:solidFill>
            <a:srgbClr val="E8192C"/>
          </a:solidFill>
          <a:ln w="12700">
            <a:solidFill>
              <a:srgbClr val="E8192C"/>
            </a:solidFill>
            <a:prstDash val="solid"/>
          </a:ln>
        </p:spPr>
      </p:sp>
      <p:sp>
        <p:nvSpPr>
          <p:cNvPr id="24" name="Text 22"/>
          <p:cNvSpPr/>
          <p:nvPr/>
        </p:nvSpPr>
        <p:spPr>
          <a:xfrm>
            <a:off x="6272784" y="1078992"/>
            <a:ext cx="548640" cy="347472"/>
          </a:xfrm>
          <a:prstGeom prst="rect">
            <a:avLst/>
          </a:prstGeom>
          <a:noFill/>
          <a:ln/>
        </p:spPr>
        <p:txBody>
          <a:bodyPr wrap="square" lIns="0" tIns="0" rIns="0" bIns="0" rtlCol="0" anchor="ctr"/>
          <a:lstStyle/>
          <a:p>
            <a:pPr marL="0" indent="0">
              <a:buNone/>
            </a:pPr>
            <a:r>
              <a:rPr lang="en-US" sz="1800" b="1" dirty="0">
                <a:solidFill>
                  <a:srgbClr val="E8192C"/>
                </a:solidFill>
                <a:latin typeface="Arial Black" pitchFamily="34" charset="0"/>
                <a:ea typeface="Arial Black" pitchFamily="34" charset="-122"/>
                <a:cs typeface="Arial Black" pitchFamily="34" charset="-120"/>
              </a:rPr>
              <a:t>03</a:t>
            </a:r>
            <a:endParaRPr lang="en-US" sz="1800" dirty="0"/>
          </a:p>
        </p:txBody>
      </p:sp>
      <p:sp>
        <p:nvSpPr>
          <p:cNvPr id="25" name="Text 23"/>
          <p:cNvSpPr/>
          <p:nvPr/>
        </p:nvSpPr>
        <p:spPr>
          <a:xfrm>
            <a:off x="6272784" y="1463040"/>
            <a:ext cx="2523744"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Modélisation LSA</a:t>
            </a:r>
            <a:endParaRPr lang="en-US" sz="1300" dirty="0"/>
          </a:p>
        </p:txBody>
      </p:sp>
      <p:sp>
        <p:nvSpPr>
          <p:cNvPr id="26" name="Shape 24"/>
          <p:cNvSpPr/>
          <p:nvPr/>
        </p:nvSpPr>
        <p:spPr>
          <a:xfrm>
            <a:off x="6272784" y="1920240"/>
            <a:ext cx="2523744" cy="27432"/>
          </a:xfrm>
          <a:prstGeom prst="rect">
            <a:avLst/>
          </a:prstGeom>
          <a:solidFill>
            <a:srgbClr val="3A3A3A"/>
          </a:solidFill>
          <a:ln w="12700">
            <a:solidFill>
              <a:srgbClr val="3A3A3A"/>
            </a:solidFill>
            <a:prstDash val="solid"/>
          </a:ln>
        </p:spPr>
      </p:sp>
      <p:sp>
        <p:nvSpPr>
          <p:cNvPr id="27" name="Text 25"/>
          <p:cNvSpPr/>
          <p:nvPr/>
        </p:nvSpPr>
        <p:spPr>
          <a:xfrm>
            <a:off x="6272784" y="2029968"/>
            <a:ext cx="2523744" cy="438912"/>
          </a:xfrm>
          <a:prstGeom prst="rect">
            <a:avLst/>
          </a:prstGeom>
          <a:noFill/>
          <a:ln/>
        </p:spPr>
        <p:txBody>
          <a:bodyPr wrap="square" lIns="0" tIns="0" rIns="0" bIns="0" rtlCol="0" anchor="ctr"/>
          <a:lstStyle/>
          <a:p>
            <a:r>
              <a:rPr lang="en-US" sz="1150" b="1" dirty="0">
                <a:solidFill>
                  <a:srgbClr val="E8192C"/>
                </a:solidFill>
                <a:latin typeface="Calibri"/>
                <a:ea typeface="Calibri"/>
                <a:cs typeface="Calibri"/>
              </a:rPr>
              <a:t>- </a:t>
            </a:r>
            <a:r>
              <a:rPr lang="en-US" sz="1150" dirty="0">
                <a:solidFill>
                  <a:srgbClr val="CCCCCC"/>
                </a:solidFill>
                <a:latin typeface="Calibri"/>
                <a:ea typeface="Calibri"/>
                <a:cs typeface="Calibri"/>
              </a:rPr>
              <a:t> 20 </a:t>
            </a:r>
            <a:r>
              <a:rPr lang="en-US" sz="1150" dirty="0" err="1">
                <a:solidFill>
                  <a:srgbClr val="CCCCCC"/>
                </a:solidFill>
                <a:latin typeface="Calibri"/>
                <a:ea typeface="Calibri"/>
                <a:cs typeface="Calibri"/>
              </a:rPr>
              <a:t>thèmes</a:t>
            </a:r>
            <a:r>
              <a:rPr lang="en-US" sz="1150" dirty="0">
                <a:solidFill>
                  <a:srgbClr val="CCCCCC"/>
                </a:solidFill>
                <a:latin typeface="Calibri"/>
                <a:ea typeface="Calibri"/>
                <a:cs typeface="Calibri"/>
              </a:rPr>
              <a:t> </a:t>
            </a:r>
            <a:r>
              <a:rPr lang="en-US" sz="1150" dirty="0" err="1">
                <a:solidFill>
                  <a:srgbClr val="CCCCCC"/>
                </a:solidFill>
                <a:latin typeface="Calibri"/>
                <a:ea typeface="Calibri"/>
                <a:cs typeface="Calibri"/>
              </a:rPr>
              <a:t>latents</a:t>
            </a:r>
            <a:r>
              <a:rPr lang="en-US" sz="1150" dirty="0">
                <a:solidFill>
                  <a:srgbClr val="CCCCCC"/>
                </a:solidFill>
                <a:latin typeface="Calibri"/>
                <a:ea typeface="Calibri"/>
                <a:cs typeface="Calibri"/>
              </a:rPr>
              <a:t> extraits</a:t>
            </a:r>
            <a:endParaRPr lang="en-US" sz="1150" dirty="0">
              <a:latin typeface="Calibri"/>
              <a:ea typeface="Calibri"/>
              <a:cs typeface="Calibri"/>
            </a:endParaRPr>
          </a:p>
        </p:txBody>
      </p:sp>
      <p:sp>
        <p:nvSpPr>
          <p:cNvPr id="29" name="Text 27"/>
          <p:cNvSpPr/>
          <p:nvPr/>
        </p:nvSpPr>
        <p:spPr>
          <a:xfrm>
            <a:off x="6257544" y="2532888"/>
            <a:ext cx="2523744" cy="4389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Représentation multi-thèmes</a:t>
            </a:r>
            <a:endParaRPr lang="en-US" sz="1150" dirty="0"/>
          </a:p>
        </p:txBody>
      </p:sp>
      <p:sp>
        <p:nvSpPr>
          <p:cNvPr id="30" name="Text 28"/>
          <p:cNvSpPr/>
          <p:nvPr/>
        </p:nvSpPr>
        <p:spPr>
          <a:xfrm>
            <a:off x="6272784" y="3035808"/>
            <a:ext cx="2523744" cy="438912"/>
          </a:xfrm>
          <a:prstGeom prst="rect">
            <a:avLst/>
          </a:prstGeom>
          <a:noFill/>
          <a:ln/>
        </p:spPr>
        <p:txBody>
          <a:bodyPr wrap="square" lIns="0" tIns="0" rIns="0" bIns="0" rtlCol="0" anchor="ctr"/>
          <a:lstStyle/>
          <a:p>
            <a:pPr marL="0" indent="0">
              <a:buNone/>
            </a:pPr>
            <a:r>
              <a:rPr lang="en-US" sz="1150" b="1" dirty="0">
                <a:solidFill>
                  <a:srgbClr val="E8192C"/>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Complémentaire au clustering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ma14="http://schemas.microsoft.com/office/mac/drawingml/2011/main" xmlns=""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10</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39815" y="1824487"/>
            <a:ext cx="5104682" cy="1194622"/>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00">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2100" dirty="0">
                <a:solidFill>
                  <a:schemeClr val="bg1"/>
                </a:solidFill>
                <a:latin typeface="Cambria"/>
                <a:ea typeface="Cambria"/>
              </a:rPr>
              <a:t>?</a:t>
            </a:r>
            <a:endParaRPr lang="fr-FR">
              <a:solidFill>
                <a:schemeClr val="bg1"/>
              </a:solidFill>
              <a:ea typeface="Calibri"/>
              <a:cs typeface="Calibri"/>
            </a:endParaRPr>
          </a:p>
          <a:p>
            <a:pPr algn="ct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lIns="91440" tIns="45720" rIns="91440" bIns="4572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00" noProof="0" dirty="0">
              <a:solidFill>
                <a:srgbClr val="FF0000"/>
              </a:solidFill>
              <a:ea typeface="Calibri"/>
              <a:cs typeface="Calibri"/>
            </a:endParaRPr>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Affichage à l'écran (16:9)</PresentationFormat>
  <Paragraphs>0</Paragraphs>
  <Slides>10</Slides>
  <Notes>10</Notes>
  <HiddenSlides>0</HiddenSlides>
  <MMClips>0</MMClips>
  <ScaleCrop>false</ScaleCrop>
  <HeadingPairs>
    <vt:vector size="4" baseType="variant">
      <vt:variant>
        <vt:lpstr>Thème</vt:lpstr>
      </vt:variant>
      <vt:variant>
        <vt:i4>1</vt:i4>
      </vt:variant>
      <vt:variant>
        <vt:lpstr>Titres des diapositives</vt:lpstr>
      </vt:variant>
      <vt:variant>
        <vt:i4>10</vt:i4>
      </vt:variant>
    </vt:vector>
  </HeadingPairs>
  <TitlesOfParts>
    <vt:vector size="11"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North Face - Boosting Online Sales</dc:title>
  <dc:subject>PptxGenJS Presentation</dc:subject>
  <dc:creator>PptxGenJS</dc:creator>
  <cp:lastModifiedBy>PptxGenJS</cp:lastModifiedBy>
  <cp:revision>96</cp:revision>
  <dcterms:created xsi:type="dcterms:W3CDTF">2026-05-16T22:09:34Z</dcterms:created>
  <dcterms:modified xsi:type="dcterms:W3CDTF">2026-10-24T19:48:21Z</dcterms:modified>
</cp:coreProperties>
</file>