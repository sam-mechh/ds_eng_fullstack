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8" r:id="rId3"/>
    <p:sldId id="259" r:id="rId4"/>
    <p:sldId id="260" r:id="rId5"/>
    <p:sldId id="261" r:id="rId6"/>
    <p:sldId id="262" r:id="rId7"/>
    <p:sldId id="263" r:id="rId8"/>
    <p:sldId id="264" r:id="rId9"/>
    <p:sldId id="265" r:id="rId10"/>
    <p:sldId id="266" r:id="rId11"/>
    <p:sldId id="269"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3" dt="2026-10-24T20:18:26.799"/>
    <p1510:client id="{3ADE1D9E-4C84-3D74-3061-745B793BA56A}" v="658" dt="2026-10-24T21:59:59.5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200" b="0" i="0" u="none" strike="noStrike">
                <a:solidFill>
                  <a:srgbClr val="000000"/>
                </a:solidFill>
                <a:latin typeface="Arial"/>
              </a:defRPr>
            </a:pPr>
            <a:r>
              <a:rPr lang="en-US" sz="1200" b="0" i="0" u="none" strike="noStrike">
                <a:solidFill>
                  <a:srgbClr val="000000"/>
                </a:solidFill>
                <a:latin typeface="Arial"/>
              </a:rPr>
              <a:t>Distribution variable cible</a:t>
            </a:r>
          </a:p>
        </c:rich>
      </c:tx>
      <c:overlay val="0"/>
    </c:title>
    <c:autoTitleDeleted val="0"/>
    <c:plotArea>
      <c:layout/>
      <c:pieChart>
        <c:varyColors val="1"/>
        <c:ser>
          <c:idx val="0"/>
          <c:order val="0"/>
          <c:tx>
            <c:strRef>
              <c:f>Sheet1!$B$1</c:f>
              <c:strCache>
                <c:ptCount val="1"/>
                <c:pt idx="0">
                  <c:v>Conversion</c:v>
                </c:pt>
              </c:strCache>
            </c:strRef>
          </c:tx>
          <c:spPr>
            <a:solidFill>
              <a:schemeClr val="accent1"/>
            </a:solidFill>
            <a:ln w="9525" cap="flat">
              <a:solidFill>
                <a:srgbClr val="F9F9F9"/>
              </a:solidFill>
              <a:prstDash val="solid"/>
              <a:round/>
            </a:ln>
            <a:effectLst/>
          </c:spPr>
          <c:dPt>
            <c:idx val="0"/>
            <c:bubble3D val="0"/>
            <c:spPr>
              <a:solidFill>
                <a:srgbClr val="5B9BD5"/>
              </a:solidFill>
              <a:effectLst/>
            </c:spPr>
            <c:extLst>
              <c:ext xmlns:c16="http://schemas.microsoft.com/office/drawing/2014/chart" uri="{C3380CC4-5D6E-409C-BE32-E72D297353CC}">
                <c16:uniqueId val="{00000001-49C4-497E-AA31-B0339BBE84CD}"/>
              </c:ext>
            </c:extLst>
          </c:dPt>
          <c:dPt>
            <c:idx val="1"/>
            <c:bubble3D val="0"/>
            <c:spPr>
              <a:solidFill>
                <a:srgbClr val="ED7D31"/>
              </a:solidFill>
              <a:effectLst/>
            </c:spPr>
            <c:extLst>
              <c:ext xmlns:c16="http://schemas.microsoft.com/office/drawing/2014/chart" uri="{C3380CC4-5D6E-409C-BE32-E72D297353CC}">
                <c16:uniqueId val="{00000003-49C4-497E-AA31-B0339BBE84CD}"/>
              </c:ext>
            </c:extLst>
          </c:dPt>
          <c:dLbls>
            <c:dLbl>
              <c:idx val="0"/>
              <c:numFmt formatCode="General" sourceLinked="0"/>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9C4-497E-AA31-B0339BBE84CD}"/>
                </c:ext>
              </c:extLst>
            </c:dLbl>
            <c:dLbl>
              <c:idx val="1"/>
              <c:numFmt formatCode="General" sourceLinked="0"/>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9C4-497E-AA31-B0339BBE84CD}"/>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Non converti (96,8%)</c:v>
                </c:pt>
                <c:pt idx="1">
                  <c:v>Converti (3,2%)</c:v>
                </c:pt>
              </c:strCache>
            </c:strRef>
          </c:cat>
          <c:val>
            <c:numRef>
              <c:f>Sheet1!$B$2:$B$3</c:f>
              <c:numCache>
                <c:formatCode>General</c:formatCode>
                <c:ptCount val="2"/>
                <c:pt idx="0">
                  <c:v>275400</c:v>
                </c:pt>
                <c:pt idx="1">
                  <c:v>9180</c:v>
                </c:pt>
              </c:numCache>
            </c:numRef>
          </c:val>
          <c:extLst>
            <c:ext xmlns:c16="http://schemas.microsoft.com/office/drawing/2014/chart" uri="{C3380CC4-5D6E-409C-BE32-E72D297353CC}">
              <c16:uniqueId val="{00000004-49C4-497E-AA31-B0339BBE84CD}"/>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100" b="0" i="0" u="none" strike="noStrike">
                <a:solidFill>
                  <a:srgbClr val="000000"/>
                </a:solidFill>
                <a:latin typeface="Arial"/>
              </a:defRPr>
            </a:pPr>
            <a:r>
              <a:rPr lang="en-US" sz="1100" b="0" i="0" u="none" strike="noStrike">
                <a:solidFill>
                  <a:srgbClr val="000000"/>
                </a:solidFill>
                <a:latin typeface="Arial"/>
              </a:rPr>
              <a:t>Taux de conversion par segment de pages (%)</a:t>
            </a:r>
          </a:p>
        </c:rich>
      </c:tx>
      <c:overlay val="0"/>
    </c:title>
    <c:autoTitleDeleted val="0"/>
    <c:plotArea>
      <c:layout/>
      <c:barChart>
        <c:barDir val="col"/>
        <c:grouping val="clustered"/>
        <c:varyColors val="0"/>
        <c:ser>
          <c:idx val="0"/>
          <c:order val="0"/>
          <c:tx>
            <c:strRef>
              <c:f>Sheet1!$B$1</c:f>
              <c:strCache>
                <c:ptCount val="1"/>
                <c:pt idx="0">
                  <c:v>Taux de conversion (%)</c:v>
                </c:pt>
              </c:strCache>
            </c:strRef>
          </c:tx>
          <c:spPr>
            <a:solidFill>
              <a:srgbClr val="1A6B8A"/>
            </a:solidFill>
            <a:effectLst/>
          </c:spPr>
          <c:invertIfNegative val="0"/>
          <c:dPt>
            <c:idx val="0"/>
            <c:invertIfNegative val="0"/>
            <c:bubble3D val="0"/>
            <c:extLst>
              <c:ext xmlns:c16="http://schemas.microsoft.com/office/drawing/2014/chart" uri="{C3380CC4-5D6E-409C-BE32-E72D297353CC}">
                <c16:uniqueId val="{00000001-E29E-4D86-B5D8-821CC0C70DC3}"/>
              </c:ext>
            </c:extLst>
          </c:dPt>
          <c:dPt>
            <c:idx val="1"/>
            <c:invertIfNegative val="0"/>
            <c:bubble3D val="0"/>
            <c:spPr>
              <a:solidFill>
                <a:srgbClr val="2AB5A0"/>
              </a:solidFill>
              <a:effectLst/>
            </c:spPr>
            <c:extLst>
              <c:ext xmlns:c16="http://schemas.microsoft.com/office/drawing/2014/chart" uri="{C3380CC4-5D6E-409C-BE32-E72D297353CC}">
                <c16:uniqueId val="{00000003-E29E-4D86-B5D8-821CC0C70DC3}"/>
              </c:ext>
            </c:extLst>
          </c:dPt>
          <c:dPt>
            <c:idx val="2"/>
            <c:invertIfNegative val="0"/>
            <c:bubble3D val="0"/>
            <c:spPr>
              <a:solidFill>
                <a:srgbClr val="ED7D31"/>
              </a:solidFill>
              <a:effectLst/>
            </c:spPr>
            <c:extLst>
              <c:ext xmlns:c16="http://schemas.microsoft.com/office/drawing/2014/chart" uri="{C3380CC4-5D6E-409C-BE32-E72D297353CC}">
                <c16:uniqueId val="{00000005-E29E-4D86-B5D8-821CC0C70DC3}"/>
              </c:ext>
            </c:extLst>
          </c:dPt>
          <c:dPt>
            <c:idx val="3"/>
            <c:invertIfNegative val="0"/>
            <c:bubble3D val="0"/>
            <c:spPr>
              <a:solidFill>
                <a:srgbClr val="E8430A"/>
              </a:solidFill>
              <a:effectLst/>
            </c:spPr>
            <c:extLst>
              <c:ext xmlns:c16="http://schemas.microsoft.com/office/drawing/2014/chart" uri="{C3380CC4-5D6E-409C-BE32-E72D297353CC}">
                <c16:uniqueId val="{00000007-E29E-4D86-B5D8-821CC0C70DC3}"/>
              </c:ext>
            </c:extLst>
          </c:dPt>
          <c:dLbls>
            <c:numFmt formatCode="#,##0"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1-3 pages</c:v>
                </c:pt>
                <c:pt idx="1">
                  <c:v>4-7 pages</c:v>
                </c:pt>
                <c:pt idx="2">
                  <c:v>8-15 pages</c:v>
                </c:pt>
                <c:pt idx="3">
                  <c:v>16+ pages</c:v>
                </c:pt>
              </c:strCache>
            </c:strRef>
          </c:cat>
          <c:val>
            <c:numRef>
              <c:f>Sheet1!$B$2:$B$5</c:f>
              <c:numCache>
                <c:formatCode>General</c:formatCode>
                <c:ptCount val="4"/>
                <c:pt idx="0">
                  <c:v>0</c:v>
                </c:pt>
                <c:pt idx="1">
                  <c:v>0.3</c:v>
                </c:pt>
                <c:pt idx="2">
                  <c:v>10.9</c:v>
                </c:pt>
                <c:pt idx="3">
                  <c:v>94.3</c:v>
                </c:pt>
              </c:numCache>
            </c:numRef>
          </c:val>
          <c:extLst>
            <c:ext xmlns:c16="http://schemas.microsoft.com/office/drawing/2014/chart" uri="{C3380CC4-5D6E-409C-BE32-E72D297353CC}">
              <c16:uniqueId val="{00000008-E29E-4D86-B5D8-821CC0C70DC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698C9CB3-DA4D-477B-8B78-852E806C1734}" type="datetimeFigureOut">
              <a:t>24/10/2026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7B4DD27F-DA68-4212-B740-F4677A8A572D}" type="slidenum">
              <a:t>‹N°›</a:t>
            </a:fld>
            <a:endParaRPr lang="en-US"/>
          </a:p>
        </p:txBody>
      </p:sp>
    </p:spTree>
    <p:extLst>
      <p:ext uri="{BB962C8B-B14F-4D97-AF65-F5344CB8AC3E}">
        <p14:creationId xmlns:p14="http://schemas.microsoft.com/office/powerpoint/2010/main" val="1213068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7E68-B851-8F0E-FEF5-1A8F2ED8D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E128B-D7F2-7767-BAEE-7DB9F5E57E27}"/>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9938CF52-1F85-9D32-9524-2F71FB5B0E57}"/>
              </a:ext>
            </a:extLst>
          </p:cNvPr>
          <p:cNvSpPr>
            <a:spLocks noGrp="1"/>
          </p:cNvSpPr>
          <p:nvPr>
            <p:ph type="body" idx="1"/>
          </p:nvPr>
        </p:nvSpPr>
        <p:spPr/>
        <p:txBody>
          <a:bodyPr/>
          <a:lstStyle/>
          <a:p>
            <a:r>
              <a:rPr lang="fr-FR" b="1" dirty="0"/>
              <a:t>7:30 - 8:00</a:t>
            </a:r>
          </a:p>
          <a:p>
            <a:r>
              <a:rPr lang="fr-FR" dirty="0"/>
              <a:t>Conclusion : ce projet montre qu'un second regard automatique, fonde sur un encodeur specialise et une fusion fine entre image et texte, peut renforcer la securite du patient sans se substituer au jugement medical.</a:t>
            </a:r>
          </a:p>
          <a:p>
            <a:r>
              <a:rPr lang="fr-FR" dirty="0"/>
              <a:t>La demonstration en ligne est accessible via le lien affiche ci-dessous. Je suis maintenant disponible pour vos questions.</a:t>
            </a:r>
          </a:p>
          <a:p>
            <a:endParaRPr lang="fr-FR" dirty="0"/>
          </a:p>
        </p:txBody>
      </p:sp>
      <p:sp>
        <p:nvSpPr>
          <p:cNvPr id="4" name="Slide Number Placeholder 3">
            <a:extLst>
              <a:ext uri="{FF2B5EF4-FFF2-40B4-BE49-F238E27FC236}">
                <a16:creationId xmlns:a16="http://schemas.microsoft.com/office/drawing/2014/main" id="{E3449097-D955-808A-CA9E-6D41DE4B8B7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364676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A6B8A"/>
          </a:solidFill>
          <a:ln w="12700">
            <a:solidFill>
              <a:srgbClr val="1A6B8A"/>
            </a:solidFill>
            <a:prstDash val="solid"/>
          </a:ln>
        </p:spPr>
      </p:sp>
      <p:sp>
        <p:nvSpPr>
          <p:cNvPr id="3" name="Shape 1"/>
          <p:cNvSpPr/>
          <p:nvPr/>
        </p:nvSpPr>
        <p:spPr>
          <a:xfrm>
            <a:off x="164592" y="0"/>
            <a:ext cx="64008" cy="5143500"/>
          </a:xfrm>
          <a:prstGeom prst="rect">
            <a:avLst/>
          </a:prstGeom>
          <a:solidFill>
            <a:srgbClr val="2AB5A0"/>
          </a:solidFill>
          <a:ln w="12700">
            <a:solidFill>
              <a:srgbClr val="2AB5A0"/>
            </a:solidFill>
            <a:prstDash val="solid"/>
          </a:ln>
        </p:spPr>
      </p:sp>
      <p:sp>
        <p:nvSpPr>
          <p:cNvPr id="6" name="Text 4"/>
          <p:cNvSpPr/>
          <p:nvPr/>
        </p:nvSpPr>
        <p:spPr>
          <a:xfrm>
            <a:off x="457200" y="617220"/>
            <a:ext cx="6858000" cy="1828800"/>
          </a:xfrm>
          <a:prstGeom prst="rect">
            <a:avLst/>
          </a:prstGeom>
          <a:noFill/>
          <a:ln/>
        </p:spPr>
        <p:txBody>
          <a:bodyPr wrap="square"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Défi du Taux</a:t>
            </a:r>
            <a:endParaRPr lang="en-US" sz="4200" dirty="0"/>
          </a:p>
          <a:p>
            <a:pPr marL="0" indent="0" algn="l">
              <a:buNone/>
            </a:pPr>
            <a:r>
              <a:rPr lang="en-US" sz="4200" b="1" dirty="0">
                <a:solidFill>
                  <a:srgbClr val="FFFFFF"/>
                </a:solidFill>
                <a:latin typeface="Calibri" pitchFamily="34" charset="0"/>
                <a:ea typeface="Calibri" pitchFamily="34" charset="-122"/>
                <a:cs typeface="Calibri" pitchFamily="34" charset="-120"/>
              </a:rPr>
              <a:t>de Conversion</a:t>
            </a:r>
            <a:endParaRPr lang="en-US" sz="4200" dirty="0"/>
          </a:p>
        </p:txBody>
      </p:sp>
      <p:sp>
        <p:nvSpPr>
          <p:cNvPr id="7" name="Text 5"/>
          <p:cNvSpPr/>
          <p:nvPr/>
        </p:nvSpPr>
        <p:spPr>
          <a:xfrm>
            <a:off x="457200" y="2575560"/>
            <a:ext cx="6858000" cy="822960"/>
          </a:xfrm>
          <a:prstGeom prst="rect">
            <a:avLst/>
          </a:prstGeom>
          <a:noFill/>
          <a:ln/>
        </p:spPr>
        <p:txBody>
          <a:bodyPr wrap="square" rtlCol="0" anchor="ctr"/>
          <a:lstStyle/>
          <a:p>
            <a:pPr marL="0" indent="0" algn="l">
              <a:buNone/>
            </a:pPr>
            <a:r>
              <a:rPr lang="en-US" sz="1700" dirty="0">
                <a:solidFill>
                  <a:srgbClr val="CBD5E1"/>
                </a:solidFill>
                <a:latin typeface="Calibri" pitchFamily="34" charset="0"/>
                <a:ea typeface="Calibri" pitchFamily="34" charset="-122"/>
                <a:cs typeface="Calibri" pitchFamily="34" charset="-120"/>
              </a:rPr>
              <a:t>Prédiction des abonnements à la newsletter</a:t>
            </a:r>
            <a:endParaRPr lang="en-US" sz="1700" dirty="0"/>
          </a:p>
          <a:p>
            <a:pPr marL="0" indent="0" algn="l">
              <a:buNone/>
            </a:pPr>
            <a:r>
              <a:rPr lang="en-US" sz="1700" dirty="0">
                <a:solidFill>
                  <a:srgbClr val="CBD5E1"/>
                </a:solidFill>
                <a:latin typeface="Calibri" pitchFamily="34" charset="0"/>
                <a:ea typeface="Calibri" pitchFamily="34" charset="-122"/>
                <a:cs typeface="Calibri" pitchFamily="34" charset="-120"/>
              </a:rPr>
              <a:t>Data Science Weekly</a:t>
            </a:r>
            <a:endParaRPr lang="en-US" sz="1700" dirty="0"/>
          </a:p>
        </p:txBody>
      </p:sp>
      <p:sp>
        <p:nvSpPr>
          <p:cNvPr id="9" name="Text 7"/>
          <p:cNvSpPr/>
          <p:nvPr/>
        </p:nvSpPr>
        <p:spPr>
          <a:xfrm>
            <a:off x="594360" y="4114800"/>
            <a:ext cx="2926080" cy="594360"/>
          </a:xfrm>
          <a:prstGeom prst="rect">
            <a:avLst/>
          </a:prstGeom>
          <a:noFill/>
          <a:ln/>
        </p:spPr>
        <p:txBody>
          <a:bodyPr wrap="square" lIns="0" tIns="0" rIns="0" bIns="0" rtlCol="0" anchor="ctr"/>
          <a:lstStyle/>
          <a:p>
            <a:r>
              <a:rPr lang="en-US" sz="1000" b="1">
                <a:solidFill>
                  <a:srgbClr val="FFFFFF"/>
                </a:solidFill>
                <a:latin typeface="Calibri"/>
                <a:ea typeface="Calibri"/>
                <a:cs typeface="Calibri"/>
              </a:rPr>
              <a:t>Samer MECHHOUD</a:t>
            </a:r>
            <a:endParaRPr lang="en-US">
              <a:ea typeface="Calibri" panose="020F0502020204030204"/>
              <a:cs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01  Contexte &amp; Données</a:t>
            </a:r>
            <a:endParaRPr lang="en-US" sz="2200" dirty="0"/>
          </a:p>
        </p:txBody>
      </p:sp>
      <p:sp>
        <p:nvSpPr>
          <p:cNvPr id="4" name="Shape 2"/>
          <p:cNvSpPr/>
          <p:nvPr/>
        </p:nvSpPr>
        <p:spPr>
          <a:xfrm>
            <a:off x="365760" y="868680"/>
            <a:ext cx="3931920" cy="37490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Shape 3"/>
          <p:cNvSpPr/>
          <p:nvPr/>
        </p:nvSpPr>
        <p:spPr>
          <a:xfrm>
            <a:off x="365760" y="868680"/>
            <a:ext cx="3931920" cy="347472"/>
          </a:xfrm>
          <a:prstGeom prst="rect">
            <a:avLst/>
          </a:prstGeom>
          <a:solidFill>
            <a:srgbClr val="1A6B8A"/>
          </a:solidFill>
          <a:ln w="12700">
            <a:solidFill>
              <a:srgbClr val="1A6B8A"/>
            </a:solidFill>
            <a:prstDash val="solid"/>
          </a:ln>
        </p:spPr>
      </p:sp>
      <p:sp>
        <p:nvSpPr>
          <p:cNvPr id="6" name="Text 4"/>
          <p:cNvSpPr/>
          <p:nvPr/>
        </p:nvSpPr>
        <p:spPr>
          <a:xfrm>
            <a:off x="365760" y="868680"/>
            <a:ext cx="3931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Contexte du projet</a:t>
            </a:r>
            <a:endParaRPr lang="en-US" sz="1200" dirty="0"/>
          </a:p>
        </p:txBody>
      </p:sp>
      <p:sp>
        <p:nvSpPr>
          <p:cNvPr id="7" name="Text 5"/>
          <p:cNvSpPr/>
          <p:nvPr/>
        </p:nvSpPr>
        <p:spPr>
          <a:xfrm>
            <a:off x="502920" y="1298448"/>
            <a:ext cx="3611880" cy="3108960"/>
          </a:xfrm>
          <a:prstGeom prst="rect">
            <a:avLst/>
          </a:prstGeom>
          <a:noFill/>
          <a:ln/>
        </p:spPr>
        <p:txBody>
          <a:bodyPr wrap="square" lIns="91440" tIns="45720" rIns="91440" bIns="45720" rtlCol="0" anchor="t"/>
          <a:lstStyle/>
          <a:p>
            <a:pPr marL="0" indent="0" algn="l">
              <a:buNone/>
            </a:pPr>
            <a:r>
              <a:rPr lang="en-US" sz="1100" b="1" dirty="0">
                <a:solidFill>
                  <a:srgbClr val="0A2342"/>
                </a:solidFill>
                <a:latin typeface="Calibri" pitchFamily="34" charset="0"/>
                <a:ea typeface="Calibri" pitchFamily="34" charset="-122"/>
                <a:cs typeface="Calibri" pitchFamily="34" charset="-120"/>
              </a:rPr>
              <a:t>www.datascienceweekly.org</a:t>
            </a:r>
            <a:endParaRPr lang="en-US" sz="1100" dirty="0"/>
          </a:p>
          <a:p>
            <a:pPr marL="0" indent="0" algn="l">
              <a:buNone/>
            </a:pPr>
            <a:r>
              <a:rPr lang="en-US" sz="1100" dirty="0">
                <a:solidFill>
                  <a:srgbClr val="0A2342"/>
                </a:solidFill>
                <a:latin typeface="Calibri"/>
                <a:ea typeface="Calibri"/>
                <a:cs typeface="Calibri"/>
              </a:rPr>
              <a:t>Newsletter </a:t>
            </a:r>
            <a:r>
              <a:rPr lang="en-US" sz="1100" dirty="0" err="1">
                <a:solidFill>
                  <a:srgbClr val="0A2342"/>
                </a:solidFill>
                <a:latin typeface="Calibri"/>
                <a:ea typeface="Calibri"/>
                <a:cs typeface="Calibri"/>
              </a:rPr>
              <a:t>hebdomadaire</a:t>
            </a:r>
            <a:r>
              <a:rPr lang="en-US" sz="1100" dirty="0">
                <a:solidFill>
                  <a:srgbClr val="0A2342"/>
                </a:solidFill>
                <a:latin typeface="Calibri"/>
                <a:ea typeface="Calibri"/>
                <a:cs typeface="Calibri"/>
              </a:rPr>
              <a:t> sur la data science </a:t>
            </a:r>
            <a:r>
              <a:rPr lang="en-US" sz="1100" dirty="0" err="1">
                <a:solidFill>
                  <a:srgbClr val="0A2342"/>
                </a:solidFill>
                <a:latin typeface="Calibri"/>
                <a:ea typeface="Calibri"/>
                <a:cs typeface="Calibri"/>
              </a:rPr>
              <a:t>rédigée</a:t>
            </a:r>
            <a:r>
              <a:rPr lang="en-US" sz="1100" dirty="0">
                <a:solidFill>
                  <a:srgbClr val="0A2342"/>
                </a:solidFill>
                <a:latin typeface="Calibri"/>
                <a:ea typeface="Calibri"/>
                <a:cs typeface="Calibri"/>
              </a:rPr>
              <a:t> par des experts </a:t>
            </a:r>
            <a:r>
              <a:rPr lang="en-US" sz="1100" dirty="0" err="1">
                <a:solidFill>
                  <a:srgbClr val="0A2342"/>
                </a:solidFill>
                <a:latin typeface="Calibri"/>
                <a:ea typeface="Calibri"/>
                <a:cs typeface="Calibri"/>
              </a:rPr>
              <a:t>indépendants.</a:t>
            </a:r>
            <a:r>
              <a:rPr lang="en-US" sz="1100" dirty="0">
                <a:solidFill>
                  <a:srgbClr val="0A2342"/>
                </a:solidFill>
                <a:latin typeface="Calibri"/>
                <a:ea typeface="Calibri"/>
                <a:cs typeface="Calibri"/>
              </a:rPr>
              <a:t>
</a:t>
            </a:r>
            <a:r>
              <a:rPr lang="en-US" sz="1100" b="1" dirty="0">
                <a:solidFill>
                  <a:srgbClr val="0A2342"/>
                </a:solidFill>
                <a:latin typeface="Calibri"/>
                <a:ea typeface="Calibri"/>
                <a:cs typeface="Calibri"/>
              </a:rPr>
              <a:t>Objectif : </a:t>
            </a:r>
            <a:r>
              <a:rPr lang="en-US" sz="1100" dirty="0" err="1">
                <a:solidFill>
                  <a:srgbClr val="0A2342"/>
                </a:solidFill>
                <a:latin typeface="Calibri"/>
                <a:ea typeface="Calibri"/>
                <a:cs typeface="Calibri"/>
              </a:rPr>
              <a:t>Prédire</a:t>
            </a:r>
            <a:r>
              <a:rPr lang="en-US" sz="1100" dirty="0">
                <a:solidFill>
                  <a:srgbClr val="0A2342"/>
                </a:solidFill>
                <a:latin typeface="Calibri"/>
                <a:ea typeface="Calibri"/>
                <a:cs typeface="Calibri"/>
              </a:rPr>
              <a:t> </a:t>
            </a:r>
            <a:r>
              <a:rPr lang="en-US" sz="1100" dirty="0" err="1">
                <a:solidFill>
                  <a:srgbClr val="0A2342"/>
                </a:solidFill>
                <a:latin typeface="Calibri"/>
                <a:ea typeface="Calibri"/>
                <a:cs typeface="Calibri"/>
              </a:rPr>
              <a:t>si</a:t>
            </a:r>
            <a:r>
              <a:rPr lang="en-US" sz="1100" dirty="0">
                <a:solidFill>
                  <a:srgbClr val="0A2342"/>
                </a:solidFill>
                <a:latin typeface="Calibri"/>
                <a:ea typeface="Calibri"/>
                <a:cs typeface="Calibri"/>
              </a:rPr>
              <a:t> un </a:t>
            </a:r>
            <a:r>
              <a:rPr lang="en-US" sz="1100" dirty="0" err="1">
                <a:solidFill>
                  <a:srgbClr val="0A2342"/>
                </a:solidFill>
                <a:latin typeface="Calibri"/>
                <a:ea typeface="Calibri"/>
                <a:cs typeface="Calibri"/>
              </a:rPr>
              <a:t>visiteur</a:t>
            </a:r>
            <a:r>
              <a:rPr lang="en-US" sz="1100" dirty="0">
                <a:solidFill>
                  <a:srgbClr val="0A2342"/>
                </a:solidFill>
                <a:latin typeface="Calibri"/>
                <a:ea typeface="Calibri"/>
                <a:cs typeface="Calibri"/>
              </a:rPr>
              <a:t> </a:t>
            </a:r>
            <a:r>
              <a:rPr lang="en-US" sz="1100" dirty="0" err="1">
                <a:solidFill>
                  <a:srgbClr val="0A2342"/>
                </a:solidFill>
                <a:latin typeface="Calibri"/>
                <a:ea typeface="Calibri"/>
                <a:cs typeface="Calibri"/>
              </a:rPr>
              <a:t>va</a:t>
            </a:r>
            <a:r>
              <a:rPr lang="en-US" sz="1100" dirty="0">
                <a:solidFill>
                  <a:srgbClr val="0A2342"/>
                </a:solidFill>
                <a:latin typeface="Calibri"/>
                <a:ea typeface="Calibri"/>
                <a:cs typeface="Calibri"/>
              </a:rPr>
              <a:t> </a:t>
            </a:r>
            <a:r>
              <a:rPr lang="en-US" sz="1100" dirty="0" err="1">
                <a:solidFill>
                  <a:srgbClr val="0A2342"/>
                </a:solidFill>
                <a:latin typeface="Calibri"/>
                <a:ea typeface="Calibri"/>
                <a:cs typeface="Calibri"/>
              </a:rPr>
              <a:t>s'abonner</a:t>
            </a:r>
            <a:r>
              <a:rPr lang="en-US" sz="1100" dirty="0">
                <a:solidFill>
                  <a:srgbClr val="0A2342"/>
                </a:solidFill>
                <a:latin typeface="Calibri"/>
                <a:ea typeface="Calibri"/>
                <a:cs typeface="Calibri"/>
              </a:rPr>
              <a:t> à </a:t>
            </a:r>
            <a:r>
              <a:rPr lang="en-US" sz="1100" dirty="0" err="1">
                <a:solidFill>
                  <a:srgbClr val="0A2342"/>
                </a:solidFill>
                <a:latin typeface="Calibri"/>
                <a:ea typeface="Calibri"/>
                <a:cs typeface="Calibri"/>
              </a:rPr>
              <a:t>partir</a:t>
            </a:r>
            <a:r>
              <a:rPr lang="en-US" sz="1100" dirty="0">
                <a:solidFill>
                  <a:srgbClr val="0A2342"/>
                </a:solidFill>
                <a:latin typeface="Calibri"/>
                <a:ea typeface="Calibri"/>
                <a:cs typeface="Calibri"/>
              </a:rPr>
              <a:t> de son </a:t>
            </a:r>
            <a:r>
              <a:rPr lang="en-US" sz="1100" dirty="0" err="1">
                <a:solidFill>
                  <a:srgbClr val="0A2342"/>
                </a:solidFill>
                <a:latin typeface="Calibri"/>
                <a:ea typeface="Calibri"/>
                <a:cs typeface="Calibri"/>
              </a:rPr>
              <a:t>comportement</a:t>
            </a:r>
            <a:r>
              <a:rPr lang="en-US" sz="1100" dirty="0">
                <a:solidFill>
                  <a:srgbClr val="0A2342"/>
                </a:solidFill>
                <a:latin typeface="Calibri"/>
                <a:ea typeface="Calibri"/>
                <a:cs typeface="Calibri"/>
              </a:rPr>
              <a:t> de navigation.
</a:t>
            </a:r>
            <a:endParaRPr lang="en-US" sz="1100" b="1" dirty="0">
              <a:solidFill>
                <a:srgbClr val="0A2342"/>
              </a:solidFill>
              <a:latin typeface="Calibri"/>
              <a:ea typeface="Calibri"/>
              <a:cs typeface="Calibri"/>
            </a:endParaRPr>
          </a:p>
        </p:txBody>
      </p:sp>
      <p:sp>
        <p:nvSpPr>
          <p:cNvPr id="8" name="Shape 6"/>
          <p:cNvSpPr/>
          <p:nvPr/>
        </p:nvSpPr>
        <p:spPr>
          <a:xfrm>
            <a:off x="4572000" y="868680"/>
            <a:ext cx="4206240" cy="37490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9" name="Shape 7"/>
          <p:cNvSpPr/>
          <p:nvPr/>
        </p:nvSpPr>
        <p:spPr>
          <a:xfrm>
            <a:off x="4572000" y="868680"/>
            <a:ext cx="4206240" cy="347472"/>
          </a:xfrm>
          <a:prstGeom prst="rect">
            <a:avLst/>
          </a:prstGeom>
          <a:solidFill>
            <a:srgbClr val="2AB5A0"/>
          </a:solidFill>
          <a:ln w="12700">
            <a:solidFill>
              <a:srgbClr val="2AB5A0"/>
            </a:solidFill>
            <a:prstDash val="solid"/>
          </a:ln>
        </p:spPr>
      </p:sp>
      <p:sp>
        <p:nvSpPr>
          <p:cNvPr id="10" name="Text 8"/>
          <p:cNvSpPr/>
          <p:nvPr/>
        </p:nvSpPr>
        <p:spPr>
          <a:xfrm>
            <a:off x="4572000" y="868680"/>
            <a:ext cx="42062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Variables du jeu de données</a:t>
            </a:r>
            <a:endParaRPr lang="en-US" sz="1200" dirty="0"/>
          </a:p>
        </p:txBody>
      </p:sp>
      <p:sp>
        <p:nvSpPr>
          <p:cNvPr id="11" name="Shape 9"/>
          <p:cNvSpPr/>
          <p:nvPr/>
        </p:nvSpPr>
        <p:spPr>
          <a:xfrm>
            <a:off x="4663440" y="1335024"/>
            <a:ext cx="3977640" cy="420624"/>
          </a:xfrm>
          <a:prstGeom prst="rect">
            <a:avLst/>
          </a:prstGeom>
          <a:solidFill>
            <a:srgbClr val="F0F4F8"/>
          </a:solidFill>
          <a:ln w="6350">
            <a:solidFill>
              <a:srgbClr val="CBD5E1"/>
            </a:solidFill>
            <a:prstDash val="solid"/>
          </a:ln>
        </p:spPr>
      </p:sp>
      <p:sp>
        <p:nvSpPr>
          <p:cNvPr id="12" name="Text 10"/>
          <p:cNvSpPr/>
          <p:nvPr/>
        </p:nvSpPr>
        <p:spPr>
          <a:xfrm>
            <a:off x="4736592" y="1353312"/>
            <a:ext cx="1828800" cy="201168"/>
          </a:xfrm>
          <a:prstGeom prst="rect">
            <a:avLst/>
          </a:prstGeom>
          <a:noFill/>
          <a:ln/>
        </p:spPr>
        <p:txBody>
          <a:bodyPr wrap="square" lIns="0" tIns="0" rIns="0" bIns="0" rtlCol="0" anchor="ctr"/>
          <a:lstStyle/>
          <a:p>
            <a:pPr marL="0" indent="0">
              <a:buNone/>
            </a:pPr>
            <a:r>
              <a:rPr lang="en-US" sz="950" b="1" dirty="0">
                <a:solidFill>
                  <a:srgbClr val="0A2342"/>
                </a:solidFill>
                <a:latin typeface="Calibri" pitchFamily="34" charset="0"/>
                <a:ea typeface="Calibri" pitchFamily="34" charset="-122"/>
                <a:cs typeface="Calibri" pitchFamily="34" charset="-120"/>
              </a:rPr>
              <a:t>country</a:t>
            </a:r>
            <a:endParaRPr lang="en-US" sz="950" dirty="0"/>
          </a:p>
        </p:txBody>
      </p:sp>
      <p:sp>
        <p:nvSpPr>
          <p:cNvPr id="13" name="Text 11"/>
          <p:cNvSpPr/>
          <p:nvPr/>
        </p:nvSpPr>
        <p:spPr>
          <a:xfrm>
            <a:off x="4736592" y="1554480"/>
            <a:ext cx="1280160" cy="164592"/>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Catégorielle</a:t>
            </a:r>
            <a:endParaRPr lang="en-US" sz="800" dirty="0"/>
          </a:p>
        </p:txBody>
      </p:sp>
      <p:sp>
        <p:nvSpPr>
          <p:cNvPr id="14" name="Text 12"/>
          <p:cNvSpPr/>
          <p:nvPr/>
        </p:nvSpPr>
        <p:spPr>
          <a:xfrm>
            <a:off x="6217920" y="1353312"/>
            <a:ext cx="2286000" cy="384048"/>
          </a:xfrm>
          <a:prstGeom prst="rect">
            <a:avLst/>
          </a:prstGeom>
          <a:noFill/>
          <a:ln/>
        </p:spPr>
        <p:txBody>
          <a:bodyPr wrap="square" lIns="0" tIns="0" rIns="0" bIns="0" rtlCol="0" anchor="ctr"/>
          <a:lstStyle/>
          <a:p>
            <a:pPr marL="0" indent="0">
              <a:buNone/>
            </a:pPr>
            <a:r>
              <a:rPr lang="en-US" sz="900" dirty="0">
                <a:solidFill>
                  <a:srgbClr val="0A2342"/>
                </a:solidFill>
                <a:latin typeface="Calibri" pitchFamily="34" charset="0"/>
                <a:ea typeface="Calibri" pitchFamily="34" charset="-122"/>
                <a:cs typeface="Calibri" pitchFamily="34" charset="-120"/>
              </a:rPr>
              <a:t>Pays (China, Germany, UK, US)</a:t>
            </a:r>
            <a:endParaRPr lang="en-US" sz="900" dirty="0"/>
          </a:p>
        </p:txBody>
      </p:sp>
      <p:sp>
        <p:nvSpPr>
          <p:cNvPr id="15" name="Shape 13"/>
          <p:cNvSpPr/>
          <p:nvPr/>
        </p:nvSpPr>
        <p:spPr>
          <a:xfrm>
            <a:off x="4663440" y="1847088"/>
            <a:ext cx="3977640" cy="420624"/>
          </a:xfrm>
          <a:prstGeom prst="rect">
            <a:avLst/>
          </a:prstGeom>
          <a:solidFill>
            <a:srgbClr val="F0F4F8"/>
          </a:solidFill>
          <a:ln w="6350">
            <a:solidFill>
              <a:srgbClr val="CBD5E1"/>
            </a:solidFill>
            <a:prstDash val="solid"/>
          </a:ln>
        </p:spPr>
      </p:sp>
      <p:sp>
        <p:nvSpPr>
          <p:cNvPr id="16" name="Text 14"/>
          <p:cNvSpPr/>
          <p:nvPr/>
        </p:nvSpPr>
        <p:spPr>
          <a:xfrm>
            <a:off x="4736592" y="1865376"/>
            <a:ext cx="1828800" cy="201168"/>
          </a:xfrm>
          <a:prstGeom prst="rect">
            <a:avLst/>
          </a:prstGeom>
          <a:noFill/>
          <a:ln/>
        </p:spPr>
        <p:txBody>
          <a:bodyPr wrap="square" lIns="0" tIns="0" rIns="0" bIns="0" rtlCol="0" anchor="ctr"/>
          <a:lstStyle/>
          <a:p>
            <a:pPr marL="0" indent="0">
              <a:buNone/>
            </a:pPr>
            <a:r>
              <a:rPr lang="en-US" sz="950" b="1" dirty="0">
                <a:solidFill>
                  <a:srgbClr val="0A2342"/>
                </a:solidFill>
                <a:latin typeface="Calibri" pitchFamily="34" charset="0"/>
                <a:ea typeface="Calibri" pitchFamily="34" charset="-122"/>
                <a:cs typeface="Calibri" pitchFamily="34" charset="-120"/>
              </a:rPr>
              <a:t>age</a:t>
            </a:r>
            <a:endParaRPr lang="en-US" sz="950" dirty="0"/>
          </a:p>
        </p:txBody>
      </p:sp>
      <p:sp>
        <p:nvSpPr>
          <p:cNvPr id="17" name="Text 15"/>
          <p:cNvSpPr/>
          <p:nvPr/>
        </p:nvSpPr>
        <p:spPr>
          <a:xfrm>
            <a:off x="4736592" y="2066544"/>
            <a:ext cx="1280160" cy="164592"/>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Numérique</a:t>
            </a:r>
            <a:endParaRPr lang="en-US" sz="800" dirty="0"/>
          </a:p>
        </p:txBody>
      </p:sp>
      <p:sp>
        <p:nvSpPr>
          <p:cNvPr id="18" name="Text 16"/>
          <p:cNvSpPr/>
          <p:nvPr/>
        </p:nvSpPr>
        <p:spPr>
          <a:xfrm>
            <a:off x="6217920" y="1865376"/>
            <a:ext cx="2286000" cy="384048"/>
          </a:xfrm>
          <a:prstGeom prst="rect">
            <a:avLst/>
          </a:prstGeom>
          <a:noFill/>
          <a:ln/>
        </p:spPr>
        <p:txBody>
          <a:bodyPr wrap="square" lIns="0" tIns="0" rIns="0" bIns="0" rtlCol="0" anchor="ctr"/>
          <a:lstStyle/>
          <a:p>
            <a:pPr marL="0" indent="0">
              <a:buNone/>
            </a:pPr>
            <a:r>
              <a:rPr lang="en-US" sz="900" dirty="0">
                <a:solidFill>
                  <a:srgbClr val="0A2342"/>
                </a:solidFill>
                <a:latin typeface="Calibri" pitchFamily="34" charset="0"/>
                <a:ea typeface="Calibri" pitchFamily="34" charset="-122"/>
                <a:cs typeface="Calibri" pitchFamily="34" charset="-120"/>
              </a:rPr>
              <a:t>Âge du visiteur</a:t>
            </a:r>
            <a:endParaRPr lang="en-US" sz="900" dirty="0"/>
          </a:p>
        </p:txBody>
      </p:sp>
      <p:sp>
        <p:nvSpPr>
          <p:cNvPr id="19" name="Shape 17"/>
          <p:cNvSpPr/>
          <p:nvPr/>
        </p:nvSpPr>
        <p:spPr>
          <a:xfrm>
            <a:off x="4663440" y="2359152"/>
            <a:ext cx="3977640" cy="420624"/>
          </a:xfrm>
          <a:prstGeom prst="rect">
            <a:avLst/>
          </a:prstGeom>
          <a:solidFill>
            <a:srgbClr val="F0F4F8"/>
          </a:solidFill>
          <a:ln w="6350">
            <a:solidFill>
              <a:srgbClr val="CBD5E1"/>
            </a:solidFill>
            <a:prstDash val="solid"/>
          </a:ln>
        </p:spPr>
      </p:sp>
      <p:sp>
        <p:nvSpPr>
          <p:cNvPr id="20" name="Text 18"/>
          <p:cNvSpPr/>
          <p:nvPr/>
        </p:nvSpPr>
        <p:spPr>
          <a:xfrm>
            <a:off x="4736592" y="2377440"/>
            <a:ext cx="1828800" cy="201168"/>
          </a:xfrm>
          <a:prstGeom prst="rect">
            <a:avLst/>
          </a:prstGeom>
          <a:noFill/>
          <a:ln/>
        </p:spPr>
        <p:txBody>
          <a:bodyPr wrap="square" lIns="0" tIns="0" rIns="0" bIns="0" rtlCol="0" anchor="ctr"/>
          <a:lstStyle/>
          <a:p>
            <a:pPr marL="0" indent="0">
              <a:buNone/>
            </a:pPr>
            <a:r>
              <a:rPr lang="en-US" sz="950" b="1" dirty="0">
                <a:solidFill>
                  <a:srgbClr val="0A2342"/>
                </a:solidFill>
                <a:latin typeface="Calibri" pitchFamily="34" charset="0"/>
                <a:ea typeface="Calibri" pitchFamily="34" charset="-122"/>
                <a:cs typeface="Calibri" pitchFamily="34" charset="-120"/>
              </a:rPr>
              <a:t>new_user</a:t>
            </a:r>
            <a:endParaRPr lang="en-US" sz="950" dirty="0"/>
          </a:p>
        </p:txBody>
      </p:sp>
      <p:sp>
        <p:nvSpPr>
          <p:cNvPr id="21" name="Text 19"/>
          <p:cNvSpPr/>
          <p:nvPr/>
        </p:nvSpPr>
        <p:spPr>
          <a:xfrm>
            <a:off x="4736592" y="2578608"/>
            <a:ext cx="1280160" cy="164592"/>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Binaire</a:t>
            </a:r>
            <a:endParaRPr lang="en-US" sz="800" dirty="0"/>
          </a:p>
        </p:txBody>
      </p:sp>
      <p:sp>
        <p:nvSpPr>
          <p:cNvPr id="22" name="Text 20"/>
          <p:cNvSpPr/>
          <p:nvPr/>
        </p:nvSpPr>
        <p:spPr>
          <a:xfrm>
            <a:off x="6217920" y="2377440"/>
            <a:ext cx="2286000" cy="384048"/>
          </a:xfrm>
          <a:prstGeom prst="rect">
            <a:avLst/>
          </a:prstGeom>
          <a:noFill/>
          <a:ln/>
        </p:spPr>
        <p:txBody>
          <a:bodyPr wrap="square" lIns="0" tIns="0" rIns="0" bIns="0" rtlCol="0" anchor="ctr"/>
          <a:lstStyle/>
          <a:p>
            <a:pPr marL="0" indent="0">
              <a:buNone/>
            </a:pPr>
            <a:r>
              <a:rPr lang="en-US" sz="900" dirty="0">
                <a:solidFill>
                  <a:srgbClr val="0A2342"/>
                </a:solidFill>
                <a:latin typeface="Calibri" pitchFamily="34" charset="0"/>
                <a:ea typeface="Calibri" pitchFamily="34" charset="-122"/>
                <a:cs typeface="Calibri" pitchFamily="34" charset="-120"/>
              </a:rPr>
              <a:t>1=nouveau, 0=existant</a:t>
            </a:r>
            <a:endParaRPr lang="en-US" sz="900" dirty="0"/>
          </a:p>
        </p:txBody>
      </p:sp>
      <p:sp>
        <p:nvSpPr>
          <p:cNvPr id="23" name="Shape 21"/>
          <p:cNvSpPr/>
          <p:nvPr/>
        </p:nvSpPr>
        <p:spPr>
          <a:xfrm>
            <a:off x="4663440" y="2871216"/>
            <a:ext cx="3977640" cy="420624"/>
          </a:xfrm>
          <a:prstGeom prst="rect">
            <a:avLst/>
          </a:prstGeom>
          <a:solidFill>
            <a:srgbClr val="F0F4F8"/>
          </a:solidFill>
          <a:ln w="6350">
            <a:solidFill>
              <a:srgbClr val="CBD5E1"/>
            </a:solidFill>
            <a:prstDash val="solid"/>
          </a:ln>
        </p:spPr>
      </p:sp>
      <p:sp>
        <p:nvSpPr>
          <p:cNvPr id="24" name="Text 22"/>
          <p:cNvSpPr/>
          <p:nvPr/>
        </p:nvSpPr>
        <p:spPr>
          <a:xfrm>
            <a:off x="4736592" y="2889504"/>
            <a:ext cx="1828800" cy="201168"/>
          </a:xfrm>
          <a:prstGeom prst="rect">
            <a:avLst/>
          </a:prstGeom>
          <a:noFill/>
          <a:ln/>
        </p:spPr>
        <p:txBody>
          <a:bodyPr wrap="square" lIns="0" tIns="0" rIns="0" bIns="0" rtlCol="0" anchor="ctr"/>
          <a:lstStyle/>
          <a:p>
            <a:pPr marL="0" indent="0">
              <a:buNone/>
            </a:pPr>
            <a:r>
              <a:rPr lang="en-US" sz="950" b="1" dirty="0">
                <a:solidFill>
                  <a:srgbClr val="0A2342"/>
                </a:solidFill>
                <a:latin typeface="Calibri" pitchFamily="34" charset="0"/>
                <a:ea typeface="Calibri" pitchFamily="34" charset="-122"/>
                <a:cs typeface="Calibri" pitchFamily="34" charset="-120"/>
              </a:rPr>
              <a:t>source</a:t>
            </a:r>
            <a:endParaRPr lang="en-US" sz="950" dirty="0"/>
          </a:p>
        </p:txBody>
      </p:sp>
      <p:sp>
        <p:nvSpPr>
          <p:cNvPr id="25" name="Text 23"/>
          <p:cNvSpPr/>
          <p:nvPr/>
        </p:nvSpPr>
        <p:spPr>
          <a:xfrm>
            <a:off x="4736592" y="3090672"/>
            <a:ext cx="1280160" cy="164592"/>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Catégorielle</a:t>
            </a:r>
            <a:endParaRPr lang="en-US" sz="800" dirty="0"/>
          </a:p>
        </p:txBody>
      </p:sp>
      <p:sp>
        <p:nvSpPr>
          <p:cNvPr id="26" name="Text 24"/>
          <p:cNvSpPr/>
          <p:nvPr/>
        </p:nvSpPr>
        <p:spPr>
          <a:xfrm>
            <a:off x="6217920" y="2889504"/>
            <a:ext cx="2286000" cy="384048"/>
          </a:xfrm>
          <a:prstGeom prst="rect">
            <a:avLst/>
          </a:prstGeom>
          <a:noFill/>
          <a:ln/>
        </p:spPr>
        <p:txBody>
          <a:bodyPr wrap="square" lIns="0" tIns="0" rIns="0" bIns="0" rtlCol="0" anchor="ctr"/>
          <a:lstStyle/>
          <a:p>
            <a:pPr marL="0" indent="0">
              <a:buNone/>
            </a:pPr>
            <a:r>
              <a:rPr lang="en-US" sz="900" dirty="0">
                <a:solidFill>
                  <a:srgbClr val="0A2342"/>
                </a:solidFill>
                <a:latin typeface="Calibri" pitchFamily="34" charset="0"/>
                <a:ea typeface="Calibri" pitchFamily="34" charset="-122"/>
                <a:cs typeface="Calibri" pitchFamily="34" charset="-120"/>
              </a:rPr>
              <a:t>Ads / Seo / Direct</a:t>
            </a:r>
            <a:endParaRPr lang="en-US" sz="900" dirty="0"/>
          </a:p>
        </p:txBody>
      </p:sp>
      <p:sp>
        <p:nvSpPr>
          <p:cNvPr id="27" name="Shape 25"/>
          <p:cNvSpPr/>
          <p:nvPr/>
        </p:nvSpPr>
        <p:spPr>
          <a:xfrm>
            <a:off x="4663440" y="3383280"/>
            <a:ext cx="3977640" cy="420624"/>
          </a:xfrm>
          <a:prstGeom prst="rect">
            <a:avLst/>
          </a:prstGeom>
          <a:solidFill>
            <a:srgbClr val="F0F4F8"/>
          </a:solidFill>
          <a:ln w="6350">
            <a:solidFill>
              <a:srgbClr val="CBD5E1"/>
            </a:solidFill>
            <a:prstDash val="solid"/>
          </a:ln>
        </p:spPr>
      </p:sp>
      <p:sp>
        <p:nvSpPr>
          <p:cNvPr id="28" name="Text 26"/>
          <p:cNvSpPr/>
          <p:nvPr/>
        </p:nvSpPr>
        <p:spPr>
          <a:xfrm>
            <a:off x="4736592" y="3401568"/>
            <a:ext cx="1828800" cy="201168"/>
          </a:xfrm>
          <a:prstGeom prst="rect">
            <a:avLst/>
          </a:prstGeom>
          <a:noFill/>
          <a:ln/>
        </p:spPr>
        <p:txBody>
          <a:bodyPr wrap="square" lIns="0" tIns="0" rIns="0" bIns="0" rtlCol="0" anchor="ctr"/>
          <a:lstStyle/>
          <a:p>
            <a:pPr marL="0" indent="0">
              <a:buNone/>
            </a:pPr>
            <a:r>
              <a:rPr lang="en-US" sz="950" b="1" dirty="0">
                <a:solidFill>
                  <a:srgbClr val="0A2342"/>
                </a:solidFill>
                <a:latin typeface="Calibri" pitchFamily="34" charset="0"/>
                <a:ea typeface="Calibri" pitchFamily="34" charset="-122"/>
                <a:cs typeface="Calibri" pitchFamily="34" charset="-120"/>
              </a:rPr>
              <a:t>total_pages_visited</a:t>
            </a:r>
            <a:endParaRPr lang="en-US" sz="950" dirty="0"/>
          </a:p>
        </p:txBody>
      </p:sp>
      <p:sp>
        <p:nvSpPr>
          <p:cNvPr id="29" name="Text 27"/>
          <p:cNvSpPr/>
          <p:nvPr/>
        </p:nvSpPr>
        <p:spPr>
          <a:xfrm>
            <a:off x="4736592" y="3602736"/>
            <a:ext cx="1280160" cy="164592"/>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Numérique</a:t>
            </a:r>
            <a:endParaRPr lang="en-US" sz="800" dirty="0"/>
          </a:p>
        </p:txBody>
      </p:sp>
      <p:sp>
        <p:nvSpPr>
          <p:cNvPr id="30" name="Text 28"/>
          <p:cNvSpPr/>
          <p:nvPr/>
        </p:nvSpPr>
        <p:spPr>
          <a:xfrm>
            <a:off x="6217920" y="3401568"/>
            <a:ext cx="2286000" cy="384048"/>
          </a:xfrm>
          <a:prstGeom prst="rect">
            <a:avLst/>
          </a:prstGeom>
          <a:noFill/>
          <a:ln/>
        </p:spPr>
        <p:txBody>
          <a:bodyPr wrap="square" lIns="0" tIns="0" rIns="0" bIns="0" rtlCol="0" anchor="ctr"/>
          <a:lstStyle/>
          <a:p>
            <a:pPr marL="0" indent="0">
              <a:buNone/>
            </a:pPr>
            <a:r>
              <a:rPr lang="en-US" sz="900" dirty="0">
                <a:solidFill>
                  <a:srgbClr val="0A2342"/>
                </a:solidFill>
                <a:latin typeface="Calibri" pitchFamily="34" charset="0"/>
                <a:ea typeface="Calibri" pitchFamily="34" charset="-122"/>
                <a:cs typeface="Calibri" pitchFamily="34" charset="-120"/>
              </a:rPr>
              <a:t>Pages vues en session</a:t>
            </a:r>
            <a:endParaRPr lang="en-US" sz="900" dirty="0"/>
          </a:p>
        </p:txBody>
      </p:sp>
      <p:sp>
        <p:nvSpPr>
          <p:cNvPr id="31" name="Shape 29"/>
          <p:cNvSpPr/>
          <p:nvPr/>
        </p:nvSpPr>
        <p:spPr>
          <a:xfrm>
            <a:off x="4663440" y="3895344"/>
            <a:ext cx="3977640" cy="420624"/>
          </a:xfrm>
          <a:prstGeom prst="rect">
            <a:avLst/>
          </a:prstGeom>
          <a:solidFill>
            <a:srgbClr val="FFF3E0"/>
          </a:solidFill>
          <a:ln w="12700">
            <a:solidFill>
              <a:srgbClr val="ED7D31"/>
            </a:solidFill>
            <a:prstDash val="solid"/>
          </a:ln>
        </p:spPr>
      </p:sp>
      <p:sp>
        <p:nvSpPr>
          <p:cNvPr id="32" name="Text 30"/>
          <p:cNvSpPr/>
          <p:nvPr/>
        </p:nvSpPr>
        <p:spPr>
          <a:xfrm>
            <a:off x="4736592" y="3913632"/>
            <a:ext cx="1828800" cy="201168"/>
          </a:xfrm>
          <a:prstGeom prst="rect">
            <a:avLst/>
          </a:prstGeom>
          <a:noFill/>
          <a:ln/>
        </p:spPr>
        <p:txBody>
          <a:bodyPr wrap="square" lIns="0" tIns="0" rIns="0" bIns="0" rtlCol="0" anchor="ctr"/>
          <a:lstStyle/>
          <a:p>
            <a:pPr marL="0" indent="0">
              <a:buNone/>
            </a:pPr>
            <a:r>
              <a:rPr lang="en-US" sz="950" b="1" dirty="0">
                <a:solidFill>
                  <a:srgbClr val="ED7D31"/>
                </a:solidFill>
                <a:latin typeface="Calibri" pitchFamily="34" charset="0"/>
                <a:ea typeface="Calibri" pitchFamily="34" charset="-122"/>
                <a:cs typeface="Calibri" pitchFamily="34" charset="-120"/>
              </a:rPr>
              <a:t>converted  ★</a:t>
            </a:r>
            <a:endParaRPr lang="en-US" sz="950" dirty="0"/>
          </a:p>
        </p:txBody>
      </p:sp>
      <p:sp>
        <p:nvSpPr>
          <p:cNvPr id="33" name="Text 31"/>
          <p:cNvSpPr/>
          <p:nvPr/>
        </p:nvSpPr>
        <p:spPr>
          <a:xfrm>
            <a:off x="4736592" y="4114800"/>
            <a:ext cx="1280160" cy="164592"/>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CIBLE</a:t>
            </a:r>
            <a:endParaRPr lang="en-US" sz="800" dirty="0"/>
          </a:p>
        </p:txBody>
      </p:sp>
      <p:sp>
        <p:nvSpPr>
          <p:cNvPr id="34" name="Text 32"/>
          <p:cNvSpPr/>
          <p:nvPr/>
        </p:nvSpPr>
        <p:spPr>
          <a:xfrm>
            <a:off x="6217920" y="3913632"/>
            <a:ext cx="2286000" cy="384048"/>
          </a:xfrm>
          <a:prstGeom prst="rect">
            <a:avLst/>
          </a:prstGeom>
          <a:noFill/>
          <a:ln/>
        </p:spPr>
        <p:txBody>
          <a:bodyPr wrap="square" lIns="0" tIns="0" rIns="0" bIns="0" rtlCol="0" anchor="ctr"/>
          <a:lstStyle/>
          <a:p>
            <a:pPr marL="0" indent="0">
              <a:buNone/>
            </a:pPr>
            <a:r>
              <a:rPr lang="en-US" sz="900" dirty="0">
                <a:solidFill>
                  <a:srgbClr val="0A2342"/>
                </a:solidFill>
                <a:latin typeface="Calibri" pitchFamily="34" charset="0"/>
                <a:ea typeface="Calibri" pitchFamily="34" charset="-122"/>
                <a:cs typeface="Calibri" pitchFamily="34" charset="-120"/>
              </a:rPr>
              <a:t>1=abonné, 0=non abonné</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02  Analyse Exploratoire — Déséquilibre &amp; Anomalie</a:t>
            </a:r>
            <a:endParaRPr lang="en-US" sz="2000" dirty="0"/>
          </a:p>
        </p:txBody>
      </p:sp>
      <p:graphicFrame>
        <p:nvGraphicFramePr>
          <p:cNvPr id="4" name="Chart 0"/>
          <p:cNvGraphicFramePr/>
          <p:nvPr/>
        </p:nvGraphicFramePr>
        <p:xfrm>
          <a:off x="365760" y="777240"/>
          <a:ext cx="41148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4754880" y="804672"/>
            <a:ext cx="1325880" cy="10058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6" name="Shape 3"/>
          <p:cNvSpPr/>
          <p:nvPr/>
        </p:nvSpPr>
        <p:spPr>
          <a:xfrm>
            <a:off x="4754880" y="804672"/>
            <a:ext cx="1325880" cy="109728"/>
          </a:xfrm>
          <a:prstGeom prst="rect">
            <a:avLst/>
          </a:prstGeom>
          <a:solidFill>
            <a:srgbClr val="1A6B8A"/>
          </a:solidFill>
          <a:ln w="12700">
            <a:solidFill>
              <a:srgbClr val="1A6B8A"/>
            </a:solidFill>
            <a:prstDash val="solid"/>
          </a:ln>
        </p:spPr>
      </p:sp>
      <p:sp>
        <p:nvSpPr>
          <p:cNvPr id="7" name="Text 4"/>
          <p:cNvSpPr/>
          <p:nvPr/>
        </p:nvSpPr>
        <p:spPr>
          <a:xfrm>
            <a:off x="4754880" y="896112"/>
            <a:ext cx="1325880" cy="475488"/>
          </a:xfrm>
          <a:prstGeom prst="rect">
            <a:avLst/>
          </a:prstGeom>
          <a:noFill/>
          <a:ln/>
        </p:spPr>
        <p:txBody>
          <a:bodyPr wrap="square" lIns="0" tIns="0" rIns="0" bIns="0" rtlCol="0" anchor="ctr"/>
          <a:lstStyle/>
          <a:p>
            <a:pPr marL="0" indent="0" algn="ctr">
              <a:buNone/>
            </a:pPr>
            <a:r>
              <a:rPr lang="en-US" sz="2200" b="1" dirty="0">
                <a:solidFill>
                  <a:srgbClr val="0A2342"/>
                </a:solidFill>
                <a:latin typeface="Calibri" pitchFamily="34" charset="0"/>
                <a:ea typeface="Calibri" pitchFamily="34" charset="-122"/>
                <a:cs typeface="Calibri" pitchFamily="34" charset="-120"/>
              </a:rPr>
              <a:t>284 580</a:t>
            </a:r>
            <a:endParaRPr lang="en-US" sz="2200" dirty="0"/>
          </a:p>
        </p:txBody>
      </p:sp>
      <p:sp>
        <p:nvSpPr>
          <p:cNvPr id="8" name="Text 5"/>
          <p:cNvSpPr/>
          <p:nvPr/>
        </p:nvSpPr>
        <p:spPr>
          <a:xfrm>
            <a:off x="4754880" y="1371600"/>
            <a:ext cx="1325880" cy="34747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Visiteurs (train)</a:t>
            </a:r>
            <a:endParaRPr lang="en-US" sz="900" dirty="0"/>
          </a:p>
        </p:txBody>
      </p:sp>
      <p:sp>
        <p:nvSpPr>
          <p:cNvPr id="9" name="Shape 6"/>
          <p:cNvSpPr/>
          <p:nvPr/>
        </p:nvSpPr>
        <p:spPr>
          <a:xfrm>
            <a:off x="6236208" y="804672"/>
            <a:ext cx="1325880" cy="10058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0" name="Shape 7"/>
          <p:cNvSpPr/>
          <p:nvPr/>
        </p:nvSpPr>
        <p:spPr>
          <a:xfrm>
            <a:off x="6236208" y="804672"/>
            <a:ext cx="1325880" cy="109728"/>
          </a:xfrm>
          <a:prstGeom prst="rect">
            <a:avLst/>
          </a:prstGeom>
          <a:solidFill>
            <a:srgbClr val="1A6B8A"/>
          </a:solidFill>
          <a:ln w="12700">
            <a:solidFill>
              <a:srgbClr val="1A6B8A"/>
            </a:solidFill>
            <a:prstDash val="solid"/>
          </a:ln>
        </p:spPr>
      </p:sp>
      <p:sp>
        <p:nvSpPr>
          <p:cNvPr id="11" name="Text 8"/>
          <p:cNvSpPr/>
          <p:nvPr/>
        </p:nvSpPr>
        <p:spPr>
          <a:xfrm>
            <a:off x="6236208" y="896112"/>
            <a:ext cx="1325880" cy="475488"/>
          </a:xfrm>
          <a:prstGeom prst="rect">
            <a:avLst/>
          </a:prstGeom>
          <a:noFill/>
          <a:ln/>
        </p:spPr>
        <p:txBody>
          <a:bodyPr wrap="square" lIns="0" tIns="0" rIns="0" bIns="0" rtlCol="0" anchor="ctr"/>
          <a:lstStyle/>
          <a:p>
            <a:pPr marL="0" indent="0" algn="ctr">
              <a:buNone/>
            </a:pPr>
            <a:r>
              <a:rPr lang="en-US" sz="2200" b="1" dirty="0">
                <a:solidFill>
                  <a:srgbClr val="0A2342"/>
                </a:solidFill>
                <a:latin typeface="Calibri" pitchFamily="34" charset="0"/>
                <a:ea typeface="Calibri" pitchFamily="34" charset="-122"/>
                <a:cs typeface="Calibri" pitchFamily="34" charset="-120"/>
              </a:rPr>
              <a:t>3,2 %</a:t>
            </a:r>
            <a:endParaRPr lang="en-US" sz="2200" dirty="0"/>
          </a:p>
        </p:txBody>
      </p:sp>
      <p:sp>
        <p:nvSpPr>
          <p:cNvPr id="12" name="Text 9"/>
          <p:cNvSpPr/>
          <p:nvPr/>
        </p:nvSpPr>
        <p:spPr>
          <a:xfrm>
            <a:off x="6236208" y="1371600"/>
            <a:ext cx="1325880" cy="34747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Taux de conversion</a:t>
            </a:r>
            <a:endParaRPr lang="en-US" sz="900" dirty="0"/>
          </a:p>
        </p:txBody>
      </p:sp>
      <p:sp>
        <p:nvSpPr>
          <p:cNvPr id="13" name="Shape 10"/>
          <p:cNvSpPr/>
          <p:nvPr/>
        </p:nvSpPr>
        <p:spPr>
          <a:xfrm>
            <a:off x="7717536" y="804672"/>
            <a:ext cx="1325880" cy="10058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4" name="Shape 11"/>
          <p:cNvSpPr/>
          <p:nvPr/>
        </p:nvSpPr>
        <p:spPr>
          <a:xfrm>
            <a:off x="7717536" y="804672"/>
            <a:ext cx="1325880" cy="109728"/>
          </a:xfrm>
          <a:prstGeom prst="rect">
            <a:avLst/>
          </a:prstGeom>
          <a:solidFill>
            <a:srgbClr val="1A6B8A"/>
          </a:solidFill>
          <a:ln w="12700">
            <a:solidFill>
              <a:srgbClr val="1A6B8A"/>
            </a:solidFill>
            <a:prstDash val="solid"/>
          </a:ln>
        </p:spPr>
      </p:sp>
      <p:sp>
        <p:nvSpPr>
          <p:cNvPr id="15" name="Text 12"/>
          <p:cNvSpPr/>
          <p:nvPr/>
        </p:nvSpPr>
        <p:spPr>
          <a:xfrm>
            <a:off x="7717536" y="896112"/>
            <a:ext cx="1325880" cy="475488"/>
          </a:xfrm>
          <a:prstGeom prst="rect">
            <a:avLst/>
          </a:prstGeom>
          <a:noFill/>
          <a:ln/>
        </p:spPr>
        <p:txBody>
          <a:bodyPr wrap="square" lIns="0" tIns="0" rIns="0" bIns="0" rtlCol="0" anchor="ctr"/>
          <a:lstStyle/>
          <a:p>
            <a:pPr marL="0" indent="0" algn="ctr">
              <a:buNone/>
            </a:pPr>
            <a:r>
              <a:rPr lang="en-US" sz="2200" b="1" dirty="0">
                <a:solidFill>
                  <a:srgbClr val="0A2342"/>
                </a:solidFill>
                <a:latin typeface="Calibri" pitchFamily="34" charset="0"/>
                <a:ea typeface="Calibri" pitchFamily="34" charset="-122"/>
                <a:cs typeface="Calibri" pitchFamily="34" charset="-120"/>
              </a:rPr>
              <a:t>31 620</a:t>
            </a:r>
            <a:endParaRPr lang="en-US" sz="2200" dirty="0"/>
          </a:p>
        </p:txBody>
      </p:sp>
      <p:sp>
        <p:nvSpPr>
          <p:cNvPr id="16" name="Text 13"/>
          <p:cNvSpPr/>
          <p:nvPr/>
        </p:nvSpPr>
        <p:spPr>
          <a:xfrm>
            <a:off x="7717536" y="1371600"/>
            <a:ext cx="1325880" cy="34747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Visiteurs (test)</a:t>
            </a:r>
            <a:endParaRPr lang="en-US" sz="900" dirty="0"/>
          </a:p>
        </p:txBody>
      </p:sp>
      <p:sp>
        <p:nvSpPr>
          <p:cNvPr id="17" name="Shape 14"/>
          <p:cNvSpPr/>
          <p:nvPr/>
        </p:nvSpPr>
        <p:spPr>
          <a:xfrm>
            <a:off x="4754880" y="1993392"/>
            <a:ext cx="4041648" cy="1280160"/>
          </a:xfrm>
          <a:prstGeom prst="rect">
            <a:avLst/>
          </a:prstGeom>
          <a:solidFill>
            <a:srgbClr val="FFF3E0"/>
          </a:solidFill>
          <a:ln w="12700">
            <a:solidFill>
              <a:srgbClr val="ED7D31"/>
            </a:solidFill>
            <a:prstDash val="solid"/>
          </a:ln>
          <a:effectLst>
            <a:outerShdw blurRad="101600" dist="38100" dir="8100000" algn="bl" rotWithShape="0">
              <a:srgbClr val="000000">
                <a:alpha val="12000"/>
              </a:srgbClr>
            </a:outerShdw>
          </a:effectLst>
        </p:spPr>
      </p:sp>
      <p:sp>
        <p:nvSpPr>
          <p:cNvPr id="18" name="Shape 15"/>
          <p:cNvSpPr/>
          <p:nvPr/>
        </p:nvSpPr>
        <p:spPr>
          <a:xfrm>
            <a:off x="4754880" y="1993392"/>
            <a:ext cx="4041648" cy="320040"/>
          </a:xfrm>
          <a:prstGeom prst="rect">
            <a:avLst/>
          </a:prstGeom>
          <a:solidFill>
            <a:srgbClr val="ED7D31"/>
          </a:solidFill>
          <a:ln w="12700">
            <a:solidFill>
              <a:srgbClr val="ED7D31"/>
            </a:solidFill>
            <a:prstDash val="solid"/>
          </a:ln>
        </p:spPr>
      </p:sp>
      <p:sp>
        <p:nvSpPr>
          <p:cNvPr id="19" name="Text 16"/>
          <p:cNvSpPr/>
          <p:nvPr/>
        </p:nvSpPr>
        <p:spPr>
          <a:xfrm>
            <a:off x="4754880" y="1993392"/>
            <a:ext cx="4041648"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Anomalie détectée : âge = 123 ans</a:t>
            </a:r>
            <a:endParaRPr lang="en-US" sz="1100" dirty="0"/>
          </a:p>
        </p:txBody>
      </p:sp>
      <p:sp>
        <p:nvSpPr>
          <p:cNvPr id="20" name="Text 17"/>
          <p:cNvSpPr/>
          <p:nvPr/>
        </p:nvSpPr>
        <p:spPr>
          <a:xfrm>
            <a:off x="4864608" y="2359152"/>
            <a:ext cx="3822192" cy="841248"/>
          </a:xfrm>
          <a:prstGeom prst="rect">
            <a:avLst/>
          </a:prstGeom>
          <a:noFill/>
          <a:ln/>
        </p:spPr>
        <p:txBody>
          <a:bodyPr wrap="square" lIns="91440" tIns="45720" rIns="91440" bIns="45720" rtlCol="0" anchor="t"/>
          <a:lstStyle/>
          <a:p>
            <a:pPr marL="0" indent="0" algn="l">
              <a:buNone/>
            </a:pPr>
            <a:r>
              <a:rPr lang="en-US" sz="1000" dirty="0">
                <a:solidFill>
                  <a:srgbClr val="0A2342"/>
                </a:solidFill>
                <a:latin typeface="Calibri"/>
                <a:ea typeface="Calibri"/>
                <a:cs typeface="Calibri"/>
              </a:rPr>
              <a:t>2 </a:t>
            </a:r>
            <a:r>
              <a:rPr lang="en-US" sz="1000" dirty="0" err="1">
                <a:solidFill>
                  <a:srgbClr val="0A2342"/>
                </a:solidFill>
                <a:latin typeface="Calibri"/>
                <a:ea typeface="Calibri"/>
                <a:cs typeface="Calibri"/>
              </a:rPr>
              <a:t>lignes</a:t>
            </a:r>
            <a:r>
              <a:rPr lang="en-US" sz="1000" dirty="0">
                <a:solidFill>
                  <a:srgbClr val="0A2342"/>
                </a:solidFill>
                <a:latin typeface="Calibri"/>
                <a:ea typeface="Calibri"/>
                <a:cs typeface="Calibri"/>
              </a:rPr>
              <a:t> avec un </a:t>
            </a:r>
            <a:r>
              <a:rPr lang="en-US" sz="1000" dirty="0" err="1">
                <a:solidFill>
                  <a:srgbClr val="0A2342"/>
                </a:solidFill>
                <a:latin typeface="Calibri"/>
                <a:ea typeface="Calibri"/>
                <a:cs typeface="Calibri"/>
              </a:rPr>
              <a:t>âge</a:t>
            </a:r>
            <a:r>
              <a:rPr lang="en-US" sz="1000" dirty="0">
                <a:solidFill>
                  <a:srgbClr val="0A2342"/>
                </a:solidFill>
                <a:latin typeface="Calibri"/>
                <a:ea typeface="Calibri"/>
                <a:cs typeface="Calibri"/>
              </a:rPr>
              <a:t> aberrant (111 et 123 </a:t>
            </a:r>
            <a:r>
              <a:rPr lang="en-US" sz="1000" dirty="0" err="1">
                <a:solidFill>
                  <a:srgbClr val="0A2342"/>
                </a:solidFill>
                <a:latin typeface="Calibri"/>
                <a:ea typeface="Calibri"/>
                <a:cs typeface="Calibri"/>
              </a:rPr>
              <a:t>ans</a:t>
            </a:r>
            <a:r>
              <a:rPr lang="en-US" sz="1000" dirty="0">
                <a:solidFill>
                  <a:srgbClr val="0A2342"/>
                </a:solidFill>
                <a:latin typeface="Calibri"/>
                <a:ea typeface="Calibri"/>
                <a:cs typeface="Calibri"/>
              </a:rPr>
              <a:t>) — </a:t>
            </a:r>
            <a:r>
              <a:rPr lang="en-US" sz="1000" dirty="0" err="1">
                <a:solidFill>
                  <a:srgbClr val="0A2342"/>
                </a:solidFill>
                <a:latin typeface="Calibri"/>
                <a:ea typeface="Calibri"/>
                <a:cs typeface="Calibri"/>
              </a:rPr>
              <a:t>clairement</a:t>
            </a:r>
            <a:r>
              <a:rPr lang="en-US" sz="1000" dirty="0">
                <a:solidFill>
                  <a:srgbClr val="0A2342"/>
                </a:solidFill>
                <a:latin typeface="Calibri"/>
                <a:ea typeface="Calibri"/>
                <a:cs typeface="Calibri"/>
              </a:rPr>
              <a:t> </a:t>
            </a:r>
            <a:r>
              <a:rPr lang="en-US" sz="1000" dirty="0" err="1">
                <a:solidFill>
                  <a:srgbClr val="0A2342"/>
                </a:solidFill>
                <a:latin typeface="Calibri"/>
                <a:ea typeface="Calibri"/>
                <a:cs typeface="Calibri"/>
              </a:rPr>
              <a:t>une</a:t>
            </a:r>
            <a:r>
              <a:rPr lang="en-US" sz="1000" dirty="0">
                <a:solidFill>
                  <a:srgbClr val="0A2342"/>
                </a:solidFill>
                <a:latin typeface="Calibri"/>
                <a:ea typeface="Calibri"/>
                <a:cs typeface="Calibri"/>
              </a:rPr>
              <a:t> </a:t>
            </a:r>
            <a:r>
              <a:rPr lang="en-US" sz="1000" dirty="0" err="1">
                <a:solidFill>
                  <a:srgbClr val="0A2342"/>
                </a:solidFill>
                <a:latin typeface="Calibri"/>
                <a:ea typeface="Calibri"/>
                <a:cs typeface="Calibri"/>
              </a:rPr>
              <a:t>erreur</a:t>
            </a:r>
            <a:r>
              <a:rPr lang="en-US" sz="1000" dirty="0">
                <a:solidFill>
                  <a:srgbClr val="0A2342"/>
                </a:solidFill>
                <a:latin typeface="Calibri"/>
                <a:ea typeface="Calibri"/>
                <a:cs typeface="Calibri"/>
              </a:rPr>
              <a:t> de </a:t>
            </a:r>
            <a:r>
              <a:rPr lang="en-US" sz="1000" dirty="0" err="1">
                <a:solidFill>
                  <a:srgbClr val="0A2342"/>
                </a:solidFill>
                <a:latin typeface="Calibri"/>
                <a:ea typeface="Calibri"/>
                <a:cs typeface="Calibri"/>
              </a:rPr>
              <a:t>saisie</a:t>
            </a:r>
            <a:r>
              <a:rPr lang="en-US" sz="1000" dirty="0">
                <a:solidFill>
                  <a:srgbClr val="0A2342"/>
                </a:solidFill>
                <a:latin typeface="Calibri"/>
                <a:ea typeface="Calibri"/>
                <a:cs typeface="Calibri"/>
              </a:rPr>
              <a:t>. </a:t>
            </a:r>
            <a:r>
              <a:rPr lang="en-US" sz="1000" dirty="0" err="1">
                <a:solidFill>
                  <a:srgbClr val="0A2342"/>
                </a:solidFill>
                <a:latin typeface="Calibri"/>
                <a:ea typeface="Calibri"/>
                <a:cs typeface="Calibri"/>
              </a:rPr>
              <a:t>Ces</a:t>
            </a:r>
            <a:r>
              <a:rPr lang="en-US" sz="1000" dirty="0">
                <a:solidFill>
                  <a:srgbClr val="0A2342"/>
                </a:solidFill>
                <a:latin typeface="Calibri"/>
                <a:ea typeface="Calibri"/>
                <a:cs typeface="Calibri"/>
              </a:rPr>
              <a:t> </a:t>
            </a:r>
            <a:r>
              <a:rPr lang="en-US" sz="1000" dirty="0" err="1">
                <a:solidFill>
                  <a:srgbClr val="0A2342"/>
                </a:solidFill>
                <a:latin typeface="Calibri"/>
                <a:ea typeface="Calibri"/>
                <a:cs typeface="Calibri"/>
              </a:rPr>
              <a:t>lignes</a:t>
            </a:r>
            <a:r>
              <a:rPr lang="en-US" sz="1000" dirty="0">
                <a:solidFill>
                  <a:srgbClr val="0A2342"/>
                </a:solidFill>
                <a:latin typeface="Calibri"/>
                <a:ea typeface="Calibri"/>
                <a:cs typeface="Calibri"/>
              </a:rPr>
              <a:t> </a:t>
            </a:r>
            <a:r>
              <a:rPr lang="en-US" sz="1000" dirty="0" err="1">
                <a:solidFill>
                  <a:srgbClr val="0A2342"/>
                </a:solidFill>
                <a:latin typeface="Calibri"/>
                <a:ea typeface="Calibri"/>
                <a:cs typeface="Calibri"/>
              </a:rPr>
              <a:t>ont</a:t>
            </a:r>
            <a:r>
              <a:rPr lang="en-US" sz="1000" dirty="0">
                <a:solidFill>
                  <a:srgbClr val="0A2342"/>
                </a:solidFill>
                <a:latin typeface="Calibri"/>
                <a:ea typeface="Calibri"/>
                <a:cs typeface="Calibri"/>
              </a:rPr>
              <a:t> </a:t>
            </a:r>
            <a:r>
              <a:rPr lang="en-US" sz="1000" dirty="0" err="1">
                <a:solidFill>
                  <a:srgbClr val="0A2342"/>
                </a:solidFill>
                <a:latin typeface="Calibri"/>
                <a:ea typeface="Calibri"/>
                <a:cs typeface="Calibri"/>
              </a:rPr>
              <a:t>été</a:t>
            </a:r>
            <a:r>
              <a:rPr lang="en-US" sz="1000" dirty="0">
                <a:solidFill>
                  <a:srgbClr val="0A2342"/>
                </a:solidFill>
                <a:latin typeface="Calibri"/>
                <a:ea typeface="Calibri"/>
                <a:cs typeface="Calibri"/>
              </a:rPr>
              <a:t> </a:t>
            </a:r>
            <a:r>
              <a:rPr lang="en-US" sz="1000" dirty="0" err="1">
                <a:solidFill>
                  <a:srgbClr val="0A2342"/>
                </a:solidFill>
                <a:latin typeface="Calibri"/>
                <a:ea typeface="Calibri"/>
                <a:cs typeface="Calibri"/>
              </a:rPr>
              <a:t>supprimées</a:t>
            </a:r>
            <a:r>
              <a:rPr lang="en-US" sz="1000" dirty="0">
                <a:solidFill>
                  <a:srgbClr val="0A2342"/>
                </a:solidFill>
                <a:latin typeface="Calibri"/>
                <a:ea typeface="Calibri"/>
                <a:cs typeface="Calibri"/>
              </a:rPr>
              <a:t> pour ne pas </a:t>
            </a:r>
            <a:r>
              <a:rPr lang="en-US" sz="1000" dirty="0" err="1">
                <a:solidFill>
                  <a:srgbClr val="0A2342"/>
                </a:solidFill>
                <a:latin typeface="Calibri"/>
                <a:ea typeface="Calibri"/>
                <a:cs typeface="Calibri"/>
              </a:rPr>
              <a:t>biaiser</a:t>
            </a:r>
            <a:r>
              <a:rPr lang="en-US" sz="1000" dirty="0">
                <a:solidFill>
                  <a:srgbClr val="0A2342"/>
                </a:solidFill>
                <a:latin typeface="Calibri"/>
                <a:ea typeface="Calibri"/>
                <a:cs typeface="Calibri"/>
              </a:rPr>
              <a:t> le </a:t>
            </a:r>
            <a:r>
              <a:rPr lang="en-US" sz="1000" dirty="0" err="1">
                <a:solidFill>
                  <a:srgbClr val="0A2342"/>
                </a:solidFill>
                <a:latin typeface="Calibri"/>
                <a:ea typeface="Calibri"/>
                <a:cs typeface="Calibri"/>
              </a:rPr>
              <a:t>modèle</a:t>
            </a:r>
            <a:r>
              <a:rPr lang="en-US" sz="1000" dirty="0">
                <a:solidFill>
                  <a:srgbClr val="0A2342"/>
                </a:solidFill>
                <a:latin typeface="Calibri"/>
                <a:ea typeface="Calibri"/>
                <a:cs typeface="Calibri"/>
              </a:rPr>
              <a:t>.</a:t>
            </a:r>
            <a:endParaRPr lang="en-US" sz="1000" dirty="0">
              <a:latin typeface="Calibri"/>
              <a:ea typeface="Calibri"/>
              <a:cs typeface="Calibri"/>
            </a:endParaRPr>
          </a:p>
        </p:txBody>
      </p:sp>
      <p:sp>
        <p:nvSpPr>
          <p:cNvPr id="21" name="Shape 18"/>
          <p:cNvSpPr/>
          <p:nvPr/>
        </p:nvSpPr>
        <p:spPr>
          <a:xfrm>
            <a:off x="365760" y="4069080"/>
            <a:ext cx="8412480" cy="566928"/>
          </a:xfrm>
          <a:prstGeom prst="rect">
            <a:avLst/>
          </a:prstGeom>
          <a:solidFill>
            <a:srgbClr val="0A2342">
              <a:alpha val="10000"/>
            </a:srgbClr>
          </a:solidFill>
          <a:ln w="10160">
            <a:solidFill>
              <a:srgbClr val="1A6B8A"/>
            </a:solidFill>
            <a:prstDash val="solid"/>
          </a:ln>
        </p:spPr>
      </p:sp>
      <p:sp>
        <p:nvSpPr>
          <p:cNvPr id="22" name="Text 19"/>
          <p:cNvSpPr/>
          <p:nvPr/>
        </p:nvSpPr>
        <p:spPr>
          <a:xfrm>
            <a:off x="502920" y="4069080"/>
            <a:ext cx="8229600" cy="566928"/>
          </a:xfrm>
          <a:prstGeom prst="rect">
            <a:avLst/>
          </a:prstGeom>
          <a:noFill/>
          <a:ln/>
        </p:spPr>
        <p:txBody>
          <a:bodyPr wrap="square" lIns="91440" tIns="45720" rIns="91440" bIns="45720" rtlCol="0" anchor="ctr"/>
          <a:lstStyle/>
          <a:p>
            <a:r>
              <a:rPr lang="en-US" sz="1050" i="1">
                <a:solidFill>
                  <a:srgbClr val="0A2342"/>
                </a:solidFill>
                <a:latin typeface="Calibri"/>
                <a:ea typeface="Calibri"/>
                <a:cs typeface="Calibri"/>
              </a:rPr>
              <a:t>Il y a un fort déséquilibre entre les classes (que 3,2% de 1).</a:t>
            </a:r>
            <a:endParaRPr lang="en-US" sz="1050" i="1" dirty="0">
              <a:solidFill>
                <a:srgbClr val="0A2342"/>
              </a:solidFill>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02  Analyse Exploratoire — Corrélations &amp; Pages visitées</a:t>
            </a:r>
            <a:endParaRPr lang="en-US" sz="2000" dirty="0"/>
          </a:p>
        </p:txBody>
      </p:sp>
      <p:sp>
        <p:nvSpPr>
          <p:cNvPr id="4" name="Shape 2"/>
          <p:cNvSpPr/>
          <p:nvPr/>
        </p:nvSpPr>
        <p:spPr>
          <a:xfrm>
            <a:off x="365760" y="822960"/>
            <a:ext cx="3931920" cy="196596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Shape 3"/>
          <p:cNvSpPr/>
          <p:nvPr/>
        </p:nvSpPr>
        <p:spPr>
          <a:xfrm>
            <a:off x="365760" y="822960"/>
            <a:ext cx="3931920" cy="347472"/>
          </a:xfrm>
          <a:prstGeom prst="rect">
            <a:avLst/>
          </a:prstGeom>
          <a:solidFill>
            <a:srgbClr val="1A6B8A"/>
          </a:solidFill>
          <a:ln w="12700">
            <a:solidFill>
              <a:srgbClr val="1A6B8A"/>
            </a:solidFill>
            <a:prstDash val="solid"/>
          </a:ln>
        </p:spPr>
      </p:sp>
      <p:sp>
        <p:nvSpPr>
          <p:cNvPr id="6" name="Text 4"/>
          <p:cNvSpPr/>
          <p:nvPr/>
        </p:nvSpPr>
        <p:spPr>
          <a:xfrm>
            <a:off x="365760" y="822960"/>
            <a:ext cx="3931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Corrélation avec converted</a:t>
            </a:r>
            <a:endParaRPr lang="en-US" sz="1200" dirty="0"/>
          </a:p>
        </p:txBody>
      </p:sp>
      <p:sp>
        <p:nvSpPr>
          <p:cNvPr id="7" name="Text 5"/>
          <p:cNvSpPr/>
          <p:nvPr/>
        </p:nvSpPr>
        <p:spPr>
          <a:xfrm>
            <a:off x="502920" y="1261872"/>
            <a:ext cx="2011680" cy="256032"/>
          </a:xfrm>
          <a:prstGeom prst="rect">
            <a:avLst/>
          </a:prstGeom>
          <a:noFill/>
          <a:ln/>
        </p:spPr>
        <p:txBody>
          <a:bodyPr wrap="square" lIns="0" tIns="0" rIns="0" bIns="0" rtlCol="0" anchor="ctr"/>
          <a:lstStyle/>
          <a:p>
            <a:pPr marL="0" indent="0">
              <a:buNone/>
            </a:pPr>
            <a:r>
              <a:rPr lang="en-US" sz="1000" b="1" dirty="0">
                <a:solidFill>
                  <a:srgbClr val="0A2342"/>
                </a:solidFill>
                <a:latin typeface="Calibri" pitchFamily="34" charset="0"/>
                <a:ea typeface="Calibri" pitchFamily="34" charset="-122"/>
                <a:cs typeface="Calibri" pitchFamily="34" charset="-120"/>
              </a:rPr>
              <a:t>total_pages_visited</a:t>
            </a:r>
            <a:endParaRPr lang="en-US" sz="1000" dirty="0"/>
          </a:p>
        </p:txBody>
      </p:sp>
      <p:sp>
        <p:nvSpPr>
          <p:cNvPr id="9" name="Text 7"/>
          <p:cNvSpPr/>
          <p:nvPr/>
        </p:nvSpPr>
        <p:spPr>
          <a:xfrm>
            <a:off x="3474720" y="1261872"/>
            <a:ext cx="640080" cy="256032"/>
          </a:xfrm>
          <a:prstGeom prst="rect">
            <a:avLst/>
          </a:prstGeom>
          <a:noFill/>
          <a:ln/>
        </p:spPr>
        <p:txBody>
          <a:bodyPr wrap="square" lIns="0" tIns="0" rIns="0" bIns="0" rtlCol="0" anchor="ctr"/>
          <a:lstStyle/>
          <a:p>
            <a:pPr marL="0" indent="0" algn="r">
              <a:buNone/>
            </a:pPr>
            <a:r>
              <a:rPr lang="en-US" sz="1100" b="1" dirty="0">
                <a:solidFill>
                  <a:srgbClr val="ED7D31"/>
                </a:solidFill>
                <a:latin typeface="Calibri" pitchFamily="34" charset="0"/>
                <a:ea typeface="Calibri" pitchFamily="34" charset="-122"/>
                <a:cs typeface="Calibri" pitchFamily="34" charset="-120"/>
              </a:rPr>
              <a:t>+0,53</a:t>
            </a:r>
            <a:endParaRPr lang="en-US" sz="1100" dirty="0"/>
          </a:p>
        </p:txBody>
      </p:sp>
      <p:sp>
        <p:nvSpPr>
          <p:cNvPr id="13" name="Text 11"/>
          <p:cNvSpPr/>
          <p:nvPr/>
        </p:nvSpPr>
        <p:spPr>
          <a:xfrm>
            <a:off x="502920" y="1816608"/>
            <a:ext cx="2011680" cy="256032"/>
          </a:xfrm>
          <a:prstGeom prst="rect">
            <a:avLst/>
          </a:prstGeom>
          <a:noFill/>
          <a:ln/>
        </p:spPr>
        <p:txBody>
          <a:bodyPr wrap="square" lIns="0" tIns="0" rIns="0" bIns="0" rtlCol="0" anchor="ctr"/>
          <a:lstStyle/>
          <a:p>
            <a:pPr marL="0" indent="0">
              <a:buNone/>
            </a:pPr>
            <a:r>
              <a:rPr lang="en-US" sz="1000" b="1" dirty="0">
                <a:solidFill>
                  <a:srgbClr val="0A2342"/>
                </a:solidFill>
                <a:latin typeface="Calibri" pitchFamily="34" charset="0"/>
                <a:ea typeface="Calibri" pitchFamily="34" charset="-122"/>
                <a:cs typeface="Calibri" pitchFamily="34" charset="-120"/>
              </a:rPr>
              <a:t>age</a:t>
            </a:r>
            <a:endParaRPr lang="en-US" sz="1000" dirty="0"/>
          </a:p>
        </p:txBody>
      </p:sp>
      <p:sp>
        <p:nvSpPr>
          <p:cNvPr id="15" name="Text 13"/>
          <p:cNvSpPr/>
          <p:nvPr/>
        </p:nvSpPr>
        <p:spPr>
          <a:xfrm>
            <a:off x="3474720" y="1816608"/>
            <a:ext cx="640080" cy="256032"/>
          </a:xfrm>
          <a:prstGeom prst="rect">
            <a:avLst/>
          </a:prstGeom>
          <a:noFill/>
          <a:ln/>
        </p:spPr>
        <p:txBody>
          <a:bodyPr wrap="square" lIns="0" tIns="0" rIns="0" bIns="0" rtlCol="0" anchor="ctr"/>
          <a:lstStyle/>
          <a:p>
            <a:pPr marL="0" indent="0" algn="r">
              <a:buNone/>
            </a:pPr>
            <a:r>
              <a:rPr lang="en-US" sz="1100" b="1" dirty="0">
                <a:solidFill>
                  <a:srgbClr val="64748B"/>
                </a:solidFill>
                <a:latin typeface="Calibri" pitchFamily="34" charset="0"/>
                <a:ea typeface="Calibri" pitchFamily="34" charset="-122"/>
                <a:cs typeface="Calibri" pitchFamily="34" charset="-120"/>
              </a:rPr>
              <a:t>-0,09</a:t>
            </a:r>
            <a:endParaRPr lang="en-US" sz="1100" dirty="0"/>
          </a:p>
        </p:txBody>
      </p:sp>
      <p:sp>
        <p:nvSpPr>
          <p:cNvPr id="16" name="Text 14"/>
          <p:cNvSpPr/>
          <p:nvPr/>
        </p:nvSpPr>
        <p:spPr>
          <a:xfrm>
            <a:off x="502920" y="2322576"/>
            <a:ext cx="2011680" cy="256032"/>
          </a:xfrm>
          <a:prstGeom prst="rect">
            <a:avLst/>
          </a:prstGeom>
          <a:noFill/>
          <a:ln/>
        </p:spPr>
        <p:txBody>
          <a:bodyPr wrap="square" lIns="0" tIns="0" rIns="0" bIns="0" rtlCol="0" anchor="ctr"/>
          <a:lstStyle/>
          <a:p>
            <a:pPr marL="0" indent="0">
              <a:buNone/>
            </a:pPr>
            <a:r>
              <a:rPr lang="en-US" sz="1000" b="1" dirty="0">
                <a:solidFill>
                  <a:srgbClr val="0A2342"/>
                </a:solidFill>
                <a:latin typeface="Calibri" pitchFamily="34" charset="0"/>
                <a:ea typeface="Calibri" pitchFamily="34" charset="-122"/>
                <a:cs typeface="Calibri" pitchFamily="34" charset="-120"/>
              </a:rPr>
              <a:t>new_user</a:t>
            </a:r>
            <a:endParaRPr lang="en-US" sz="1000" dirty="0"/>
          </a:p>
        </p:txBody>
      </p:sp>
      <p:sp>
        <p:nvSpPr>
          <p:cNvPr id="18" name="Text 16"/>
          <p:cNvSpPr/>
          <p:nvPr/>
        </p:nvSpPr>
        <p:spPr>
          <a:xfrm>
            <a:off x="3474720" y="2322576"/>
            <a:ext cx="640080" cy="256032"/>
          </a:xfrm>
          <a:prstGeom prst="rect">
            <a:avLst/>
          </a:prstGeom>
          <a:noFill/>
          <a:ln/>
        </p:spPr>
        <p:txBody>
          <a:bodyPr wrap="square" lIns="0" tIns="0" rIns="0" bIns="0" rtlCol="0" anchor="ctr"/>
          <a:lstStyle/>
          <a:p>
            <a:pPr marL="0" indent="0" algn="r">
              <a:buNone/>
            </a:pPr>
            <a:r>
              <a:rPr lang="en-US" sz="1100" b="1" dirty="0">
                <a:solidFill>
                  <a:srgbClr val="64748B"/>
                </a:solidFill>
                <a:latin typeface="Calibri" pitchFamily="34" charset="0"/>
                <a:ea typeface="Calibri" pitchFamily="34" charset="-122"/>
                <a:cs typeface="Calibri" pitchFamily="34" charset="-120"/>
              </a:rPr>
              <a:t>-0,15</a:t>
            </a:r>
            <a:endParaRPr lang="en-US" sz="1100" dirty="0"/>
          </a:p>
        </p:txBody>
      </p:sp>
      <p:graphicFrame>
        <p:nvGraphicFramePr>
          <p:cNvPr id="22" name="Chart 0"/>
          <p:cNvGraphicFramePr/>
          <p:nvPr/>
        </p:nvGraphicFramePr>
        <p:xfrm>
          <a:off x="4572000" y="822960"/>
          <a:ext cx="4206240" cy="37490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02  Analyse Exploratoire — Variables catégorielles</a:t>
            </a:r>
            <a:endParaRPr lang="en-US" sz="2000" dirty="0"/>
          </a:p>
        </p:txBody>
      </p:sp>
      <p:sp>
        <p:nvSpPr>
          <p:cNvPr id="7" name="Shape 2"/>
          <p:cNvSpPr/>
          <p:nvPr/>
        </p:nvSpPr>
        <p:spPr>
          <a:xfrm>
            <a:off x="365760" y="3657600"/>
            <a:ext cx="4160520" cy="1005840"/>
          </a:xfrm>
          <a:prstGeom prst="rect">
            <a:avLst/>
          </a:prstGeom>
          <a:solidFill>
            <a:srgbClr val="FFF3E0"/>
          </a:solidFill>
          <a:ln w="10160">
            <a:solidFill>
              <a:srgbClr val="ED7D31"/>
            </a:solidFill>
            <a:prstDash val="solid"/>
          </a:ln>
        </p:spPr>
      </p:sp>
      <p:sp>
        <p:nvSpPr>
          <p:cNvPr id="8" name="Text 3"/>
          <p:cNvSpPr/>
          <p:nvPr/>
        </p:nvSpPr>
        <p:spPr>
          <a:xfrm>
            <a:off x="475488" y="3703320"/>
            <a:ext cx="3931920" cy="256032"/>
          </a:xfrm>
          <a:prstGeom prst="rect">
            <a:avLst/>
          </a:prstGeom>
          <a:noFill/>
          <a:ln/>
        </p:spPr>
        <p:txBody>
          <a:bodyPr wrap="square" lIns="0" tIns="0" rIns="0" bIns="0" rtlCol="0" anchor="ctr"/>
          <a:lstStyle/>
          <a:p>
            <a:pPr marL="0" indent="0">
              <a:buNone/>
            </a:pPr>
            <a:r>
              <a:rPr lang="en-US" sz="1000" b="1" dirty="0">
                <a:solidFill>
                  <a:srgbClr val="0A2342"/>
                </a:solidFill>
                <a:latin typeface="Calibri" pitchFamily="34" charset="0"/>
                <a:ea typeface="Calibri" pitchFamily="34" charset="-122"/>
                <a:cs typeface="Calibri" pitchFamily="34" charset="-120"/>
              </a:rPr>
              <a:t>Chine : 0,1%</a:t>
            </a:r>
            <a:endParaRPr lang="en-US" sz="1000" dirty="0"/>
          </a:p>
        </p:txBody>
      </p:sp>
      <p:sp>
        <p:nvSpPr>
          <p:cNvPr id="9" name="Text 4"/>
          <p:cNvSpPr/>
          <p:nvPr/>
        </p:nvSpPr>
        <p:spPr>
          <a:xfrm>
            <a:off x="475488" y="3959352"/>
            <a:ext cx="3931920" cy="594360"/>
          </a:xfrm>
          <a:prstGeom prst="rect">
            <a:avLst/>
          </a:prstGeom>
          <a:noFill/>
          <a:ln/>
        </p:spPr>
        <p:txBody>
          <a:bodyPr wrap="square" lIns="91440" tIns="45720" rIns="91440" bIns="45720" rtlCol="0" anchor="t"/>
          <a:lstStyle/>
          <a:p>
            <a:r>
              <a:rPr lang="en-US" sz="950" dirty="0" err="1">
                <a:solidFill>
                  <a:srgbClr val="0A2342"/>
                </a:solidFill>
                <a:latin typeface="Calibri"/>
                <a:ea typeface="Calibri"/>
                <a:cs typeface="Calibri"/>
              </a:rPr>
              <a:t>Probablement</a:t>
            </a:r>
            <a:r>
              <a:rPr lang="en-US" sz="950" dirty="0">
                <a:solidFill>
                  <a:srgbClr val="0A2342"/>
                </a:solidFill>
                <a:latin typeface="Calibri"/>
                <a:ea typeface="Calibri"/>
                <a:cs typeface="Calibri"/>
              </a:rPr>
              <a:t> des  </a:t>
            </a:r>
            <a:r>
              <a:rPr lang="en-US" sz="950" dirty="0" err="1">
                <a:solidFill>
                  <a:srgbClr val="0A2342"/>
                </a:solidFill>
                <a:latin typeface="Calibri"/>
                <a:ea typeface="Calibri"/>
                <a:cs typeface="Calibri"/>
              </a:rPr>
              <a:t>contraintes</a:t>
            </a:r>
            <a:r>
              <a:rPr lang="en-US" sz="950" dirty="0">
                <a:solidFill>
                  <a:srgbClr val="0A2342"/>
                </a:solidFill>
                <a:latin typeface="Calibri"/>
                <a:ea typeface="Calibri"/>
                <a:cs typeface="Calibri"/>
              </a:rPr>
              <a:t> </a:t>
            </a:r>
            <a:r>
              <a:rPr lang="en-US" sz="950" dirty="0" err="1">
                <a:solidFill>
                  <a:srgbClr val="0A2342"/>
                </a:solidFill>
                <a:latin typeface="Calibri"/>
                <a:ea typeface="Calibri"/>
                <a:cs typeface="Calibri"/>
              </a:rPr>
              <a:t>réglementaires</a:t>
            </a:r>
            <a:r>
              <a:rPr lang="en-US" sz="950" dirty="0">
                <a:solidFill>
                  <a:srgbClr val="0A2342"/>
                </a:solidFill>
                <a:latin typeface="Calibri"/>
                <a:ea typeface="Calibri"/>
                <a:cs typeface="Calibri"/>
              </a:rPr>
              <a:t> </a:t>
            </a:r>
            <a:r>
              <a:rPr lang="en-US" sz="950" dirty="0" err="1">
                <a:solidFill>
                  <a:srgbClr val="0A2342"/>
                </a:solidFill>
                <a:latin typeface="Calibri"/>
                <a:ea typeface="Calibri"/>
                <a:cs typeface="Calibri"/>
              </a:rPr>
              <a:t>ou</a:t>
            </a:r>
            <a:r>
              <a:rPr lang="en-US" sz="950" dirty="0">
                <a:solidFill>
                  <a:srgbClr val="0A2342"/>
                </a:solidFill>
                <a:latin typeface="Calibri"/>
                <a:ea typeface="Calibri"/>
                <a:cs typeface="Calibri"/>
              </a:rPr>
              <a:t> techniques .</a:t>
            </a:r>
            <a:endParaRPr lang="en-US" sz="950" dirty="0">
              <a:latin typeface="Calibri"/>
              <a:ea typeface="Calibri"/>
              <a:cs typeface="Calibri"/>
            </a:endParaRPr>
          </a:p>
        </p:txBody>
      </p:sp>
      <p:sp>
        <p:nvSpPr>
          <p:cNvPr id="10" name="Shape 5"/>
          <p:cNvSpPr/>
          <p:nvPr/>
        </p:nvSpPr>
        <p:spPr>
          <a:xfrm>
            <a:off x="4800600" y="3657600"/>
            <a:ext cx="4160520" cy="1005840"/>
          </a:xfrm>
          <a:prstGeom prst="rect">
            <a:avLst/>
          </a:prstGeom>
          <a:solidFill>
            <a:srgbClr val="E8F5E9"/>
          </a:solidFill>
          <a:ln w="10160">
            <a:solidFill>
              <a:srgbClr val="70AD47"/>
            </a:solidFill>
            <a:prstDash val="solid"/>
          </a:ln>
        </p:spPr>
      </p:sp>
      <p:sp>
        <p:nvSpPr>
          <p:cNvPr id="11" name="Text 6"/>
          <p:cNvSpPr/>
          <p:nvPr/>
        </p:nvSpPr>
        <p:spPr>
          <a:xfrm>
            <a:off x="4910328" y="3703320"/>
            <a:ext cx="3931920" cy="256032"/>
          </a:xfrm>
          <a:prstGeom prst="rect">
            <a:avLst/>
          </a:prstGeom>
          <a:noFill/>
          <a:ln/>
        </p:spPr>
        <p:txBody>
          <a:bodyPr wrap="square" lIns="0" tIns="0" rIns="0" bIns="0" rtlCol="0" anchor="ctr"/>
          <a:lstStyle/>
          <a:p>
            <a:r>
              <a:rPr lang="en-US" sz="1000" b="1" dirty="0">
                <a:solidFill>
                  <a:srgbClr val="0A2342"/>
                </a:solidFill>
                <a:latin typeface="Calibri"/>
                <a:ea typeface="Calibri"/>
                <a:cs typeface="Calibri"/>
              </a:rPr>
              <a:t>Utilisateurs existants 5x plus</a:t>
            </a:r>
            <a:endParaRPr lang="en-US" sz="1000">
              <a:latin typeface="Calibri"/>
              <a:ea typeface="Calibri"/>
              <a:cs typeface="Calibri"/>
            </a:endParaRPr>
          </a:p>
        </p:txBody>
      </p:sp>
      <p:sp>
        <p:nvSpPr>
          <p:cNvPr id="12" name="Text 7"/>
          <p:cNvSpPr/>
          <p:nvPr/>
        </p:nvSpPr>
        <p:spPr>
          <a:xfrm>
            <a:off x="4910328" y="3959352"/>
            <a:ext cx="3931920" cy="205740"/>
          </a:xfrm>
          <a:prstGeom prst="rect">
            <a:avLst/>
          </a:prstGeom>
          <a:noFill/>
          <a:ln/>
        </p:spPr>
        <p:txBody>
          <a:bodyPr wrap="square" rtlCol="0" anchor="t"/>
          <a:lstStyle/>
          <a:p>
            <a:pPr marL="0" indent="0">
              <a:buNone/>
            </a:pPr>
            <a:r>
              <a:rPr lang="en-US" sz="950" dirty="0">
                <a:solidFill>
                  <a:srgbClr val="0A2342"/>
                </a:solidFill>
                <a:latin typeface="Calibri" pitchFamily="34" charset="0"/>
                <a:ea typeface="Calibri" pitchFamily="34" charset="-122"/>
                <a:cs typeface="Calibri" pitchFamily="34" charset="-120"/>
              </a:rPr>
              <a:t>new_user=0 → 7,2% vs new_user=1 → 1,4% : ils connaissent déjà le site.</a:t>
            </a:r>
            <a:endParaRPr lang="en-US" sz="950" dirty="0"/>
          </a:p>
        </p:txBody>
      </p:sp>
      <p:pic>
        <p:nvPicPr>
          <p:cNvPr id="14" name="Image 13" descr="Une image contenant texte, capture d’écran, diagramme, Tracé&#10;&#10;Le contenu généré par l’IA peut être incorrect.">
            <a:extLst>
              <a:ext uri="{FF2B5EF4-FFF2-40B4-BE49-F238E27FC236}">
                <a16:creationId xmlns:a16="http://schemas.microsoft.com/office/drawing/2014/main" id="{F973EC83-4765-05EA-AA41-A61F3FA078ED}"/>
              </a:ext>
            </a:extLst>
          </p:cNvPr>
          <p:cNvPicPr>
            <a:picLocks noChangeAspect="1"/>
          </p:cNvPicPr>
          <p:nvPr/>
        </p:nvPicPr>
        <p:blipFill>
          <a:blip r:embed="rId3"/>
          <a:stretch>
            <a:fillRect/>
          </a:stretch>
        </p:blipFill>
        <p:spPr>
          <a:xfrm>
            <a:off x="3348990" y="796290"/>
            <a:ext cx="2743200" cy="2743200"/>
          </a:xfrm>
          <a:prstGeom prst="rect">
            <a:avLst/>
          </a:prstGeom>
        </p:spPr>
      </p:pic>
      <p:pic>
        <p:nvPicPr>
          <p:cNvPr id="15" name="Image 14" descr="Une image contenant texte, capture d’écran, diagramme, Rectangle&#10;&#10;Le contenu généré par l’IA peut être incorrect.">
            <a:extLst>
              <a:ext uri="{FF2B5EF4-FFF2-40B4-BE49-F238E27FC236}">
                <a16:creationId xmlns:a16="http://schemas.microsoft.com/office/drawing/2014/main" id="{C18D6A1F-74F1-B313-AF11-6824E17588E5}"/>
              </a:ext>
            </a:extLst>
          </p:cNvPr>
          <p:cNvPicPr>
            <a:picLocks noChangeAspect="1"/>
          </p:cNvPicPr>
          <p:nvPr/>
        </p:nvPicPr>
        <p:blipFill>
          <a:blip r:embed="rId4"/>
          <a:stretch>
            <a:fillRect/>
          </a:stretch>
        </p:blipFill>
        <p:spPr>
          <a:xfrm>
            <a:off x="6229350" y="803910"/>
            <a:ext cx="2743200" cy="2743200"/>
          </a:xfrm>
          <a:prstGeom prst="rect">
            <a:avLst/>
          </a:prstGeom>
        </p:spPr>
      </p:pic>
      <p:pic>
        <p:nvPicPr>
          <p:cNvPr id="17" name="Image 16" descr="Une image contenant texte, capture d’écran, diagramme, nombre&#10;&#10;Le contenu généré par l’IA peut être incorrect.">
            <a:extLst>
              <a:ext uri="{FF2B5EF4-FFF2-40B4-BE49-F238E27FC236}">
                <a16:creationId xmlns:a16="http://schemas.microsoft.com/office/drawing/2014/main" id="{55EE728A-C9AF-06B5-1029-A7D53244FB2C}"/>
              </a:ext>
            </a:extLst>
          </p:cNvPr>
          <p:cNvPicPr>
            <a:picLocks noChangeAspect="1"/>
          </p:cNvPicPr>
          <p:nvPr/>
        </p:nvPicPr>
        <p:blipFill>
          <a:blip r:embed="rId5"/>
          <a:stretch>
            <a:fillRect/>
          </a:stretch>
        </p:blipFill>
        <p:spPr>
          <a:xfrm>
            <a:off x="168593" y="805815"/>
            <a:ext cx="3046095" cy="2747010"/>
          </a:xfrm>
          <a:prstGeom prst="rect">
            <a:avLst/>
          </a:prstGeom>
        </p:spPr>
      </p:pic>
      <p:sp>
        <p:nvSpPr>
          <p:cNvPr id="18" name="ZoneTexte 17">
            <a:extLst>
              <a:ext uri="{FF2B5EF4-FFF2-40B4-BE49-F238E27FC236}">
                <a16:creationId xmlns:a16="http://schemas.microsoft.com/office/drawing/2014/main" id="{965C3732-CE9E-8A99-43BB-20977BBA7BBC}"/>
              </a:ext>
            </a:extLst>
          </p:cNvPr>
          <p:cNvSpPr txBox="1"/>
          <p:nvPr/>
        </p:nvSpPr>
        <p:spPr>
          <a:xfrm>
            <a:off x="4849569" y="4310454"/>
            <a:ext cx="3748367"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000" b="1">
                <a:solidFill>
                  <a:srgbClr val="002060"/>
                </a:solidFill>
                <a:ea typeface="Calibri"/>
                <a:cs typeface="Calibri"/>
              </a:rPr>
              <a:t>Les jeunes convertissent plus (5,1%)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r>
              <a:rPr lang="en-US" sz="2200" b="1">
                <a:solidFill>
                  <a:srgbClr val="FFFFFF"/>
                </a:solidFill>
                <a:latin typeface="Calibri"/>
                <a:ea typeface="Calibri"/>
                <a:cs typeface="Calibri"/>
              </a:rPr>
              <a:t>03  Modélisation — 3 modèles comparés</a:t>
            </a:r>
            <a:endParaRPr lang="en-US" sz="2200" b="1">
              <a:solidFill>
                <a:srgbClr val="FFFFFF"/>
              </a:solidFill>
              <a:ea typeface="Calibri"/>
              <a:cs typeface="Calibri"/>
            </a:endParaRPr>
          </a:p>
        </p:txBody>
      </p:sp>
      <p:sp>
        <p:nvSpPr>
          <p:cNvPr id="4" name="Shape 2"/>
          <p:cNvSpPr/>
          <p:nvPr/>
        </p:nvSpPr>
        <p:spPr>
          <a:xfrm>
            <a:off x="365760" y="822960"/>
            <a:ext cx="2743200" cy="388620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Shape 3"/>
          <p:cNvSpPr/>
          <p:nvPr/>
        </p:nvSpPr>
        <p:spPr>
          <a:xfrm>
            <a:off x="365760" y="822960"/>
            <a:ext cx="2743200" cy="384048"/>
          </a:xfrm>
          <a:prstGeom prst="rect">
            <a:avLst/>
          </a:prstGeom>
          <a:solidFill>
            <a:srgbClr val="5B9BD5"/>
          </a:solidFill>
          <a:ln w="12700">
            <a:solidFill>
              <a:srgbClr val="5B9BD5"/>
            </a:solidFill>
            <a:prstDash val="solid"/>
          </a:ln>
        </p:spPr>
      </p:sp>
      <p:sp>
        <p:nvSpPr>
          <p:cNvPr id="6" name="Text 4"/>
          <p:cNvSpPr/>
          <p:nvPr/>
        </p:nvSpPr>
        <p:spPr>
          <a:xfrm>
            <a:off x="365760" y="822960"/>
            <a:ext cx="27432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Régression Logistique</a:t>
            </a:r>
            <a:endParaRPr lang="en-US" sz="1100" dirty="0"/>
          </a:p>
        </p:txBody>
      </p:sp>
      <p:sp>
        <p:nvSpPr>
          <p:cNvPr id="7" name="Shape 5"/>
          <p:cNvSpPr/>
          <p:nvPr/>
        </p:nvSpPr>
        <p:spPr>
          <a:xfrm>
            <a:off x="457200" y="1280160"/>
            <a:ext cx="1005840" cy="228600"/>
          </a:xfrm>
          <a:prstGeom prst="rect">
            <a:avLst/>
          </a:prstGeom>
          <a:solidFill>
            <a:srgbClr val="64748B"/>
          </a:solidFill>
          <a:ln w="12700">
            <a:solidFill>
              <a:srgbClr val="64748B"/>
            </a:solidFill>
            <a:prstDash val="solid"/>
          </a:ln>
        </p:spPr>
      </p:sp>
      <p:sp>
        <p:nvSpPr>
          <p:cNvPr id="8" name="Text 6"/>
          <p:cNvSpPr/>
          <p:nvPr/>
        </p:nvSpPr>
        <p:spPr>
          <a:xfrm>
            <a:off x="457200" y="1280160"/>
            <a:ext cx="1005840" cy="22860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BASELINE</a:t>
            </a:r>
            <a:endParaRPr lang="en-US" sz="750" dirty="0"/>
          </a:p>
        </p:txBody>
      </p:sp>
      <p:sp>
        <p:nvSpPr>
          <p:cNvPr id="9" name="Text 7"/>
          <p:cNvSpPr/>
          <p:nvPr/>
        </p:nvSpPr>
        <p:spPr>
          <a:xfrm>
            <a:off x="457200" y="1572768"/>
            <a:ext cx="2560320" cy="1371600"/>
          </a:xfrm>
          <a:prstGeom prst="rect">
            <a:avLst/>
          </a:prstGeom>
          <a:noFill/>
          <a:ln/>
        </p:spPr>
        <p:txBody>
          <a:bodyPr wrap="square" lIns="91440" tIns="45720" rIns="91440" bIns="45720" rtlCol="0" anchor="ctr"/>
          <a:lstStyle/>
          <a:p>
            <a:pPr marL="342900" indent="-342900">
              <a:buSzPct val="100000"/>
              <a:buChar char="•"/>
            </a:pPr>
            <a:r>
              <a:rPr lang="en-US" sz="900" dirty="0" err="1">
                <a:solidFill>
                  <a:srgbClr val="0A2342"/>
                </a:solidFill>
                <a:latin typeface="Calibri"/>
                <a:ea typeface="Calibri"/>
                <a:cs typeface="Calibri"/>
              </a:rPr>
              <a:t>OneHotEncoder</a:t>
            </a:r>
          </a:p>
          <a:p>
            <a:pPr marL="342900" indent="-342900">
              <a:buSzPct val="100000"/>
              <a:buChar char="•"/>
            </a:pPr>
            <a:r>
              <a:rPr lang="en-US" sz="900" dirty="0" err="1">
                <a:solidFill>
                  <a:srgbClr val="0A2342"/>
                </a:solidFill>
                <a:latin typeface="Calibri"/>
                <a:ea typeface="Calibri"/>
                <a:cs typeface="Calibri"/>
              </a:rPr>
              <a:t>StandardScaler</a:t>
            </a:r>
            <a:endParaRPr lang="en-US" sz="900" dirty="0" err="1">
              <a:latin typeface="Calibri"/>
              <a:ea typeface="Calibri"/>
              <a:cs typeface="Calibri"/>
            </a:endParaRPr>
          </a:p>
          <a:p>
            <a:pPr marL="342900" indent="-342900">
              <a:buSzPct val="100000"/>
              <a:buFont typeface="Arial"/>
              <a:buChar char="•"/>
            </a:pPr>
            <a:r>
              <a:rPr lang="en-US" sz="900" dirty="0" err="1">
                <a:solidFill>
                  <a:srgbClr val="0A2342"/>
                </a:solidFill>
                <a:ea typeface="Calibri"/>
                <a:cs typeface="Calibri"/>
              </a:rPr>
              <a:t>class_weight</a:t>
            </a:r>
            <a:r>
              <a:rPr lang="en-US" sz="900" dirty="0">
                <a:solidFill>
                  <a:srgbClr val="0A2342"/>
                </a:solidFill>
                <a:ea typeface="Calibri"/>
                <a:cs typeface="Calibri"/>
              </a:rPr>
              <a:t>=None</a:t>
            </a:r>
            <a:endParaRPr lang="en-US" sz="900" dirty="0">
              <a:solidFill>
                <a:srgbClr val="000000"/>
              </a:solidFill>
              <a:ea typeface="Calibri"/>
              <a:cs typeface="Calibri"/>
            </a:endParaRPr>
          </a:p>
          <a:p>
            <a:pPr marL="342900" indent="-342900">
              <a:buSzPct val="100000"/>
              <a:buChar char="•"/>
            </a:pPr>
            <a:endParaRPr lang="en-US" sz="900" dirty="0">
              <a:solidFill>
                <a:srgbClr val="0A2342"/>
              </a:solidFill>
              <a:ea typeface="Calibri"/>
              <a:cs typeface="Calibri"/>
            </a:endParaRPr>
          </a:p>
          <a:p>
            <a:endParaRPr lang="en-US" sz="900" dirty="0">
              <a:ea typeface="Calibri" panose="020F0502020204030204"/>
              <a:cs typeface="Calibri" panose="020F0502020204030204"/>
            </a:endParaRPr>
          </a:p>
        </p:txBody>
      </p:sp>
      <p:sp>
        <p:nvSpPr>
          <p:cNvPr id="10" name="Shape 8"/>
          <p:cNvSpPr/>
          <p:nvPr/>
        </p:nvSpPr>
        <p:spPr>
          <a:xfrm>
            <a:off x="457200" y="3035808"/>
            <a:ext cx="1207008" cy="594360"/>
          </a:xfrm>
          <a:prstGeom prst="rect">
            <a:avLst/>
          </a:prstGeom>
          <a:solidFill>
            <a:srgbClr val="F0F4F8"/>
          </a:solidFill>
          <a:ln w="10160">
            <a:solidFill>
              <a:srgbClr val="5B9BD5"/>
            </a:solidFill>
            <a:prstDash val="solid"/>
          </a:ln>
        </p:spPr>
      </p:sp>
      <p:sp>
        <p:nvSpPr>
          <p:cNvPr id="11" name="Text 9"/>
          <p:cNvSpPr/>
          <p:nvPr/>
        </p:nvSpPr>
        <p:spPr>
          <a:xfrm>
            <a:off x="457200" y="3035808"/>
            <a:ext cx="1207008"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F1</a:t>
            </a:r>
            <a:endParaRPr lang="en-US" sz="900" dirty="0"/>
          </a:p>
        </p:txBody>
      </p:sp>
      <p:sp>
        <p:nvSpPr>
          <p:cNvPr id="12" name="Text 10"/>
          <p:cNvSpPr/>
          <p:nvPr/>
        </p:nvSpPr>
        <p:spPr>
          <a:xfrm>
            <a:off x="457200" y="3273552"/>
            <a:ext cx="1207008" cy="292608"/>
          </a:xfrm>
          <a:prstGeom prst="rect">
            <a:avLst/>
          </a:prstGeom>
          <a:noFill/>
          <a:ln/>
        </p:spPr>
        <p:txBody>
          <a:bodyPr wrap="square" lIns="0" tIns="0" rIns="0" bIns="0" rtlCol="0" anchor="ctr"/>
          <a:lstStyle/>
          <a:p>
            <a:pPr marL="0" indent="0" algn="ctr">
              <a:buNone/>
            </a:pPr>
            <a:r>
              <a:rPr lang="en-US" sz="1700" b="1">
                <a:solidFill>
                  <a:srgbClr val="5B9BD5"/>
                </a:solidFill>
                <a:latin typeface="Calibri"/>
                <a:ea typeface="Calibri"/>
                <a:cs typeface="Calibri"/>
              </a:rPr>
              <a:t>76,04%</a:t>
            </a:r>
            <a:endParaRPr lang="fr-FR"/>
          </a:p>
        </p:txBody>
      </p:sp>
      <p:sp>
        <p:nvSpPr>
          <p:cNvPr id="13" name="Shape 11"/>
          <p:cNvSpPr/>
          <p:nvPr/>
        </p:nvSpPr>
        <p:spPr>
          <a:xfrm>
            <a:off x="1810512" y="3035808"/>
            <a:ext cx="1207008" cy="594360"/>
          </a:xfrm>
          <a:prstGeom prst="rect">
            <a:avLst/>
          </a:prstGeom>
          <a:solidFill>
            <a:srgbClr val="F0F4F8"/>
          </a:solidFill>
          <a:ln w="10160">
            <a:solidFill>
              <a:srgbClr val="1A6B8A"/>
            </a:solidFill>
            <a:prstDash val="solid"/>
          </a:ln>
        </p:spPr>
      </p:sp>
      <p:sp>
        <p:nvSpPr>
          <p:cNvPr id="14" name="Text 12"/>
          <p:cNvSpPr/>
          <p:nvPr/>
        </p:nvSpPr>
        <p:spPr>
          <a:xfrm>
            <a:off x="1810512" y="3035808"/>
            <a:ext cx="1207008" cy="256032"/>
          </a:xfrm>
          <a:prstGeom prst="rect">
            <a:avLst/>
          </a:prstGeom>
          <a:noFill/>
          <a:ln/>
        </p:spPr>
        <p:txBody>
          <a:bodyPr wrap="square" lIns="0" tIns="0" rIns="0" bIns="0" rtlCol="0" anchor="ctr"/>
          <a:lstStyle/>
          <a:p>
            <a:pPr marL="0" indent="0" algn="ctr">
              <a:buNone/>
            </a:pPr>
            <a:r>
              <a:rPr lang="en-US" sz="900">
                <a:solidFill>
                  <a:srgbClr val="64748B"/>
                </a:solidFill>
                <a:ea typeface="Calibri"/>
                <a:cs typeface="Calibri"/>
              </a:rPr>
              <a:t>Precision/Recall</a:t>
            </a:r>
            <a:endParaRPr lang="en-US" sz="900" dirty="0">
              <a:solidFill>
                <a:srgbClr val="64748B"/>
              </a:solidFill>
              <a:ea typeface="Calibri"/>
              <a:cs typeface="Calibri"/>
            </a:endParaRPr>
          </a:p>
        </p:txBody>
      </p:sp>
      <p:sp>
        <p:nvSpPr>
          <p:cNvPr id="15" name="Text 13"/>
          <p:cNvSpPr/>
          <p:nvPr/>
        </p:nvSpPr>
        <p:spPr>
          <a:xfrm>
            <a:off x="1810512" y="3273552"/>
            <a:ext cx="1207008" cy="292608"/>
          </a:xfrm>
          <a:prstGeom prst="rect">
            <a:avLst/>
          </a:prstGeom>
          <a:noFill/>
          <a:ln/>
        </p:spPr>
        <p:txBody>
          <a:bodyPr wrap="square" lIns="0" tIns="0" rIns="0" bIns="0" rtlCol="0" anchor="ctr"/>
          <a:lstStyle/>
          <a:p>
            <a:pPr algn="ctr"/>
            <a:r>
              <a:rPr lang="en-US" sz="1700" b="1">
                <a:solidFill>
                  <a:srgbClr val="1A6B8A"/>
                </a:solidFill>
                <a:ea typeface="Calibri"/>
                <a:cs typeface="Calibri"/>
              </a:rPr>
              <a:t>85% / 69%</a:t>
            </a:r>
            <a:endParaRPr lang="en-US" sz="1700" b="1" dirty="0">
              <a:solidFill>
                <a:srgbClr val="1A6B8A"/>
              </a:solidFill>
              <a:ea typeface="Calibri"/>
              <a:cs typeface="Calibri"/>
            </a:endParaRPr>
          </a:p>
        </p:txBody>
      </p:sp>
      <p:sp>
        <p:nvSpPr>
          <p:cNvPr id="16" name="Text 14"/>
          <p:cNvSpPr/>
          <p:nvPr/>
        </p:nvSpPr>
        <p:spPr>
          <a:xfrm>
            <a:off x="457200" y="3730752"/>
            <a:ext cx="2560320" cy="685800"/>
          </a:xfrm>
          <a:prstGeom prst="rect">
            <a:avLst/>
          </a:prstGeom>
          <a:noFill/>
          <a:ln/>
        </p:spPr>
        <p:txBody>
          <a:bodyPr wrap="square" lIns="91440" tIns="45720" rIns="91440" bIns="45720" rtlCol="0" anchor="t"/>
          <a:lstStyle/>
          <a:p>
            <a:r>
              <a:rPr lang="en-US" sz="900" i="1" dirty="0" err="1">
                <a:solidFill>
                  <a:srgbClr val="64748B"/>
                </a:solidFill>
                <a:latin typeface="Calibri"/>
                <a:ea typeface="Calibri"/>
                <a:cs typeface="Calibri"/>
              </a:rPr>
              <a:t>Modèle</a:t>
            </a:r>
            <a:r>
              <a:rPr lang="en-US" sz="900" i="1" dirty="0">
                <a:solidFill>
                  <a:srgbClr val="64748B"/>
                </a:solidFill>
                <a:latin typeface="Calibri"/>
                <a:ea typeface="Calibri"/>
                <a:cs typeface="Calibri"/>
              </a:rPr>
              <a:t> de </a:t>
            </a:r>
            <a:r>
              <a:rPr lang="en-US" sz="900" i="1" dirty="0" err="1">
                <a:solidFill>
                  <a:srgbClr val="64748B"/>
                </a:solidFill>
                <a:latin typeface="Calibri"/>
                <a:ea typeface="Calibri"/>
                <a:cs typeface="Calibri"/>
              </a:rPr>
              <a:t>référence</a:t>
            </a:r>
            <a:r>
              <a:rPr lang="en-US" sz="900" i="1" dirty="0">
                <a:solidFill>
                  <a:srgbClr val="64748B"/>
                </a:solidFill>
                <a:latin typeface="Calibri"/>
                <a:ea typeface="Calibri"/>
                <a:cs typeface="Calibri"/>
              </a:rPr>
              <a:t>.</a:t>
            </a:r>
          </a:p>
          <a:p>
            <a:r>
              <a:rPr lang="en-US" sz="900" i="1" dirty="0">
                <a:solidFill>
                  <a:srgbClr val="64748B"/>
                </a:solidFill>
                <a:latin typeface="Calibri"/>
                <a:ea typeface="Calibri"/>
                <a:cs typeface="Calibri"/>
              </a:rPr>
              <a:t>Score F1 </a:t>
            </a:r>
            <a:r>
              <a:rPr lang="en-US" sz="900" i="1" dirty="0" err="1">
                <a:solidFill>
                  <a:srgbClr val="64748B"/>
                </a:solidFill>
                <a:latin typeface="Calibri"/>
                <a:ea typeface="Calibri"/>
                <a:cs typeface="Calibri"/>
              </a:rPr>
              <a:t>assez</a:t>
            </a:r>
            <a:r>
              <a:rPr lang="en-US" sz="900" i="1" dirty="0">
                <a:solidFill>
                  <a:srgbClr val="64748B"/>
                </a:solidFill>
                <a:latin typeface="Calibri"/>
                <a:ea typeface="Calibri"/>
                <a:cs typeface="Calibri"/>
              </a:rPr>
              <a:t> bon. </a:t>
            </a:r>
            <a:r>
              <a:rPr lang="en-US" sz="900" i="1" dirty="0" err="1">
                <a:solidFill>
                  <a:srgbClr val="64748B"/>
                </a:solidFill>
                <a:latin typeface="Calibri"/>
                <a:ea typeface="Calibri"/>
                <a:cs typeface="Calibri"/>
              </a:rPr>
              <a:t>Utiliser</a:t>
            </a:r>
            <a:r>
              <a:rPr lang="en-US" sz="900" i="1" dirty="0">
                <a:solidFill>
                  <a:srgbClr val="64748B"/>
                </a:solidFill>
                <a:latin typeface="Calibri"/>
                <a:ea typeface="Calibri"/>
                <a:cs typeface="Calibri"/>
              </a:rPr>
              <a:t> le </a:t>
            </a:r>
            <a:r>
              <a:rPr lang="en-US" sz="900" i="1" dirty="0" err="1">
                <a:solidFill>
                  <a:srgbClr val="64748B"/>
                </a:solidFill>
                <a:latin typeface="Calibri"/>
                <a:ea typeface="Calibri"/>
                <a:cs typeface="Calibri"/>
              </a:rPr>
              <a:t>class_weight</a:t>
            </a:r>
            <a:r>
              <a:rPr lang="en-US" sz="900" i="1" dirty="0">
                <a:solidFill>
                  <a:srgbClr val="64748B"/>
                </a:solidFill>
                <a:latin typeface="Calibri"/>
                <a:ea typeface="Calibri"/>
                <a:cs typeface="Calibri"/>
              </a:rPr>
              <a:t>='balance' </a:t>
            </a:r>
            <a:r>
              <a:rPr lang="en-US" sz="900" i="1" dirty="0" err="1">
                <a:solidFill>
                  <a:srgbClr val="64748B"/>
                </a:solidFill>
                <a:latin typeface="Calibri"/>
                <a:ea typeface="Calibri"/>
                <a:cs typeface="Calibri"/>
              </a:rPr>
              <a:t>réduira</a:t>
            </a:r>
            <a:r>
              <a:rPr lang="en-US" sz="900" i="1" dirty="0">
                <a:solidFill>
                  <a:srgbClr val="64748B"/>
                </a:solidFill>
                <a:latin typeface="Calibri"/>
                <a:ea typeface="Calibri"/>
                <a:cs typeface="Calibri"/>
              </a:rPr>
              <a:t> les performance.</a:t>
            </a:r>
          </a:p>
          <a:p>
            <a:r>
              <a:rPr lang="en-US" sz="900" i="1" dirty="0">
                <a:solidFill>
                  <a:srgbClr val="64748B"/>
                </a:solidFill>
                <a:latin typeface="Calibri"/>
                <a:ea typeface="Calibri"/>
                <a:cs typeface="Calibri"/>
              </a:rPr>
              <a:t>Pas </a:t>
            </a:r>
            <a:r>
              <a:rPr lang="en-US" sz="900" i="1" dirty="0" err="1">
                <a:solidFill>
                  <a:srgbClr val="64748B"/>
                </a:solidFill>
                <a:latin typeface="Calibri"/>
                <a:ea typeface="Calibri"/>
                <a:cs typeface="Calibri"/>
              </a:rPr>
              <a:t>d'overfitting</a:t>
            </a:r>
            <a:r>
              <a:rPr lang="en-US" sz="900" i="1" dirty="0">
                <a:solidFill>
                  <a:srgbClr val="64748B"/>
                </a:solidFill>
                <a:latin typeface="Calibri"/>
                <a:ea typeface="Calibri"/>
                <a:cs typeface="Calibri"/>
              </a:rPr>
              <a:t>.</a:t>
            </a:r>
          </a:p>
        </p:txBody>
      </p:sp>
      <p:sp>
        <p:nvSpPr>
          <p:cNvPr id="17" name="Shape 15"/>
          <p:cNvSpPr/>
          <p:nvPr/>
        </p:nvSpPr>
        <p:spPr>
          <a:xfrm>
            <a:off x="3291840" y="822960"/>
            <a:ext cx="2743200" cy="388620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8" name="Shape 16"/>
          <p:cNvSpPr/>
          <p:nvPr/>
        </p:nvSpPr>
        <p:spPr>
          <a:xfrm>
            <a:off x="3291840" y="822960"/>
            <a:ext cx="2743200" cy="384048"/>
          </a:xfrm>
          <a:prstGeom prst="rect">
            <a:avLst/>
          </a:prstGeom>
          <a:solidFill>
            <a:srgbClr val="1A6B8A"/>
          </a:solidFill>
          <a:ln w="12700">
            <a:solidFill>
              <a:srgbClr val="1A6B8A"/>
            </a:solidFill>
            <a:prstDash val="solid"/>
          </a:ln>
        </p:spPr>
      </p:sp>
      <p:sp>
        <p:nvSpPr>
          <p:cNvPr id="19" name="Text 17"/>
          <p:cNvSpPr/>
          <p:nvPr/>
        </p:nvSpPr>
        <p:spPr>
          <a:xfrm>
            <a:off x="3291840" y="822960"/>
            <a:ext cx="2743200" cy="384048"/>
          </a:xfrm>
          <a:prstGeom prst="rect">
            <a:avLst/>
          </a:prstGeom>
          <a:noFill/>
          <a:ln/>
        </p:spPr>
        <p:txBody>
          <a:bodyPr wrap="square" lIns="0" tIns="0" rIns="0" bIns="0" rtlCol="0" anchor="ctr"/>
          <a:lstStyle/>
          <a:p>
            <a:pPr algn="ctr"/>
            <a:r>
              <a:rPr lang="en-US" sz="1100" b="1" dirty="0">
                <a:solidFill>
                  <a:srgbClr val="FFFFFF"/>
                </a:solidFill>
                <a:latin typeface="Calibri"/>
                <a:ea typeface="Calibri"/>
                <a:cs typeface="Calibri"/>
              </a:rPr>
              <a:t>Random Forest + </a:t>
            </a:r>
            <a:r>
              <a:rPr lang="en-US" sz="1100" b="1" dirty="0" err="1">
                <a:solidFill>
                  <a:srgbClr val="FFFFFF"/>
                </a:solidFill>
                <a:latin typeface="Calibri"/>
                <a:ea typeface="Calibri"/>
                <a:cs typeface="Calibri"/>
              </a:rPr>
              <a:t>GridSerachCV</a:t>
            </a:r>
            <a:r>
              <a:rPr lang="en-US" sz="1100" b="1" dirty="0">
                <a:solidFill>
                  <a:srgbClr val="FFFFFF"/>
                </a:solidFill>
                <a:latin typeface="Calibri"/>
                <a:ea typeface="Calibri"/>
                <a:cs typeface="Calibri"/>
              </a:rPr>
              <a:t>(=5)</a:t>
            </a:r>
            <a:endParaRPr lang="en-US" sz="1100" dirty="0"/>
          </a:p>
        </p:txBody>
      </p:sp>
      <p:sp>
        <p:nvSpPr>
          <p:cNvPr id="20" name="Shape 18"/>
          <p:cNvSpPr/>
          <p:nvPr/>
        </p:nvSpPr>
        <p:spPr>
          <a:xfrm>
            <a:off x="3383280" y="1280160"/>
            <a:ext cx="1005840" cy="228600"/>
          </a:xfrm>
          <a:prstGeom prst="rect">
            <a:avLst/>
          </a:prstGeom>
          <a:solidFill>
            <a:srgbClr val="1A6B8A"/>
          </a:solidFill>
          <a:ln w="12700">
            <a:solidFill>
              <a:srgbClr val="1A6B8A"/>
            </a:solidFill>
            <a:prstDash val="solid"/>
          </a:ln>
        </p:spPr>
      </p:sp>
      <p:sp>
        <p:nvSpPr>
          <p:cNvPr id="21" name="Text 19"/>
          <p:cNvSpPr/>
          <p:nvPr/>
        </p:nvSpPr>
        <p:spPr>
          <a:xfrm>
            <a:off x="3383280" y="1280160"/>
            <a:ext cx="1005840" cy="22860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AMÉLIORÉ</a:t>
            </a:r>
            <a:endParaRPr lang="en-US" sz="750" dirty="0"/>
          </a:p>
        </p:txBody>
      </p:sp>
      <p:sp>
        <p:nvSpPr>
          <p:cNvPr id="22" name="Text 20"/>
          <p:cNvSpPr/>
          <p:nvPr/>
        </p:nvSpPr>
        <p:spPr>
          <a:xfrm>
            <a:off x="3383280" y="1572768"/>
            <a:ext cx="2560320" cy="1371600"/>
          </a:xfrm>
          <a:prstGeom prst="rect">
            <a:avLst/>
          </a:prstGeom>
          <a:noFill/>
          <a:ln/>
        </p:spPr>
        <p:txBody>
          <a:bodyPr wrap="square" lIns="91440" tIns="45720" rIns="91440" bIns="45720" rtlCol="0" anchor="ctr"/>
          <a:lstStyle/>
          <a:p>
            <a:pPr marL="342900" indent="-342900">
              <a:buSzPct val="100000"/>
              <a:buChar char="•"/>
            </a:pPr>
            <a:r>
              <a:rPr lang="en-US" sz="900" dirty="0" err="1">
                <a:solidFill>
                  <a:srgbClr val="0A2342"/>
                </a:solidFill>
                <a:latin typeface="Calibri"/>
                <a:ea typeface="Calibri"/>
                <a:cs typeface="Calibri"/>
              </a:rPr>
              <a:t>n_estimators</a:t>
            </a:r>
            <a:r>
              <a:rPr lang="en-US" sz="900" dirty="0">
                <a:solidFill>
                  <a:srgbClr val="0A2342"/>
                </a:solidFill>
                <a:latin typeface="Calibri"/>
                <a:ea typeface="Calibri"/>
                <a:cs typeface="Calibri"/>
              </a:rPr>
              <a:t>=100</a:t>
            </a:r>
            <a:endParaRPr lang="en-US" sz="900" dirty="0"/>
          </a:p>
          <a:p>
            <a:pPr marL="342900" indent="-342900">
              <a:buSzPct val="100000"/>
              <a:buChar char="•"/>
            </a:pPr>
            <a:r>
              <a:rPr lang="en-US" sz="900" dirty="0" err="1">
                <a:solidFill>
                  <a:srgbClr val="0A2342"/>
                </a:solidFill>
                <a:latin typeface="Calibri"/>
                <a:ea typeface="Calibri"/>
                <a:cs typeface="Calibri"/>
              </a:rPr>
              <a:t>max_depth</a:t>
            </a:r>
            <a:r>
              <a:rPr lang="en-US" sz="900" dirty="0">
                <a:solidFill>
                  <a:srgbClr val="0A2342"/>
                </a:solidFill>
                <a:latin typeface="Calibri"/>
                <a:ea typeface="Calibri"/>
                <a:cs typeface="Calibri"/>
              </a:rPr>
              <a:t>=10</a:t>
            </a:r>
            <a:endParaRPr lang="en-US" sz="900" dirty="0">
              <a:latin typeface="Calibri"/>
              <a:ea typeface="Calibri"/>
              <a:cs typeface="Calibri"/>
            </a:endParaRPr>
          </a:p>
          <a:p>
            <a:pPr marL="342900" indent="-342900">
              <a:buSzPct val="100000"/>
              <a:buChar char="•"/>
            </a:pPr>
            <a:r>
              <a:rPr lang="en-US" sz="900" dirty="0" err="1">
                <a:solidFill>
                  <a:srgbClr val="0A2342"/>
                </a:solidFill>
                <a:latin typeface="Calibri"/>
                <a:ea typeface="Calibri"/>
                <a:cs typeface="Calibri"/>
              </a:rPr>
              <a:t>min_samples_leaf</a:t>
            </a:r>
            <a:r>
              <a:rPr lang="en-US" sz="900" dirty="0">
                <a:solidFill>
                  <a:srgbClr val="0A2342"/>
                </a:solidFill>
                <a:latin typeface="Calibri"/>
                <a:ea typeface="Calibri"/>
                <a:cs typeface="Calibri"/>
              </a:rPr>
              <a:t>=20</a:t>
            </a:r>
            <a:endParaRPr lang="en-US" sz="900" dirty="0"/>
          </a:p>
          <a:p>
            <a:pPr marL="342900" indent="-342900">
              <a:buSzPct val="100000"/>
              <a:buFont typeface="Arial"/>
              <a:buChar char="•"/>
            </a:pPr>
            <a:r>
              <a:rPr lang="en-US" sz="900" dirty="0" err="1">
                <a:solidFill>
                  <a:srgbClr val="0A2342"/>
                </a:solidFill>
                <a:latin typeface="Calibri"/>
                <a:ea typeface="Calibri"/>
                <a:cs typeface="Calibri"/>
              </a:rPr>
              <a:t>class_weight</a:t>
            </a:r>
            <a:r>
              <a:rPr lang="en-US" sz="900" dirty="0">
                <a:solidFill>
                  <a:srgbClr val="0A2342"/>
                </a:solidFill>
                <a:latin typeface="Calibri"/>
                <a:ea typeface="Calibri"/>
                <a:cs typeface="Calibri"/>
              </a:rPr>
              <a:t>={0: 1, 1: 2}</a:t>
            </a:r>
          </a:p>
          <a:p>
            <a:pPr marL="0" indent="0">
              <a:buNone/>
            </a:pPr>
            <a:endParaRPr lang="en-US" sz="900" dirty="0"/>
          </a:p>
        </p:txBody>
      </p:sp>
      <p:sp>
        <p:nvSpPr>
          <p:cNvPr id="23" name="Shape 21"/>
          <p:cNvSpPr/>
          <p:nvPr/>
        </p:nvSpPr>
        <p:spPr>
          <a:xfrm>
            <a:off x="3383280" y="3035808"/>
            <a:ext cx="1207008" cy="594360"/>
          </a:xfrm>
          <a:prstGeom prst="rect">
            <a:avLst/>
          </a:prstGeom>
          <a:solidFill>
            <a:srgbClr val="F0F4F8"/>
          </a:solidFill>
          <a:ln w="10160">
            <a:solidFill>
              <a:srgbClr val="1A6B8A"/>
            </a:solidFill>
            <a:prstDash val="solid"/>
          </a:ln>
        </p:spPr>
      </p:sp>
      <p:sp>
        <p:nvSpPr>
          <p:cNvPr id="24" name="Text 22"/>
          <p:cNvSpPr/>
          <p:nvPr/>
        </p:nvSpPr>
        <p:spPr>
          <a:xfrm>
            <a:off x="3383280" y="3035808"/>
            <a:ext cx="1207008"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F1</a:t>
            </a:r>
            <a:endParaRPr lang="en-US" sz="900" dirty="0"/>
          </a:p>
        </p:txBody>
      </p:sp>
      <p:sp>
        <p:nvSpPr>
          <p:cNvPr id="25" name="Text 23"/>
          <p:cNvSpPr/>
          <p:nvPr/>
        </p:nvSpPr>
        <p:spPr>
          <a:xfrm>
            <a:off x="3383280" y="3273552"/>
            <a:ext cx="1207008" cy="292608"/>
          </a:xfrm>
          <a:prstGeom prst="rect">
            <a:avLst/>
          </a:prstGeom>
          <a:noFill/>
          <a:ln/>
        </p:spPr>
        <p:txBody>
          <a:bodyPr wrap="square" lIns="0" tIns="0" rIns="0" bIns="0" rtlCol="0" anchor="ctr"/>
          <a:lstStyle/>
          <a:p>
            <a:pPr marL="0" indent="0" algn="ctr">
              <a:buNone/>
            </a:pPr>
            <a:r>
              <a:rPr lang="en-US" sz="1700" b="1">
                <a:solidFill>
                  <a:srgbClr val="1A6B8A"/>
                </a:solidFill>
                <a:ea typeface="Calibri"/>
                <a:cs typeface="Calibri"/>
              </a:rPr>
              <a:t>76,13%</a:t>
            </a:r>
            <a:endParaRPr lang="en-US" sz="1700" b="1" dirty="0">
              <a:solidFill>
                <a:srgbClr val="1A6B8A"/>
              </a:solidFill>
              <a:ea typeface="Calibri"/>
              <a:cs typeface="Calibri"/>
            </a:endParaRPr>
          </a:p>
        </p:txBody>
      </p:sp>
      <p:sp>
        <p:nvSpPr>
          <p:cNvPr id="26" name="Shape 24"/>
          <p:cNvSpPr/>
          <p:nvPr/>
        </p:nvSpPr>
        <p:spPr>
          <a:xfrm>
            <a:off x="4736592" y="3035808"/>
            <a:ext cx="1207008" cy="594360"/>
          </a:xfrm>
          <a:prstGeom prst="rect">
            <a:avLst/>
          </a:prstGeom>
          <a:solidFill>
            <a:srgbClr val="F0F4F8"/>
          </a:solidFill>
          <a:ln w="10160">
            <a:solidFill>
              <a:srgbClr val="1A6B8A"/>
            </a:solidFill>
            <a:prstDash val="solid"/>
          </a:ln>
        </p:spPr>
      </p:sp>
      <p:sp>
        <p:nvSpPr>
          <p:cNvPr id="27" name="Text 25"/>
          <p:cNvSpPr/>
          <p:nvPr/>
        </p:nvSpPr>
        <p:spPr>
          <a:xfrm>
            <a:off x="4736592" y="3035808"/>
            <a:ext cx="1207008"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a:ea typeface="Calibri"/>
                <a:cs typeface="Calibri"/>
              </a:rPr>
              <a:t>Prec</a:t>
            </a:r>
            <a:r>
              <a:rPr lang="en-US" sz="900">
                <a:solidFill>
                  <a:srgbClr val="64748B"/>
                </a:solidFill>
                <a:latin typeface="Calibri"/>
                <a:ea typeface="Calibri"/>
                <a:cs typeface="Calibri"/>
              </a:rPr>
              <a:t>ision/Recall</a:t>
            </a:r>
            <a:endParaRPr lang="fr-FR"/>
          </a:p>
        </p:txBody>
      </p:sp>
      <p:sp>
        <p:nvSpPr>
          <p:cNvPr id="28" name="Text 26"/>
          <p:cNvSpPr/>
          <p:nvPr/>
        </p:nvSpPr>
        <p:spPr>
          <a:xfrm>
            <a:off x="4736592" y="3273552"/>
            <a:ext cx="1207008" cy="292608"/>
          </a:xfrm>
          <a:prstGeom prst="rect">
            <a:avLst/>
          </a:prstGeom>
          <a:noFill/>
          <a:ln/>
        </p:spPr>
        <p:txBody>
          <a:bodyPr wrap="square" lIns="0" tIns="0" rIns="0" bIns="0" rtlCol="0" anchor="ctr"/>
          <a:lstStyle/>
          <a:p>
            <a:pPr algn="ctr"/>
            <a:r>
              <a:rPr lang="en-US" sz="1700" b="1">
                <a:solidFill>
                  <a:srgbClr val="1A6B8A"/>
                </a:solidFill>
                <a:latin typeface="Calibri"/>
                <a:ea typeface="Calibri"/>
                <a:cs typeface="Calibri"/>
              </a:rPr>
              <a:t>78% / 74%</a:t>
            </a:r>
            <a:endParaRPr lang="fr-FR"/>
          </a:p>
        </p:txBody>
      </p:sp>
      <p:sp>
        <p:nvSpPr>
          <p:cNvPr id="29" name="Text 27"/>
          <p:cNvSpPr/>
          <p:nvPr/>
        </p:nvSpPr>
        <p:spPr>
          <a:xfrm>
            <a:off x="3383280" y="3730752"/>
            <a:ext cx="2560320" cy="685800"/>
          </a:xfrm>
          <a:prstGeom prst="rect">
            <a:avLst/>
          </a:prstGeom>
          <a:noFill/>
          <a:ln/>
        </p:spPr>
        <p:txBody>
          <a:bodyPr wrap="square" lIns="91440" tIns="45720" rIns="91440" bIns="45720" rtlCol="0" anchor="t"/>
          <a:lstStyle/>
          <a:p>
            <a:pPr marL="0" indent="0" algn="l">
              <a:buNone/>
            </a:pPr>
            <a:r>
              <a:rPr lang="en-US" sz="900" i="1" dirty="0">
                <a:solidFill>
                  <a:srgbClr val="64748B"/>
                </a:solidFill>
                <a:latin typeface="Calibri"/>
                <a:ea typeface="Calibri"/>
                <a:cs typeface="Calibri"/>
              </a:rPr>
              <a:t>Gestion native des non-</a:t>
            </a:r>
            <a:r>
              <a:rPr lang="en-US" sz="900" i="1" dirty="0" err="1">
                <a:solidFill>
                  <a:srgbClr val="64748B"/>
                </a:solidFill>
                <a:latin typeface="Calibri"/>
                <a:ea typeface="Calibri"/>
                <a:cs typeface="Calibri"/>
              </a:rPr>
              <a:t>linéarités</a:t>
            </a:r>
            <a:r>
              <a:rPr lang="en-US" sz="900" i="1" dirty="0">
                <a:solidFill>
                  <a:srgbClr val="64748B"/>
                </a:solidFill>
                <a:latin typeface="Calibri"/>
                <a:ea typeface="Calibri"/>
                <a:cs typeface="Calibri"/>
              </a:rPr>
              <a:t>.</a:t>
            </a:r>
          </a:p>
          <a:p>
            <a:r>
              <a:rPr lang="en-US" sz="900" i="1" dirty="0">
                <a:solidFill>
                  <a:srgbClr val="64748B"/>
                </a:solidFill>
                <a:latin typeface="Calibri"/>
                <a:ea typeface="Calibri"/>
                <a:cs typeface="Calibri"/>
              </a:rPr>
              <a:t>Le F1 score est </a:t>
            </a:r>
            <a:r>
              <a:rPr lang="en-US" sz="900" i="1" dirty="0" err="1">
                <a:solidFill>
                  <a:srgbClr val="64748B"/>
                </a:solidFill>
                <a:latin typeface="Calibri"/>
                <a:ea typeface="Calibri"/>
                <a:cs typeface="Calibri"/>
              </a:rPr>
              <a:t>mieus</a:t>
            </a:r>
            <a:r>
              <a:rPr lang="en-US" sz="900" i="1" dirty="0">
                <a:solidFill>
                  <a:srgbClr val="64748B"/>
                </a:solidFill>
                <a:latin typeface="Calibri"/>
                <a:ea typeface="Calibri"/>
                <a:cs typeface="Calibri"/>
              </a:rPr>
              <a:t> </a:t>
            </a:r>
            <a:r>
              <a:rPr lang="en-US" sz="900" i="1" dirty="0" err="1">
                <a:solidFill>
                  <a:srgbClr val="64748B"/>
                </a:solidFill>
                <a:latin typeface="Calibri"/>
                <a:ea typeface="Calibri"/>
                <a:cs typeface="Calibri"/>
              </a:rPr>
              <a:t>réparti</a:t>
            </a:r>
            <a:r>
              <a:rPr lang="en-US" sz="900" i="1" dirty="0">
                <a:solidFill>
                  <a:srgbClr val="64748B"/>
                </a:solidFill>
                <a:latin typeface="Calibri"/>
                <a:ea typeface="Calibri"/>
                <a:cs typeface="Calibri"/>
              </a:rPr>
              <a:t> entre Precision et Recall.</a:t>
            </a:r>
          </a:p>
          <a:p>
            <a:r>
              <a:rPr lang="en-US" sz="900" i="1" dirty="0">
                <a:solidFill>
                  <a:srgbClr val="64748B"/>
                </a:solidFill>
                <a:latin typeface="Calibri"/>
                <a:ea typeface="Calibri"/>
                <a:cs typeface="Calibri"/>
              </a:rPr>
              <a:t>Pas </a:t>
            </a:r>
            <a:r>
              <a:rPr lang="en-US" sz="900" i="1" dirty="0" err="1">
                <a:solidFill>
                  <a:srgbClr val="64748B"/>
                </a:solidFill>
                <a:latin typeface="Calibri"/>
                <a:ea typeface="Calibri"/>
                <a:cs typeface="Calibri"/>
              </a:rPr>
              <a:t>d'overfitting</a:t>
            </a:r>
            <a:r>
              <a:rPr lang="en-US" sz="900" i="1" dirty="0">
                <a:solidFill>
                  <a:srgbClr val="64748B"/>
                </a:solidFill>
                <a:latin typeface="Calibri"/>
                <a:ea typeface="Calibri"/>
                <a:cs typeface="Calibri"/>
              </a:rPr>
              <a:t>.</a:t>
            </a:r>
            <a:endParaRPr lang="en-US" sz="900" dirty="0">
              <a:solidFill>
                <a:srgbClr val="000000"/>
              </a:solidFill>
              <a:latin typeface="Calibri"/>
              <a:ea typeface="Calibri"/>
              <a:cs typeface="Calibri"/>
            </a:endParaRPr>
          </a:p>
          <a:p>
            <a:endParaRPr lang="en-US" sz="900" i="1" dirty="0">
              <a:solidFill>
                <a:srgbClr val="64748B"/>
              </a:solidFill>
              <a:latin typeface="Calibri"/>
              <a:ea typeface="Calibri"/>
              <a:cs typeface="Calibri"/>
            </a:endParaRPr>
          </a:p>
        </p:txBody>
      </p:sp>
      <p:sp>
        <p:nvSpPr>
          <p:cNvPr id="30" name="Shape 28"/>
          <p:cNvSpPr/>
          <p:nvPr/>
        </p:nvSpPr>
        <p:spPr>
          <a:xfrm>
            <a:off x="6217920" y="822960"/>
            <a:ext cx="2743200" cy="388620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31" name="Shape 29"/>
          <p:cNvSpPr/>
          <p:nvPr/>
        </p:nvSpPr>
        <p:spPr>
          <a:xfrm>
            <a:off x="6217920" y="822960"/>
            <a:ext cx="2743200" cy="384048"/>
          </a:xfrm>
          <a:prstGeom prst="rect">
            <a:avLst/>
          </a:prstGeom>
          <a:solidFill>
            <a:srgbClr val="ED7D31"/>
          </a:solidFill>
          <a:ln w="12700">
            <a:solidFill>
              <a:srgbClr val="ED7D31"/>
            </a:solidFill>
            <a:prstDash val="solid"/>
          </a:ln>
        </p:spPr>
      </p:sp>
      <p:sp>
        <p:nvSpPr>
          <p:cNvPr id="32" name="Text 30"/>
          <p:cNvSpPr/>
          <p:nvPr/>
        </p:nvSpPr>
        <p:spPr>
          <a:xfrm>
            <a:off x="6217920" y="822960"/>
            <a:ext cx="2743200" cy="384048"/>
          </a:xfrm>
          <a:prstGeom prst="rect">
            <a:avLst/>
          </a:prstGeom>
          <a:noFill/>
          <a:ln/>
        </p:spPr>
        <p:txBody>
          <a:bodyPr wrap="square" lIns="0" tIns="0" rIns="0" bIns="0" rtlCol="0" anchor="ctr"/>
          <a:lstStyle/>
          <a:p>
            <a:pPr algn="ctr"/>
            <a:r>
              <a:rPr lang="en-US" sz="1100" b="1" dirty="0" err="1">
                <a:solidFill>
                  <a:srgbClr val="FFFFFF"/>
                </a:solidFill>
                <a:latin typeface="Calibri"/>
                <a:ea typeface="Calibri"/>
                <a:cs typeface="Calibri"/>
              </a:rPr>
              <a:t>XGBoost</a:t>
            </a:r>
            <a:r>
              <a:rPr lang="en-US" sz="1100" b="1" dirty="0">
                <a:solidFill>
                  <a:srgbClr val="FFFFFF"/>
                </a:solidFill>
                <a:latin typeface="Calibri"/>
                <a:ea typeface="Calibri"/>
                <a:cs typeface="Calibri"/>
              </a:rPr>
              <a:t> + </a:t>
            </a:r>
            <a:r>
              <a:rPr lang="en-US" sz="1100" b="1" dirty="0" err="1">
                <a:solidFill>
                  <a:srgbClr val="FFFFFF"/>
                </a:solidFill>
                <a:latin typeface="Calibri"/>
                <a:ea typeface="Calibri"/>
                <a:cs typeface="Calibri"/>
              </a:rPr>
              <a:t>GridSearchCV</a:t>
            </a:r>
            <a:r>
              <a:rPr lang="en-US" sz="1100" b="1" dirty="0">
                <a:solidFill>
                  <a:srgbClr val="FFFFFF"/>
                </a:solidFill>
                <a:latin typeface="Calibri"/>
                <a:ea typeface="Calibri"/>
                <a:cs typeface="Calibri"/>
              </a:rPr>
              <a:t>(=5)</a:t>
            </a:r>
            <a:endParaRPr lang="fr-FR" dirty="0"/>
          </a:p>
        </p:txBody>
      </p:sp>
      <p:sp>
        <p:nvSpPr>
          <p:cNvPr id="33" name="Shape 31"/>
          <p:cNvSpPr/>
          <p:nvPr/>
        </p:nvSpPr>
        <p:spPr>
          <a:xfrm>
            <a:off x="6309360" y="1280160"/>
            <a:ext cx="1005840" cy="228600"/>
          </a:xfrm>
          <a:prstGeom prst="rect">
            <a:avLst/>
          </a:prstGeom>
          <a:solidFill>
            <a:srgbClr val="ED7D31"/>
          </a:solidFill>
          <a:ln w="12700">
            <a:solidFill>
              <a:srgbClr val="ED7D31"/>
            </a:solidFill>
            <a:prstDash val="solid"/>
          </a:ln>
        </p:spPr>
      </p:sp>
      <p:sp>
        <p:nvSpPr>
          <p:cNvPr id="34" name="Text 32"/>
          <p:cNvSpPr/>
          <p:nvPr/>
        </p:nvSpPr>
        <p:spPr>
          <a:xfrm>
            <a:off x="6309360" y="1280160"/>
            <a:ext cx="1005840" cy="228600"/>
          </a:xfrm>
          <a:prstGeom prst="rect">
            <a:avLst/>
          </a:prstGeom>
          <a:noFill/>
          <a:ln/>
        </p:spPr>
        <p:txBody>
          <a:bodyPr wrap="square" lIns="0" tIns="0" rIns="0" bIns="0" rtlCol="0" anchor="ctr"/>
          <a:lstStyle/>
          <a:p>
            <a:pPr marL="0" indent="0" algn="ctr">
              <a:buNone/>
            </a:pPr>
            <a:r>
              <a:rPr lang="en-US" sz="750" b="1">
                <a:solidFill>
                  <a:srgbClr val="FFFFFF"/>
                </a:solidFill>
                <a:latin typeface="Calibri"/>
                <a:ea typeface="Calibri"/>
                <a:cs typeface="Calibri"/>
              </a:rPr>
              <a:t>RETENU</a:t>
            </a:r>
            <a:endParaRPr lang="en-US" sz="750">
              <a:ea typeface="Calibri"/>
              <a:cs typeface="Calibri"/>
            </a:endParaRPr>
          </a:p>
        </p:txBody>
      </p:sp>
      <p:sp>
        <p:nvSpPr>
          <p:cNvPr id="35" name="Text 33"/>
          <p:cNvSpPr/>
          <p:nvPr/>
        </p:nvSpPr>
        <p:spPr>
          <a:xfrm>
            <a:off x="6309360" y="1572768"/>
            <a:ext cx="2560320" cy="1371600"/>
          </a:xfrm>
          <a:prstGeom prst="rect">
            <a:avLst/>
          </a:prstGeom>
          <a:noFill/>
          <a:ln/>
        </p:spPr>
        <p:txBody>
          <a:bodyPr wrap="square" lIns="91440" tIns="45720" rIns="91440" bIns="45720" rtlCol="0" anchor="ctr"/>
          <a:lstStyle/>
          <a:p>
            <a:pPr marL="342900" indent="-342900">
              <a:buSzPct val="100000"/>
              <a:buChar char="•"/>
            </a:pPr>
            <a:r>
              <a:rPr lang="en-US" sz="900" dirty="0" err="1">
                <a:solidFill>
                  <a:srgbClr val="0A2342"/>
                </a:solidFill>
                <a:latin typeface="Calibri"/>
                <a:ea typeface="Calibri"/>
                <a:cs typeface="Calibri"/>
              </a:rPr>
              <a:t>n_estimators</a:t>
            </a:r>
            <a:r>
              <a:rPr lang="en-US" sz="900" dirty="0">
                <a:solidFill>
                  <a:srgbClr val="0A2342"/>
                </a:solidFill>
                <a:latin typeface="Calibri"/>
                <a:ea typeface="Calibri"/>
                <a:cs typeface="Calibri"/>
              </a:rPr>
              <a:t>=200</a:t>
            </a:r>
            <a:endParaRPr lang="en-US" sz="900" dirty="0">
              <a:latin typeface="Calibri"/>
              <a:ea typeface="Calibri"/>
              <a:cs typeface="Calibri"/>
            </a:endParaRPr>
          </a:p>
          <a:p>
            <a:pPr marL="342900" indent="-342900">
              <a:buSzPct val="100000"/>
              <a:buChar char="•"/>
            </a:pPr>
            <a:r>
              <a:rPr lang="en-US" sz="900" dirty="0" err="1">
                <a:solidFill>
                  <a:srgbClr val="0A2342"/>
                </a:solidFill>
                <a:latin typeface="Calibri"/>
                <a:ea typeface="Calibri"/>
                <a:cs typeface="Calibri"/>
              </a:rPr>
              <a:t>learning_rate</a:t>
            </a:r>
            <a:r>
              <a:rPr lang="en-US" sz="900" dirty="0">
                <a:solidFill>
                  <a:srgbClr val="0A2342"/>
                </a:solidFill>
                <a:latin typeface="Calibri"/>
                <a:ea typeface="Calibri"/>
                <a:cs typeface="Calibri"/>
              </a:rPr>
              <a:t>=0,01</a:t>
            </a:r>
            <a:endParaRPr lang="en-US" sz="900" dirty="0"/>
          </a:p>
          <a:p>
            <a:pPr marL="342900" indent="-342900">
              <a:buSzPct val="100000"/>
              <a:buChar char="•"/>
            </a:pPr>
            <a:r>
              <a:rPr lang="en-US" sz="900" dirty="0" err="1">
                <a:solidFill>
                  <a:srgbClr val="0A2342"/>
                </a:solidFill>
                <a:latin typeface="Calibri"/>
                <a:ea typeface="Calibri"/>
                <a:cs typeface="Calibri"/>
              </a:rPr>
              <a:t>max_depth</a:t>
            </a:r>
            <a:r>
              <a:rPr lang="en-US" sz="900" dirty="0">
                <a:solidFill>
                  <a:srgbClr val="0A2342"/>
                </a:solidFill>
                <a:latin typeface="Calibri"/>
                <a:ea typeface="Calibri"/>
                <a:cs typeface="Calibri"/>
              </a:rPr>
              <a:t>=7</a:t>
            </a:r>
            <a:endParaRPr lang="en-US" sz="900" dirty="0"/>
          </a:p>
          <a:p>
            <a:pPr marL="342900" indent="-342900">
              <a:buSzPct val="100000"/>
              <a:buChar char="•"/>
            </a:pPr>
            <a:r>
              <a:rPr lang="en-US" sz="900" dirty="0">
                <a:solidFill>
                  <a:srgbClr val="0A2342"/>
                </a:solidFill>
                <a:latin typeface="Calibri" pitchFamily="34" charset="0"/>
                <a:ea typeface="Calibri" pitchFamily="34" charset="-122"/>
                <a:cs typeface="Calibri" pitchFamily="34" charset="-120"/>
              </a:rPr>
              <a:t>subsample=0,8</a:t>
            </a:r>
            <a:endParaRPr lang="en-US" sz="900" dirty="0"/>
          </a:p>
          <a:p>
            <a:pPr marL="342900" indent="-342900">
              <a:buSzPct val="100000"/>
              <a:buChar char="•"/>
            </a:pPr>
            <a:r>
              <a:rPr lang="en-US" sz="900" dirty="0" err="1">
                <a:solidFill>
                  <a:srgbClr val="0A2342"/>
                </a:solidFill>
                <a:ea typeface="Calibri"/>
                <a:cs typeface="Calibri"/>
              </a:rPr>
              <a:t>Scale_pos_weight</a:t>
            </a:r>
            <a:r>
              <a:rPr lang="en-US" sz="900" dirty="0">
                <a:solidFill>
                  <a:srgbClr val="0A2342"/>
                </a:solidFill>
                <a:ea typeface="Calibri"/>
                <a:cs typeface="Calibri"/>
              </a:rPr>
              <a:t>=2</a:t>
            </a:r>
          </a:p>
          <a:p>
            <a:endParaRPr lang="en-US" sz="900" dirty="0">
              <a:ea typeface="Calibri" panose="020F0502020204030204"/>
              <a:cs typeface="Calibri" panose="020F0502020204030204"/>
            </a:endParaRPr>
          </a:p>
        </p:txBody>
      </p:sp>
      <p:sp>
        <p:nvSpPr>
          <p:cNvPr id="36" name="Shape 34"/>
          <p:cNvSpPr/>
          <p:nvPr/>
        </p:nvSpPr>
        <p:spPr>
          <a:xfrm>
            <a:off x="6309360" y="3035808"/>
            <a:ext cx="1207008" cy="594360"/>
          </a:xfrm>
          <a:prstGeom prst="rect">
            <a:avLst/>
          </a:prstGeom>
          <a:solidFill>
            <a:srgbClr val="F0F4F8"/>
          </a:solidFill>
          <a:ln w="10160">
            <a:solidFill>
              <a:srgbClr val="ED7D31"/>
            </a:solidFill>
            <a:prstDash val="solid"/>
          </a:ln>
        </p:spPr>
      </p:sp>
      <p:sp>
        <p:nvSpPr>
          <p:cNvPr id="37" name="Text 35"/>
          <p:cNvSpPr/>
          <p:nvPr/>
        </p:nvSpPr>
        <p:spPr>
          <a:xfrm>
            <a:off x="6309360" y="3035808"/>
            <a:ext cx="1207008" cy="256032"/>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F1</a:t>
            </a:r>
            <a:endParaRPr lang="en-US" sz="900" dirty="0"/>
          </a:p>
        </p:txBody>
      </p:sp>
      <p:sp>
        <p:nvSpPr>
          <p:cNvPr id="38" name="Text 36"/>
          <p:cNvSpPr/>
          <p:nvPr/>
        </p:nvSpPr>
        <p:spPr>
          <a:xfrm>
            <a:off x="6309360" y="3273552"/>
            <a:ext cx="1207008" cy="292608"/>
          </a:xfrm>
          <a:prstGeom prst="rect">
            <a:avLst/>
          </a:prstGeom>
          <a:noFill/>
          <a:ln/>
        </p:spPr>
        <p:txBody>
          <a:bodyPr wrap="square" lIns="0" tIns="0" rIns="0" bIns="0" rtlCol="0" anchor="ctr"/>
          <a:lstStyle/>
          <a:p>
            <a:pPr marL="0" indent="0" algn="ctr">
              <a:buNone/>
            </a:pPr>
            <a:r>
              <a:rPr lang="en-US" sz="1700" b="1">
                <a:solidFill>
                  <a:srgbClr val="ED7D31"/>
                </a:solidFill>
                <a:ea typeface="Calibri"/>
                <a:cs typeface="Calibri"/>
              </a:rPr>
              <a:t>76,50%</a:t>
            </a:r>
            <a:endParaRPr lang="en-US" sz="1700" b="1" dirty="0">
              <a:solidFill>
                <a:srgbClr val="ED7D31"/>
              </a:solidFill>
              <a:ea typeface="Calibri"/>
              <a:cs typeface="Calibri"/>
            </a:endParaRPr>
          </a:p>
        </p:txBody>
      </p:sp>
      <p:sp>
        <p:nvSpPr>
          <p:cNvPr id="39" name="Shape 37"/>
          <p:cNvSpPr/>
          <p:nvPr/>
        </p:nvSpPr>
        <p:spPr>
          <a:xfrm>
            <a:off x="7662672" y="3035808"/>
            <a:ext cx="1207008" cy="594360"/>
          </a:xfrm>
          <a:prstGeom prst="rect">
            <a:avLst/>
          </a:prstGeom>
          <a:solidFill>
            <a:srgbClr val="F0F4F8"/>
          </a:solidFill>
          <a:ln w="10160">
            <a:solidFill>
              <a:srgbClr val="1A6B8A"/>
            </a:solidFill>
            <a:prstDash val="solid"/>
          </a:ln>
        </p:spPr>
      </p:sp>
      <p:sp>
        <p:nvSpPr>
          <p:cNvPr id="40" name="Text 38"/>
          <p:cNvSpPr/>
          <p:nvPr/>
        </p:nvSpPr>
        <p:spPr>
          <a:xfrm>
            <a:off x="7662672" y="3035808"/>
            <a:ext cx="1207008" cy="256032"/>
          </a:xfrm>
          <a:prstGeom prst="rect">
            <a:avLst/>
          </a:prstGeom>
          <a:noFill/>
          <a:ln/>
        </p:spPr>
        <p:txBody>
          <a:bodyPr wrap="square" lIns="0" tIns="0" rIns="0" bIns="0" rtlCol="0" anchor="ctr"/>
          <a:lstStyle/>
          <a:p>
            <a:pPr marL="0" indent="0" algn="ctr">
              <a:buNone/>
            </a:pPr>
            <a:r>
              <a:rPr lang="en-US" sz="900">
                <a:solidFill>
                  <a:srgbClr val="64748B"/>
                </a:solidFill>
                <a:latin typeface="Calibri"/>
                <a:ea typeface="Calibri"/>
                <a:cs typeface="Calibri"/>
              </a:rPr>
              <a:t>Precision/Recall</a:t>
            </a:r>
            <a:endParaRPr lang="fr-FR"/>
          </a:p>
        </p:txBody>
      </p:sp>
      <p:sp>
        <p:nvSpPr>
          <p:cNvPr id="41" name="Text 39"/>
          <p:cNvSpPr/>
          <p:nvPr/>
        </p:nvSpPr>
        <p:spPr>
          <a:xfrm>
            <a:off x="7662672" y="3273552"/>
            <a:ext cx="1207008" cy="292608"/>
          </a:xfrm>
          <a:prstGeom prst="rect">
            <a:avLst/>
          </a:prstGeom>
          <a:noFill/>
          <a:ln/>
        </p:spPr>
        <p:txBody>
          <a:bodyPr wrap="square" lIns="0" tIns="0" rIns="0" bIns="0" rtlCol="0" anchor="ctr"/>
          <a:lstStyle/>
          <a:p>
            <a:pPr algn="ctr"/>
            <a:r>
              <a:rPr lang="en-US" sz="1700" b="1">
                <a:solidFill>
                  <a:srgbClr val="1A6B8A"/>
                </a:solidFill>
                <a:latin typeface="Calibri"/>
                <a:ea typeface="Calibri"/>
                <a:cs typeface="Calibri"/>
              </a:rPr>
              <a:t>81% / 73%</a:t>
            </a:r>
            <a:endParaRPr lang="fr-FR"/>
          </a:p>
        </p:txBody>
      </p:sp>
      <p:sp>
        <p:nvSpPr>
          <p:cNvPr id="42" name="Text 40"/>
          <p:cNvSpPr/>
          <p:nvPr/>
        </p:nvSpPr>
        <p:spPr>
          <a:xfrm>
            <a:off x="6309360" y="3730752"/>
            <a:ext cx="2560320" cy="685800"/>
          </a:xfrm>
          <a:prstGeom prst="rect">
            <a:avLst/>
          </a:prstGeom>
          <a:noFill/>
          <a:ln/>
        </p:spPr>
        <p:txBody>
          <a:bodyPr wrap="square" lIns="91440" tIns="45720" rIns="91440" bIns="45720" rtlCol="0" anchor="t"/>
          <a:lstStyle/>
          <a:p>
            <a:pPr marL="0" indent="0" algn="l">
              <a:buNone/>
            </a:pPr>
            <a:r>
              <a:rPr lang="en-US" sz="900" i="1" dirty="0">
                <a:solidFill>
                  <a:srgbClr val="64748B"/>
                </a:solidFill>
                <a:latin typeface="Calibri"/>
                <a:ea typeface="Calibri"/>
                <a:cs typeface="Calibri"/>
              </a:rPr>
              <a:t>Construction </a:t>
            </a:r>
            <a:r>
              <a:rPr lang="en-US" sz="900" i="1" dirty="0" err="1">
                <a:solidFill>
                  <a:srgbClr val="64748B"/>
                </a:solidFill>
                <a:latin typeface="Calibri"/>
                <a:ea typeface="Calibri"/>
                <a:cs typeface="Calibri"/>
              </a:rPr>
              <a:t>séquentielle</a:t>
            </a:r>
            <a:r>
              <a:rPr lang="en-US" sz="900" i="1" dirty="0">
                <a:solidFill>
                  <a:srgbClr val="64748B"/>
                </a:solidFill>
                <a:latin typeface="Calibri"/>
                <a:ea typeface="Calibri"/>
                <a:cs typeface="Calibri"/>
              </a:rPr>
              <a:t>, </a:t>
            </a:r>
            <a:r>
              <a:rPr lang="en-US" sz="900" i="1" dirty="0" err="1">
                <a:solidFill>
                  <a:srgbClr val="64748B"/>
                </a:solidFill>
                <a:latin typeface="Calibri"/>
                <a:ea typeface="Calibri"/>
                <a:cs typeface="Calibri"/>
              </a:rPr>
              <a:t>corrige</a:t>
            </a:r>
            <a:r>
              <a:rPr lang="en-US" sz="900" i="1" dirty="0">
                <a:solidFill>
                  <a:srgbClr val="64748B"/>
                </a:solidFill>
                <a:latin typeface="Calibri"/>
                <a:ea typeface="Calibri"/>
                <a:cs typeface="Calibri"/>
              </a:rPr>
              <a:t> les </a:t>
            </a:r>
            <a:r>
              <a:rPr lang="en-US" sz="900" i="1" dirty="0" err="1">
                <a:solidFill>
                  <a:srgbClr val="64748B"/>
                </a:solidFill>
                <a:latin typeface="Calibri"/>
                <a:ea typeface="Calibri"/>
                <a:cs typeface="Calibri"/>
              </a:rPr>
              <a:t>erreurs</a:t>
            </a:r>
            <a:r>
              <a:rPr lang="en-US" sz="900" i="1" dirty="0">
                <a:solidFill>
                  <a:srgbClr val="64748B"/>
                </a:solidFill>
                <a:latin typeface="Calibri"/>
                <a:ea typeface="Calibri"/>
                <a:cs typeface="Calibri"/>
              </a:rPr>
              <a:t> </a:t>
            </a:r>
            <a:r>
              <a:rPr lang="en-US" sz="900" i="1" dirty="0" err="1">
                <a:solidFill>
                  <a:srgbClr val="64748B"/>
                </a:solidFill>
                <a:latin typeface="Calibri"/>
                <a:ea typeface="Calibri"/>
                <a:cs typeface="Calibri"/>
              </a:rPr>
              <a:t>itérativement</a:t>
            </a:r>
            <a:r>
              <a:rPr lang="en-US" sz="900" i="1" dirty="0">
                <a:solidFill>
                  <a:srgbClr val="64748B"/>
                </a:solidFill>
                <a:latin typeface="Calibri"/>
                <a:ea typeface="Calibri"/>
                <a:cs typeface="Calibri"/>
              </a:rPr>
              <a:t>.</a:t>
            </a:r>
          </a:p>
          <a:p>
            <a:r>
              <a:rPr lang="en-US" sz="900" i="1" dirty="0">
                <a:solidFill>
                  <a:srgbClr val="64748B"/>
                </a:solidFill>
                <a:ea typeface="Calibri"/>
                <a:cs typeface="Calibri"/>
              </a:rPr>
              <a:t>F1 </a:t>
            </a:r>
            <a:r>
              <a:rPr lang="en-US" sz="900" i="1" dirty="0" err="1">
                <a:solidFill>
                  <a:srgbClr val="64748B"/>
                </a:solidFill>
                <a:ea typeface="Calibri"/>
                <a:cs typeface="Calibri"/>
              </a:rPr>
              <a:t>légèrement</a:t>
            </a:r>
            <a:r>
              <a:rPr lang="en-US" sz="900" i="1" dirty="0">
                <a:solidFill>
                  <a:srgbClr val="64748B"/>
                </a:solidFill>
                <a:ea typeface="Calibri"/>
                <a:cs typeface="Calibri"/>
              </a:rPr>
              <a:t> </a:t>
            </a:r>
            <a:r>
              <a:rPr lang="en-US" sz="900" i="1" dirty="0" err="1">
                <a:solidFill>
                  <a:srgbClr val="64748B"/>
                </a:solidFill>
                <a:ea typeface="Calibri"/>
                <a:cs typeface="Calibri"/>
              </a:rPr>
              <a:t>amélioré</a:t>
            </a:r>
            <a:r>
              <a:rPr lang="en-US" sz="900" i="1" dirty="0">
                <a:solidFill>
                  <a:srgbClr val="64748B"/>
                </a:solidFill>
                <a:ea typeface="Calibri"/>
                <a:cs typeface="Calibri"/>
              </a:rPr>
              <a:t>.</a:t>
            </a:r>
          </a:p>
          <a:p>
            <a:r>
              <a:rPr lang="en-US" sz="900" i="1" dirty="0">
                <a:solidFill>
                  <a:srgbClr val="64748B"/>
                </a:solidFill>
                <a:ea typeface="Calibri"/>
                <a:cs typeface="Calibri"/>
              </a:rPr>
              <a:t>Pas </a:t>
            </a:r>
            <a:r>
              <a:rPr lang="en-US" sz="900" i="1" dirty="0" err="1">
                <a:solidFill>
                  <a:srgbClr val="64748B"/>
                </a:solidFill>
                <a:ea typeface="Calibri"/>
                <a:cs typeface="Calibri"/>
              </a:rPr>
              <a:t>d'overfitting</a:t>
            </a:r>
            <a:r>
              <a:rPr lang="en-US" sz="900" i="1" dirty="0">
                <a:solidFill>
                  <a:srgbClr val="64748B"/>
                </a:solidFill>
                <a:ea typeface="Calibri"/>
                <a:cs typeface="Calibri"/>
              </a:rPr>
              <a:t>.</a:t>
            </a:r>
            <a:endParaRPr lang="en-US" sz="900" dirty="0">
              <a:solidFill>
                <a:srgbClr val="000000"/>
              </a:solidFill>
              <a:ea typeface="Calibri"/>
              <a:cs typeface="Calibri"/>
            </a:endParaRPr>
          </a:p>
          <a:p>
            <a:endParaRPr lang="en-US" sz="900" i="1" dirty="0">
              <a:solidFill>
                <a:srgbClr val="64748B"/>
              </a:solidFill>
              <a:ea typeface="Calibri"/>
              <a:cs typeface="Calibri"/>
            </a:endParaRPr>
          </a:p>
          <a:p>
            <a:endParaRPr lang="en-US" sz="900" i="1" dirty="0">
              <a:solidFill>
                <a:srgbClr val="64748B"/>
              </a:solidFill>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r>
              <a:rPr lang="en-US" sz="2200" b="1" dirty="0">
                <a:solidFill>
                  <a:srgbClr val="FFFFFF"/>
                </a:solidFill>
                <a:latin typeface="Calibri"/>
                <a:ea typeface="Calibri"/>
                <a:cs typeface="Calibri"/>
              </a:rPr>
              <a:t>04  </a:t>
            </a:r>
            <a:r>
              <a:rPr lang="en-US" sz="2200" b="1" dirty="0" err="1">
                <a:solidFill>
                  <a:srgbClr val="FFFFFF"/>
                </a:solidFill>
                <a:latin typeface="Calibri"/>
                <a:ea typeface="Calibri"/>
                <a:cs typeface="Calibri"/>
              </a:rPr>
              <a:t>Résultats</a:t>
            </a:r>
            <a:r>
              <a:rPr lang="en-US" sz="2200" b="1" dirty="0">
                <a:solidFill>
                  <a:srgbClr val="FFFFFF"/>
                </a:solidFill>
                <a:latin typeface="Calibri"/>
                <a:ea typeface="Calibri"/>
                <a:cs typeface="Calibri"/>
              </a:rPr>
              <a:t> — Choix du </a:t>
            </a:r>
            <a:r>
              <a:rPr lang="en-US" sz="2200" b="1" dirty="0" err="1">
                <a:solidFill>
                  <a:srgbClr val="FFFFFF"/>
                </a:solidFill>
                <a:latin typeface="Calibri"/>
                <a:ea typeface="Calibri"/>
                <a:cs typeface="Calibri"/>
              </a:rPr>
              <a:t>modèle</a:t>
            </a:r>
            <a:r>
              <a:rPr lang="en-US" sz="2200" b="1" dirty="0">
                <a:solidFill>
                  <a:srgbClr val="FFFFFF"/>
                </a:solidFill>
                <a:latin typeface="Calibri"/>
                <a:ea typeface="Calibri"/>
                <a:cs typeface="Calibri"/>
              </a:rPr>
              <a:t> final</a:t>
            </a:r>
            <a:endParaRPr lang="en-US" sz="2200" b="1" dirty="0">
              <a:solidFill>
                <a:srgbClr val="FFFFFF"/>
              </a:solidFill>
              <a:ea typeface="Calibri"/>
              <a:cs typeface="Calibri"/>
            </a:endParaRPr>
          </a:p>
        </p:txBody>
      </p:sp>
      <p:sp>
        <p:nvSpPr>
          <p:cNvPr id="22" name="ZoneTexte 21">
            <a:extLst>
              <a:ext uri="{FF2B5EF4-FFF2-40B4-BE49-F238E27FC236}">
                <a16:creationId xmlns:a16="http://schemas.microsoft.com/office/drawing/2014/main" id="{1076C9FA-6BAF-0DB9-2D5B-4496AF2184BD}"/>
              </a:ext>
            </a:extLst>
          </p:cNvPr>
          <p:cNvSpPr txBox="1"/>
          <p:nvPr/>
        </p:nvSpPr>
        <p:spPr>
          <a:xfrm>
            <a:off x="504264" y="1403536"/>
            <a:ext cx="8353985" cy="221599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400" dirty="0">
                <a:solidFill>
                  <a:schemeClr val="accent1">
                    <a:lumMod val="49000"/>
                  </a:schemeClr>
                </a:solidFill>
              </a:rPr>
              <a:t>Les trois modèles sont très proches </a:t>
            </a:r>
            <a:r>
              <a:rPr lang="fr-FR" sz="1400" dirty="0" err="1">
                <a:solidFill>
                  <a:schemeClr val="accent1">
                    <a:lumMod val="49000"/>
                  </a:schemeClr>
                </a:solidFill>
              </a:rPr>
              <a:t>en terme de</a:t>
            </a:r>
            <a:r>
              <a:rPr lang="fr-FR" sz="1400" dirty="0">
                <a:solidFill>
                  <a:schemeClr val="accent1">
                    <a:lumMod val="49000"/>
                  </a:schemeClr>
                </a:solidFill>
              </a:rPr>
              <a:t> F1 score. Une légère amélioration dans le </a:t>
            </a:r>
            <a:r>
              <a:rPr lang="fr-FR" sz="1400" dirty="0" err="1">
                <a:solidFill>
                  <a:schemeClr val="accent1">
                    <a:lumMod val="49000"/>
                  </a:schemeClr>
                </a:solidFill>
              </a:rPr>
              <a:t>XGBoost</a:t>
            </a:r>
            <a:r>
              <a:rPr lang="fr-FR" sz="1400" dirty="0">
                <a:solidFill>
                  <a:schemeClr val="accent1">
                    <a:lumMod val="49000"/>
                  </a:schemeClr>
                </a:solidFill>
              </a:rPr>
              <a:t>. </a:t>
            </a:r>
            <a:endParaRPr lang="fr-FR" sz="1400">
              <a:solidFill>
                <a:schemeClr val="accent1">
                  <a:lumMod val="49000"/>
                </a:schemeClr>
              </a:solidFill>
              <a:ea typeface="Calibri"/>
              <a:cs typeface="Calibri"/>
            </a:endParaRPr>
          </a:p>
          <a:p>
            <a:br>
              <a:rPr lang="en-US" dirty="0"/>
            </a:br>
            <a:endParaRPr lang="en-US" sz="1400">
              <a:solidFill>
                <a:schemeClr val="accent1">
                  <a:lumMod val="49000"/>
                </a:schemeClr>
              </a:solidFill>
              <a:ea typeface="Calibri"/>
              <a:cs typeface="Calibri"/>
            </a:endParaRPr>
          </a:p>
          <a:p>
            <a:r>
              <a:rPr lang="fr-FR" sz="1400" dirty="0">
                <a:solidFill>
                  <a:schemeClr val="accent1">
                    <a:lumMod val="49000"/>
                  </a:schemeClr>
                </a:solidFill>
              </a:rPr>
              <a:t>RF et </a:t>
            </a:r>
            <a:r>
              <a:rPr lang="fr-FR" sz="1400" dirty="0" err="1">
                <a:solidFill>
                  <a:schemeClr val="accent1">
                    <a:lumMod val="49000"/>
                  </a:schemeClr>
                </a:solidFill>
              </a:rPr>
              <a:t>XGBoost</a:t>
            </a:r>
            <a:r>
              <a:rPr lang="fr-FR" sz="1400" dirty="0">
                <a:solidFill>
                  <a:schemeClr val="accent1">
                    <a:lumMod val="49000"/>
                  </a:schemeClr>
                </a:solidFill>
              </a:rPr>
              <a:t> ont un F1 score mieux équilibré (entre précision et </a:t>
            </a:r>
            <a:r>
              <a:rPr lang="fr-FR" sz="1400" dirty="0" err="1">
                <a:solidFill>
                  <a:schemeClr val="accent1">
                    <a:lumMod val="49000"/>
                  </a:schemeClr>
                </a:solidFill>
              </a:rPr>
              <a:t>recall</a:t>
            </a:r>
            <a:r>
              <a:rPr lang="fr-FR" sz="1400" dirty="0">
                <a:solidFill>
                  <a:schemeClr val="accent1">
                    <a:lumMod val="49000"/>
                  </a:schemeClr>
                </a:solidFill>
              </a:rPr>
              <a:t>) que la régression logistique.</a:t>
            </a:r>
            <a:endParaRPr lang="fr-FR" sz="1400">
              <a:solidFill>
                <a:schemeClr val="accent1">
                  <a:lumMod val="49000"/>
                </a:schemeClr>
              </a:solidFill>
              <a:ea typeface="Calibri"/>
              <a:cs typeface="Calibri"/>
            </a:endParaRPr>
          </a:p>
          <a:p>
            <a:br>
              <a:rPr lang="en-US" dirty="0"/>
            </a:br>
            <a:endParaRPr lang="en-US" sz="1400">
              <a:solidFill>
                <a:schemeClr val="accent1">
                  <a:lumMod val="49000"/>
                </a:schemeClr>
              </a:solidFill>
              <a:ea typeface="Calibri"/>
              <a:cs typeface="Calibri"/>
            </a:endParaRPr>
          </a:p>
          <a:p>
            <a:r>
              <a:rPr lang="fr-FR" sz="1400" dirty="0">
                <a:solidFill>
                  <a:schemeClr val="accent1">
                    <a:lumMod val="49000"/>
                  </a:schemeClr>
                </a:solidFill>
              </a:rPr>
              <a:t>Pour ce challenge, le choix se dirige vers le </a:t>
            </a:r>
            <a:r>
              <a:rPr lang="fr-FR" sz="1400" dirty="0" err="1">
                <a:solidFill>
                  <a:schemeClr val="accent1">
                    <a:lumMod val="49000"/>
                  </a:schemeClr>
                </a:solidFill>
              </a:rPr>
              <a:t>XGBoost</a:t>
            </a:r>
            <a:r>
              <a:rPr lang="fr-FR" sz="1400" dirty="0">
                <a:solidFill>
                  <a:schemeClr val="accent1">
                    <a:lumMod val="49000"/>
                  </a:schemeClr>
                </a:solidFill>
              </a:rPr>
              <a:t> qui donne le meilleur compromis entre </a:t>
            </a:r>
            <a:r>
              <a:rPr lang="fr-FR" sz="1400" dirty="0" err="1">
                <a:solidFill>
                  <a:schemeClr val="accent1">
                    <a:lumMod val="49000"/>
                  </a:schemeClr>
                </a:solidFill>
              </a:rPr>
              <a:t>socre</a:t>
            </a:r>
            <a:r>
              <a:rPr lang="fr-FR" sz="1400" dirty="0">
                <a:solidFill>
                  <a:schemeClr val="accent1">
                    <a:lumMod val="49000"/>
                  </a:schemeClr>
                </a:solidFill>
              </a:rPr>
              <a:t> F1 et équilibre </a:t>
            </a:r>
            <a:r>
              <a:rPr lang="fr-FR" sz="1400" dirty="0" err="1">
                <a:solidFill>
                  <a:schemeClr val="accent1">
                    <a:lumMod val="49000"/>
                  </a:schemeClr>
                </a:solidFill>
              </a:rPr>
              <a:t>precision</a:t>
            </a:r>
            <a:r>
              <a:rPr lang="fr-FR" sz="1400" dirty="0">
                <a:solidFill>
                  <a:schemeClr val="accent1">
                    <a:lumMod val="49000"/>
                  </a:schemeClr>
                </a:solidFill>
              </a:rPr>
              <a:t>/</a:t>
            </a:r>
            <a:r>
              <a:rPr lang="fr-FR" sz="1400" dirty="0" err="1">
                <a:solidFill>
                  <a:schemeClr val="accent1">
                    <a:lumMod val="49000"/>
                  </a:schemeClr>
                </a:solidFill>
              </a:rPr>
              <a:t>recall</a:t>
            </a:r>
            <a:r>
              <a:rPr lang="fr-FR" sz="1400" dirty="0">
                <a:solidFill>
                  <a:schemeClr val="accent1">
                    <a:lumMod val="49000"/>
                  </a:schemeClr>
                </a:solidFill>
              </a:rPr>
              <a:t>.</a:t>
            </a:r>
            <a:endParaRPr lang="fr-FR" sz="1400">
              <a:solidFill>
                <a:schemeClr val="accent1">
                  <a:lumMod val="49000"/>
                </a:schemeClr>
              </a:solidFill>
              <a:ea typeface="Calibri"/>
              <a:cs typeface="Calibri"/>
            </a:endParaRPr>
          </a:p>
          <a:p>
            <a:pPr algn="l"/>
            <a:endParaRPr lang="fr-F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a:ea typeface="Calibri"/>
                <a:cs typeface="Calibri"/>
              </a:rPr>
              <a:t>04  </a:t>
            </a:r>
            <a:r>
              <a:rPr lang="en-US" sz="2000" b="1" dirty="0" err="1">
                <a:solidFill>
                  <a:srgbClr val="FFFFFF"/>
                </a:solidFill>
                <a:latin typeface="Calibri"/>
                <a:ea typeface="Calibri"/>
                <a:cs typeface="Calibri"/>
              </a:rPr>
              <a:t>Résultats</a:t>
            </a:r>
            <a:r>
              <a:rPr lang="en-US" sz="2000" b="1" dirty="0">
                <a:solidFill>
                  <a:srgbClr val="FFFFFF"/>
                </a:solidFill>
                <a:latin typeface="Calibri"/>
                <a:ea typeface="Calibri"/>
                <a:cs typeface="Calibri"/>
              </a:rPr>
              <a:t> — Importance des variables (</a:t>
            </a:r>
            <a:r>
              <a:rPr lang="en-US" sz="2000" b="1" dirty="0" err="1">
                <a:solidFill>
                  <a:srgbClr val="FFFFFF"/>
                </a:solidFill>
                <a:latin typeface="Calibri"/>
                <a:ea typeface="Calibri"/>
                <a:cs typeface="Calibri"/>
              </a:rPr>
              <a:t>XGBoost</a:t>
            </a:r>
            <a:r>
              <a:rPr lang="en-US" sz="2000" b="1" dirty="0">
                <a:solidFill>
                  <a:srgbClr val="FFFFFF"/>
                </a:solidFill>
                <a:latin typeface="Calibri"/>
                <a:ea typeface="Calibri"/>
                <a:cs typeface="Calibri"/>
              </a:rPr>
              <a:t>)</a:t>
            </a:r>
            <a:endParaRPr lang="en-US" sz="2000" dirty="0">
              <a:latin typeface="Calibri"/>
              <a:ea typeface="Calibri"/>
              <a:cs typeface="Calibri"/>
            </a:endParaRPr>
          </a:p>
        </p:txBody>
      </p:sp>
      <p:sp>
        <p:nvSpPr>
          <p:cNvPr id="6" name="Shape 3"/>
          <p:cNvSpPr/>
          <p:nvPr/>
        </p:nvSpPr>
        <p:spPr>
          <a:xfrm>
            <a:off x="5943600" y="804672"/>
            <a:ext cx="2834640" cy="347472"/>
          </a:xfrm>
          <a:prstGeom prst="rect">
            <a:avLst/>
          </a:prstGeom>
          <a:solidFill>
            <a:srgbClr val="0A2342"/>
          </a:solidFill>
          <a:ln w="12700">
            <a:solidFill>
              <a:srgbClr val="0A2342"/>
            </a:solidFill>
            <a:prstDash val="solid"/>
          </a:ln>
        </p:spPr>
      </p:sp>
      <p:sp>
        <p:nvSpPr>
          <p:cNvPr id="7" name="Text 4"/>
          <p:cNvSpPr/>
          <p:nvPr/>
        </p:nvSpPr>
        <p:spPr>
          <a:xfrm>
            <a:off x="5943600" y="804672"/>
            <a:ext cx="28346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Interprétation</a:t>
            </a:r>
            <a:endParaRPr lang="en-US" sz="1200" dirty="0"/>
          </a:p>
        </p:txBody>
      </p:sp>
      <p:sp>
        <p:nvSpPr>
          <p:cNvPr id="8" name="Text 5"/>
          <p:cNvSpPr/>
          <p:nvPr/>
        </p:nvSpPr>
        <p:spPr>
          <a:xfrm>
            <a:off x="6053328" y="1280160"/>
            <a:ext cx="685800" cy="256032"/>
          </a:xfrm>
          <a:prstGeom prst="rect">
            <a:avLst/>
          </a:prstGeom>
          <a:noFill/>
          <a:ln/>
        </p:spPr>
        <p:txBody>
          <a:bodyPr wrap="square" lIns="0" tIns="0" rIns="0" bIns="0" rtlCol="0" anchor="ctr"/>
          <a:lstStyle/>
          <a:p>
            <a:pPr marL="0" indent="0">
              <a:buNone/>
            </a:pPr>
            <a:r>
              <a:rPr lang="en-US" sz="1200" b="1">
                <a:solidFill>
                  <a:srgbClr val="ED7D31"/>
                </a:solidFill>
                <a:latin typeface="Calibri"/>
                <a:ea typeface="Calibri"/>
                <a:cs typeface="Calibri"/>
              </a:rPr>
              <a:t>83,5 %</a:t>
            </a:r>
            <a:endParaRPr lang="en-US" sz="1200">
              <a:latin typeface="Calibri"/>
              <a:ea typeface="Calibri"/>
              <a:cs typeface="Calibri"/>
            </a:endParaRPr>
          </a:p>
        </p:txBody>
      </p:sp>
      <p:sp>
        <p:nvSpPr>
          <p:cNvPr id="9" name="Text 6"/>
          <p:cNvSpPr/>
          <p:nvPr/>
        </p:nvSpPr>
        <p:spPr>
          <a:xfrm>
            <a:off x="6766560" y="1280160"/>
            <a:ext cx="1920240" cy="256032"/>
          </a:xfrm>
          <a:prstGeom prst="rect">
            <a:avLst/>
          </a:prstGeom>
          <a:noFill/>
          <a:ln/>
        </p:spPr>
        <p:txBody>
          <a:bodyPr wrap="square" lIns="0" tIns="0" rIns="0" bIns="0" rtlCol="0" anchor="ctr"/>
          <a:lstStyle/>
          <a:p>
            <a:pPr marL="0" indent="0">
              <a:buNone/>
            </a:pPr>
            <a:r>
              <a:rPr lang="en-US" sz="950" b="1" dirty="0">
                <a:solidFill>
                  <a:srgbClr val="0A2342"/>
                </a:solidFill>
                <a:latin typeface="Calibri" pitchFamily="34" charset="0"/>
                <a:ea typeface="Calibri" pitchFamily="34" charset="-122"/>
                <a:cs typeface="Calibri" pitchFamily="34" charset="-120"/>
              </a:rPr>
              <a:t>total_pages_visited</a:t>
            </a:r>
            <a:endParaRPr lang="en-US" sz="950" dirty="0"/>
          </a:p>
        </p:txBody>
      </p:sp>
      <p:sp>
        <p:nvSpPr>
          <p:cNvPr id="10" name="Text 7"/>
          <p:cNvSpPr/>
          <p:nvPr/>
        </p:nvSpPr>
        <p:spPr>
          <a:xfrm>
            <a:off x="6053328" y="1554480"/>
            <a:ext cx="2651760" cy="29260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Prédicteur quasi unique. Le comportement de navigation prime sur tout le reste.</a:t>
            </a:r>
            <a:endParaRPr lang="en-US" sz="850" dirty="0"/>
          </a:p>
        </p:txBody>
      </p:sp>
      <p:sp>
        <p:nvSpPr>
          <p:cNvPr id="11" name="Text 8"/>
          <p:cNvSpPr/>
          <p:nvPr/>
        </p:nvSpPr>
        <p:spPr>
          <a:xfrm>
            <a:off x="6053328" y="1920240"/>
            <a:ext cx="685800" cy="256032"/>
          </a:xfrm>
          <a:prstGeom prst="rect">
            <a:avLst/>
          </a:prstGeom>
          <a:noFill/>
          <a:ln/>
        </p:spPr>
        <p:txBody>
          <a:bodyPr wrap="square" lIns="0" tIns="0" rIns="0" bIns="0" rtlCol="0" anchor="ctr"/>
          <a:lstStyle/>
          <a:p>
            <a:pPr marL="0" indent="0">
              <a:buNone/>
            </a:pPr>
            <a:r>
              <a:rPr lang="en-US" sz="1200" b="1">
                <a:solidFill>
                  <a:srgbClr val="ED7D31"/>
                </a:solidFill>
                <a:latin typeface="Calibri"/>
                <a:ea typeface="Calibri"/>
                <a:cs typeface="Calibri"/>
              </a:rPr>
              <a:t>7,3%</a:t>
            </a:r>
            <a:endParaRPr lang="en-US" sz="1200">
              <a:latin typeface="Calibri"/>
              <a:ea typeface="Calibri"/>
              <a:cs typeface="Calibri"/>
            </a:endParaRPr>
          </a:p>
        </p:txBody>
      </p:sp>
      <p:sp>
        <p:nvSpPr>
          <p:cNvPr id="12" name="Text 9"/>
          <p:cNvSpPr/>
          <p:nvPr/>
        </p:nvSpPr>
        <p:spPr>
          <a:xfrm>
            <a:off x="6766560" y="1920240"/>
            <a:ext cx="1920240" cy="256032"/>
          </a:xfrm>
          <a:prstGeom prst="rect">
            <a:avLst/>
          </a:prstGeom>
          <a:noFill/>
          <a:ln/>
        </p:spPr>
        <p:txBody>
          <a:bodyPr wrap="square" lIns="0" tIns="0" rIns="0" bIns="0" rtlCol="0" anchor="ctr"/>
          <a:lstStyle/>
          <a:p>
            <a:pPr marL="0" indent="0">
              <a:buNone/>
            </a:pPr>
            <a:r>
              <a:rPr lang="en-US" sz="950" b="1" dirty="0">
                <a:solidFill>
                  <a:srgbClr val="0A2342"/>
                </a:solidFill>
                <a:latin typeface="Calibri" pitchFamily="34" charset="0"/>
                <a:ea typeface="Calibri" pitchFamily="34" charset="-122"/>
                <a:cs typeface="Calibri" pitchFamily="34" charset="-120"/>
              </a:rPr>
              <a:t>new_user</a:t>
            </a:r>
            <a:endParaRPr lang="en-US" sz="950" dirty="0"/>
          </a:p>
        </p:txBody>
      </p:sp>
      <p:sp>
        <p:nvSpPr>
          <p:cNvPr id="13" name="Text 10"/>
          <p:cNvSpPr/>
          <p:nvPr/>
        </p:nvSpPr>
        <p:spPr>
          <a:xfrm>
            <a:off x="6053328" y="2194560"/>
            <a:ext cx="2651760" cy="29260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Utilisateurs existants convertissent 5x plus que les nouveaux.</a:t>
            </a:r>
            <a:endParaRPr lang="en-US" sz="850" dirty="0"/>
          </a:p>
        </p:txBody>
      </p:sp>
      <p:sp>
        <p:nvSpPr>
          <p:cNvPr id="14" name="Text 11"/>
          <p:cNvSpPr/>
          <p:nvPr/>
        </p:nvSpPr>
        <p:spPr>
          <a:xfrm>
            <a:off x="6053328" y="2560320"/>
            <a:ext cx="685800" cy="256032"/>
          </a:xfrm>
          <a:prstGeom prst="rect">
            <a:avLst/>
          </a:prstGeom>
          <a:noFill/>
          <a:ln/>
        </p:spPr>
        <p:txBody>
          <a:bodyPr wrap="square" lIns="0" tIns="0" rIns="0" bIns="0" rtlCol="0" anchor="ctr"/>
          <a:lstStyle/>
          <a:p>
            <a:pPr marL="0" indent="0">
              <a:buNone/>
            </a:pPr>
            <a:r>
              <a:rPr lang="en-US" sz="1200" b="1">
                <a:solidFill>
                  <a:srgbClr val="ED7D31"/>
                </a:solidFill>
                <a:latin typeface="Calibri"/>
                <a:ea typeface="Calibri"/>
                <a:cs typeface="Calibri"/>
              </a:rPr>
              <a:t>5,7 %</a:t>
            </a:r>
            <a:endParaRPr lang="en-US" sz="1200">
              <a:latin typeface="Calibri"/>
              <a:ea typeface="Calibri"/>
              <a:cs typeface="Calibri"/>
            </a:endParaRPr>
          </a:p>
        </p:txBody>
      </p:sp>
      <p:sp>
        <p:nvSpPr>
          <p:cNvPr id="15" name="Text 12"/>
          <p:cNvSpPr/>
          <p:nvPr/>
        </p:nvSpPr>
        <p:spPr>
          <a:xfrm>
            <a:off x="6766560" y="2560320"/>
            <a:ext cx="1920240" cy="256032"/>
          </a:xfrm>
          <a:prstGeom prst="rect">
            <a:avLst/>
          </a:prstGeom>
          <a:noFill/>
          <a:ln/>
        </p:spPr>
        <p:txBody>
          <a:bodyPr wrap="square" lIns="0" tIns="0" rIns="0" bIns="0" rtlCol="0" anchor="ctr"/>
          <a:lstStyle/>
          <a:p>
            <a:pPr marL="0" indent="0">
              <a:buNone/>
            </a:pPr>
            <a:r>
              <a:rPr lang="en-US" sz="950" b="1" dirty="0">
                <a:solidFill>
                  <a:srgbClr val="0A2342"/>
                </a:solidFill>
                <a:latin typeface="Calibri" pitchFamily="34" charset="0"/>
                <a:ea typeface="Calibri" pitchFamily="34" charset="-122"/>
                <a:cs typeface="Calibri" pitchFamily="34" charset="-120"/>
              </a:rPr>
              <a:t>country</a:t>
            </a:r>
            <a:endParaRPr lang="en-US" sz="950" dirty="0"/>
          </a:p>
        </p:txBody>
      </p:sp>
      <p:sp>
        <p:nvSpPr>
          <p:cNvPr id="16" name="Text 13"/>
          <p:cNvSpPr/>
          <p:nvPr/>
        </p:nvSpPr>
        <p:spPr>
          <a:xfrm>
            <a:off x="6053328" y="2834640"/>
            <a:ext cx="2651760" cy="29260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La Chine tire le score vers le bas (0,1% de conversion).</a:t>
            </a:r>
            <a:endParaRPr lang="en-US" sz="850" dirty="0"/>
          </a:p>
        </p:txBody>
      </p:sp>
      <p:pic>
        <p:nvPicPr>
          <p:cNvPr id="23" name="Image 22" descr="Une image contenant texte, capture d’écran, Police, nombre&#10;&#10;Le contenu généré par l’IA peut être incorrect.">
            <a:extLst>
              <a:ext uri="{FF2B5EF4-FFF2-40B4-BE49-F238E27FC236}">
                <a16:creationId xmlns:a16="http://schemas.microsoft.com/office/drawing/2014/main" id="{07EFD299-B73F-AD43-6638-CB3959DF4CBE}"/>
              </a:ext>
            </a:extLst>
          </p:cNvPr>
          <p:cNvPicPr>
            <a:picLocks noChangeAspect="1"/>
          </p:cNvPicPr>
          <p:nvPr/>
        </p:nvPicPr>
        <p:blipFill>
          <a:blip r:embed="rId3"/>
          <a:stretch>
            <a:fillRect/>
          </a:stretch>
        </p:blipFill>
        <p:spPr>
          <a:xfrm>
            <a:off x="149543" y="829628"/>
            <a:ext cx="5697855" cy="40176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05  Recommandations — Leviers d'action</a:t>
            </a:r>
            <a:endParaRPr lang="en-US" sz="2200" dirty="0"/>
          </a:p>
        </p:txBody>
      </p:sp>
      <p:sp>
        <p:nvSpPr>
          <p:cNvPr id="4" name="Shape 2"/>
          <p:cNvSpPr/>
          <p:nvPr/>
        </p:nvSpPr>
        <p:spPr>
          <a:xfrm>
            <a:off x="365760" y="822960"/>
            <a:ext cx="4160520" cy="201168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Shape 3"/>
          <p:cNvSpPr/>
          <p:nvPr/>
        </p:nvSpPr>
        <p:spPr>
          <a:xfrm>
            <a:off x="365760" y="822960"/>
            <a:ext cx="384048" cy="2011680"/>
          </a:xfrm>
          <a:prstGeom prst="rect">
            <a:avLst/>
          </a:prstGeom>
          <a:solidFill>
            <a:srgbClr val="ED7D31"/>
          </a:solidFill>
          <a:ln w="12700">
            <a:solidFill>
              <a:srgbClr val="ED7D31"/>
            </a:solidFill>
            <a:prstDash val="solid"/>
          </a:ln>
        </p:spPr>
      </p:sp>
      <p:sp>
        <p:nvSpPr>
          <p:cNvPr id="6" name="Text 4"/>
          <p:cNvSpPr/>
          <p:nvPr/>
        </p:nvSpPr>
        <p:spPr>
          <a:xfrm>
            <a:off x="365760" y="822960"/>
            <a:ext cx="384048"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822960" y="896112"/>
            <a:ext cx="1371600" cy="201168"/>
          </a:xfrm>
          <a:prstGeom prst="rect">
            <a:avLst/>
          </a:prstGeom>
          <a:noFill/>
          <a:ln/>
        </p:spPr>
        <p:txBody>
          <a:bodyPr wrap="square" lIns="0" tIns="0" rIns="0" bIns="0" rtlCol="0" anchor="ctr"/>
          <a:lstStyle/>
          <a:p>
            <a:pPr marL="0" indent="0">
              <a:buNone/>
            </a:pPr>
            <a:r>
              <a:rPr lang="en-US" sz="750" b="1" dirty="0">
                <a:solidFill>
                  <a:srgbClr val="ED7D31"/>
                </a:solidFill>
                <a:latin typeface="Calibri" pitchFamily="34" charset="0"/>
                <a:ea typeface="Calibri" pitchFamily="34" charset="-122"/>
                <a:cs typeface="Calibri" pitchFamily="34" charset="-120"/>
              </a:rPr>
              <a:t>PRIORITÉ HAUTE</a:t>
            </a:r>
            <a:endParaRPr lang="en-US" sz="750" dirty="0"/>
          </a:p>
        </p:txBody>
      </p:sp>
      <p:sp>
        <p:nvSpPr>
          <p:cNvPr id="8" name="Text 6"/>
          <p:cNvSpPr/>
          <p:nvPr/>
        </p:nvSpPr>
        <p:spPr>
          <a:xfrm>
            <a:off x="822960" y="1097280"/>
            <a:ext cx="3611880" cy="32004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Augmenter le nombre de pages visitées</a:t>
            </a:r>
            <a:endParaRPr lang="en-US" sz="1100" dirty="0"/>
          </a:p>
        </p:txBody>
      </p:sp>
      <p:sp>
        <p:nvSpPr>
          <p:cNvPr id="9" name="Text 7"/>
          <p:cNvSpPr/>
          <p:nvPr/>
        </p:nvSpPr>
        <p:spPr>
          <a:xfrm>
            <a:off x="822960" y="1417320"/>
            <a:ext cx="3611880" cy="1051560"/>
          </a:xfrm>
          <a:prstGeom prst="rect">
            <a:avLst/>
          </a:prstGeom>
          <a:noFill/>
          <a:ln/>
        </p:spPr>
        <p:txBody>
          <a:bodyPr wrap="square" lIns="91440" tIns="45720" rIns="91440" bIns="45720" rtlCol="0" anchor="t"/>
          <a:lstStyle/>
          <a:p>
            <a:pPr marL="0" indent="0">
              <a:buNone/>
            </a:pPr>
            <a:r>
              <a:rPr lang="en-US" sz="900" dirty="0" err="1">
                <a:solidFill>
                  <a:srgbClr val="0A2342"/>
                </a:solidFill>
                <a:latin typeface="Calibri"/>
                <a:ea typeface="Calibri"/>
                <a:cs typeface="Calibri"/>
              </a:rPr>
              <a:t>C'est</a:t>
            </a:r>
            <a:r>
              <a:rPr lang="en-US" sz="900" dirty="0">
                <a:solidFill>
                  <a:srgbClr val="0A2342"/>
                </a:solidFill>
                <a:latin typeface="Calibri"/>
                <a:ea typeface="Calibri"/>
                <a:cs typeface="Calibri"/>
              </a:rPr>
              <a:t> le levier n°1. </a:t>
            </a:r>
            <a:r>
              <a:rPr lang="en-US" sz="900" dirty="0" err="1">
                <a:solidFill>
                  <a:srgbClr val="0A2342"/>
                </a:solidFill>
                <a:latin typeface="Calibri"/>
                <a:ea typeface="Calibri"/>
                <a:cs typeface="Calibri"/>
              </a:rPr>
              <a:t>Mettre</a:t>
            </a:r>
            <a:r>
              <a:rPr lang="en-US" sz="900" dirty="0">
                <a:solidFill>
                  <a:srgbClr val="0A2342"/>
                </a:solidFill>
                <a:latin typeface="Calibri"/>
                <a:ea typeface="Calibri"/>
                <a:cs typeface="Calibri"/>
              </a:rPr>
              <a:t> </a:t>
            </a:r>
            <a:r>
              <a:rPr lang="en-US" sz="900" dirty="0" err="1">
                <a:solidFill>
                  <a:srgbClr val="0A2342"/>
                </a:solidFill>
                <a:latin typeface="Calibri"/>
                <a:ea typeface="Calibri"/>
                <a:cs typeface="Calibri"/>
              </a:rPr>
              <a:t>en</a:t>
            </a:r>
            <a:r>
              <a:rPr lang="en-US" sz="900" dirty="0">
                <a:solidFill>
                  <a:srgbClr val="0A2342"/>
                </a:solidFill>
                <a:latin typeface="Calibri"/>
                <a:ea typeface="Calibri"/>
                <a:cs typeface="Calibri"/>
              </a:rPr>
              <a:t> place des liens </a:t>
            </a:r>
            <a:r>
              <a:rPr lang="en-US" sz="900" dirty="0" err="1">
                <a:solidFill>
                  <a:srgbClr val="0A2342"/>
                </a:solidFill>
                <a:latin typeface="Calibri"/>
                <a:ea typeface="Calibri"/>
                <a:cs typeface="Calibri"/>
              </a:rPr>
              <a:t>recommandés</a:t>
            </a:r>
            <a:r>
              <a:rPr lang="en-US" sz="900" dirty="0">
                <a:solidFill>
                  <a:srgbClr val="0A2342"/>
                </a:solidFill>
                <a:latin typeface="Calibri"/>
                <a:ea typeface="Calibri"/>
                <a:cs typeface="Calibri"/>
              </a:rPr>
              <a:t>, </a:t>
            </a:r>
            <a:r>
              <a:rPr lang="en-US" sz="900" dirty="0" err="1">
                <a:solidFill>
                  <a:srgbClr val="0A2342"/>
                </a:solidFill>
                <a:latin typeface="Calibri"/>
                <a:ea typeface="Calibri"/>
                <a:cs typeface="Calibri"/>
              </a:rPr>
              <a:t>une</a:t>
            </a:r>
            <a:r>
              <a:rPr lang="en-US" sz="900" dirty="0">
                <a:solidFill>
                  <a:srgbClr val="0A2342"/>
                </a:solidFill>
                <a:latin typeface="Calibri"/>
                <a:ea typeface="Calibri"/>
                <a:cs typeface="Calibri"/>
              </a:rPr>
              <a:t> sidebar </a:t>
            </a:r>
            <a:r>
              <a:rPr lang="en-US" sz="900" dirty="0" err="1">
                <a:solidFill>
                  <a:srgbClr val="0A2342"/>
                </a:solidFill>
                <a:latin typeface="Calibri"/>
                <a:ea typeface="Calibri"/>
                <a:cs typeface="Calibri"/>
              </a:rPr>
              <a:t>d'articles</a:t>
            </a:r>
            <a:r>
              <a:rPr lang="en-US" sz="900" dirty="0">
                <a:solidFill>
                  <a:srgbClr val="0A2342"/>
                </a:solidFill>
                <a:latin typeface="Calibri"/>
                <a:ea typeface="Calibri"/>
                <a:cs typeface="Calibri"/>
              </a:rPr>
              <a:t> </a:t>
            </a:r>
            <a:r>
              <a:rPr lang="en-US" sz="900" dirty="0" err="1">
                <a:solidFill>
                  <a:srgbClr val="0A2342"/>
                </a:solidFill>
                <a:latin typeface="Calibri"/>
                <a:ea typeface="Calibri"/>
                <a:cs typeface="Calibri"/>
              </a:rPr>
              <a:t>récents</a:t>
            </a:r>
            <a:r>
              <a:rPr lang="en-US" sz="900" dirty="0">
                <a:solidFill>
                  <a:srgbClr val="0A2342"/>
                </a:solidFill>
                <a:latin typeface="Calibri"/>
                <a:ea typeface="Calibri"/>
                <a:cs typeface="Calibri"/>
              </a:rPr>
              <a:t> et des aperçus de </a:t>
            </a:r>
            <a:r>
              <a:rPr lang="en-US" sz="900" dirty="0" err="1">
                <a:solidFill>
                  <a:srgbClr val="0A2342"/>
                </a:solidFill>
                <a:latin typeface="Calibri"/>
                <a:ea typeface="Calibri"/>
                <a:cs typeface="Calibri"/>
              </a:rPr>
              <a:t>numéros</a:t>
            </a:r>
            <a:r>
              <a:rPr lang="en-US" sz="900" dirty="0">
                <a:solidFill>
                  <a:srgbClr val="0A2342"/>
                </a:solidFill>
                <a:latin typeface="Calibri"/>
                <a:ea typeface="Calibri"/>
                <a:cs typeface="Calibri"/>
              </a:rPr>
              <a:t> </a:t>
            </a:r>
            <a:r>
              <a:rPr lang="en-US" sz="900" dirty="0" err="1">
                <a:solidFill>
                  <a:srgbClr val="0A2342"/>
                </a:solidFill>
                <a:latin typeface="Calibri"/>
                <a:ea typeface="Calibri"/>
                <a:cs typeface="Calibri"/>
              </a:rPr>
              <a:t>précédents</a:t>
            </a:r>
            <a:r>
              <a:rPr lang="en-US" sz="900" dirty="0">
                <a:solidFill>
                  <a:srgbClr val="0A2342"/>
                </a:solidFill>
                <a:latin typeface="Calibri"/>
                <a:ea typeface="Calibri"/>
                <a:cs typeface="Calibri"/>
              </a:rPr>
              <a:t> pour inciter les </a:t>
            </a:r>
            <a:r>
              <a:rPr lang="en-US" sz="900" dirty="0" err="1">
                <a:solidFill>
                  <a:srgbClr val="0A2342"/>
                </a:solidFill>
                <a:latin typeface="Calibri"/>
                <a:ea typeface="Calibri"/>
                <a:cs typeface="Calibri"/>
              </a:rPr>
              <a:t>visiteurs</a:t>
            </a:r>
            <a:r>
              <a:rPr lang="en-US" sz="900" dirty="0">
                <a:solidFill>
                  <a:srgbClr val="0A2342"/>
                </a:solidFill>
                <a:latin typeface="Calibri"/>
                <a:ea typeface="Calibri"/>
                <a:cs typeface="Calibri"/>
              </a:rPr>
              <a:t> à explorer </a:t>
            </a:r>
            <a:r>
              <a:rPr lang="en-US" sz="900" dirty="0" err="1">
                <a:solidFill>
                  <a:srgbClr val="0A2342"/>
                </a:solidFill>
                <a:latin typeface="Calibri"/>
                <a:ea typeface="Calibri"/>
                <a:cs typeface="Calibri"/>
              </a:rPr>
              <a:t>d'avantage</a:t>
            </a:r>
            <a:r>
              <a:rPr lang="en-US" sz="900" dirty="0">
                <a:solidFill>
                  <a:srgbClr val="0A2342"/>
                </a:solidFill>
                <a:latin typeface="Calibri"/>
                <a:ea typeface="Calibri"/>
                <a:cs typeface="Calibri"/>
              </a:rPr>
              <a:t> de </a:t>
            </a:r>
            <a:r>
              <a:rPr lang="en-US" sz="900" dirty="0" err="1">
                <a:solidFill>
                  <a:srgbClr val="0A2342"/>
                </a:solidFill>
                <a:latin typeface="Calibri"/>
                <a:ea typeface="Calibri"/>
                <a:cs typeface="Calibri"/>
              </a:rPr>
              <a:t>contenu</a:t>
            </a:r>
            <a:r>
              <a:rPr lang="en-US" sz="900" dirty="0">
                <a:solidFill>
                  <a:srgbClr val="0A2342"/>
                </a:solidFill>
                <a:latin typeface="Calibri"/>
                <a:ea typeface="Calibri"/>
                <a:cs typeface="Calibri"/>
              </a:rPr>
              <a:t>.</a:t>
            </a:r>
            <a:endParaRPr lang="en-US" sz="900" dirty="0">
              <a:latin typeface="Calibri"/>
              <a:ea typeface="Calibri"/>
              <a:cs typeface="Calibri"/>
            </a:endParaRPr>
          </a:p>
        </p:txBody>
      </p:sp>
      <p:sp>
        <p:nvSpPr>
          <p:cNvPr id="10" name="Text 8"/>
          <p:cNvSpPr/>
          <p:nvPr/>
        </p:nvSpPr>
        <p:spPr>
          <a:xfrm>
            <a:off x="822960" y="2560320"/>
            <a:ext cx="3611880" cy="201168"/>
          </a:xfrm>
          <a:prstGeom prst="rect">
            <a:avLst/>
          </a:prstGeom>
          <a:noFill/>
          <a:ln/>
        </p:spPr>
        <p:txBody>
          <a:bodyPr wrap="square" lIns="0" tIns="0" rIns="0" bIns="0" rtlCol="0" anchor="ctr"/>
          <a:lstStyle/>
          <a:p>
            <a:pPr marL="0" indent="0">
              <a:buNone/>
            </a:pPr>
            <a:r>
              <a:rPr lang="en-US" sz="850" b="1" i="1" dirty="0">
                <a:solidFill>
                  <a:srgbClr val="ED7D31"/>
                </a:solidFill>
                <a:latin typeface="Calibri" pitchFamily="34" charset="0"/>
                <a:ea typeface="Calibri" pitchFamily="34" charset="-122"/>
                <a:cs typeface="Calibri" pitchFamily="34" charset="-120"/>
              </a:rPr>
              <a:t>Impact potentiel : très élevé</a:t>
            </a:r>
            <a:endParaRPr lang="en-US" sz="850" dirty="0"/>
          </a:p>
        </p:txBody>
      </p:sp>
      <p:sp>
        <p:nvSpPr>
          <p:cNvPr id="11" name="Shape 9"/>
          <p:cNvSpPr/>
          <p:nvPr/>
        </p:nvSpPr>
        <p:spPr>
          <a:xfrm>
            <a:off x="4800600" y="822960"/>
            <a:ext cx="4160520" cy="201168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2" name="Shape 10"/>
          <p:cNvSpPr/>
          <p:nvPr/>
        </p:nvSpPr>
        <p:spPr>
          <a:xfrm>
            <a:off x="4800600" y="822960"/>
            <a:ext cx="384048" cy="2011680"/>
          </a:xfrm>
          <a:prstGeom prst="rect">
            <a:avLst/>
          </a:prstGeom>
          <a:solidFill>
            <a:srgbClr val="ED7D31"/>
          </a:solidFill>
          <a:ln w="12700">
            <a:solidFill>
              <a:srgbClr val="ED7D31"/>
            </a:solidFill>
            <a:prstDash val="solid"/>
          </a:ln>
        </p:spPr>
      </p:sp>
      <p:sp>
        <p:nvSpPr>
          <p:cNvPr id="13" name="Text 11"/>
          <p:cNvSpPr/>
          <p:nvPr/>
        </p:nvSpPr>
        <p:spPr>
          <a:xfrm>
            <a:off x="4800600" y="822960"/>
            <a:ext cx="384048"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5257800" y="896112"/>
            <a:ext cx="1371600" cy="201168"/>
          </a:xfrm>
          <a:prstGeom prst="rect">
            <a:avLst/>
          </a:prstGeom>
          <a:noFill/>
          <a:ln/>
        </p:spPr>
        <p:txBody>
          <a:bodyPr wrap="square" lIns="0" tIns="0" rIns="0" bIns="0" rtlCol="0" anchor="ctr"/>
          <a:lstStyle/>
          <a:p>
            <a:pPr marL="0" indent="0">
              <a:buNone/>
            </a:pPr>
            <a:r>
              <a:rPr lang="en-US" sz="750" b="1" dirty="0">
                <a:solidFill>
                  <a:srgbClr val="ED7D31"/>
                </a:solidFill>
                <a:latin typeface="Calibri" pitchFamily="34" charset="0"/>
                <a:ea typeface="Calibri" pitchFamily="34" charset="-122"/>
                <a:cs typeface="Calibri" pitchFamily="34" charset="-120"/>
              </a:rPr>
              <a:t>PRIORITÉ HAUTE</a:t>
            </a:r>
            <a:endParaRPr lang="en-US" sz="750" dirty="0"/>
          </a:p>
        </p:txBody>
      </p:sp>
      <p:sp>
        <p:nvSpPr>
          <p:cNvPr id="15" name="Text 13"/>
          <p:cNvSpPr/>
          <p:nvPr/>
        </p:nvSpPr>
        <p:spPr>
          <a:xfrm>
            <a:off x="5257800" y="1097280"/>
            <a:ext cx="3611880" cy="32004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Cibler les utilisateurs existants</a:t>
            </a:r>
            <a:endParaRPr lang="en-US" sz="1100" dirty="0"/>
          </a:p>
        </p:txBody>
      </p:sp>
      <p:sp>
        <p:nvSpPr>
          <p:cNvPr id="16" name="Text 14"/>
          <p:cNvSpPr/>
          <p:nvPr/>
        </p:nvSpPr>
        <p:spPr>
          <a:xfrm>
            <a:off x="5257800" y="1417320"/>
            <a:ext cx="3611880" cy="1051560"/>
          </a:xfrm>
          <a:prstGeom prst="rect">
            <a:avLst/>
          </a:prstGeom>
          <a:noFill/>
          <a:ln/>
        </p:spPr>
        <p:txBody>
          <a:bodyPr wrap="square" lIns="91440" tIns="45720" rIns="91440" bIns="45720" rtlCol="0" anchor="t"/>
          <a:lstStyle/>
          <a:p>
            <a:r>
              <a:rPr lang="en-US" sz="900" dirty="0">
                <a:solidFill>
                  <a:srgbClr val="0A2342"/>
                </a:solidFill>
                <a:latin typeface="Calibri"/>
                <a:ea typeface="Calibri"/>
                <a:cs typeface="Calibri"/>
              </a:rPr>
              <a:t>Les </a:t>
            </a:r>
            <a:r>
              <a:rPr lang="en-US" sz="900" dirty="0" err="1">
                <a:solidFill>
                  <a:srgbClr val="0A2342"/>
                </a:solidFill>
                <a:latin typeface="Calibri"/>
                <a:ea typeface="Calibri"/>
                <a:cs typeface="Calibri"/>
              </a:rPr>
              <a:t>visiteurs</a:t>
            </a:r>
            <a:r>
              <a:rPr lang="en-US" sz="900" dirty="0">
                <a:solidFill>
                  <a:srgbClr val="0A2342"/>
                </a:solidFill>
                <a:latin typeface="Calibri"/>
                <a:ea typeface="Calibri"/>
                <a:cs typeface="Calibri"/>
              </a:rPr>
              <a:t> </a:t>
            </a:r>
            <a:r>
              <a:rPr lang="en-US" sz="900" dirty="0" err="1">
                <a:solidFill>
                  <a:srgbClr val="0A2342"/>
                </a:solidFill>
                <a:latin typeface="Calibri"/>
                <a:ea typeface="Calibri"/>
                <a:cs typeface="Calibri"/>
              </a:rPr>
              <a:t>anciens</a:t>
            </a:r>
            <a:r>
              <a:rPr lang="en-US" sz="900" dirty="0">
                <a:solidFill>
                  <a:srgbClr val="0A2342"/>
                </a:solidFill>
                <a:latin typeface="Calibri"/>
                <a:ea typeface="Calibri"/>
                <a:cs typeface="Calibri"/>
              </a:rPr>
              <a:t>  </a:t>
            </a:r>
            <a:r>
              <a:rPr lang="en-US" sz="900" dirty="0" err="1">
                <a:solidFill>
                  <a:srgbClr val="0A2342"/>
                </a:solidFill>
                <a:latin typeface="Calibri"/>
                <a:ea typeface="Calibri"/>
                <a:cs typeface="Calibri"/>
              </a:rPr>
              <a:t>convertissent</a:t>
            </a:r>
            <a:r>
              <a:rPr lang="en-US" sz="900" dirty="0">
                <a:solidFill>
                  <a:srgbClr val="0A2342"/>
                </a:solidFill>
                <a:latin typeface="Calibri"/>
                <a:ea typeface="Calibri"/>
                <a:cs typeface="Calibri"/>
              </a:rPr>
              <a:t> 5x plus. </a:t>
            </a:r>
            <a:r>
              <a:rPr lang="en-US" sz="900" dirty="0" err="1">
                <a:solidFill>
                  <a:srgbClr val="0A2342"/>
                </a:solidFill>
                <a:latin typeface="Calibri"/>
                <a:ea typeface="Calibri"/>
                <a:cs typeface="Calibri"/>
              </a:rPr>
              <a:t>Mettre</a:t>
            </a:r>
            <a:r>
              <a:rPr lang="en-US" sz="900" dirty="0">
                <a:solidFill>
                  <a:srgbClr val="0A2342"/>
                </a:solidFill>
                <a:latin typeface="Calibri"/>
                <a:ea typeface="Calibri"/>
                <a:cs typeface="Calibri"/>
              </a:rPr>
              <a:t> </a:t>
            </a:r>
            <a:r>
              <a:rPr lang="en-US" sz="900" dirty="0" err="1">
                <a:solidFill>
                  <a:srgbClr val="0A2342"/>
                </a:solidFill>
                <a:latin typeface="Calibri"/>
                <a:ea typeface="Calibri"/>
                <a:cs typeface="Calibri"/>
              </a:rPr>
              <a:t>en</a:t>
            </a:r>
            <a:r>
              <a:rPr lang="en-US" sz="900" dirty="0">
                <a:solidFill>
                  <a:srgbClr val="0A2342"/>
                </a:solidFill>
                <a:latin typeface="Calibri"/>
                <a:ea typeface="Calibri"/>
                <a:cs typeface="Calibri"/>
              </a:rPr>
              <a:t> place du retargeting pour inciter les </a:t>
            </a:r>
            <a:r>
              <a:rPr lang="en-US" sz="900" dirty="0" err="1">
                <a:solidFill>
                  <a:srgbClr val="0A2342"/>
                </a:solidFill>
                <a:latin typeface="Calibri"/>
                <a:ea typeface="Calibri"/>
                <a:cs typeface="Calibri"/>
              </a:rPr>
              <a:t>visiteurs</a:t>
            </a:r>
            <a:r>
              <a:rPr lang="en-US" sz="900" dirty="0">
                <a:solidFill>
                  <a:srgbClr val="0A2342"/>
                </a:solidFill>
                <a:latin typeface="Calibri"/>
                <a:ea typeface="Calibri"/>
                <a:cs typeface="Calibri"/>
              </a:rPr>
              <a:t> à </a:t>
            </a:r>
            <a:r>
              <a:rPr lang="en-US" sz="900" dirty="0" err="1">
                <a:solidFill>
                  <a:srgbClr val="0A2342"/>
                </a:solidFill>
                <a:latin typeface="Calibri"/>
                <a:ea typeface="Calibri"/>
                <a:cs typeface="Calibri"/>
              </a:rPr>
              <a:t>revenir</a:t>
            </a:r>
            <a:r>
              <a:rPr lang="en-US" sz="900" dirty="0">
                <a:solidFill>
                  <a:srgbClr val="0A2342"/>
                </a:solidFill>
                <a:latin typeface="Calibri"/>
                <a:ea typeface="Calibri"/>
                <a:cs typeface="Calibri"/>
              </a:rPr>
              <a:t> sur le site. Un </a:t>
            </a:r>
            <a:r>
              <a:rPr lang="en-US" sz="900" dirty="0" err="1">
                <a:solidFill>
                  <a:srgbClr val="0A2342"/>
                </a:solidFill>
                <a:latin typeface="Calibri"/>
                <a:ea typeface="Calibri"/>
                <a:cs typeface="Calibri"/>
              </a:rPr>
              <a:t>visiteur</a:t>
            </a:r>
            <a:r>
              <a:rPr lang="en-US" sz="900" dirty="0">
                <a:solidFill>
                  <a:srgbClr val="0A2342"/>
                </a:solidFill>
                <a:latin typeface="Calibri"/>
                <a:ea typeface="Calibri"/>
                <a:cs typeface="Calibri"/>
              </a:rPr>
              <a:t> qui </a:t>
            </a:r>
            <a:r>
              <a:rPr lang="en-US" sz="900" dirty="0" err="1">
                <a:solidFill>
                  <a:srgbClr val="0A2342"/>
                </a:solidFill>
                <a:latin typeface="Calibri"/>
                <a:ea typeface="Calibri"/>
                <a:cs typeface="Calibri"/>
              </a:rPr>
              <a:t>revient</a:t>
            </a:r>
            <a:r>
              <a:rPr lang="en-US" sz="900" dirty="0">
                <a:solidFill>
                  <a:srgbClr val="0A2342"/>
                </a:solidFill>
                <a:latin typeface="Calibri"/>
                <a:ea typeface="Calibri"/>
                <a:cs typeface="Calibri"/>
              </a:rPr>
              <a:t> est un </a:t>
            </a:r>
            <a:r>
              <a:rPr lang="en-US" sz="900" dirty="0" err="1">
                <a:solidFill>
                  <a:srgbClr val="0A2342"/>
                </a:solidFill>
                <a:latin typeface="Calibri"/>
                <a:ea typeface="Calibri"/>
                <a:cs typeface="Calibri"/>
              </a:rPr>
              <a:t>futur</a:t>
            </a:r>
            <a:r>
              <a:rPr lang="en-US" sz="900" dirty="0">
                <a:solidFill>
                  <a:srgbClr val="0A2342"/>
                </a:solidFill>
                <a:latin typeface="Calibri"/>
                <a:ea typeface="Calibri"/>
                <a:cs typeface="Calibri"/>
              </a:rPr>
              <a:t> </a:t>
            </a:r>
            <a:r>
              <a:rPr lang="en-US" sz="900" dirty="0" err="1">
                <a:solidFill>
                  <a:srgbClr val="0A2342"/>
                </a:solidFill>
                <a:latin typeface="Calibri"/>
                <a:ea typeface="Calibri"/>
                <a:cs typeface="Calibri"/>
              </a:rPr>
              <a:t>abonné</a:t>
            </a:r>
            <a:r>
              <a:rPr lang="en-US" sz="900" dirty="0">
                <a:solidFill>
                  <a:srgbClr val="0A2342"/>
                </a:solidFill>
                <a:latin typeface="Calibri"/>
                <a:ea typeface="Calibri"/>
                <a:cs typeface="Calibri"/>
              </a:rPr>
              <a:t>.</a:t>
            </a:r>
            <a:endParaRPr lang="en-US" sz="900" dirty="0">
              <a:latin typeface="Calibri"/>
              <a:ea typeface="Calibri"/>
              <a:cs typeface="Calibri"/>
            </a:endParaRPr>
          </a:p>
        </p:txBody>
      </p:sp>
      <p:sp>
        <p:nvSpPr>
          <p:cNvPr id="17" name="Text 15"/>
          <p:cNvSpPr/>
          <p:nvPr/>
        </p:nvSpPr>
        <p:spPr>
          <a:xfrm>
            <a:off x="5257800" y="2560320"/>
            <a:ext cx="3611880" cy="201168"/>
          </a:xfrm>
          <a:prstGeom prst="rect">
            <a:avLst/>
          </a:prstGeom>
          <a:noFill/>
          <a:ln/>
        </p:spPr>
        <p:txBody>
          <a:bodyPr wrap="square" lIns="0" tIns="0" rIns="0" bIns="0" rtlCol="0" anchor="ctr"/>
          <a:lstStyle/>
          <a:p>
            <a:pPr marL="0" indent="0">
              <a:buNone/>
            </a:pPr>
            <a:r>
              <a:rPr lang="en-US" sz="850" b="1" i="1" dirty="0">
                <a:solidFill>
                  <a:srgbClr val="ED7D31"/>
                </a:solidFill>
                <a:latin typeface="Calibri" pitchFamily="34" charset="0"/>
                <a:ea typeface="Calibri" pitchFamily="34" charset="-122"/>
                <a:cs typeface="Calibri" pitchFamily="34" charset="-120"/>
              </a:rPr>
              <a:t>Impact potentiel : élevé</a:t>
            </a:r>
            <a:endParaRPr lang="en-US" sz="850" dirty="0"/>
          </a:p>
        </p:txBody>
      </p:sp>
      <p:sp>
        <p:nvSpPr>
          <p:cNvPr id="18" name="Shape 16"/>
          <p:cNvSpPr/>
          <p:nvPr/>
        </p:nvSpPr>
        <p:spPr>
          <a:xfrm>
            <a:off x="365760" y="3017520"/>
            <a:ext cx="4160520" cy="201168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9" name="Shape 17"/>
          <p:cNvSpPr/>
          <p:nvPr/>
        </p:nvSpPr>
        <p:spPr>
          <a:xfrm>
            <a:off x="365760" y="3017520"/>
            <a:ext cx="384048" cy="2011680"/>
          </a:xfrm>
          <a:prstGeom prst="rect">
            <a:avLst/>
          </a:prstGeom>
          <a:solidFill>
            <a:srgbClr val="1A6B8A"/>
          </a:solidFill>
          <a:ln w="12700">
            <a:solidFill>
              <a:srgbClr val="1A6B8A"/>
            </a:solidFill>
            <a:prstDash val="solid"/>
          </a:ln>
        </p:spPr>
      </p:sp>
      <p:sp>
        <p:nvSpPr>
          <p:cNvPr id="20" name="Text 18"/>
          <p:cNvSpPr/>
          <p:nvPr/>
        </p:nvSpPr>
        <p:spPr>
          <a:xfrm>
            <a:off x="365760" y="3017520"/>
            <a:ext cx="384048"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9"/>
          <p:cNvSpPr/>
          <p:nvPr/>
        </p:nvSpPr>
        <p:spPr>
          <a:xfrm>
            <a:off x="822960" y="3090672"/>
            <a:ext cx="1371600" cy="201168"/>
          </a:xfrm>
          <a:prstGeom prst="rect">
            <a:avLst/>
          </a:prstGeom>
          <a:noFill/>
          <a:ln/>
        </p:spPr>
        <p:txBody>
          <a:bodyPr wrap="square" lIns="0" tIns="0" rIns="0" bIns="0" rtlCol="0" anchor="ctr"/>
          <a:lstStyle/>
          <a:p>
            <a:pPr marL="0" indent="0">
              <a:buNone/>
            </a:pPr>
            <a:r>
              <a:rPr lang="en-US" sz="750" b="1" dirty="0">
                <a:solidFill>
                  <a:srgbClr val="1A6B8A"/>
                </a:solidFill>
                <a:latin typeface="Calibri" pitchFamily="34" charset="0"/>
                <a:ea typeface="Calibri" pitchFamily="34" charset="-122"/>
                <a:cs typeface="Calibri" pitchFamily="34" charset="-120"/>
              </a:rPr>
              <a:t>PRIORITÉ MOYENNE</a:t>
            </a:r>
            <a:endParaRPr lang="en-US" sz="750" dirty="0"/>
          </a:p>
        </p:txBody>
      </p:sp>
      <p:sp>
        <p:nvSpPr>
          <p:cNvPr id="22" name="Text 20"/>
          <p:cNvSpPr/>
          <p:nvPr/>
        </p:nvSpPr>
        <p:spPr>
          <a:xfrm>
            <a:off x="822960" y="3291840"/>
            <a:ext cx="3611880" cy="32004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Cibler la tranche 18-25 ans</a:t>
            </a:r>
            <a:endParaRPr lang="en-US" sz="1100" dirty="0"/>
          </a:p>
        </p:txBody>
      </p:sp>
      <p:sp>
        <p:nvSpPr>
          <p:cNvPr id="23" name="Text 21"/>
          <p:cNvSpPr/>
          <p:nvPr/>
        </p:nvSpPr>
        <p:spPr>
          <a:xfrm>
            <a:off x="822960" y="3611880"/>
            <a:ext cx="3611880" cy="1051560"/>
          </a:xfrm>
          <a:prstGeom prst="rect">
            <a:avLst/>
          </a:prstGeom>
          <a:noFill/>
          <a:ln/>
        </p:spPr>
        <p:txBody>
          <a:bodyPr wrap="square" rtlCol="0" anchor="t"/>
          <a:lstStyle/>
          <a:p>
            <a:pPr marL="0" indent="0">
              <a:buNone/>
            </a:pPr>
            <a:r>
              <a:rPr lang="en-US" sz="900" dirty="0">
                <a:solidFill>
                  <a:srgbClr val="0A2342"/>
                </a:solidFill>
                <a:latin typeface="Calibri" pitchFamily="34" charset="0"/>
                <a:ea typeface="Calibri" pitchFamily="34" charset="-122"/>
                <a:cs typeface="Calibri" pitchFamily="34" charset="-120"/>
              </a:rPr>
              <a:t>Les jeunes professionnels (étudiants, bootcamps data) représentent le segment qui convertit le mieux par tranche d'âge (5,1%). Orienter les campagnes vers LinkedIn et les formations data.</a:t>
            </a:r>
            <a:endParaRPr lang="en-US" sz="900" dirty="0"/>
          </a:p>
        </p:txBody>
      </p:sp>
      <p:sp>
        <p:nvSpPr>
          <p:cNvPr id="24" name="Text 22"/>
          <p:cNvSpPr/>
          <p:nvPr/>
        </p:nvSpPr>
        <p:spPr>
          <a:xfrm>
            <a:off x="822960" y="4754880"/>
            <a:ext cx="3611880" cy="201168"/>
          </a:xfrm>
          <a:prstGeom prst="rect">
            <a:avLst/>
          </a:prstGeom>
          <a:noFill/>
          <a:ln/>
        </p:spPr>
        <p:txBody>
          <a:bodyPr wrap="square" lIns="0" tIns="0" rIns="0" bIns="0" rtlCol="0" anchor="ctr"/>
          <a:lstStyle/>
          <a:p>
            <a:pPr marL="0" indent="0">
              <a:buNone/>
            </a:pPr>
            <a:r>
              <a:rPr lang="en-US" sz="850" b="1" i="1" dirty="0">
                <a:solidFill>
                  <a:srgbClr val="1A6B8A"/>
                </a:solidFill>
                <a:latin typeface="Calibri" pitchFamily="34" charset="0"/>
                <a:ea typeface="Calibri" pitchFamily="34" charset="-122"/>
                <a:cs typeface="Calibri" pitchFamily="34" charset="-120"/>
              </a:rPr>
              <a:t>Impact potentiel : modéré</a:t>
            </a:r>
            <a:endParaRPr lang="en-US" sz="850" dirty="0"/>
          </a:p>
        </p:txBody>
      </p:sp>
      <p:sp>
        <p:nvSpPr>
          <p:cNvPr id="25" name="Shape 23"/>
          <p:cNvSpPr/>
          <p:nvPr/>
        </p:nvSpPr>
        <p:spPr>
          <a:xfrm>
            <a:off x="4800600" y="3017520"/>
            <a:ext cx="4160520" cy="201168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6" name="Shape 24"/>
          <p:cNvSpPr/>
          <p:nvPr/>
        </p:nvSpPr>
        <p:spPr>
          <a:xfrm>
            <a:off x="4800600" y="3017520"/>
            <a:ext cx="384048" cy="2011680"/>
          </a:xfrm>
          <a:prstGeom prst="rect">
            <a:avLst/>
          </a:prstGeom>
          <a:solidFill>
            <a:srgbClr val="64748B"/>
          </a:solidFill>
          <a:ln w="12700">
            <a:solidFill>
              <a:srgbClr val="64748B"/>
            </a:solidFill>
            <a:prstDash val="solid"/>
          </a:ln>
        </p:spPr>
      </p:sp>
      <p:sp>
        <p:nvSpPr>
          <p:cNvPr id="27" name="Text 25"/>
          <p:cNvSpPr/>
          <p:nvPr/>
        </p:nvSpPr>
        <p:spPr>
          <a:xfrm>
            <a:off x="4800600" y="3017520"/>
            <a:ext cx="384048"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Text 26"/>
          <p:cNvSpPr/>
          <p:nvPr/>
        </p:nvSpPr>
        <p:spPr>
          <a:xfrm>
            <a:off x="5257800" y="3090672"/>
            <a:ext cx="1371600" cy="201168"/>
          </a:xfrm>
          <a:prstGeom prst="rect">
            <a:avLst/>
          </a:prstGeom>
          <a:noFill/>
          <a:ln/>
        </p:spPr>
        <p:txBody>
          <a:bodyPr wrap="square" lIns="0" tIns="0" rIns="0" bIns="0" rtlCol="0" anchor="ctr"/>
          <a:lstStyle/>
          <a:p>
            <a:pPr marL="0" indent="0">
              <a:buNone/>
            </a:pPr>
            <a:r>
              <a:rPr lang="en-US" sz="750" b="1" dirty="0">
                <a:solidFill>
                  <a:srgbClr val="64748B"/>
                </a:solidFill>
                <a:latin typeface="Calibri" pitchFamily="34" charset="0"/>
                <a:ea typeface="Calibri" pitchFamily="34" charset="-122"/>
                <a:cs typeface="Calibri" pitchFamily="34" charset="-120"/>
              </a:rPr>
              <a:t>PRIORITÉ BASSE</a:t>
            </a:r>
            <a:endParaRPr lang="en-US" sz="750" dirty="0"/>
          </a:p>
        </p:txBody>
      </p:sp>
      <p:sp>
        <p:nvSpPr>
          <p:cNvPr id="29" name="Text 27"/>
          <p:cNvSpPr/>
          <p:nvPr/>
        </p:nvSpPr>
        <p:spPr>
          <a:xfrm>
            <a:off x="5257800" y="3291840"/>
            <a:ext cx="3611880" cy="32004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Investiguer le cas Chine</a:t>
            </a:r>
            <a:endParaRPr lang="en-US" sz="1100" dirty="0"/>
          </a:p>
        </p:txBody>
      </p:sp>
      <p:sp>
        <p:nvSpPr>
          <p:cNvPr id="30" name="Text 28"/>
          <p:cNvSpPr/>
          <p:nvPr/>
        </p:nvSpPr>
        <p:spPr>
          <a:xfrm>
            <a:off x="5257800" y="3611880"/>
            <a:ext cx="3611880" cy="1051560"/>
          </a:xfrm>
          <a:prstGeom prst="rect">
            <a:avLst/>
          </a:prstGeom>
          <a:noFill/>
          <a:ln/>
        </p:spPr>
        <p:txBody>
          <a:bodyPr wrap="square" lIns="91440" tIns="45720" rIns="91440" bIns="45720" rtlCol="0" anchor="t"/>
          <a:lstStyle/>
          <a:p>
            <a:pPr marL="0" indent="0">
              <a:buNone/>
            </a:pPr>
            <a:r>
              <a:rPr lang="en-US" sz="900" dirty="0">
                <a:solidFill>
                  <a:srgbClr val="0A2342"/>
                </a:solidFill>
                <a:latin typeface="Calibri"/>
                <a:ea typeface="Calibri"/>
                <a:cs typeface="Calibri"/>
              </a:rPr>
              <a:t>Le </a:t>
            </a:r>
            <a:r>
              <a:rPr lang="en-US" sz="900" dirty="0" err="1">
                <a:solidFill>
                  <a:srgbClr val="0A2342"/>
                </a:solidFill>
                <a:latin typeface="Calibri"/>
                <a:ea typeface="Calibri"/>
                <a:cs typeface="Calibri"/>
              </a:rPr>
              <a:t>taux</a:t>
            </a:r>
            <a:r>
              <a:rPr lang="en-US" sz="900" dirty="0">
                <a:solidFill>
                  <a:srgbClr val="0A2342"/>
                </a:solidFill>
                <a:latin typeface="Calibri"/>
                <a:ea typeface="Calibri"/>
                <a:cs typeface="Calibri"/>
              </a:rPr>
              <a:t> de 0,1% </a:t>
            </a:r>
            <a:r>
              <a:rPr lang="en-US" sz="900" dirty="0" err="1">
                <a:solidFill>
                  <a:srgbClr val="0A2342"/>
                </a:solidFill>
                <a:latin typeface="Calibri"/>
                <a:ea typeface="Calibri"/>
                <a:cs typeface="Calibri"/>
              </a:rPr>
              <a:t>en</a:t>
            </a:r>
            <a:r>
              <a:rPr lang="en-US" sz="900" dirty="0">
                <a:solidFill>
                  <a:srgbClr val="0A2342"/>
                </a:solidFill>
                <a:latin typeface="Calibri"/>
                <a:ea typeface="Calibri"/>
                <a:cs typeface="Calibri"/>
              </a:rPr>
              <a:t> Chine </a:t>
            </a:r>
            <a:r>
              <a:rPr lang="en-US" sz="900" dirty="0" err="1">
                <a:solidFill>
                  <a:srgbClr val="0A2342"/>
                </a:solidFill>
                <a:latin typeface="Calibri"/>
                <a:ea typeface="Calibri"/>
                <a:cs typeface="Calibri"/>
              </a:rPr>
              <a:t>semble</a:t>
            </a:r>
            <a:r>
              <a:rPr lang="en-US" sz="900" dirty="0">
                <a:solidFill>
                  <a:srgbClr val="0A2342"/>
                </a:solidFill>
                <a:latin typeface="Calibri"/>
                <a:ea typeface="Calibri"/>
                <a:cs typeface="Calibri"/>
              </a:rPr>
              <a:t> </a:t>
            </a:r>
            <a:r>
              <a:rPr lang="en-US" sz="900" dirty="0" err="1">
                <a:solidFill>
                  <a:srgbClr val="0A2342"/>
                </a:solidFill>
                <a:latin typeface="Calibri"/>
                <a:ea typeface="Calibri"/>
                <a:cs typeface="Calibri"/>
              </a:rPr>
              <a:t>lié</a:t>
            </a:r>
            <a:r>
              <a:rPr lang="en-US" sz="900" dirty="0">
                <a:solidFill>
                  <a:srgbClr val="0A2342"/>
                </a:solidFill>
                <a:latin typeface="Calibri"/>
                <a:ea typeface="Calibri"/>
                <a:cs typeface="Calibri"/>
              </a:rPr>
              <a:t> à des </a:t>
            </a:r>
            <a:r>
              <a:rPr lang="en-US" sz="900" dirty="0" err="1">
                <a:solidFill>
                  <a:srgbClr val="0A2342"/>
                </a:solidFill>
                <a:latin typeface="Calibri"/>
                <a:ea typeface="Calibri"/>
                <a:cs typeface="Calibri"/>
              </a:rPr>
              <a:t>contraintes</a:t>
            </a:r>
            <a:r>
              <a:rPr lang="en-US" sz="900" dirty="0">
                <a:solidFill>
                  <a:srgbClr val="0A2342"/>
                </a:solidFill>
                <a:latin typeface="Calibri"/>
                <a:ea typeface="Calibri"/>
                <a:cs typeface="Calibri"/>
              </a:rPr>
              <a:t> techniques </a:t>
            </a:r>
            <a:r>
              <a:rPr lang="en-US" sz="900" dirty="0" err="1">
                <a:solidFill>
                  <a:srgbClr val="0A2342"/>
                </a:solidFill>
                <a:latin typeface="Calibri"/>
                <a:ea typeface="Calibri"/>
                <a:cs typeface="Calibri"/>
              </a:rPr>
              <a:t>ou</a:t>
            </a:r>
            <a:r>
              <a:rPr lang="en-US" sz="900" dirty="0">
                <a:solidFill>
                  <a:srgbClr val="0A2342"/>
                </a:solidFill>
                <a:latin typeface="Calibri"/>
                <a:ea typeface="Calibri"/>
                <a:cs typeface="Calibri"/>
              </a:rPr>
              <a:t> </a:t>
            </a:r>
            <a:r>
              <a:rPr lang="en-US" sz="900" dirty="0" err="1">
                <a:solidFill>
                  <a:srgbClr val="0A2342"/>
                </a:solidFill>
                <a:latin typeface="Calibri"/>
                <a:ea typeface="Calibri"/>
                <a:cs typeface="Calibri"/>
              </a:rPr>
              <a:t>réglementaires</a:t>
            </a:r>
            <a:r>
              <a:rPr lang="en-US" sz="900" dirty="0">
                <a:solidFill>
                  <a:srgbClr val="0A2342"/>
                </a:solidFill>
                <a:latin typeface="Calibri"/>
                <a:ea typeface="Calibri"/>
                <a:cs typeface="Calibri"/>
              </a:rPr>
              <a:t>.</a:t>
            </a:r>
          </a:p>
        </p:txBody>
      </p:sp>
      <p:sp>
        <p:nvSpPr>
          <p:cNvPr id="31" name="Text 29"/>
          <p:cNvSpPr/>
          <p:nvPr/>
        </p:nvSpPr>
        <p:spPr>
          <a:xfrm>
            <a:off x="5257800" y="4754880"/>
            <a:ext cx="3611880" cy="201168"/>
          </a:xfrm>
          <a:prstGeom prst="rect">
            <a:avLst/>
          </a:prstGeom>
          <a:noFill/>
          <a:ln/>
        </p:spPr>
        <p:txBody>
          <a:bodyPr wrap="square" lIns="0" tIns="0" rIns="0" bIns="0" rtlCol="0" anchor="ctr"/>
          <a:lstStyle/>
          <a:p>
            <a:pPr marL="0" indent="0">
              <a:buNone/>
            </a:pPr>
            <a:r>
              <a:rPr lang="en-US" sz="850" b="1" i="1" dirty="0">
                <a:solidFill>
                  <a:srgbClr val="64748B"/>
                </a:solidFill>
                <a:latin typeface="Calibri" pitchFamily="34" charset="0"/>
                <a:ea typeface="Calibri" pitchFamily="34" charset="-122"/>
                <a:cs typeface="Calibri" pitchFamily="34" charset="-120"/>
              </a:rPr>
              <a:t>À investiguer</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A6B8A"/>
          </a:solidFill>
          <a:ln w="12700">
            <a:solidFill>
              <a:srgbClr val="1A6B8A"/>
            </a:solidFill>
            <a:prstDash val="solid"/>
          </a:ln>
        </p:spPr>
      </p:sp>
      <p:sp>
        <p:nvSpPr>
          <p:cNvPr id="3" name="Shape 1"/>
          <p:cNvSpPr/>
          <p:nvPr/>
        </p:nvSpPr>
        <p:spPr>
          <a:xfrm>
            <a:off x="164592" y="0"/>
            <a:ext cx="64008" cy="5143500"/>
          </a:xfrm>
          <a:prstGeom prst="rect">
            <a:avLst/>
          </a:prstGeom>
          <a:solidFill>
            <a:srgbClr val="2AB5A0"/>
          </a:solidFill>
          <a:ln w="12700">
            <a:solidFill>
              <a:srgbClr val="2AB5A0"/>
            </a:solidFill>
            <a:prstDash val="solid"/>
          </a:ln>
        </p:spPr>
      </p:sp>
      <p:sp>
        <p:nvSpPr>
          <p:cNvPr id="5" name="Text 3"/>
          <p:cNvSpPr/>
          <p:nvPr/>
        </p:nvSpPr>
        <p:spPr>
          <a:xfrm>
            <a:off x="502920" y="457200"/>
            <a:ext cx="6400800" cy="64008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Conclusion</a:t>
            </a:r>
            <a:endParaRPr lang="en-US" sz="3200" dirty="0"/>
          </a:p>
        </p:txBody>
      </p:sp>
      <p:sp>
        <p:nvSpPr>
          <p:cNvPr id="6" name="Shape 4"/>
          <p:cNvSpPr/>
          <p:nvPr/>
        </p:nvSpPr>
        <p:spPr>
          <a:xfrm>
            <a:off x="502920" y="1261872"/>
            <a:ext cx="8046720" cy="594360"/>
          </a:xfrm>
          <a:prstGeom prst="rect">
            <a:avLst/>
          </a:prstGeom>
          <a:solidFill>
            <a:srgbClr val="FFFFFF">
              <a:alpha val="8000"/>
            </a:srgbClr>
          </a:solidFill>
          <a:ln w="6350">
            <a:solidFill>
              <a:srgbClr val="1A6B8A">
                <a:alpha val="40000"/>
              </a:srgbClr>
            </a:solidFill>
            <a:prstDash val="solid"/>
          </a:ln>
        </p:spPr>
      </p:sp>
      <p:sp>
        <p:nvSpPr>
          <p:cNvPr id="7" name="Text 5"/>
          <p:cNvSpPr/>
          <p:nvPr/>
        </p:nvSpPr>
        <p:spPr>
          <a:xfrm>
            <a:off x="594360" y="1261872"/>
            <a:ext cx="365760" cy="594360"/>
          </a:xfrm>
          <a:prstGeom prst="rect">
            <a:avLst/>
          </a:prstGeom>
          <a:noFill/>
          <a:ln/>
        </p:spPr>
        <p:txBody>
          <a:bodyPr wrap="square" lIns="0" tIns="0" rIns="0" bIns="0" rtlCol="0" anchor="ctr"/>
          <a:lstStyle/>
          <a:p>
            <a:pPr marL="0" indent="0" algn="ctr">
              <a:buNone/>
            </a:pPr>
            <a:r>
              <a:rPr lang="en-US" sz="1400" dirty="0">
                <a:solidFill>
                  <a:srgbClr val="2AB5A0"/>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005840" y="1261872"/>
            <a:ext cx="7406640" cy="594360"/>
          </a:xfrm>
          <a:prstGeom prst="rect">
            <a:avLst/>
          </a:prstGeom>
          <a:noFill/>
          <a:ln/>
        </p:spPr>
        <p:txBody>
          <a:bodyPr wrap="square" lIns="91440" tIns="45720" rIns="91440" bIns="45720" rtlCol="0" anchor="ctr"/>
          <a:lstStyle/>
          <a:p>
            <a:r>
              <a:rPr lang="en-US" sz="1200" dirty="0" err="1">
                <a:solidFill>
                  <a:srgbClr val="FFFFFF"/>
                </a:solidFill>
                <a:latin typeface="Calibri"/>
                <a:ea typeface="Calibri"/>
                <a:cs typeface="Calibri"/>
              </a:rPr>
              <a:t>XGBoost</a:t>
            </a:r>
            <a:r>
              <a:rPr lang="en-US" sz="1200" dirty="0">
                <a:solidFill>
                  <a:srgbClr val="FFFFFF"/>
                </a:solidFill>
                <a:latin typeface="Calibri"/>
                <a:ea typeface="Calibri"/>
                <a:cs typeface="Calibri"/>
              </a:rPr>
              <a:t> </a:t>
            </a:r>
            <a:r>
              <a:rPr lang="en-US" sz="1200" dirty="0" err="1">
                <a:solidFill>
                  <a:srgbClr val="FFFFFF"/>
                </a:solidFill>
                <a:latin typeface="Calibri"/>
                <a:ea typeface="Calibri"/>
                <a:cs typeface="Calibri"/>
              </a:rPr>
              <a:t>retenu</a:t>
            </a:r>
            <a:r>
              <a:rPr lang="en-US" sz="1200" dirty="0">
                <a:solidFill>
                  <a:srgbClr val="FFFFFF"/>
                </a:solidFill>
                <a:latin typeface="Calibri"/>
                <a:ea typeface="Calibri"/>
                <a:cs typeface="Calibri"/>
              </a:rPr>
              <a:t> : F1 = 76,5% — </a:t>
            </a:r>
            <a:r>
              <a:rPr lang="en-US" sz="1200" dirty="0" err="1">
                <a:solidFill>
                  <a:srgbClr val="FFFFFF"/>
                </a:solidFill>
                <a:latin typeface="Calibri"/>
                <a:ea typeface="Calibri"/>
                <a:cs typeface="Calibri"/>
              </a:rPr>
              <a:t>meilleur</a:t>
            </a:r>
            <a:r>
              <a:rPr lang="en-US" sz="1200" dirty="0">
                <a:solidFill>
                  <a:srgbClr val="FFFFFF"/>
                </a:solidFill>
                <a:latin typeface="Calibri"/>
                <a:ea typeface="Calibri"/>
                <a:cs typeface="Calibri"/>
              </a:rPr>
              <a:t> </a:t>
            </a:r>
            <a:r>
              <a:rPr lang="en-US" sz="1200" dirty="0" err="1">
                <a:solidFill>
                  <a:srgbClr val="FFFFFF"/>
                </a:solidFill>
                <a:latin typeface="Calibri"/>
                <a:ea typeface="Calibri"/>
                <a:cs typeface="Calibri"/>
              </a:rPr>
              <a:t>compromis</a:t>
            </a:r>
            <a:r>
              <a:rPr lang="en-US" sz="1200" dirty="0">
                <a:solidFill>
                  <a:srgbClr val="FFFFFF"/>
                </a:solidFill>
                <a:latin typeface="Calibri"/>
                <a:ea typeface="Calibri"/>
                <a:cs typeface="Calibri"/>
              </a:rPr>
              <a:t> </a:t>
            </a:r>
            <a:r>
              <a:rPr lang="en-US" sz="1200" dirty="0" err="1">
                <a:solidFill>
                  <a:srgbClr val="FFFFFF"/>
                </a:solidFill>
                <a:latin typeface="Calibri"/>
                <a:ea typeface="Calibri"/>
                <a:cs typeface="Calibri"/>
              </a:rPr>
              <a:t>parmi</a:t>
            </a:r>
            <a:r>
              <a:rPr lang="en-US" sz="1200" dirty="0">
                <a:solidFill>
                  <a:srgbClr val="FFFFFF"/>
                </a:solidFill>
                <a:latin typeface="Calibri"/>
                <a:ea typeface="Calibri"/>
                <a:cs typeface="Calibri"/>
              </a:rPr>
              <a:t> les trois </a:t>
            </a:r>
            <a:r>
              <a:rPr lang="en-US" sz="1200" dirty="0" err="1">
                <a:solidFill>
                  <a:srgbClr val="FFFFFF"/>
                </a:solidFill>
                <a:latin typeface="Calibri"/>
                <a:ea typeface="Calibri"/>
                <a:cs typeface="Calibri"/>
              </a:rPr>
              <a:t>modèles</a:t>
            </a:r>
            <a:r>
              <a:rPr lang="en-US" sz="1200" dirty="0">
                <a:solidFill>
                  <a:srgbClr val="FFFFFF"/>
                </a:solidFill>
                <a:latin typeface="Calibri"/>
                <a:ea typeface="Calibri"/>
                <a:cs typeface="Calibri"/>
              </a:rPr>
              <a:t>.</a:t>
            </a:r>
          </a:p>
        </p:txBody>
      </p:sp>
      <p:sp>
        <p:nvSpPr>
          <p:cNvPr id="9" name="Shape 7"/>
          <p:cNvSpPr/>
          <p:nvPr/>
        </p:nvSpPr>
        <p:spPr>
          <a:xfrm>
            <a:off x="502920" y="2011680"/>
            <a:ext cx="8046720" cy="594360"/>
          </a:xfrm>
          <a:prstGeom prst="rect">
            <a:avLst/>
          </a:prstGeom>
          <a:solidFill>
            <a:srgbClr val="FFFFFF">
              <a:alpha val="8000"/>
            </a:srgbClr>
          </a:solidFill>
          <a:ln w="6350">
            <a:solidFill>
              <a:srgbClr val="1A6B8A">
                <a:alpha val="40000"/>
              </a:srgbClr>
            </a:solidFill>
            <a:prstDash val="solid"/>
          </a:ln>
        </p:spPr>
      </p:sp>
      <p:sp>
        <p:nvSpPr>
          <p:cNvPr id="10" name="Text 8"/>
          <p:cNvSpPr/>
          <p:nvPr/>
        </p:nvSpPr>
        <p:spPr>
          <a:xfrm>
            <a:off x="594360" y="2011680"/>
            <a:ext cx="365760" cy="594360"/>
          </a:xfrm>
          <a:prstGeom prst="rect">
            <a:avLst/>
          </a:prstGeom>
          <a:noFill/>
          <a:ln/>
        </p:spPr>
        <p:txBody>
          <a:bodyPr wrap="square" lIns="0" tIns="0" rIns="0" bIns="0" rtlCol="0" anchor="ctr"/>
          <a:lstStyle/>
          <a:p>
            <a:pPr marL="0" indent="0" algn="ctr">
              <a:buNone/>
            </a:pPr>
            <a:r>
              <a:rPr lang="en-US" sz="1400" dirty="0">
                <a:solidFill>
                  <a:srgbClr val="2AB5A0"/>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1005840" y="2011680"/>
            <a:ext cx="7406640" cy="594360"/>
          </a:xfrm>
          <a:prstGeom prst="rect">
            <a:avLst/>
          </a:prstGeom>
          <a:noFill/>
          <a:ln/>
        </p:spPr>
        <p:txBody>
          <a:bodyPr wrap="square" lIns="91440" tIns="45720" rIns="91440" bIns="45720" rtlCol="0" anchor="ctr"/>
          <a:lstStyle/>
          <a:p>
            <a:pPr marL="0" indent="0" algn="l">
              <a:buNone/>
            </a:pPr>
            <a:r>
              <a:rPr lang="en-US" sz="1200" dirty="0" err="1">
                <a:solidFill>
                  <a:srgbClr val="FFFFFF"/>
                </a:solidFill>
                <a:latin typeface="Calibri"/>
                <a:ea typeface="Calibri"/>
                <a:cs typeface="Calibri"/>
              </a:rPr>
              <a:t>total_pages_visited</a:t>
            </a:r>
            <a:r>
              <a:rPr lang="en-US" sz="1200" dirty="0">
                <a:solidFill>
                  <a:srgbClr val="FFFFFF"/>
                </a:solidFill>
                <a:latin typeface="Calibri"/>
                <a:ea typeface="Calibri"/>
                <a:cs typeface="Calibri"/>
              </a:rPr>
              <a:t> : </a:t>
            </a:r>
            <a:r>
              <a:rPr lang="en-US" sz="1200" dirty="0" err="1">
                <a:solidFill>
                  <a:srgbClr val="FFFFFF"/>
                </a:solidFill>
                <a:latin typeface="Calibri"/>
                <a:ea typeface="Calibri"/>
                <a:cs typeface="Calibri"/>
              </a:rPr>
              <a:t>prédicteur</a:t>
            </a:r>
            <a:r>
              <a:rPr lang="en-US" sz="1200" dirty="0">
                <a:solidFill>
                  <a:srgbClr val="FFFFFF"/>
                </a:solidFill>
                <a:latin typeface="Calibri"/>
                <a:ea typeface="Calibri"/>
                <a:cs typeface="Calibri"/>
              </a:rPr>
              <a:t> dominant à 83,5% </a:t>
            </a:r>
            <a:r>
              <a:rPr lang="en-US" sz="1200" dirty="0" err="1">
                <a:solidFill>
                  <a:srgbClr val="FFFFFF"/>
                </a:solidFill>
                <a:latin typeface="Calibri"/>
                <a:ea typeface="Calibri"/>
                <a:cs typeface="Calibri"/>
              </a:rPr>
              <a:t>d'importance</a:t>
            </a:r>
            <a:endParaRPr lang="en-US" sz="1200" dirty="0" err="1">
              <a:latin typeface="Calibri"/>
              <a:ea typeface="Calibri"/>
              <a:cs typeface="Calibri"/>
            </a:endParaRPr>
          </a:p>
        </p:txBody>
      </p:sp>
      <p:sp>
        <p:nvSpPr>
          <p:cNvPr id="15" name="Shape 13"/>
          <p:cNvSpPr/>
          <p:nvPr/>
        </p:nvSpPr>
        <p:spPr>
          <a:xfrm>
            <a:off x="487680" y="2848356"/>
            <a:ext cx="8046720" cy="594360"/>
          </a:xfrm>
          <a:prstGeom prst="rect">
            <a:avLst/>
          </a:prstGeom>
          <a:solidFill>
            <a:srgbClr val="FFFFFF">
              <a:alpha val="8000"/>
            </a:srgbClr>
          </a:solidFill>
          <a:ln w="6350">
            <a:solidFill>
              <a:srgbClr val="1A6B8A">
                <a:alpha val="40000"/>
              </a:srgbClr>
            </a:solidFill>
            <a:prstDash val="solid"/>
          </a:ln>
        </p:spPr>
      </p:sp>
      <p:sp>
        <p:nvSpPr>
          <p:cNvPr id="16" name="Text 14"/>
          <p:cNvSpPr/>
          <p:nvPr/>
        </p:nvSpPr>
        <p:spPr>
          <a:xfrm>
            <a:off x="579120" y="2848356"/>
            <a:ext cx="365760" cy="594360"/>
          </a:xfrm>
          <a:prstGeom prst="rect">
            <a:avLst/>
          </a:prstGeom>
          <a:noFill/>
          <a:ln/>
        </p:spPr>
        <p:txBody>
          <a:bodyPr wrap="square" lIns="0" tIns="0" rIns="0" bIns="0" rtlCol="0" anchor="ctr"/>
          <a:lstStyle/>
          <a:p>
            <a:pPr marL="0" indent="0" algn="ctr">
              <a:buNone/>
            </a:pPr>
            <a:r>
              <a:rPr lang="en-US" sz="1400" dirty="0">
                <a:solidFill>
                  <a:srgbClr val="2AB5A0"/>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990600" y="2848356"/>
            <a:ext cx="7406640" cy="594360"/>
          </a:xfrm>
          <a:prstGeom prst="rect">
            <a:avLst/>
          </a:prstGeom>
          <a:noFill/>
          <a:ln/>
        </p:spPr>
        <p:txBody>
          <a:bodyPr wrap="square" rtlCol="0" anchor="ctr"/>
          <a:lstStyle/>
          <a:p>
            <a:pPr marL="0" indent="0" algn="l">
              <a:buNone/>
            </a:pPr>
            <a:r>
              <a:rPr lang="en-US" sz="1200" dirty="0">
                <a:solidFill>
                  <a:srgbClr val="FFFFFF"/>
                </a:solidFill>
                <a:latin typeface="Calibri" pitchFamily="34" charset="0"/>
                <a:ea typeface="Calibri" pitchFamily="34" charset="-122"/>
                <a:cs typeface="Calibri" pitchFamily="34" charset="-120"/>
              </a:rPr>
              <a:t>Levier prioritaire : augmenter l'engagement sur le site pour faire passer les visiteurs au-delà de 15 pages vues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6243F"/>
        </a:solidFill>
        <a:effectLst/>
      </p:bgPr>
    </p:bg>
    <p:spTree>
      <p:nvGrpSpPr>
        <p:cNvPr id="1" name="">
          <a:extLst>
            <a:ext uri="{FF2B5EF4-FFF2-40B4-BE49-F238E27FC236}">
              <a16:creationId xmlns:a16="http://schemas.microsoft.com/office/drawing/2014/main" id="{ED40F566-DA33-AA0F-1A11-36B24D46CF2B}"/>
            </a:ext>
          </a:extLst>
        </p:cNvPr>
        <p:cNvGrpSpPr/>
        <p:nvPr/>
      </p:nvGrpSpPr>
      <p:grpSpPr>
        <a:xfrm>
          <a:off x="0" y="0"/>
          <a:ext cx="0" cy="0"/>
          <a:chOff x="0" y="0"/>
          <a:chExt cx="0" cy="0"/>
        </a:xfrm>
      </p:grpSpPr>
      <p:sp>
        <p:nvSpPr>
          <p:cNvPr id="12" name="Text 9">
            <a:extLst>
              <a:ext uri="{FF2B5EF4-FFF2-40B4-BE49-F238E27FC236}">
                <a16:creationId xmlns:a16="http://schemas.microsoft.com/office/drawing/2014/main" id="{602BB7FA-73DE-026D-2D1A-6B340C876417}"/>
              </a:ext>
            </a:extLst>
          </p:cNvPr>
          <p:cNvSpPr/>
          <p:nvPr/>
        </p:nvSpPr>
        <p:spPr>
          <a:xfrm>
            <a:off x="4972050" y="1920240"/>
            <a:ext cx="4800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endParaRPr lang="fr-FR" sz="2250" noProof="0" dirty="0"/>
          </a:p>
        </p:txBody>
      </p:sp>
      <p:sp>
        <p:nvSpPr>
          <p:cNvPr id="20" name="Text 17">
            <a:extLst>
              <a:ext uri="{FF2B5EF4-FFF2-40B4-BE49-F238E27FC236}">
                <a16:creationId xmlns:a16="http://schemas.microsoft.com/office/drawing/2014/main" id="{526AA76A-A2AF-DFEC-FE76-9247A56B2D91}"/>
              </a:ext>
            </a:extLst>
          </p:cNvPr>
          <p:cNvSpPr/>
          <p:nvPr/>
        </p:nvSpPr>
        <p:spPr>
          <a:xfrm>
            <a:off x="4972050" y="2948940"/>
            <a:ext cx="4800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endParaRPr lang="fr-FR" sz="2250" noProof="0" dirty="0"/>
          </a:p>
        </p:txBody>
      </p:sp>
      <p:sp>
        <p:nvSpPr>
          <p:cNvPr id="25" name="Slide Number Placeholder 0">
            <a:extLst>
              <a:ext uri="{FF2B5EF4-FFF2-40B4-BE49-F238E27FC236}">
                <a16:creationId xmlns:a16="http://schemas.microsoft.com/office/drawing/2014/main" id="{D2B8AEEA-B098-2027-1478-095929815361}"/>
              </a:ext>
            </a:extLst>
          </p:cNvPr>
          <p:cNvSpPr>
            <a:spLocks noGrp="1"/>
          </p:cNvSpPr>
          <p:nvPr>
            <p:ph type="sldNum" sz="quarter" idx="4294967295"/>
          </p:nvPr>
        </p:nvSpPr>
        <p:spPr>
          <a:xfrm>
            <a:off x="8572500" y="4841748"/>
            <a:ext cx="480060" cy="205740"/>
          </a:xfrm>
          <a:prstGeom prst="rect">
            <a:avLst/>
          </a:prstGeom>
          <a:extLst>
            <a:ext uri="{C572A759-6A51-4108-AA02-DFA0A04FC94B}">
              <ma14:wrappingTextBoxFlag xmlns:ma14="http://schemas.microsoft.com/office/mac/drawingml/2011/main" xmlns="" val="0"/>
            </a:ext>
          </a:extLst>
        </p:spPr>
        <p:txBody>
          <a:bodyPr/>
          <a:lstStyle>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algn="r"/>
            <a:fld id="{F7021451-1387-4CA6-816F-3879F97B5CBC}" type="slidenum">
              <a:rPr lang="fr-FR" b="0" noProof="0" smtClean="0"/>
              <a:t>11</a:t>
            </a:fld>
            <a:endParaRPr lang="fr-FR" noProof="0" dirty="0"/>
          </a:p>
        </p:txBody>
      </p:sp>
      <p:sp>
        <p:nvSpPr>
          <p:cNvPr id="24" name="ZoneTexte 23">
            <a:extLst>
              <a:ext uri="{FF2B5EF4-FFF2-40B4-BE49-F238E27FC236}">
                <a16:creationId xmlns:a16="http://schemas.microsoft.com/office/drawing/2014/main" id="{A543C3DC-317E-7A34-D33C-DD831E8BCDF6}"/>
              </a:ext>
            </a:extLst>
          </p:cNvPr>
          <p:cNvSpPr txBox="1"/>
          <p:nvPr/>
        </p:nvSpPr>
        <p:spPr>
          <a:xfrm>
            <a:off x="1565028" y="1799274"/>
            <a:ext cx="5104682" cy="1038746"/>
          </a:xfrm>
          <a:prstGeom prst="rect">
            <a:avLst/>
          </a:prstGeom>
          <a:noFill/>
        </p:spPr>
        <p:txBody>
          <a:bodyPr wrap="square" lIns="68580" tIns="34290" rIns="68580" bIns="34290" rtlCol="0" anchor="t">
            <a:sp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fr-FR" sz="2100">
                <a:solidFill>
                  <a:schemeClr val="bg1"/>
                </a:solidFill>
                <a:latin typeface="Cambria"/>
                <a:ea typeface="Cambria"/>
              </a:rPr>
              <a:t>Merci</a:t>
            </a:r>
            <a:r>
              <a:rPr lang="fr-FR" sz="2100" noProof="0">
                <a:solidFill>
                  <a:schemeClr val="bg1"/>
                </a:solidFill>
                <a:latin typeface="Cambria"/>
                <a:ea typeface="Cambria"/>
              </a:rPr>
              <a:t> de votre attention !</a:t>
            </a:r>
            <a:endParaRPr lang="fr-FR" sz="1013">
              <a:solidFill>
                <a:schemeClr val="bg1"/>
              </a:solidFill>
              <a:latin typeface="Cambria"/>
              <a:ea typeface="Cambria"/>
            </a:endParaRPr>
          </a:p>
          <a:p>
            <a:pPr algn="ctr"/>
            <a:endParaRPr lang="fr-FR" sz="2100" dirty="0">
              <a:solidFill>
                <a:schemeClr val="bg1"/>
              </a:solidFill>
              <a:latin typeface="Cambria"/>
              <a:ea typeface="Cambria"/>
            </a:endParaRPr>
          </a:p>
          <a:p>
            <a:pPr algn="ctr"/>
            <a:r>
              <a:rPr lang="fr-FR" sz="2100">
                <a:solidFill>
                  <a:schemeClr val="bg1"/>
                </a:solidFill>
                <a:latin typeface="Cambria"/>
                <a:ea typeface="Cambria"/>
              </a:rPr>
              <a:t>Des questions?</a:t>
            </a:r>
            <a:r>
              <a:rPr lang="fr-FR" sz="1000" noProof="0" dirty="0"/>
              <a:t> </a:t>
            </a:r>
            <a:endParaRPr lang="fr-FR" sz="1000" noProof="0" dirty="0">
              <a:ea typeface="Calibri"/>
              <a:cs typeface="Calibri"/>
            </a:endParaRPr>
          </a:p>
        </p:txBody>
      </p:sp>
      <p:sp>
        <p:nvSpPr>
          <p:cNvPr id="2" name="Shape 0">
            <a:extLst>
              <a:ext uri="{FF2B5EF4-FFF2-40B4-BE49-F238E27FC236}">
                <a16:creationId xmlns:a16="http://schemas.microsoft.com/office/drawing/2014/main" id="{AB2DBBB2-0054-B161-A744-D06F2F1E22AC}"/>
              </a:ext>
            </a:extLst>
          </p:cNvPr>
          <p:cNvSpPr/>
          <p:nvPr/>
        </p:nvSpPr>
        <p:spPr>
          <a:xfrm>
            <a:off x="2309076" y="526444"/>
            <a:ext cx="3566160" cy="3566160"/>
          </a:xfrm>
          <a:prstGeom prst="ellipse">
            <a:avLst/>
          </a:prstGeom>
          <a:solidFill>
            <a:srgbClr val="1FA8B8">
              <a:alpha val="13725"/>
            </a:srgbClr>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fr-FR" sz="1013" noProof="0" dirty="0"/>
          </a:p>
        </p:txBody>
      </p:sp>
    </p:spTree>
    <p:extLst>
      <p:ext uri="{BB962C8B-B14F-4D97-AF65-F5344CB8AC3E}">
        <p14:creationId xmlns:p14="http://schemas.microsoft.com/office/powerpoint/2010/main" val="2653280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Affichage à l'écran (16:9)</PresentationFormat>
  <Paragraphs>0</Paragraphs>
  <Slides>11</Slides>
  <Notes>11</Notes>
  <HiddenSlides>0</HiddenSlides>
  <MMClips>0</MMClips>
  <ScaleCrop>false</ScaleCrop>
  <HeadingPairs>
    <vt:vector size="4" baseType="variant">
      <vt:variant>
        <vt:lpstr>Thème</vt:lpstr>
      </vt:variant>
      <vt:variant>
        <vt:i4>1</vt:i4>
      </vt:variant>
      <vt:variant>
        <vt:lpstr>Titres des diapositives</vt:lpstr>
      </vt:variant>
      <vt:variant>
        <vt:i4>11</vt:i4>
      </vt:variant>
    </vt:vector>
  </HeadingPairs>
  <TitlesOfParts>
    <vt:vector size="12" baseType="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Défi du Taux de Conversion - Data Science Weekly</dc:title>
  <dc:subject>PptxGenJS Presentation</dc:subject>
  <dc:creator>Analyse Data Science</dc:creator>
  <cp:lastModifiedBy>Analyse Data Science</cp:lastModifiedBy>
  <cp:revision>259</cp:revision>
  <dcterms:created xsi:type="dcterms:W3CDTF">2026-05-16T11:21:33Z</dcterms:created>
  <dcterms:modified xsi:type="dcterms:W3CDTF">2026-10-24T22:01:43Z</dcterms:modified>
</cp:coreProperties>
</file>