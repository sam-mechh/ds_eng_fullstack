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74" r:id="rId4"/>
    <p:sldId id="258" r:id="rId5"/>
    <p:sldId id="259" r:id="rId6"/>
    <p:sldId id="260" r:id="rId7"/>
    <p:sldId id="278" r:id="rId8"/>
    <p:sldId id="261" r:id="rId9"/>
    <p:sldId id="277" r:id="rId10"/>
    <p:sldId id="276" r:id="rId11"/>
    <p:sldId id="265" r:id="rId12"/>
    <p:sldId id="266"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A8B8"/>
    <a:srgbClr val="16243F"/>
    <a:srgbClr val="4472C4"/>
    <a:srgbClr val="F4F7FB"/>
    <a:srgbClr val="5152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6" dt="2026-10-23T20:16:04.050"/>
    <p1510:client id="{0749B945-0087-8E7D-097F-74CFD422B508}" v="12" dt="2026-10-24T17:22:15.631"/>
    <p1510:client id="{6A39CB24-4AD1-9C1A-5E2C-2277FF45F3A6}" v="167" dt="2026-10-23T21:41:18.0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552" autoAdjust="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Paliers</c:v>
                </c:pt>
              </c:strCache>
            </c:strRef>
          </c:tx>
          <c:spPr>
            <a:solidFill>
              <a:schemeClr val="accent1"/>
            </a:solidFill>
            <a:ln w="9525" cap="flat">
              <a:solidFill>
                <a:srgbClr val="F9F9F9"/>
              </a:solidFill>
              <a:prstDash val="solid"/>
              <a:round/>
            </a:ln>
            <a:effectLst/>
          </c:spPr>
          <c:dPt>
            <c:idx val="0"/>
            <c:bubble3D val="0"/>
            <c:spPr>
              <a:solidFill>
                <a:srgbClr val="16243F"/>
              </a:solidFill>
              <a:effectLst/>
            </c:spPr>
            <c:extLst>
              <c:ext xmlns:c16="http://schemas.microsoft.com/office/drawing/2014/chart" uri="{C3380CC4-5D6E-409C-BE32-E72D297353CC}">
                <c16:uniqueId val="{00000001-93CD-4438-96A2-E81B8721F7B0}"/>
              </c:ext>
            </c:extLst>
          </c:dPt>
          <c:dPt>
            <c:idx val="1"/>
            <c:bubble3D val="0"/>
            <c:spPr>
              <a:solidFill>
                <a:srgbClr val="1FA8B8"/>
              </a:solidFill>
              <a:effectLst/>
            </c:spPr>
            <c:extLst>
              <c:ext xmlns:c16="http://schemas.microsoft.com/office/drawing/2014/chart" uri="{C3380CC4-5D6E-409C-BE32-E72D297353CC}">
                <c16:uniqueId val="{00000003-93CD-4438-96A2-E81B8721F7B0}"/>
              </c:ext>
            </c:extLst>
          </c:dPt>
          <c:dPt>
            <c:idx val="2"/>
            <c:bubble3D val="0"/>
            <c:spPr>
              <a:solidFill>
                <a:srgbClr val="9FD3DC"/>
              </a:solidFill>
              <a:effectLst/>
            </c:spPr>
            <c:extLst>
              <c:ext xmlns:c16="http://schemas.microsoft.com/office/drawing/2014/chart" uri="{C3380CC4-5D6E-409C-BE32-E72D297353CC}">
                <c16:uniqueId val="{00000005-93CD-4438-96A2-E81B8721F7B0}"/>
              </c:ext>
            </c:extLst>
          </c:dPt>
          <c:dLbls>
            <c:dLbl>
              <c:idx val="0"/>
              <c:numFmt formatCode="General" sourceLinked="0"/>
              <c:spPr/>
              <c:txPr>
                <a:bodyPr/>
                <a:lstStyle/>
                <a:p>
                  <a:pPr>
                    <a:defRPr sz="1200" b="1" i="0" u="none" strike="noStrike">
                      <a:solidFill>
                        <a:srgbClr val="FFFFFF"/>
                      </a:solidFill>
                      <a:latin typeface="Calibri"/>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3CD-4438-96A2-E81B8721F7B0}"/>
                </c:ext>
              </c:extLst>
            </c:dLbl>
            <c:dLbl>
              <c:idx val="1"/>
              <c:numFmt formatCode="General" sourceLinked="0"/>
              <c:spPr/>
              <c:txPr>
                <a:bodyPr/>
                <a:lstStyle/>
                <a:p>
                  <a:pPr>
                    <a:defRPr sz="1200" b="1" i="0" u="none" strike="noStrike">
                      <a:solidFill>
                        <a:srgbClr val="FFFFFF"/>
                      </a:solidFill>
                      <a:latin typeface="Calibri"/>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3CD-4438-96A2-E81B8721F7B0}"/>
                </c:ext>
              </c:extLst>
            </c:dLbl>
            <c:dLbl>
              <c:idx val="2"/>
              <c:numFmt formatCode="General" sourceLinked="0"/>
              <c:spPr/>
              <c:txPr>
                <a:bodyPr/>
                <a:lstStyle/>
                <a:p>
                  <a:pPr>
                    <a:defRPr sz="1200" b="1" i="0" u="none" strike="noStrike">
                      <a:solidFill>
                        <a:srgbClr val="FFFFFF"/>
                      </a:solidFill>
                      <a:latin typeface="Calibri"/>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3CD-4438-96A2-E81B8721F7B0}"/>
                </c:ext>
              </c:extLst>
            </c:dLbl>
            <c:numFmt formatCode="General" sourceLinked="0"/>
            <c:spPr>
              <a:noFill/>
              <a:ln>
                <a:noFill/>
              </a:ln>
              <a:effectLst/>
            </c:spPr>
            <c:txPr>
              <a:bodyPr/>
              <a:lstStyle/>
              <a:p>
                <a:pPr>
                  <a:defRPr sz="1800" b="1" i="0" u="none" strike="noStrike">
                    <a:solidFill>
                      <a:srgbClr val="000000"/>
                    </a:solidFill>
                    <a:latin typeface="Arial"/>
                  </a:defRPr>
                </a:pPr>
                <a:endParaRPr lang="fr-FR"/>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Incohérence totale</c:v>
                </c:pt>
                <c:pt idx="1">
                  <c:v>Divergence nette</c:v>
                </c:pt>
                <c:pt idx="2">
                  <c:v>Divergence ambiguë</c:v>
                </c:pt>
              </c:strCache>
            </c:strRef>
          </c:cat>
          <c:val>
            <c:numRef>
              <c:f>Sheet1!$B$2:$B$4</c:f>
              <c:numCache>
                <c:formatCode>General</c:formatCode>
                <c:ptCount val="3"/>
                <c:pt idx="0">
                  <c:v>50</c:v>
                </c:pt>
                <c:pt idx="1">
                  <c:v>30</c:v>
                </c:pt>
                <c:pt idx="2">
                  <c:v>20</c:v>
                </c:pt>
              </c:numCache>
            </c:numRef>
          </c:val>
          <c:extLst>
            <c:ext xmlns:c16="http://schemas.microsoft.com/office/drawing/2014/chart" uri="{C3380CC4-5D6E-409C-BE32-E72D297353CC}">
              <c16:uniqueId val="{00000006-93CD-4438-96A2-E81B8721F7B0}"/>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100">
              <a:solidFill>
                <a:srgbClr val="5E6E7E"/>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4514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0:00 - 0:30</a:t>
            </a:r>
          </a:p>
          <a:p>
            <a:r>
              <a:rPr lang="fr-FR" dirty="0"/>
              <a:t>Bonjour, je vais vous presenter mon projet : l'Auditeur de Coherence Medicale.</a:t>
            </a:r>
          </a:p>
          <a:p>
            <a:r>
              <a:rPr lang="fr-FR" dirty="0"/>
              <a:t>Citation d'accroche : apprendre a une machine non pas a diagnostiquer, mais a verifier qu'une radiographie thoracique et son compte rendu racontent la meme histoire.</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0:30 - 1:15</a:t>
            </a:r>
          </a:p>
          <a:p>
            <a:r>
              <a:rPr lang="fr-FR" dirty="0"/>
              <a:t>Contexte : dans un service de radiologie, l'image et le texte cheminent separement. Les flux sont denses, un compte rendu peut etre associe au mauvais examen - un risque pour la decision medicale.</a:t>
            </a:r>
          </a:p>
          <a:p>
            <a:r>
              <a:rPr lang="fr-FR" dirty="0"/>
              <a:t>Mission : construire un garde-fou automatique qui lit en parallele l'image et le texte, produit un score de coherence, et signale les paires qui ne s'accordent pas. Pas un outil de diagnostic.</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1:15 - 2:00</a:t>
            </a:r>
          </a:p>
          <a:p>
            <a:r>
              <a:rPr lang="fr-FR" dirty="0"/>
              <a:t>Voici a quoi ressemble le resultat concret : l'application MIROIR, deployee sur Hugging Face Spaces, avec un frontend Streamlit et les parametres du modele charges via MLflow.</a:t>
            </a:r>
          </a:p>
          <a:p>
            <a:r>
              <a:rPr lang="fr-FR" dirty="0"/>
              <a:t>Le lien de demonstration (davidformation-demo-fullstack.hf.space) figure sur cette slide et sur la slide de cloture - je pourrai la montrer en direct ou repondre aux questions dessus.</a:t>
            </a:r>
          </a:p>
          <a:p>
            <a:endParaRPr lang="fr-FR" dirty="0"/>
          </a:p>
        </p:txBody>
      </p:sp>
      <p:sp>
        <p:nvSpPr>
          <p:cNvPr id="4" name="Slide Number Placeholder 3"/>
          <p:cNvSpPr>
            <a:spLocks noGrp="1"/>
          </p:cNvSpPr>
          <p:nvPr>
            <p:ph type="sldNum" sz="quarter" idx="10"/>
          </p:nvPr>
        </p:nvSpPr>
        <p:spPr/>
        <p:txBody>
          <a:bodyPr/>
          <a:lstStyle/>
          <a:p>
            <a:fld id="{F7021451-1387-4CA6-816F-3879F97B5CBD}"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2:00 - 2:45</a:t>
            </a:r>
          </a:p>
          <a:p>
            <a:r>
              <a:rPr lang="fr-FR" dirty="0"/>
              <a:t>Donnees : jeu public CheXpert et CheXpert Plus, environ 223 000 paires disponibles, reduites a un echantillon de 36 000 paires equilibrees a 50/50.</a:t>
            </a:r>
          </a:p>
          <a:p>
            <a:r>
              <a:rPr lang="fr-FR" dirty="0"/>
              <a:t>Decision structurante : une seule image par patient, pour eviter la fuite de donnees et minimiser les donnees personnelles utilisees.</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2:45 - 3:30</a:t>
            </a:r>
          </a:p>
          <a:p>
            <a:r>
              <a:rPr lang="fr-FR" dirty="0"/>
              <a:t>Le vrai defi du projet : fabriquer le faux. Les paires coherentes existent nativement ; les incoherentes sont fabriquees en echangeant les comptes rendus.</a:t>
            </a:r>
          </a:p>
          <a:p>
            <a:r>
              <a:rPr lang="fr-FR" dirty="0"/>
              <a:t>Trois niveaux de difficulte : 50% d'incoherence totale, 30% de divergence nette, 20% de divergence ambigue - pour eviter que le modele n'apprenne un raccourci trop facile.</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3:30 - 4:00</a:t>
            </a:r>
          </a:p>
          <a:p>
            <a:r>
              <a:rPr lang="fr-FR" dirty="0"/>
              <a:t>Pour aller plus loin, un second axe : la proximite clinique. Les douze pathologies suivies sont regroupees en quatre familles anatomiques.</a:t>
            </a:r>
          </a:p>
          <a:p>
            <a:r>
              <a:rPr lang="fr-FR" dirty="0"/>
              <a:t>Idee cle : un faux entre deux familles differentes est plus facile a reperer qu'un faux a l'interieur d'une meme famille.</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4:00 - 4:45</a:t>
            </a:r>
          </a:p>
          <a:p>
            <a:r>
              <a:rPr lang="fr-FR" dirty="0"/>
              <a:t>Le modele utilise : BioViL-T, specialise pour la radiographie thoracique et ses comptes rendus, plutot qu'un modele medical generaliste.</a:t>
            </a:r>
          </a:p>
          <a:p>
            <a:r>
              <a:rPr lang="fr-FR" dirty="0"/>
              <a:t>Deux encodeurs pre-entraines ensemble par apprentissage contrastif image-texte. Deux phases de lecture : Approche 1, comparer les resumes globaux (similarite) ; Approche 2, faire dialoguer regions et mots (attention croisee).</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B036F-E173-E13D-7906-1A6718D75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247D0-9F26-92AB-53E1-23B36F8955C4}"/>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94CDA95F-965E-8097-D9D8-750C268D42F8}"/>
              </a:ext>
            </a:extLst>
          </p:cNvPr>
          <p:cNvSpPr>
            <a:spLocks noGrp="1"/>
          </p:cNvSpPr>
          <p:nvPr>
            <p:ph type="body" idx="1"/>
          </p:nvPr>
        </p:nvSpPr>
        <p:spPr/>
        <p:txBody>
          <a:bodyPr/>
          <a:lstStyle/>
          <a:p>
            <a:r>
              <a:rPr lang="fr-FR" b="1" dirty="0"/>
              <a:t>4:45 - 5:45</a:t>
            </a:r>
          </a:p>
          <a:p>
            <a:r>
              <a:rPr lang="fr-FR" dirty="0"/>
              <a:t>Les resultats. Phase 1 (similarite) : ROC-AUC 86%, exactitude 78%. Phase 2 (attention croisee) : ROC-AUC 95%, exactitude 88%, F1 89%.</a:t>
            </a:r>
          </a:p>
          <a:p>
            <a:r>
              <a:rPr lang="fr-FR" dirty="0"/>
              <a:t>Le gain entre les deux phases mesure precisement l'apport de la fusion fine entre regions de l'image et mots du rapport - c'est le coeur de la contribution technique du projet.</a:t>
            </a:r>
          </a:p>
          <a:p>
            <a:endParaRPr lang="fr-FR" dirty="0"/>
          </a:p>
        </p:txBody>
      </p:sp>
      <p:sp>
        <p:nvSpPr>
          <p:cNvPr id="4" name="Slide Number Placeholder 3">
            <a:extLst>
              <a:ext uri="{FF2B5EF4-FFF2-40B4-BE49-F238E27FC236}">
                <a16:creationId xmlns:a16="http://schemas.microsoft.com/office/drawing/2014/main" id="{0AEAC151-DABE-7240-E0A1-B49516E8EC81}"/>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065359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B2396-5488-9F4F-8893-CD4766E0D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F860BD-C3D4-44B6-8907-3CB003688ADC}"/>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18AC209A-05DC-98A5-2678-2FF4B78731A9}"/>
              </a:ext>
            </a:extLst>
          </p:cNvPr>
          <p:cNvSpPr>
            <a:spLocks noGrp="1"/>
          </p:cNvSpPr>
          <p:nvPr>
            <p:ph type="body" idx="1"/>
          </p:nvPr>
        </p:nvSpPr>
        <p:spPr/>
        <p:txBody>
          <a:bodyPr/>
          <a:lstStyle/>
          <a:p>
            <a:r>
              <a:rPr lang="fr-FR" b="1" dirty="0"/>
              <a:t>5:45 - 6:30</a:t>
            </a:r>
          </a:p>
          <a:p>
            <a:r>
              <a:rPr lang="fr-FR" dirty="0"/>
              <a:t>Les matrices de confusion racontent la meme histoire visuellement : en phase 2, tres peu de vrais positifs sont rates (0.10 de faux negatifs contre 0.21 en phase 1).</a:t>
            </a:r>
          </a:p>
          <a:p>
            <a:r>
              <a:rPr lang="fr-FR" dirty="0"/>
              <a:t>C'est cette reduction des erreurs, dans les deux sens, qui justifie le choix de l'attention croisee comme modele retenu pour le projet.</a:t>
            </a:r>
          </a:p>
          <a:p>
            <a:endParaRPr lang="fr-FR" dirty="0"/>
          </a:p>
        </p:txBody>
      </p:sp>
      <p:sp>
        <p:nvSpPr>
          <p:cNvPr id="4" name="Slide Number Placeholder 3">
            <a:extLst>
              <a:ext uri="{FF2B5EF4-FFF2-40B4-BE49-F238E27FC236}">
                <a16:creationId xmlns:a16="http://schemas.microsoft.com/office/drawing/2014/main" id="{51DEFDAD-1419-9A2F-F6CF-2367641E62A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639825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6:30 - 7:15</a:t>
            </a:r>
          </a:p>
          <a:p>
            <a:r>
              <a:rPr lang="fr-FR" dirty="0"/>
              <a:t>Les prochaines etapes. Premiere piste : enrichir encore les faux cas, par exemple en modifiant le texte avec des Transformers ou LLM, ou des outils comme RadGraph.</a:t>
            </a:r>
          </a:p>
          <a:p>
            <a:r>
              <a:rPr lang="fr-FR" dirty="0"/>
              <a:t>Seconde piste : rendre l'outil plus intuitif, avec une carte d'attention type Grad-CAM qui surligne les regions decisives, ou un RAG medical.</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b="1" dirty="0"/>
              <a:t>7:15 - 7:30</a:t>
            </a:r>
          </a:p>
          <a:p>
            <a:r>
              <a:rPr lang="fr-FR" dirty="0"/>
              <a:t>Annexe disponible si des questions portent sur les sources des donnees, le modele pre-entraine, ou la conformite RGPD - pas besoin de la commenter en detail a l'oral, sauf si le temps le permet.</a:t>
            </a:r>
          </a:p>
          <a:p>
            <a:endParaRPr lang="fr-FR"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7E68-B851-8F0E-FEF5-1A8F2ED8D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E128B-D7F2-7767-BAEE-7DB9F5E57E27}"/>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9938CF52-1F85-9D32-9524-2F71FB5B0E57}"/>
              </a:ext>
            </a:extLst>
          </p:cNvPr>
          <p:cNvSpPr>
            <a:spLocks noGrp="1"/>
          </p:cNvSpPr>
          <p:nvPr>
            <p:ph type="body" idx="1"/>
          </p:nvPr>
        </p:nvSpPr>
        <p:spPr/>
        <p:txBody>
          <a:bodyPr/>
          <a:lstStyle/>
          <a:p>
            <a:r>
              <a:rPr lang="fr-FR" b="1" dirty="0"/>
              <a:t>7:30 - 8:00</a:t>
            </a:r>
          </a:p>
          <a:p>
            <a:r>
              <a:rPr lang="fr-FR" dirty="0"/>
              <a:t>Conclusion : ce projet montre qu'un second regard automatique, fonde sur un encodeur specialise et une fusion fine entre image et texte, peut renforcer la securite du patient sans se substituer au jugement medical.</a:t>
            </a:r>
          </a:p>
          <a:p>
            <a:r>
              <a:rPr lang="fr-FR" dirty="0"/>
              <a:t>La demonstration en ligne est accessible via le lien affiche ci-dessous. Je suis maintenant disponible pour vos questions.</a:t>
            </a:r>
          </a:p>
          <a:p>
            <a:endParaRPr lang="fr-FR" dirty="0"/>
          </a:p>
        </p:txBody>
      </p:sp>
      <p:sp>
        <p:nvSpPr>
          <p:cNvPr id="4" name="Slide Number Placeholder 3">
            <a:extLst>
              <a:ext uri="{FF2B5EF4-FFF2-40B4-BE49-F238E27FC236}">
                <a16:creationId xmlns:a16="http://schemas.microsoft.com/office/drawing/2014/main" id="{E3449097-D955-808A-CA9E-6D41DE4B8B7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364676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hyperlink" Target="https://davidformation-demo-fullstack.hf.space/"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sammec-demoday-fastapi.hf.space/docs" TargetMode="External"/><Relationship Id="rId5" Type="http://schemas.openxmlformats.org/officeDocument/2006/relationships/hyperlink" Target="https://sammec-demoday-dashboard.hf.space" TargetMode="Externa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3F"/>
        </a:solidFill>
        <a:effectLst/>
      </p:bgPr>
    </p:bg>
    <p:spTree>
      <p:nvGrpSpPr>
        <p:cNvPr id="1" name=""/>
        <p:cNvGrpSpPr/>
        <p:nvPr/>
      </p:nvGrpSpPr>
      <p:grpSpPr>
        <a:xfrm>
          <a:off x="0" y="0"/>
          <a:ext cx="0" cy="0"/>
          <a:chOff x="0" y="0"/>
          <a:chExt cx="0" cy="0"/>
        </a:xfrm>
      </p:grpSpPr>
      <p:sp>
        <p:nvSpPr>
          <p:cNvPr id="2" name="Shape 0"/>
          <p:cNvSpPr/>
          <p:nvPr/>
        </p:nvSpPr>
        <p:spPr>
          <a:xfrm>
            <a:off x="7023354" y="0"/>
            <a:ext cx="5120640" cy="5120640"/>
          </a:xfrm>
          <a:prstGeom prst="ellipse">
            <a:avLst/>
          </a:prstGeom>
          <a:solidFill>
            <a:srgbClr val="1FA8B8">
              <a:alpha val="14000"/>
            </a:srgbClr>
          </a:solidFill>
          <a:ln/>
        </p:spPr>
        <p:txBody>
          <a:bodyPr/>
          <a:lstStyle/>
          <a:p>
            <a:endParaRPr lang="fr-FR" noProof="0" dirty="0"/>
          </a:p>
        </p:txBody>
      </p:sp>
      <p:sp>
        <p:nvSpPr>
          <p:cNvPr id="3" name="Shape 1"/>
          <p:cNvSpPr/>
          <p:nvPr/>
        </p:nvSpPr>
        <p:spPr>
          <a:xfrm>
            <a:off x="7315581" y="1417320"/>
            <a:ext cx="2926080" cy="2926080"/>
          </a:xfrm>
          <a:prstGeom prst="ellipse">
            <a:avLst/>
          </a:prstGeom>
          <a:solidFill>
            <a:srgbClr val="1FA8B8">
              <a:alpha val="25000"/>
            </a:srgbClr>
          </a:solidFill>
          <a:ln/>
        </p:spPr>
        <p:txBody>
          <a:bodyPr/>
          <a:lstStyle/>
          <a:p>
            <a:endParaRPr lang="fr-FR" noProof="0" dirty="0"/>
          </a:p>
        </p:txBody>
      </p:sp>
      <p:sp>
        <p:nvSpPr>
          <p:cNvPr id="4" name="Shape 2"/>
          <p:cNvSpPr/>
          <p:nvPr/>
        </p:nvSpPr>
        <p:spPr>
          <a:xfrm>
            <a:off x="868680" y="1234440"/>
            <a:ext cx="960120" cy="960120"/>
          </a:xfrm>
          <a:prstGeom prst="ellipse">
            <a:avLst/>
          </a:prstGeom>
          <a:solidFill>
            <a:srgbClr val="1FA8B8"/>
          </a:solidFill>
          <a:ln/>
        </p:spPr>
        <p:txBody>
          <a:bodyPr/>
          <a:lstStyle/>
          <a:p>
            <a:endParaRPr lang="fr-FR" noProof="0" dirty="0"/>
          </a:p>
        </p:txBody>
      </p:sp>
      <p:pic>
        <p:nvPicPr>
          <p:cNvPr id="5" name="Image 0" descr="preencoded.png"/>
          <p:cNvPicPr>
            <a:picLocks noChangeAspect="1"/>
          </p:cNvPicPr>
          <p:nvPr/>
        </p:nvPicPr>
        <p:blipFill>
          <a:blip r:embed="rId3"/>
          <a:stretch>
            <a:fillRect/>
          </a:stretch>
        </p:blipFill>
        <p:spPr>
          <a:xfrm>
            <a:off x="1127912" y="1493672"/>
            <a:ext cx="441655" cy="441655"/>
          </a:xfrm>
          <a:prstGeom prst="rect">
            <a:avLst/>
          </a:prstGeom>
        </p:spPr>
      </p:pic>
      <p:sp>
        <p:nvSpPr>
          <p:cNvPr id="6" name="Text 3"/>
          <p:cNvSpPr/>
          <p:nvPr/>
        </p:nvSpPr>
        <p:spPr>
          <a:xfrm>
            <a:off x="868680" y="2514600"/>
            <a:ext cx="10058400" cy="320040"/>
          </a:xfrm>
          <a:prstGeom prst="rect">
            <a:avLst/>
          </a:prstGeom>
          <a:noFill/>
          <a:ln/>
        </p:spPr>
        <p:txBody>
          <a:bodyPr wrap="square" lIns="0" tIns="0" rIns="0" bIns="0" rtlCol="0" anchor="ctr"/>
          <a:lstStyle/>
          <a:p>
            <a:pPr marL="0" indent="0">
              <a:buNone/>
            </a:pPr>
            <a:r>
              <a:rPr lang="fr-FR" sz="1300" b="1" kern="0" spc="300" noProof="0" dirty="0">
                <a:solidFill>
                  <a:srgbClr val="9FC7D6"/>
                </a:solidFill>
                <a:latin typeface="Calibri" pitchFamily="34" charset="0"/>
                <a:ea typeface="Calibri" pitchFamily="34" charset="-122"/>
                <a:cs typeface="Calibri" pitchFamily="34" charset="-120"/>
              </a:rPr>
              <a:t>PROJET DE SCIENCE DES DONNÉES</a:t>
            </a:r>
            <a:endParaRPr lang="fr-FR" sz="1300" noProof="0" dirty="0"/>
          </a:p>
        </p:txBody>
      </p:sp>
      <p:sp>
        <p:nvSpPr>
          <p:cNvPr id="7" name="Text 4"/>
          <p:cNvSpPr/>
          <p:nvPr/>
        </p:nvSpPr>
        <p:spPr>
          <a:xfrm>
            <a:off x="841248" y="2834640"/>
            <a:ext cx="10424160" cy="1097280"/>
          </a:xfrm>
          <a:prstGeom prst="rect">
            <a:avLst/>
          </a:prstGeom>
          <a:noFill/>
          <a:ln/>
        </p:spPr>
        <p:txBody>
          <a:bodyPr wrap="square" lIns="0" tIns="0" rIns="0" bIns="0" rtlCol="0" anchor="ctr"/>
          <a:lstStyle/>
          <a:p>
            <a:pPr marL="0" indent="0">
              <a:buNone/>
            </a:pPr>
            <a:r>
              <a:rPr lang="fr-FR" sz="5000" b="1" noProof="0" dirty="0">
                <a:solidFill>
                  <a:srgbClr val="FFFFFF"/>
                </a:solidFill>
                <a:latin typeface="Cambria" pitchFamily="34" charset="0"/>
                <a:ea typeface="Cambria" pitchFamily="34" charset="-122"/>
                <a:cs typeface="Cambria" pitchFamily="34" charset="-120"/>
              </a:rPr>
              <a:t>Auditeur de Cohérence Médicale</a:t>
            </a:r>
            <a:endParaRPr lang="fr-FR" sz="5000" noProof="0" dirty="0"/>
          </a:p>
        </p:txBody>
      </p:sp>
      <p:sp>
        <p:nvSpPr>
          <p:cNvPr id="9" name="Text 6"/>
          <p:cNvSpPr/>
          <p:nvPr/>
        </p:nvSpPr>
        <p:spPr>
          <a:xfrm>
            <a:off x="775551" y="4015595"/>
            <a:ext cx="6897955" cy="1174056"/>
          </a:xfrm>
          <a:prstGeom prst="rect">
            <a:avLst/>
          </a:prstGeom>
          <a:noFill/>
          <a:ln/>
        </p:spPr>
        <p:txBody>
          <a:bodyPr wrap="square" lIns="0" tIns="0" rIns="0" bIns="0" rtlCol="0" anchor="ctr"/>
          <a:lstStyle/>
          <a:p>
            <a:r>
              <a:rPr lang="fr-FR" sz="2000" i="1" noProof="0" dirty="0">
                <a:solidFill>
                  <a:srgbClr val="CFE0EA"/>
                </a:solidFill>
                <a:latin typeface="Calibri" pitchFamily="34" charset="0"/>
                <a:ea typeface="Calibri" pitchFamily="34" charset="-122"/>
                <a:cs typeface="Calibri" pitchFamily="34" charset="-120"/>
              </a:rPr>
              <a:t>“Apprendre à une machine non pas à diagnostiquer ni à interpréter, mais à vérifier qu’une radiographie thoracique et son compte rendu racontent la même histoire.”</a:t>
            </a:r>
          </a:p>
        </p:txBody>
      </p:sp>
      <p:sp>
        <p:nvSpPr>
          <p:cNvPr id="10" name="ZoneTexte 9">
            <a:extLst>
              <a:ext uri="{FF2B5EF4-FFF2-40B4-BE49-F238E27FC236}">
                <a16:creationId xmlns:a16="http://schemas.microsoft.com/office/drawing/2014/main" id="{D68B1E09-6ED9-2C3E-173B-6C44261C32FD}"/>
              </a:ext>
            </a:extLst>
          </p:cNvPr>
          <p:cNvSpPr txBox="1"/>
          <p:nvPr/>
        </p:nvSpPr>
        <p:spPr>
          <a:xfrm>
            <a:off x="868680" y="5624423"/>
            <a:ext cx="6834709" cy="276999"/>
          </a:xfrm>
          <a:prstGeom prst="rect">
            <a:avLst/>
          </a:prstGeom>
          <a:noFill/>
        </p:spPr>
        <p:txBody>
          <a:bodyPr wrap="square" lIns="91440" tIns="45720" rIns="91440" bIns="45720" rtlCol="0" anchor="t">
            <a:spAutoFit/>
          </a:bodyPr>
          <a:lstStyle/>
          <a:p>
            <a:r>
              <a:rPr lang="fr-FR" sz="1200">
                <a:solidFill>
                  <a:schemeClr val="bg1"/>
                </a:solidFill>
              </a:rPr>
              <a:t>Samer MECHHOUD/</a:t>
            </a:r>
            <a:r>
              <a:rPr lang="fr-FR" sz="1200" noProof="0">
                <a:solidFill>
                  <a:schemeClr val="bg1"/>
                </a:solidFill>
              </a:rPr>
              <a:t>Aïcha FATHELLAH / David HERBEZ </a:t>
            </a:r>
            <a:r>
              <a:rPr lang="fr-FR" sz="1200">
                <a:solidFill>
                  <a:schemeClr val="bg1"/>
                </a:solidFill>
              </a:rPr>
              <a:t>/</a:t>
            </a:r>
            <a:r>
              <a:rPr lang="fr-FR" sz="1200" noProof="0">
                <a:solidFill>
                  <a:schemeClr val="bg1"/>
                </a:solidFill>
              </a:rPr>
              <a:t> Sohaib EL MAAROUFI</a:t>
            </a:r>
            <a:endParaRPr lang="fr-FR">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p:cNvPicPr>
            <a:picLocks noChangeAspect="1"/>
          </p:cNvPicPr>
          <p:nvPr/>
        </p:nvPicPr>
        <p:blipFill>
          <a:blip r:embed="rId3"/>
          <a:stretch>
            <a:fillRect/>
          </a:stretch>
        </p:blipFill>
        <p:spPr>
          <a:xfrm>
            <a:off x="731520" y="621792"/>
            <a:ext cx="329184" cy="329184"/>
          </a:xfrm>
          <a:prstGeom prst="rect">
            <a:avLst/>
          </a:prstGeom>
        </p:spPr>
      </p:pic>
      <p:sp>
        <p:nvSpPr>
          <p:cNvPr id="4" name="Text 1"/>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01 – LA MISSION</a:t>
            </a:r>
            <a:endParaRPr lang="fr-FR" sz="1100" noProof="0" dirty="0"/>
          </a:p>
        </p:txBody>
      </p:sp>
      <p:sp>
        <p:nvSpPr>
          <p:cNvPr id="5" name="Text 2"/>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cs typeface="Cambria" pitchFamily="34" charset="-120"/>
              </a:rPr>
              <a:t>Le point de départ</a:t>
            </a:r>
            <a:endParaRPr lang="fr-FR" sz="2700" noProof="0" dirty="0"/>
          </a:p>
        </p:txBody>
      </p:sp>
      <p:sp>
        <p:nvSpPr>
          <p:cNvPr id="6" name="Text 3"/>
          <p:cNvSpPr/>
          <p:nvPr/>
        </p:nvSpPr>
        <p:spPr>
          <a:xfrm>
            <a:off x="731520" y="2256860"/>
            <a:ext cx="4951616" cy="3752180"/>
          </a:xfrm>
          <a:prstGeom prst="rect">
            <a:avLst/>
          </a:prstGeom>
          <a:noFill/>
          <a:ln/>
        </p:spPr>
        <p:txBody>
          <a:bodyPr wrap="square" lIns="0" tIns="0" rIns="0" bIns="0" rtlCol="0" anchor="t"/>
          <a:lstStyle/>
          <a:p>
            <a:pPr marL="0" indent="0">
              <a:lnSpc>
                <a:spcPct val="108000"/>
              </a:lnSpc>
              <a:spcAft>
                <a:spcPts val="1000"/>
              </a:spcAft>
              <a:buNone/>
            </a:pPr>
            <a:r>
              <a:rPr lang="fr-FR" sz="1500" noProof="0" dirty="0">
                <a:solidFill>
                  <a:srgbClr val="1F2A37"/>
                </a:solidFill>
                <a:latin typeface="Calibri" pitchFamily="34" charset="0"/>
                <a:ea typeface="Calibri" pitchFamily="34" charset="-122"/>
                <a:cs typeface="Calibri" pitchFamily="34" charset="-120"/>
              </a:rPr>
              <a:t>Dans un service de radiologie, chaque radiographie thoracique est accompagnée d'un compte rendu rédigé en </a:t>
            </a:r>
            <a:r>
              <a:rPr lang="fr-FR" sz="1500" noProof="0" dirty="0" err="1">
                <a:solidFill>
                  <a:srgbClr val="1F2A37"/>
                </a:solidFill>
                <a:latin typeface="Calibri" pitchFamily="34" charset="0"/>
                <a:ea typeface="Calibri" pitchFamily="34" charset="-122"/>
                <a:cs typeface="Calibri" pitchFamily="34" charset="-120"/>
              </a:rPr>
              <a:t>langage</a:t>
            </a:r>
            <a:r>
              <a:rPr lang="fr-FR" sz="1500" noProof="0" dirty="0">
                <a:solidFill>
                  <a:srgbClr val="1F2A37"/>
                </a:solidFill>
                <a:latin typeface="Calibri" pitchFamily="34" charset="0"/>
                <a:ea typeface="Calibri" pitchFamily="34" charset="-122"/>
                <a:cs typeface="Calibri" pitchFamily="34" charset="-120"/>
              </a:rPr>
              <a:t> naturel.</a:t>
            </a:r>
            <a:endParaRPr lang="fr-FR" sz="1500" noProof="0" dirty="0"/>
          </a:p>
          <a:p>
            <a:pPr marL="0" indent="0">
              <a:lnSpc>
                <a:spcPct val="108000"/>
              </a:lnSpc>
              <a:spcAft>
                <a:spcPts val="1000"/>
              </a:spcAft>
              <a:buNone/>
            </a:pPr>
            <a:r>
              <a:rPr lang="fr-FR" sz="1500" b="1" noProof="0" dirty="0">
                <a:solidFill>
                  <a:srgbClr val="1F2A37"/>
                </a:solidFill>
                <a:latin typeface="Calibri" pitchFamily="34" charset="0"/>
                <a:ea typeface="Calibri" pitchFamily="34" charset="-122"/>
                <a:cs typeface="Calibri" pitchFamily="34" charset="-120"/>
              </a:rPr>
              <a:t>L'image et le texte sont censés raconter la même histoire clinique</a:t>
            </a:r>
            <a:r>
              <a:rPr lang="fr-FR" sz="1500" noProof="0" dirty="0">
                <a:solidFill>
                  <a:srgbClr val="1F2A37"/>
                </a:solidFill>
                <a:latin typeface="Calibri" pitchFamily="34" charset="0"/>
                <a:ea typeface="Calibri" pitchFamily="34" charset="-122"/>
                <a:cs typeface="Calibri" pitchFamily="34" charset="-120"/>
              </a:rPr>
              <a:t>. Or les flux sont denses : un rapport peut être associé au mauvais examen. C'est un risque pour la décision médicale qui suivra.</a:t>
            </a:r>
          </a:p>
          <a:p>
            <a:pPr marL="0" indent="0">
              <a:lnSpc>
                <a:spcPct val="108000"/>
              </a:lnSpc>
              <a:buNone/>
            </a:pPr>
            <a:r>
              <a:rPr lang="fr-FR" sz="1500" b="1" noProof="0" dirty="0"/>
              <a:t>L'objectif n'est pas de substituer la machine au diagnostic ou à l’interprétation médicale </a:t>
            </a:r>
            <a:r>
              <a:rPr lang="fr-FR" sz="1500" noProof="0" dirty="0"/>
              <a:t>, mais de l'utiliser comme un </a:t>
            </a:r>
            <a:r>
              <a:rPr lang="fr-FR" sz="1500" b="1" noProof="0" dirty="0"/>
              <a:t>outil d'audit pour garantir la stricte corrélation </a:t>
            </a:r>
            <a:r>
              <a:rPr lang="fr-FR" sz="1500" noProof="0" dirty="0"/>
              <a:t>entre le cliché thoracique et son interprétation textuelle. </a:t>
            </a:r>
          </a:p>
        </p:txBody>
      </p:sp>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2</a:t>
            </a:fld>
            <a:endParaRPr lang="fr-FR" noProof="0" dirty="0"/>
          </a:p>
        </p:txBody>
      </p:sp>
      <p:sp>
        <p:nvSpPr>
          <p:cNvPr id="23" name="Text 3">
            <a:extLst>
              <a:ext uri="{FF2B5EF4-FFF2-40B4-BE49-F238E27FC236}">
                <a16:creationId xmlns:a16="http://schemas.microsoft.com/office/drawing/2014/main" id="{D781DE1F-33D7-CCB5-4939-6A6CB1AACF2D}"/>
              </a:ext>
            </a:extLst>
          </p:cNvPr>
          <p:cNvSpPr/>
          <p:nvPr/>
        </p:nvSpPr>
        <p:spPr>
          <a:xfrm>
            <a:off x="731520" y="1566902"/>
            <a:ext cx="10908792" cy="384048"/>
          </a:xfrm>
          <a:prstGeom prst="rect">
            <a:avLst/>
          </a:prstGeom>
          <a:noFill/>
          <a:ln/>
        </p:spPr>
        <p:txBody>
          <a:bodyPr wrap="square" lIns="0" tIns="0" rIns="0" bIns="0" rtlCol="0" anchor="ctr"/>
          <a:lstStyle/>
          <a:p>
            <a:pPr marL="0" indent="0">
              <a:buNone/>
            </a:pPr>
            <a:r>
              <a:rPr lang="fr-FR" i="1" noProof="0" dirty="0">
                <a:solidFill>
                  <a:srgbClr val="1C7C8C"/>
                </a:solidFill>
                <a:latin typeface="Calibri" panose="020F0502020204030204" pitchFamily="34" charset="0"/>
                <a:ea typeface="Calibri" panose="020F0502020204030204" pitchFamily="34" charset="0"/>
                <a:cs typeface="Calibri" panose="020F0502020204030204" pitchFamily="34" charset="0"/>
              </a:rPr>
              <a:t>Ce compte rendu décrit-il vraiment cette radiographie ?</a:t>
            </a:r>
            <a:endParaRPr lang="fr-FR" noProof="0" dirty="0">
              <a:latin typeface="Calibri" panose="020F0502020204030204" pitchFamily="34" charset="0"/>
              <a:ea typeface="Calibri" panose="020F0502020204030204" pitchFamily="34" charset="0"/>
              <a:cs typeface="Calibri" panose="020F0502020204030204" pitchFamily="34" charset="0"/>
            </a:endParaRPr>
          </a:p>
        </p:txBody>
      </p:sp>
      <p:sp>
        <p:nvSpPr>
          <p:cNvPr id="43" name="Shape 5">
            <a:extLst>
              <a:ext uri="{FF2B5EF4-FFF2-40B4-BE49-F238E27FC236}">
                <a16:creationId xmlns:a16="http://schemas.microsoft.com/office/drawing/2014/main" id="{6BA0488C-6859-A270-76AA-36C787C76619}"/>
              </a:ext>
            </a:extLst>
          </p:cNvPr>
          <p:cNvSpPr/>
          <p:nvPr/>
        </p:nvSpPr>
        <p:spPr>
          <a:xfrm>
            <a:off x="6327833" y="1463040"/>
            <a:ext cx="5132647" cy="4343880"/>
          </a:xfrm>
          <a:prstGeom prst="roundRect">
            <a:avLst>
              <a:gd name="adj" fmla="val 2623"/>
            </a:avLst>
          </a:prstGeom>
          <a:solidFill>
            <a:srgbClr val="0E2A3B"/>
          </a:solidFill>
          <a:ln/>
          <a:effectLst>
            <a:outerShdw blurRad="114300" dist="38100" dir="5400000" algn="bl" rotWithShape="0">
              <a:srgbClr val="0E2A3B">
                <a:alpha val="16000"/>
              </a:srgbClr>
            </a:outerShdw>
          </a:effectLst>
        </p:spPr>
        <p:txBody>
          <a:bodyPr/>
          <a:lstStyle/>
          <a:p>
            <a:endParaRPr lang="fr-FR" noProof="0" dirty="0"/>
          </a:p>
        </p:txBody>
      </p:sp>
      <p:pic>
        <p:nvPicPr>
          <p:cNvPr id="45" name="Image 1" descr="preencoded.png">
            <a:extLst>
              <a:ext uri="{FF2B5EF4-FFF2-40B4-BE49-F238E27FC236}">
                <a16:creationId xmlns:a16="http://schemas.microsoft.com/office/drawing/2014/main" id="{714D3EC2-AA00-0F61-6B29-35191E81A011}"/>
              </a:ext>
            </a:extLst>
          </p:cNvPr>
          <p:cNvPicPr>
            <a:picLocks noChangeAspect="1"/>
          </p:cNvPicPr>
          <p:nvPr/>
        </p:nvPicPr>
        <p:blipFill>
          <a:blip r:embed="rId4"/>
          <a:stretch>
            <a:fillRect/>
          </a:stretch>
        </p:blipFill>
        <p:spPr>
          <a:xfrm>
            <a:off x="6762681" y="1860128"/>
            <a:ext cx="457200" cy="457200"/>
          </a:xfrm>
          <a:prstGeom prst="rect">
            <a:avLst/>
          </a:prstGeom>
        </p:spPr>
      </p:pic>
      <p:sp>
        <p:nvSpPr>
          <p:cNvPr id="46" name="Text 6">
            <a:extLst>
              <a:ext uri="{FF2B5EF4-FFF2-40B4-BE49-F238E27FC236}">
                <a16:creationId xmlns:a16="http://schemas.microsoft.com/office/drawing/2014/main" id="{7198F53A-6E15-CDC8-1F6B-EBAB2D8F1694}"/>
              </a:ext>
            </a:extLst>
          </p:cNvPr>
          <p:cNvSpPr/>
          <p:nvPr/>
        </p:nvSpPr>
        <p:spPr>
          <a:xfrm>
            <a:off x="7542230" y="1908171"/>
            <a:ext cx="3273552" cy="274320"/>
          </a:xfrm>
          <a:prstGeom prst="rect">
            <a:avLst/>
          </a:prstGeom>
          <a:noFill/>
          <a:ln/>
        </p:spPr>
        <p:txBody>
          <a:bodyPr wrap="square" lIns="0" tIns="0" rIns="0" bIns="0" rtlCol="0" anchor="ctr"/>
          <a:lstStyle/>
          <a:p>
            <a:pPr marL="0" indent="0">
              <a:buNone/>
            </a:pPr>
            <a:r>
              <a:rPr lang="fr-FR" sz="1600" b="1" kern="0" spc="200" noProof="0" dirty="0">
                <a:solidFill>
                  <a:srgbClr val="3FB8AB"/>
                </a:solidFill>
                <a:latin typeface="Calibri" pitchFamily="34" charset="0"/>
                <a:ea typeface="Calibri" pitchFamily="34" charset="-122"/>
                <a:cs typeface="Calibri" pitchFamily="34" charset="-120"/>
              </a:rPr>
              <a:t>LA MISSION</a:t>
            </a:r>
            <a:endParaRPr lang="fr-FR" sz="1600" noProof="0" dirty="0"/>
          </a:p>
        </p:txBody>
      </p:sp>
      <p:sp>
        <p:nvSpPr>
          <p:cNvPr id="47" name="Text 7">
            <a:extLst>
              <a:ext uri="{FF2B5EF4-FFF2-40B4-BE49-F238E27FC236}">
                <a16:creationId xmlns:a16="http://schemas.microsoft.com/office/drawing/2014/main" id="{56A0C396-DFC8-3FB2-7752-41E6A00397CD}"/>
              </a:ext>
            </a:extLst>
          </p:cNvPr>
          <p:cNvSpPr/>
          <p:nvPr/>
        </p:nvSpPr>
        <p:spPr>
          <a:xfrm>
            <a:off x="6705829" y="2601245"/>
            <a:ext cx="2604694" cy="1300163"/>
          </a:xfrm>
          <a:prstGeom prst="rect">
            <a:avLst/>
          </a:prstGeom>
          <a:noFill/>
          <a:ln/>
        </p:spPr>
        <p:txBody>
          <a:bodyPr wrap="square" lIns="0" tIns="0" rIns="0" bIns="0" rtlCol="0" anchor="ctr"/>
          <a:lstStyle/>
          <a:p>
            <a:pPr>
              <a:lnSpc>
                <a:spcPct val="108000"/>
              </a:lnSpc>
            </a:pPr>
            <a:r>
              <a:rPr lang="fr-FR" sz="1500" noProof="0" dirty="0">
                <a:solidFill>
                  <a:schemeClr val="bg1">
                    <a:lumMod val="95000"/>
                  </a:schemeClr>
                </a:solidFill>
                <a:latin typeface="Calibri" pitchFamily="34" charset="0"/>
                <a:ea typeface="Calibri" pitchFamily="34" charset="-122"/>
                <a:cs typeface="Calibri" pitchFamily="34" charset="-120"/>
              </a:rPr>
              <a:t>Construire un garde-fou automatique qui lit en parallèle l'image et le texte, produit un score de cohérence, et signale les paires qui ne s'accordent pas</a:t>
            </a:r>
            <a:r>
              <a:rPr lang="fr-FR" sz="1500" noProof="0" dirty="0">
                <a:solidFill>
                  <a:srgbClr val="1F2A37"/>
                </a:solidFill>
                <a:latin typeface="Calibri" pitchFamily="34" charset="0"/>
                <a:ea typeface="Calibri" pitchFamily="34" charset="-122"/>
                <a:cs typeface="Calibri" pitchFamily="34" charset="-120"/>
              </a:rPr>
              <a:t>.</a:t>
            </a:r>
            <a:endParaRPr lang="fr-FR" sz="1500" noProof="0" dirty="0"/>
          </a:p>
        </p:txBody>
      </p:sp>
      <p:sp>
        <p:nvSpPr>
          <p:cNvPr id="48" name="Text 8">
            <a:extLst>
              <a:ext uri="{FF2B5EF4-FFF2-40B4-BE49-F238E27FC236}">
                <a16:creationId xmlns:a16="http://schemas.microsoft.com/office/drawing/2014/main" id="{F6958FF6-88CC-E4B0-43DC-553211521634}"/>
              </a:ext>
            </a:extLst>
          </p:cNvPr>
          <p:cNvSpPr/>
          <p:nvPr/>
        </p:nvSpPr>
        <p:spPr>
          <a:xfrm>
            <a:off x="6705830" y="4132950"/>
            <a:ext cx="3273552" cy="365760"/>
          </a:xfrm>
          <a:prstGeom prst="rect">
            <a:avLst/>
          </a:prstGeom>
          <a:noFill/>
          <a:ln/>
        </p:spPr>
        <p:txBody>
          <a:bodyPr wrap="square" lIns="0" tIns="0" rIns="0" bIns="0" rtlCol="0" anchor="ctr"/>
          <a:lstStyle/>
          <a:p>
            <a:pPr marL="0" indent="0">
              <a:buNone/>
            </a:pPr>
            <a:endParaRPr lang="fr-FR" sz="1500" noProof="0" dirty="0"/>
          </a:p>
        </p:txBody>
      </p:sp>
      <p:sp>
        <p:nvSpPr>
          <p:cNvPr id="49" name="Text 9">
            <a:extLst>
              <a:ext uri="{FF2B5EF4-FFF2-40B4-BE49-F238E27FC236}">
                <a16:creationId xmlns:a16="http://schemas.microsoft.com/office/drawing/2014/main" id="{A1DBD155-4DD4-F160-FDDA-04BFE5815190}"/>
              </a:ext>
            </a:extLst>
          </p:cNvPr>
          <p:cNvSpPr/>
          <p:nvPr/>
        </p:nvSpPr>
        <p:spPr>
          <a:xfrm>
            <a:off x="6705829" y="4574185"/>
            <a:ext cx="4376652" cy="411480"/>
          </a:xfrm>
          <a:prstGeom prst="rect">
            <a:avLst/>
          </a:prstGeom>
          <a:noFill/>
          <a:ln/>
        </p:spPr>
        <p:txBody>
          <a:bodyPr wrap="square" lIns="0" tIns="0" rIns="0" bIns="0" rtlCol="0" anchor="ctr"/>
          <a:lstStyle/>
          <a:p>
            <a:pPr marL="0" indent="0">
              <a:buNone/>
            </a:pPr>
            <a:endParaRPr lang="fr-FR" sz="1500" noProof="0" dirty="0"/>
          </a:p>
        </p:txBody>
      </p:sp>
      <p:pic>
        <p:nvPicPr>
          <p:cNvPr id="39" name="Image 38">
            <a:extLst>
              <a:ext uri="{FF2B5EF4-FFF2-40B4-BE49-F238E27FC236}">
                <a16:creationId xmlns:a16="http://schemas.microsoft.com/office/drawing/2014/main" id="{D1A1CA54-14A6-6A60-FBF1-73C54474F329}"/>
              </a:ext>
            </a:extLst>
          </p:cNvPr>
          <p:cNvPicPr>
            <a:picLocks noChangeAspect="1"/>
          </p:cNvPicPr>
          <p:nvPr/>
        </p:nvPicPr>
        <p:blipFill>
          <a:blip r:embed="rId5"/>
          <a:stretch>
            <a:fillRect/>
          </a:stretch>
        </p:blipFill>
        <p:spPr>
          <a:xfrm>
            <a:off x="9490356" y="3753444"/>
            <a:ext cx="1592125" cy="18441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hlinkClick r:id="rId3"/>
            <a:extLst>
              <a:ext uri="{FF2B5EF4-FFF2-40B4-BE49-F238E27FC236}">
                <a16:creationId xmlns:a16="http://schemas.microsoft.com/office/drawing/2014/main" id="{EF238514-EEE6-F619-8A20-F6DE3AD29593}"/>
              </a:ext>
            </a:extLst>
          </p:cNvPr>
          <p:cNvPicPr>
            <a:picLocks noChangeAspect="1"/>
          </p:cNvPicPr>
          <p:nvPr/>
        </p:nvPicPr>
        <p:blipFill>
          <a:blip r:embed="rId4"/>
          <a:srcRect t="-642" r="-4546" b="-1605"/>
          <a:stretch>
            <a:fillRect/>
          </a:stretch>
        </p:blipFill>
        <p:spPr>
          <a:xfrm>
            <a:off x="423512" y="123195"/>
            <a:ext cx="11451441" cy="5520766"/>
          </a:xfrm>
          <a:prstGeom prst="rect">
            <a:avLst/>
          </a:prstGeom>
        </p:spPr>
      </p:pic>
      <p:sp>
        <p:nvSpPr>
          <p:cNvPr id="2" name="ZoneTexte 1">
            <a:extLst>
              <a:ext uri="{FF2B5EF4-FFF2-40B4-BE49-F238E27FC236}">
                <a16:creationId xmlns:a16="http://schemas.microsoft.com/office/drawing/2014/main" id="{9F2801C5-3E53-D273-1099-7020051968CD}"/>
              </a:ext>
            </a:extLst>
          </p:cNvPr>
          <p:cNvSpPr txBox="1"/>
          <p:nvPr/>
        </p:nvSpPr>
        <p:spPr>
          <a:xfrm>
            <a:off x="6593840" y="6126480"/>
            <a:ext cx="51003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ea typeface="Calibri"/>
                <a:cs typeface="Calibri"/>
              </a:rPr>
              <a:t>APP: </a:t>
            </a:r>
            <a:r>
              <a:rPr lang="fr-FR" dirty="0">
                <a:ea typeface="Calibri"/>
                <a:cs typeface="Calibri"/>
              </a:rPr>
              <a:t> </a:t>
            </a:r>
            <a:r>
              <a:rPr lang="fr-FR" sz="1100" dirty="0">
                <a:highlight>
                  <a:srgbClr val="FFFFFF"/>
                </a:highlight>
                <a:latin typeface="Consolas"/>
                <a:ea typeface="Calibri"/>
                <a:cs typeface="Calibri"/>
                <a:hlinkClick r:id="rId5"/>
              </a:rPr>
              <a:t>https://sammec-demoday-dashboard.hf.space</a:t>
            </a:r>
            <a:endParaRPr lang="fr-FR">
              <a:ea typeface="Calibri"/>
              <a:cs typeface="Calibri"/>
            </a:endParaRPr>
          </a:p>
        </p:txBody>
      </p:sp>
      <p:sp>
        <p:nvSpPr>
          <p:cNvPr id="3" name="ZoneTexte 2">
            <a:extLst>
              <a:ext uri="{FF2B5EF4-FFF2-40B4-BE49-F238E27FC236}">
                <a16:creationId xmlns:a16="http://schemas.microsoft.com/office/drawing/2014/main" id="{DEC3C406-874C-70B8-8187-55E567289C90}"/>
              </a:ext>
            </a:extLst>
          </p:cNvPr>
          <p:cNvSpPr txBox="1"/>
          <p:nvPr/>
        </p:nvSpPr>
        <p:spPr>
          <a:xfrm>
            <a:off x="883919" y="6126480"/>
            <a:ext cx="510032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dirty="0" err="1">
                <a:ea typeface="Calibri"/>
                <a:cs typeface="Calibri"/>
              </a:rPr>
              <a:t>FastAPI</a:t>
            </a:r>
            <a:r>
              <a:rPr lang="fr-FR" dirty="0">
                <a:ea typeface="Calibri"/>
                <a:cs typeface="Calibri"/>
              </a:rPr>
              <a:t>:  </a:t>
            </a:r>
            <a:r>
              <a:rPr lang="fr-FR" sz="1100" dirty="0">
                <a:highlight>
                  <a:srgbClr val="FFFFFF"/>
                </a:highlight>
                <a:latin typeface="Consolas"/>
                <a:ea typeface="Calibri"/>
                <a:cs typeface="Calibri"/>
                <a:hlinkClick r:id="rId6"/>
              </a:rPr>
              <a:t>https://sammec-demoday-fastapi.hf.space/docs</a:t>
            </a:r>
            <a:endParaRPr lang="fr-FR">
              <a:latin typeface="Calibri" panose="020F0502020204030204"/>
              <a:ea typeface="Calibri"/>
              <a:cs typeface="Calibri"/>
            </a:endParaRPr>
          </a:p>
          <a:p>
            <a:endParaRPr lang="fr-FR" dirty="0">
              <a:ea typeface="Calibri"/>
              <a:cs typeface="Calibri"/>
            </a:endParaRPr>
          </a:p>
        </p:txBody>
      </p:sp>
    </p:spTree>
    <p:extLst>
      <p:ext uri="{BB962C8B-B14F-4D97-AF65-F5344CB8AC3E}">
        <p14:creationId xmlns:p14="http://schemas.microsoft.com/office/powerpoint/2010/main" val="224339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p:cNvPicPr>
            <a:picLocks noChangeAspect="1"/>
          </p:cNvPicPr>
          <p:nvPr/>
        </p:nvPicPr>
        <p:blipFill>
          <a:blip r:embed="rId3"/>
          <a:stretch>
            <a:fillRect/>
          </a:stretch>
        </p:blipFill>
        <p:spPr>
          <a:xfrm>
            <a:off x="731520" y="621792"/>
            <a:ext cx="329184" cy="329184"/>
          </a:xfrm>
          <a:prstGeom prst="rect">
            <a:avLst/>
          </a:prstGeom>
        </p:spPr>
      </p:pic>
      <p:sp>
        <p:nvSpPr>
          <p:cNvPr id="4" name="Text 1"/>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03 - LES DONNÉES</a:t>
            </a:r>
            <a:endParaRPr lang="fr-FR" sz="1100" noProof="0" dirty="0"/>
          </a:p>
        </p:txBody>
      </p:sp>
      <p:sp>
        <p:nvSpPr>
          <p:cNvPr id="5" name="Text 2"/>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cs typeface="Cambria" pitchFamily="34" charset="-120"/>
              </a:rPr>
              <a:t>La matière première : le jeu de données</a:t>
            </a:r>
            <a:endParaRPr lang="fr-FR" sz="2700" noProof="0" dirty="0"/>
          </a:p>
        </p:txBody>
      </p:sp>
      <p:sp>
        <p:nvSpPr>
          <p:cNvPr id="6" name="Text 3"/>
          <p:cNvSpPr/>
          <p:nvPr/>
        </p:nvSpPr>
        <p:spPr>
          <a:xfrm>
            <a:off x="640080" y="1645920"/>
            <a:ext cx="10881360" cy="457200"/>
          </a:xfrm>
          <a:prstGeom prst="rect">
            <a:avLst/>
          </a:prstGeom>
          <a:noFill/>
          <a:ln/>
        </p:spPr>
        <p:txBody>
          <a:bodyPr wrap="square" lIns="0" tIns="0" rIns="0" bIns="0" rtlCol="0" anchor="ctr"/>
          <a:lstStyle/>
          <a:p>
            <a:pPr marL="0" indent="0">
              <a:buNone/>
            </a:pPr>
            <a:r>
              <a:rPr lang="fr-FR" sz="1550" noProof="0" dirty="0">
                <a:solidFill>
                  <a:srgbClr val="1F2A37"/>
                </a:solidFill>
                <a:latin typeface="Calibri" pitchFamily="34" charset="0"/>
                <a:ea typeface="Calibri" pitchFamily="34" charset="-122"/>
                <a:cs typeface="Calibri" pitchFamily="34" charset="-120"/>
              </a:rPr>
              <a:t>Un grand jeu public de radiographies thoraciques :</a:t>
            </a:r>
            <a:endParaRPr lang="fr-FR" sz="1550" noProof="0" dirty="0"/>
          </a:p>
        </p:txBody>
      </p:sp>
      <p:sp>
        <p:nvSpPr>
          <p:cNvPr id="7" name="Shape 4"/>
          <p:cNvSpPr/>
          <p:nvPr/>
        </p:nvSpPr>
        <p:spPr>
          <a:xfrm>
            <a:off x="1007889" y="2212848"/>
            <a:ext cx="2132436" cy="1783080"/>
          </a:xfrm>
          <a:prstGeom prst="roundRect">
            <a:avLst>
              <a:gd name="adj" fmla="val 4615"/>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pic>
        <p:nvPicPr>
          <p:cNvPr id="9" name="Image 1" descr="preencoded.png"/>
          <p:cNvPicPr>
            <a:picLocks noChangeAspect="1"/>
          </p:cNvPicPr>
          <p:nvPr/>
        </p:nvPicPr>
        <p:blipFill>
          <a:blip r:embed="rId4"/>
          <a:stretch>
            <a:fillRect/>
          </a:stretch>
        </p:blipFill>
        <p:spPr>
          <a:xfrm>
            <a:off x="1110447" y="2719791"/>
            <a:ext cx="302849" cy="302849"/>
          </a:xfrm>
          <a:prstGeom prst="rect">
            <a:avLst/>
          </a:prstGeom>
        </p:spPr>
      </p:pic>
      <p:sp>
        <p:nvSpPr>
          <p:cNvPr id="10" name="Text 6"/>
          <p:cNvSpPr/>
          <p:nvPr/>
        </p:nvSpPr>
        <p:spPr>
          <a:xfrm>
            <a:off x="1783080" y="2606040"/>
            <a:ext cx="2194560" cy="457200"/>
          </a:xfrm>
          <a:prstGeom prst="rect">
            <a:avLst/>
          </a:prstGeom>
          <a:noFill/>
          <a:ln/>
        </p:spPr>
        <p:txBody>
          <a:bodyPr wrap="square" lIns="0" tIns="0" rIns="0" bIns="0" rtlCol="0" anchor="ctr"/>
          <a:lstStyle/>
          <a:p>
            <a:pPr marL="0" indent="0">
              <a:buNone/>
            </a:pPr>
            <a:endParaRPr lang="fr-FR" sz="1700" noProof="0" dirty="0"/>
          </a:p>
        </p:txBody>
      </p:sp>
      <p:sp>
        <p:nvSpPr>
          <p:cNvPr id="11" name="Text 7"/>
          <p:cNvSpPr/>
          <p:nvPr/>
        </p:nvSpPr>
        <p:spPr>
          <a:xfrm>
            <a:off x="950976" y="3246120"/>
            <a:ext cx="2834640" cy="685800"/>
          </a:xfrm>
          <a:prstGeom prst="rect">
            <a:avLst/>
          </a:prstGeom>
          <a:noFill/>
          <a:ln/>
        </p:spPr>
        <p:txBody>
          <a:bodyPr wrap="square" lIns="0" tIns="0" rIns="0" bIns="0" rtlCol="0" anchor="t"/>
          <a:lstStyle/>
          <a:p>
            <a:pPr marL="0" indent="0">
              <a:lnSpc>
                <a:spcPct val="105000"/>
              </a:lnSpc>
              <a:buNone/>
            </a:pPr>
            <a:endParaRPr lang="fr-FR" sz="1350" noProof="0" dirty="0"/>
          </a:p>
        </p:txBody>
      </p:sp>
      <p:sp>
        <p:nvSpPr>
          <p:cNvPr id="12" name="Shape 8"/>
          <p:cNvSpPr/>
          <p:nvPr/>
        </p:nvSpPr>
        <p:spPr>
          <a:xfrm>
            <a:off x="4796994" y="2226425"/>
            <a:ext cx="2186417" cy="1783080"/>
          </a:xfrm>
          <a:prstGeom prst="roundRect">
            <a:avLst>
              <a:gd name="adj" fmla="val 4615"/>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5" name="Text 10"/>
          <p:cNvSpPr/>
          <p:nvPr/>
        </p:nvSpPr>
        <p:spPr>
          <a:xfrm>
            <a:off x="5486400" y="2606040"/>
            <a:ext cx="2194560" cy="457200"/>
          </a:xfrm>
          <a:prstGeom prst="rect">
            <a:avLst/>
          </a:prstGeom>
          <a:noFill/>
          <a:ln/>
        </p:spPr>
        <p:txBody>
          <a:bodyPr wrap="square" lIns="0" tIns="0" rIns="0" bIns="0" rtlCol="0" anchor="ctr"/>
          <a:lstStyle/>
          <a:p>
            <a:pPr marL="0" indent="0">
              <a:buNone/>
            </a:pPr>
            <a:endParaRPr lang="fr-FR" sz="1700" noProof="0" dirty="0"/>
          </a:p>
        </p:txBody>
      </p:sp>
      <p:sp>
        <p:nvSpPr>
          <p:cNvPr id="16" name="Text 11"/>
          <p:cNvSpPr/>
          <p:nvPr/>
        </p:nvSpPr>
        <p:spPr>
          <a:xfrm>
            <a:off x="4654296" y="3246120"/>
            <a:ext cx="2834640" cy="685800"/>
          </a:xfrm>
          <a:prstGeom prst="rect">
            <a:avLst/>
          </a:prstGeom>
          <a:noFill/>
          <a:ln/>
        </p:spPr>
        <p:txBody>
          <a:bodyPr wrap="square" lIns="0" tIns="0" rIns="0" bIns="0" rtlCol="0" anchor="t"/>
          <a:lstStyle/>
          <a:p>
            <a:pPr marL="0" indent="0">
              <a:lnSpc>
                <a:spcPct val="105000"/>
              </a:lnSpc>
              <a:buNone/>
            </a:pPr>
            <a:endParaRPr lang="fr-FR" sz="1350" noProof="0" dirty="0"/>
          </a:p>
        </p:txBody>
      </p:sp>
      <p:sp>
        <p:nvSpPr>
          <p:cNvPr id="17" name="Shape 12"/>
          <p:cNvSpPr/>
          <p:nvPr/>
        </p:nvSpPr>
        <p:spPr>
          <a:xfrm>
            <a:off x="8600024" y="2221540"/>
            <a:ext cx="2369258" cy="1783080"/>
          </a:xfrm>
          <a:prstGeom prst="roundRect">
            <a:avLst>
              <a:gd name="adj" fmla="val 4615"/>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20" name="Text 14"/>
          <p:cNvSpPr/>
          <p:nvPr/>
        </p:nvSpPr>
        <p:spPr>
          <a:xfrm>
            <a:off x="9189720" y="2606040"/>
            <a:ext cx="2194560" cy="457200"/>
          </a:xfrm>
          <a:prstGeom prst="rect">
            <a:avLst/>
          </a:prstGeom>
          <a:noFill/>
          <a:ln/>
        </p:spPr>
        <p:txBody>
          <a:bodyPr wrap="square" lIns="0" tIns="0" rIns="0" bIns="0" rtlCol="0" anchor="ctr"/>
          <a:lstStyle/>
          <a:p>
            <a:pPr marL="0" indent="0">
              <a:buNone/>
            </a:pPr>
            <a:endParaRPr lang="fr-FR" sz="1700" noProof="0" dirty="0"/>
          </a:p>
        </p:txBody>
      </p:sp>
      <p:sp>
        <p:nvSpPr>
          <p:cNvPr id="21" name="Text 15"/>
          <p:cNvSpPr/>
          <p:nvPr/>
        </p:nvSpPr>
        <p:spPr>
          <a:xfrm>
            <a:off x="8357616" y="3246120"/>
            <a:ext cx="2834640" cy="685800"/>
          </a:xfrm>
          <a:prstGeom prst="rect">
            <a:avLst/>
          </a:prstGeom>
          <a:noFill/>
          <a:ln/>
        </p:spPr>
        <p:txBody>
          <a:bodyPr wrap="square" lIns="0" tIns="0" rIns="0" bIns="0" rtlCol="0" anchor="t"/>
          <a:lstStyle/>
          <a:p>
            <a:pPr marL="0" indent="0">
              <a:lnSpc>
                <a:spcPct val="105000"/>
              </a:lnSpc>
              <a:buNone/>
            </a:pPr>
            <a:endParaRPr lang="fr-FR" sz="1350" noProof="0" dirty="0"/>
          </a:p>
        </p:txBody>
      </p:sp>
      <p:sp>
        <p:nvSpPr>
          <p:cNvPr id="22" name="Shape 16"/>
          <p:cNvSpPr/>
          <p:nvPr/>
        </p:nvSpPr>
        <p:spPr>
          <a:xfrm>
            <a:off x="612648" y="4297680"/>
            <a:ext cx="10908792" cy="1417320"/>
          </a:xfrm>
          <a:prstGeom prst="roundRect">
            <a:avLst>
              <a:gd name="adj" fmla="val 5806"/>
            </a:avLst>
          </a:prstGeom>
          <a:solidFill>
            <a:srgbClr val="16243F"/>
          </a:solidFill>
          <a:ln/>
          <a:effectLst>
            <a:outerShdw blurRad="88900" dist="25400" dir="5400000" algn="bl" rotWithShape="0">
              <a:srgbClr val="000000">
                <a:alpha val="10000"/>
              </a:srgbClr>
            </a:outerShdw>
          </a:effectLst>
        </p:spPr>
        <p:txBody>
          <a:bodyPr/>
          <a:lstStyle/>
          <a:p>
            <a:endParaRPr lang="fr-FR" noProof="0" dirty="0"/>
          </a:p>
        </p:txBody>
      </p:sp>
      <p:sp>
        <p:nvSpPr>
          <p:cNvPr id="23" name="Shape 17"/>
          <p:cNvSpPr/>
          <p:nvPr/>
        </p:nvSpPr>
        <p:spPr>
          <a:xfrm>
            <a:off x="960120" y="4636008"/>
            <a:ext cx="731520" cy="731520"/>
          </a:xfrm>
          <a:prstGeom prst="ellipse">
            <a:avLst/>
          </a:prstGeom>
          <a:solidFill>
            <a:srgbClr val="1FA8B8"/>
          </a:solidFill>
          <a:ln/>
        </p:spPr>
        <p:txBody>
          <a:bodyPr/>
          <a:lstStyle/>
          <a:p>
            <a:endParaRPr lang="fr-FR" noProof="0" dirty="0"/>
          </a:p>
        </p:txBody>
      </p:sp>
      <p:pic>
        <p:nvPicPr>
          <p:cNvPr id="24" name="Image 4" descr="preencoded.png"/>
          <p:cNvPicPr>
            <a:picLocks noChangeAspect="1"/>
          </p:cNvPicPr>
          <p:nvPr/>
        </p:nvPicPr>
        <p:blipFill>
          <a:blip r:embed="rId5"/>
          <a:stretch>
            <a:fillRect/>
          </a:stretch>
        </p:blipFill>
        <p:spPr>
          <a:xfrm>
            <a:off x="1161288" y="4837176"/>
            <a:ext cx="329184" cy="329184"/>
          </a:xfrm>
          <a:prstGeom prst="rect">
            <a:avLst/>
          </a:prstGeom>
        </p:spPr>
      </p:pic>
      <p:sp>
        <p:nvSpPr>
          <p:cNvPr id="25" name="Text 18"/>
          <p:cNvSpPr/>
          <p:nvPr/>
        </p:nvSpPr>
        <p:spPr>
          <a:xfrm>
            <a:off x="1920240" y="4526280"/>
            <a:ext cx="9326880" cy="411480"/>
          </a:xfrm>
          <a:prstGeom prst="rect">
            <a:avLst/>
          </a:prstGeom>
          <a:noFill/>
          <a:ln/>
        </p:spPr>
        <p:txBody>
          <a:bodyPr wrap="square" lIns="0" tIns="0" rIns="0" bIns="0" rtlCol="0" anchor="ctr"/>
          <a:lstStyle/>
          <a:p>
            <a:pPr marL="0" indent="0">
              <a:buNone/>
            </a:pPr>
            <a:r>
              <a:rPr lang="fr-FR" sz="1650" b="1" noProof="0" dirty="0">
                <a:solidFill>
                  <a:srgbClr val="FFFFFF"/>
                </a:solidFill>
                <a:latin typeface="Cambria" pitchFamily="34" charset="0"/>
                <a:ea typeface="Cambria" pitchFamily="34" charset="-122"/>
                <a:cs typeface="Cambria" pitchFamily="34" charset="-120"/>
              </a:rPr>
              <a:t>Une décision méthodologique structurante : une seule image par patient</a:t>
            </a:r>
            <a:endParaRPr lang="fr-FR" sz="1650" noProof="0" dirty="0"/>
          </a:p>
        </p:txBody>
      </p:sp>
      <p:sp>
        <p:nvSpPr>
          <p:cNvPr id="26" name="Text 19"/>
          <p:cNvSpPr/>
          <p:nvPr/>
        </p:nvSpPr>
        <p:spPr>
          <a:xfrm>
            <a:off x="1920240" y="4956048"/>
            <a:ext cx="9326880" cy="640080"/>
          </a:xfrm>
          <a:prstGeom prst="rect">
            <a:avLst/>
          </a:prstGeom>
          <a:noFill/>
          <a:ln/>
        </p:spPr>
        <p:txBody>
          <a:bodyPr wrap="square" lIns="0" tIns="0" rIns="0" bIns="0" rtlCol="0" anchor="t"/>
          <a:lstStyle/>
          <a:p>
            <a:pPr>
              <a:lnSpc>
                <a:spcPct val="105000"/>
              </a:lnSpc>
            </a:pPr>
            <a:r>
              <a:rPr lang="fr-FR" sz="1350" noProof="0" dirty="0">
                <a:solidFill>
                  <a:srgbClr val="CFE0EA"/>
                </a:solidFill>
                <a:latin typeface="Calibri" pitchFamily="34" charset="0"/>
                <a:ea typeface="Calibri" pitchFamily="34" charset="-122"/>
                <a:cs typeface="Calibri" pitchFamily="34" charset="-120"/>
              </a:rPr>
              <a:t>Simplifier le jeu de données et éviter que le modèle n’exploite des indices propres au patient plutôt que la cohérence image/texte.</a:t>
            </a:r>
          </a:p>
          <a:p>
            <a:pPr marL="0" indent="0">
              <a:lnSpc>
                <a:spcPct val="105000"/>
              </a:lnSpc>
              <a:buNone/>
            </a:pPr>
            <a:endParaRPr lang="fr-FR" sz="1350" noProof="0" dirty="0">
              <a:solidFill>
                <a:srgbClr val="CFE0EA"/>
              </a:solidFill>
              <a:latin typeface="Calibri" pitchFamily="34" charset="0"/>
              <a:ea typeface="Calibri" pitchFamily="34" charset="-122"/>
              <a:cs typeface="Calibri" pitchFamily="34" charset="-120"/>
            </a:endParaRPr>
          </a:p>
          <a:p>
            <a:pPr marL="0" indent="0">
              <a:lnSpc>
                <a:spcPct val="105000"/>
              </a:lnSpc>
              <a:buNone/>
            </a:pPr>
            <a:endParaRPr lang="fr-FR" sz="1350" noProof="0" dirty="0"/>
          </a:p>
        </p:txBody>
      </p:sp>
      <p:sp>
        <p:nvSpPr>
          <p:cNvPr id="27" name="Text 20"/>
          <p:cNvSpPr/>
          <p:nvPr/>
        </p:nvSpPr>
        <p:spPr>
          <a:xfrm>
            <a:off x="640080" y="5897880"/>
            <a:ext cx="10881360" cy="320040"/>
          </a:xfrm>
          <a:prstGeom prst="rect">
            <a:avLst/>
          </a:prstGeom>
          <a:noFill/>
          <a:ln/>
        </p:spPr>
        <p:txBody>
          <a:bodyPr wrap="square" lIns="0" tIns="0" rIns="0" bIns="0" rtlCol="0" anchor="ctr"/>
          <a:lstStyle/>
          <a:p>
            <a:pPr marL="0" indent="0">
              <a:buNone/>
            </a:pPr>
            <a:r>
              <a:rPr lang="fr-FR" sz="1050" i="1" noProof="0" dirty="0">
                <a:solidFill>
                  <a:srgbClr val="5E6E7E"/>
                </a:solidFill>
                <a:latin typeface="Calibri" pitchFamily="34" charset="0"/>
                <a:ea typeface="Calibri" pitchFamily="34" charset="-122"/>
                <a:cs typeface="Calibri" pitchFamily="34" charset="-120"/>
              </a:rPr>
              <a:t>Sources : CheXpert (Irvin et al., 2019) ; CheXpert Plus (Chambon et al., 2024) - voir annexe.</a:t>
            </a:r>
            <a:endParaRPr lang="fr-FR" sz="1050" noProof="0" dirty="0"/>
          </a:p>
        </p:txBody>
      </p:sp>
      <p:sp>
        <p:nvSpPr>
          <p:cNvPr id="28"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4</a:t>
            </a:fld>
            <a:endParaRPr lang="fr-FR" noProof="0" dirty="0"/>
          </a:p>
        </p:txBody>
      </p:sp>
      <p:sp>
        <p:nvSpPr>
          <p:cNvPr id="29" name="ZoneTexte 28">
            <a:extLst>
              <a:ext uri="{FF2B5EF4-FFF2-40B4-BE49-F238E27FC236}">
                <a16:creationId xmlns:a16="http://schemas.microsoft.com/office/drawing/2014/main" id="{950AEA19-7288-B354-21F5-53B30737934D}"/>
              </a:ext>
            </a:extLst>
          </p:cNvPr>
          <p:cNvSpPr txBox="1"/>
          <p:nvPr/>
        </p:nvSpPr>
        <p:spPr>
          <a:xfrm>
            <a:off x="5021838" y="2709297"/>
            <a:ext cx="1576512" cy="707886"/>
          </a:xfrm>
          <a:prstGeom prst="rect">
            <a:avLst/>
          </a:prstGeom>
          <a:noFill/>
        </p:spPr>
        <p:txBody>
          <a:bodyPr wrap="square" rtlCol="0">
            <a:spAutoFit/>
          </a:bodyPr>
          <a:lstStyle>
            <a:lvl1pPr algn="ctr">
              <a:defRPr sz="2000"/>
            </a:lvl1pPr>
          </a:lstStyle>
          <a:p>
            <a:r>
              <a:rPr lang="fr-FR" dirty="0"/>
              <a:t> Sample de 36 000 paires</a:t>
            </a:r>
          </a:p>
        </p:txBody>
      </p:sp>
      <p:sp>
        <p:nvSpPr>
          <p:cNvPr id="31" name="ZoneTexte 30">
            <a:extLst>
              <a:ext uri="{FF2B5EF4-FFF2-40B4-BE49-F238E27FC236}">
                <a16:creationId xmlns:a16="http://schemas.microsoft.com/office/drawing/2014/main" id="{60D6359D-C2CD-B652-E210-D939CC754FBE}"/>
              </a:ext>
            </a:extLst>
          </p:cNvPr>
          <p:cNvSpPr txBox="1"/>
          <p:nvPr/>
        </p:nvSpPr>
        <p:spPr>
          <a:xfrm>
            <a:off x="8640080" y="2538680"/>
            <a:ext cx="2419642" cy="1323439"/>
          </a:xfrm>
          <a:prstGeom prst="rect">
            <a:avLst/>
          </a:prstGeom>
          <a:noFill/>
        </p:spPr>
        <p:txBody>
          <a:bodyPr wrap="square" rtlCol="0">
            <a:spAutoFit/>
          </a:bodyPr>
          <a:lstStyle/>
          <a:p>
            <a:r>
              <a:rPr lang="fr-FR" sz="2000" noProof="0" dirty="0"/>
              <a:t>Paires négatives 50%</a:t>
            </a:r>
            <a:br>
              <a:rPr lang="fr-FR" sz="2000" noProof="0" dirty="0"/>
            </a:br>
            <a:r>
              <a:rPr lang="fr-FR" sz="2000" noProof="0" dirty="0"/>
              <a:t>                +</a:t>
            </a:r>
            <a:br>
              <a:rPr lang="fr-FR" sz="2000" noProof="0" dirty="0"/>
            </a:br>
            <a:r>
              <a:rPr lang="fr-FR" sz="2000" dirty="0"/>
              <a:t>Paires positives 50%</a:t>
            </a:r>
          </a:p>
          <a:p>
            <a:endParaRPr lang="fr-FR" sz="2000" noProof="0" dirty="0"/>
          </a:p>
        </p:txBody>
      </p:sp>
      <p:sp>
        <p:nvSpPr>
          <p:cNvPr id="32" name="ZoneTexte 31">
            <a:extLst>
              <a:ext uri="{FF2B5EF4-FFF2-40B4-BE49-F238E27FC236}">
                <a16:creationId xmlns:a16="http://schemas.microsoft.com/office/drawing/2014/main" id="{56E7B439-345E-E225-188C-D3F7465394BB}"/>
              </a:ext>
            </a:extLst>
          </p:cNvPr>
          <p:cNvSpPr txBox="1"/>
          <p:nvPr/>
        </p:nvSpPr>
        <p:spPr>
          <a:xfrm>
            <a:off x="1060704" y="2601172"/>
            <a:ext cx="2022018" cy="1015663"/>
          </a:xfrm>
          <a:prstGeom prst="rect">
            <a:avLst/>
          </a:prstGeom>
          <a:noFill/>
        </p:spPr>
        <p:txBody>
          <a:bodyPr wrap="square" rtlCol="0">
            <a:spAutoFit/>
          </a:bodyPr>
          <a:lstStyle/>
          <a:p>
            <a:pPr algn="ctr"/>
            <a:r>
              <a:rPr lang="fr-FR" sz="2000" noProof="0" dirty="0"/>
              <a:t>Dataset CheXpert+ </a:t>
            </a:r>
            <a:br>
              <a:rPr lang="fr-FR" sz="2000" noProof="0" dirty="0"/>
            </a:br>
            <a:r>
              <a:rPr lang="fr-FR" sz="2000" noProof="0" dirty="0"/>
              <a:t>de 223 462 paires</a:t>
            </a:r>
          </a:p>
        </p:txBody>
      </p:sp>
      <p:sp>
        <p:nvSpPr>
          <p:cNvPr id="33" name="Flèche : droite 32">
            <a:extLst>
              <a:ext uri="{FF2B5EF4-FFF2-40B4-BE49-F238E27FC236}">
                <a16:creationId xmlns:a16="http://schemas.microsoft.com/office/drawing/2014/main" id="{BE8CBA17-FD5A-F91E-C306-5AD884E24596}"/>
              </a:ext>
            </a:extLst>
          </p:cNvPr>
          <p:cNvSpPr/>
          <p:nvPr/>
        </p:nvSpPr>
        <p:spPr>
          <a:xfrm>
            <a:off x="3225420" y="3016942"/>
            <a:ext cx="1379550" cy="247792"/>
          </a:xfrm>
          <a:prstGeom prst="rightArrow">
            <a:avLst/>
          </a:prstGeom>
          <a:solidFill>
            <a:srgbClr val="1624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34" name="Flèche : droite 33">
            <a:extLst>
              <a:ext uri="{FF2B5EF4-FFF2-40B4-BE49-F238E27FC236}">
                <a16:creationId xmlns:a16="http://schemas.microsoft.com/office/drawing/2014/main" id="{AE3D677C-E368-7409-DF35-68ECA81CD997}"/>
              </a:ext>
            </a:extLst>
          </p:cNvPr>
          <p:cNvSpPr/>
          <p:nvPr/>
        </p:nvSpPr>
        <p:spPr>
          <a:xfrm>
            <a:off x="7169681" y="3022640"/>
            <a:ext cx="1231507" cy="247792"/>
          </a:xfrm>
          <a:prstGeom prst="rightArrow">
            <a:avLst/>
          </a:prstGeom>
          <a:solidFill>
            <a:srgbClr val="1624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p:cNvPicPr>
            <a:picLocks noChangeAspect="1"/>
          </p:cNvPicPr>
          <p:nvPr/>
        </p:nvPicPr>
        <p:blipFill>
          <a:blip r:embed="rId3"/>
          <a:stretch>
            <a:fillRect/>
          </a:stretch>
        </p:blipFill>
        <p:spPr>
          <a:xfrm>
            <a:off x="731520" y="621792"/>
            <a:ext cx="329184" cy="329184"/>
          </a:xfrm>
          <a:prstGeom prst="rect">
            <a:avLst/>
          </a:prstGeom>
        </p:spPr>
      </p:pic>
      <p:sp>
        <p:nvSpPr>
          <p:cNvPr id="4" name="Text 1"/>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04 - CONSTRUIRE LES PAIRES NÉGATIFS</a:t>
            </a:r>
            <a:endParaRPr lang="fr-FR" sz="1100" noProof="0" dirty="0"/>
          </a:p>
        </p:txBody>
      </p:sp>
      <p:sp>
        <p:nvSpPr>
          <p:cNvPr id="5" name="Text 2"/>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cs typeface="Cambria" pitchFamily="34" charset="-120"/>
              </a:rPr>
              <a:t>Le vrai défi : fabriquer le « faux »</a:t>
            </a:r>
            <a:endParaRPr lang="fr-FR" sz="2700" noProof="0" dirty="0"/>
          </a:p>
        </p:txBody>
      </p:sp>
      <p:sp>
        <p:nvSpPr>
          <p:cNvPr id="6" name="Text 3"/>
          <p:cNvSpPr/>
          <p:nvPr/>
        </p:nvSpPr>
        <p:spPr>
          <a:xfrm>
            <a:off x="640080" y="1627632"/>
            <a:ext cx="6675120" cy="1143000"/>
          </a:xfrm>
          <a:prstGeom prst="rect">
            <a:avLst/>
          </a:prstGeom>
          <a:noFill/>
          <a:ln/>
        </p:spPr>
        <p:txBody>
          <a:bodyPr wrap="square" lIns="0" tIns="0" rIns="0" bIns="0" rtlCol="0" anchor="t"/>
          <a:lstStyle/>
          <a:p>
            <a:pPr marL="0" indent="0">
              <a:lnSpc>
                <a:spcPct val="108000"/>
              </a:lnSpc>
              <a:buNone/>
            </a:pPr>
            <a:r>
              <a:rPr lang="fr-FR" sz="1500" noProof="0" dirty="0">
                <a:solidFill>
                  <a:srgbClr val="1F2A37"/>
                </a:solidFill>
                <a:latin typeface="Calibri" pitchFamily="34" charset="0"/>
                <a:ea typeface="Calibri" pitchFamily="34" charset="-122"/>
                <a:cs typeface="Calibri" pitchFamily="34" charset="-120"/>
              </a:rPr>
              <a:t>Les paires cohérentes sont triviales à produire. Toute la difficulté est de fabriquer de bonnes paires incohérentes : un faux trop grossier n'apprend qu'un raccourci paresseux. La fabrication combine deux axes : le niveau de difficulté de l’incohérence (ci-dessous) et la proximité clinique des pathologies échangées (diapositive suivante).</a:t>
            </a:r>
            <a:endParaRPr lang="fr-FR" sz="1500" noProof="0" dirty="0"/>
          </a:p>
        </p:txBody>
      </p:sp>
      <p:sp>
        <p:nvSpPr>
          <p:cNvPr id="7" name="Shape 4"/>
          <p:cNvSpPr/>
          <p:nvPr/>
        </p:nvSpPr>
        <p:spPr>
          <a:xfrm>
            <a:off x="640080" y="2809537"/>
            <a:ext cx="6675120" cy="868680"/>
          </a:xfrm>
          <a:prstGeom prst="roundRect">
            <a:avLst>
              <a:gd name="adj" fmla="val 9474"/>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8" name="Text 5"/>
          <p:cNvSpPr/>
          <p:nvPr/>
        </p:nvSpPr>
        <p:spPr>
          <a:xfrm>
            <a:off x="777240" y="2916936"/>
            <a:ext cx="1051560" cy="795528"/>
          </a:xfrm>
          <a:prstGeom prst="rect">
            <a:avLst/>
          </a:prstGeom>
          <a:noFill/>
          <a:ln/>
        </p:spPr>
        <p:txBody>
          <a:bodyPr wrap="square" lIns="0" tIns="0" rIns="0" bIns="0" rtlCol="0" anchor="ctr"/>
          <a:lstStyle/>
          <a:p>
            <a:pPr marL="0" indent="0" algn="ctr">
              <a:buNone/>
            </a:pPr>
            <a:r>
              <a:rPr lang="fr-FR" sz="2400" b="1" noProof="0" dirty="0">
                <a:solidFill>
                  <a:srgbClr val="1FA8B8"/>
                </a:solidFill>
                <a:latin typeface="Cambria" pitchFamily="34" charset="0"/>
                <a:ea typeface="Cambria" pitchFamily="34" charset="-122"/>
                <a:cs typeface="Cambria" pitchFamily="34" charset="-120"/>
              </a:rPr>
              <a:t>50 %</a:t>
            </a:r>
            <a:endParaRPr lang="fr-FR" sz="2400" noProof="0" dirty="0"/>
          </a:p>
        </p:txBody>
      </p:sp>
      <p:sp>
        <p:nvSpPr>
          <p:cNvPr id="9" name="Text 6"/>
          <p:cNvSpPr/>
          <p:nvPr/>
        </p:nvSpPr>
        <p:spPr>
          <a:xfrm>
            <a:off x="1965960" y="2990088"/>
            <a:ext cx="5120640" cy="347472"/>
          </a:xfrm>
          <a:prstGeom prst="rect">
            <a:avLst/>
          </a:prstGeom>
          <a:noFill/>
          <a:ln/>
        </p:spPr>
        <p:txBody>
          <a:bodyPr wrap="square" lIns="0" tIns="0" rIns="0" bIns="0" rtlCol="0" anchor="ctr"/>
          <a:lstStyle/>
          <a:p>
            <a:pPr marL="0" indent="0">
              <a:buNone/>
            </a:pPr>
            <a:r>
              <a:rPr lang="fr-FR" sz="1550" b="1">
                <a:solidFill>
                  <a:srgbClr val="16243F"/>
                </a:solidFill>
                <a:latin typeface="Cambria"/>
                <a:ea typeface="Cambria"/>
                <a:cs typeface="Cambria" pitchFamily="34" charset="-120"/>
              </a:rPr>
              <a:t>Divergence</a:t>
            </a:r>
            <a:r>
              <a:rPr lang="fr-FR" sz="1550" b="1" noProof="0">
                <a:solidFill>
                  <a:srgbClr val="16243F"/>
                </a:solidFill>
                <a:latin typeface="Cambria"/>
                <a:ea typeface="Cambria"/>
                <a:cs typeface="Cambria" pitchFamily="34" charset="-120"/>
              </a:rPr>
              <a:t> totale</a:t>
            </a:r>
            <a:endParaRPr lang="fr-FR" sz="1550" noProof="0">
              <a:latin typeface="Cambria"/>
              <a:ea typeface="Cambria"/>
            </a:endParaRPr>
          </a:p>
        </p:txBody>
      </p:sp>
      <p:sp>
        <p:nvSpPr>
          <p:cNvPr id="10" name="Text 7"/>
          <p:cNvSpPr/>
          <p:nvPr/>
        </p:nvSpPr>
        <p:spPr>
          <a:xfrm>
            <a:off x="1965960" y="3337560"/>
            <a:ext cx="5212080" cy="365760"/>
          </a:xfrm>
          <a:prstGeom prst="rect">
            <a:avLst/>
          </a:prstGeom>
          <a:noFill/>
          <a:ln/>
        </p:spPr>
        <p:txBody>
          <a:bodyPr wrap="square" lIns="0" tIns="0" rIns="0" bIns="0" rtlCol="0" anchor="t"/>
          <a:lstStyle/>
          <a:p>
            <a:pPr marL="0" indent="0">
              <a:buNone/>
            </a:pPr>
            <a:r>
              <a:rPr lang="fr-FR" sz="1250" noProof="0" dirty="0">
                <a:solidFill>
                  <a:srgbClr val="5E6E7E"/>
                </a:solidFill>
                <a:latin typeface="Calibri" pitchFamily="34" charset="0"/>
                <a:ea typeface="Calibri" pitchFamily="34" charset="-122"/>
                <a:cs typeface="Calibri" pitchFamily="34" charset="-120"/>
              </a:rPr>
              <a:t>Aucune pathologie en commun. L'incohérence la plus franche.</a:t>
            </a:r>
            <a:endParaRPr lang="fr-FR" sz="1250" noProof="0" dirty="0"/>
          </a:p>
        </p:txBody>
      </p:sp>
      <p:sp>
        <p:nvSpPr>
          <p:cNvPr id="11" name="Shape 8"/>
          <p:cNvSpPr/>
          <p:nvPr/>
        </p:nvSpPr>
        <p:spPr>
          <a:xfrm>
            <a:off x="640080" y="3867912"/>
            <a:ext cx="6675120" cy="868680"/>
          </a:xfrm>
          <a:prstGeom prst="roundRect">
            <a:avLst>
              <a:gd name="adj" fmla="val 9474"/>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2" name="Text 9"/>
          <p:cNvSpPr/>
          <p:nvPr/>
        </p:nvSpPr>
        <p:spPr>
          <a:xfrm>
            <a:off x="777240" y="3904488"/>
            <a:ext cx="1051560" cy="795528"/>
          </a:xfrm>
          <a:prstGeom prst="rect">
            <a:avLst/>
          </a:prstGeom>
          <a:noFill/>
          <a:ln/>
        </p:spPr>
        <p:txBody>
          <a:bodyPr wrap="square" lIns="0" tIns="0" rIns="0" bIns="0" rtlCol="0" anchor="ctr"/>
          <a:lstStyle/>
          <a:p>
            <a:pPr marL="0" indent="0" algn="ctr">
              <a:buNone/>
            </a:pPr>
            <a:r>
              <a:rPr lang="fr-FR" sz="2400" b="1" noProof="0" dirty="0">
                <a:solidFill>
                  <a:srgbClr val="1FA8B8"/>
                </a:solidFill>
                <a:latin typeface="Cambria" pitchFamily="34" charset="0"/>
                <a:ea typeface="Cambria" pitchFamily="34" charset="-122"/>
                <a:cs typeface="Cambria" pitchFamily="34" charset="-120"/>
              </a:rPr>
              <a:t>30 %</a:t>
            </a:r>
            <a:endParaRPr lang="fr-FR" sz="2400" noProof="0" dirty="0"/>
          </a:p>
        </p:txBody>
      </p:sp>
      <p:sp>
        <p:nvSpPr>
          <p:cNvPr id="13" name="Text 10"/>
          <p:cNvSpPr/>
          <p:nvPr/>
        </p:nvSpPr>
        <p:spPr>
          <a:xfrm>
            <a:off x="1965960" y="3977640"/>
            <a:ext cx="5120640" cy="347472"/>
          </a:xfrm>
          <a:prstGeom prst="rect">
            <a:avLst/>
          </a:prstGeom>
          <a:noFill/>
          <a:ln/>
        </p:spPr>
        <p:txBody>
          <a:bodyPr wrap="square" lIns="0" tIns="0" rIns="0" bIns="0" rtlCol="0" anchor="ctr"/>
          <a:lstStyle/>
          <a:p>
            <a:pPr marL="0" indent="0">
              <a:buNone/>
            </a:pPr>
            <a:r>
              <a:rPr lang="fr-FR" sz="1550" b="1" noProof="0" dirty="0">
                <a:solidFill>
                  <a:srgbClr val="16243F"/>
                </a:solidFill>
                <a:latin typeface="Cambria" pitchFamily="34" charset="0"/>
                <a:ea typeface="Cambria" pitchFamily="34" charset="-122"/>
                <a:cs typeface="Cambria" pitchFamily="34" charset="-120"/>
              </a:rPr>
              <a:t>Divergence nette </a:t>
            </a:r>
            <a:endParaRPr lang="fr-FR" sz="1550" noProof="0" dirty="0"/>
          </a:p>
        </p:txBody>
      </p:sp>
      <p:sp>
        <p:nvSpPr>
          <p:cNvPr id="14" name="Text 11"/>
          <p:cNvSpPr/>
          <p:nvPr/>
        </p:nvSpPr>
        <p:spPr>
          <a:xfrm>
            <a:off x="1965960" y="4325112"/>
            <a:ext cx="5212080" cy="365760"/>
          </a:xfrm>
          <a:prstGeom prst="rect">
            <a:avLst/>
          </a:prstGeom>
          <a:noFill/>
          <a:ln/>
        </p:spPr>
        <p:txBody>
          <a:bodyPr wrap="square" lIns="0" tIns="0" rIns="0" bIns="0" rtlCol="0" anchor="t"/>
          <a:lstStyle/>
          <a:p>
            <a:pPr marL="0" indent="0">
              <a:buNone/>
            </a:pPr>
            <a:r>
              <a:rPr lang="fr-FR" sz="1250" noProof="0" dirty="0">
                <a:solidFill>
                  <a:srgbClr val="5E6E7E"/>
                </a:solidFill>
                <a:latin typeface="Calibri" pitchFamily="34" charset="0"/>
                <a:ea typeface="Calibri" pitchFamily="34" charset="-122"/>
                <a:cs typeface="Calibri" pitchFamily="34" charset="-120"/>
              </a:rPr>
              <a:t>Au moins une pathologie positive contradictoire et sans ambiguïté.</a:t>
            </a:r>
            <a:endParaRPr lang="fr-FR" sz="1250" noProof="0" dirty="0"/>
          </a:p>
        </p:txBody>
      </p:sp>
      <p:sp>
        <p:nvSpPr>
          <p:cNvPr id="15" name="Shape 12"/>
          <p:cNvSpPr/>
          <p:nvPr/>
        </p:nvSpPr>
        <p:spPr>
          <a:xfrm>
            <a:off x="640080" y="4855464"/>
            <a:ext cx="6675120" cy="868680"/>
          </a:xfrm>
          <a:prstGeom prst="roundRect">
            <a:avLst>
              <a:gd name="adj" fmla="val 9474"/>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6" name="Text 13"/>
          <p:cNvSpPr/>
          <p:nvPr/>
        </p:nvSpPr>
        <p:spPr>
          <a:xfrm>
            <a:off x="777240" y="4892040"/>
            <a:ext cx="1051560" cy="795528"/>
          </a:xfrm>
          <a:prstGeom prst="rect">
            <a:avLst/>
          </a:prstGeom>
          <a:noFill/>
          <a:ln/>
        </p:spPr>
        <p:txBody>
          <a:bodyPr wrap="square" lIns="0" tIns="0" rIns="0" bIns="0" rtlCol="0" anchor="ctr"/>
          <a:lstStyle/>
          <a:p>
            <a:pPr marL="0" indent="0" algn="ctr">
              <a:buNone/>
            </a:pPr>
            <a:r>
              <a:rPr lang="fr-FR" sz="2400" b="1" noProof="0" dirty="0">
                <a:solidFill>
                  <a:srgbClr val="1FA8B8"/>
                </a:solidFill>
                <a:latin typeface="Cambria" pitchFamily="34" charset="0"/>
                <a:ea typeface="Cambria" pitchFamily="34" charset="-122"/>
                <a:cs typeface="Cambria" pitchFamily="34" charset="-120"/>
              </a:rPr>
              <a:t>20 %</a:t>
            </a:r>
            <a:endParaRPr lang="fr-FR" sz="2400" noProof="0" dirty="0"/>
          </a:p>
        </p:txBody>
      </p:sp>
      <p:sp>
        <p:nvSpPr>
          <p:cNvPr id="17" name="Text 14"/>
          <p:cNvSpPr/>
          <p:nvPr/>
        </p:nvSpPr>
        <p:spPr>
          <a:xfrm>
            <a:off x="1965960" y="4965192"/>
            <a:ext cx="5120640" cy="347472"/>
          </a:xfrm>
          <a:prstGeom prst="rect">
            <a:avLst/>
          </a:prstGeom>
          <a:noFill/>
          <a:ln/>
        </p:spPr>
        <p:txBody>
          <a:bodyPr wrap="square" lIns="0" tIns="0" rIns="0" bIns="0" rtlCol="0" anchor="ctr"/>
          <a:lstStyle/>
          <a:p>
            <a:pPr marL="0" indent="0">
              <a:buNone/>
            </a:pPr>
            <a:r>
              <a:rPr lang="fr-FR" sz="1550" b="1" noProof="0" dirty="0">
                <a:solidFill>
                  <a:srgbClr val="16243F"/>
                </a:solidFill>
                <a:latin typeface="Cambria" pitchFamily="34" charset="0"/>
                <a:ea typeface="Cambria" pitchFamily="34" charset="-122"/>
                <a:cs typeface="Cambria" pitchFamily="34" charset="-120"/>
              </a:rPr>
              <a:t>Divergence ambiguë </a:t>
            </a:r>
            <a:endParaRPr lang="fr-FR" sz="1550" noProof="0" dirty="0"/>
          </a:p>
        </p:txBody>
      </p:sp>
      <p:sp>
        <p:nvSpPr>
          <p:cNvPr id="18" name="Text 15"/>
          <p:cNvSpPr/>
          <p:nvPr/>
        </p:nvSpPr>
        <p:spPr>
          <a:xfrm>
            <a:off x="1965960" y="5312664"/>
            <a:ext cx="5212080" cy="365760"/>
          </a:xfrm>
          <a:prstGeom prst="rect">
            <a:avLst/>
          </a:prstGeom>
          <a:noFill/>
          <a:ln/>
        </p:spPr>
        <p:txBody>
          <a:bodyPr wrap="square" lIns="0" tIns="0" rIns="0" bIns="0" rtlCol="0" anchor="t"/>
          <a:lstStyle/>
          <a:p>
            <a:r>
              <a:rPr lang="fr-FR" sz="1250" noProof="0" dirty="0">
                <a:solidFill>
                  <a:srgbClr val="5E6E7E"/>
                </a:solidFill>
                <a:latin typeface="Calibri" pitchFamily="34" charset="0"/>
                <a:ea typeface="Calibri" pitchFamily="34" charset="-122"/>
                <a:cs typeface="Calibri" pitchFamily="34" charset="-120"/>
              </a:rPr>
              <a:t>Au moins une pathologie positive contradictoire, avec ambiguïté éventuelle</a:t>
            </a:r>
            <a:endParaRPr lang="fr-FR" sz="1250" noProof="0" dirty="0"/>
          </a:p>
        </p:txBody>
      </p:sp>
      <p:sp>
        <p:nvSpPr>
          <p:cNvPr id="19" name="Text 16"/>
          <p:cNvSpPr/>
          <p:nvPr/>
        </p:nvSpPr>
        <p:spPr>
          <a:xfrm>
            <a:off x="7635240" y="1783080"/>
            <a:ext cx="3931920" cy="365760"/>
          </a:xfrm>
          <a:prstGeom prst="rect">
            <a:avLst/>
          </a:prstGeom>
          <a:noFill/>
          <a:ln/>
        </p:spPr>
        <p:txBody>
          <a:bodyPr wrap="square" lIns="0" tIns="0" rIns="0" bIns="0" rtlCol="0" anchor="ctr"/>
          <a:lstStyle/>
          <a:p>
            <a:pPr marL="0" indent="0" algn="ctr">
              <a:buNone/>
            </a:pPr>
            <a:r>
              <a:rPr lang="fr-FR" sz="1500" b="1" noProof="0" dirty="0">
                <a:solidFill>
                  <a:srgbClr val="16243F"/>
                </a:solidFill>
                <a:latin typeface="Cambria" pitchFamily="34" charset="0"/>
                <a:ea typeface="Cambria" pitchFamily="34" charset="-122"/>
                <a:cs typeface="Cambria" pitchFamily="34" charset="-120"/>
              </a:rPr>
              <a:t>Répartition par difficulté</a:t>
            </a:r>
            <a:endParaRPr lang="fr-FR" sz="1500" noProof="0" dirty="0"/>
          </a:p>
        </p:txBody>
      </p:sp>
      <p:graphicFrame>
        <p:nvGraphicFramePr>
          <p:cNvPr id="20" name="Chart 0"/>
          <p:cNvGraphicFramePr/>
          <p:nvPr/>
        </p:nvGraphicFramePr>
        <p:xfrm>
          <a:off x="7498080" y="2103120"/>
          <a:ext cx="420624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5</a:t>
            </a:fld>
            <a:endParaRPr lang="fr-FR"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p:cNvPicPr>
            <a:picLocks noChangeAspect="1"/>
          </p:cNvPicPr>
          <p:nvPr/>
        </p:nvPicPr>
        <p:blipFill>
          <a:blip r:embed="rId3"/>
          <a:stretch>
            <a:fillRect/>
          </a:stretch>
        </p:blipFill>
        <p:spPr>
          <a:xfrm>
            <a:off x="731520" y="621792"/>
            <a:ext cx="329184" cy="329184"/>
          </a:xfrm>
          <a:prstGeom prst="rect">
            <a:avLst/>
          </a:prstGeom>
        </p:spPr>
      </p:pic>
      <p:sp>
        <p:nvSpPr>
          <p:cNvPr id="4" name="Text 1"/>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04 - DES FAUX PLUS DIFFICILES</a:t>
            </a:r>
            <a:endParaRPr lang="fr-FR" sz="1100" noProof="0" dirty="0"/>
          </a:p>
        </p:txBody>
      </p:sp>
      <p:sp>
        <p:nvSpPr>
          <p:cNvPr id="5" name="Text 2"/>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cs typeface="Cambria" pitchFamily="34" charset="-120"/>
              </a:rPr>
              <a:t>Aller plus loin : les grappes cliniques</a:t>
            </a:r>
            <a:endParaRPr lang="fr-FR" sz="2700" noProof="0" dirty="0"/>
          </a:p>
        </p:txBody>
      </p:sp>
      <p:sp>
        <p:nvSpPr>
          <p:cNvPr id="6" name="Text 3"/>
          <p:cNvSpPr/>
          <p:nvPr/>
        </p:nvSpPr>
        <p:spPr>
          <a:xfrm>
            <a:off x="640080" y="1645920"/>
            <a:ext cx="10881360" cy="685800"/>
          </a:xfrm>
          <a:prstGeom prst="rect">
            <a:avLst/>
          </a:prstGeom>
          <a:noFill/>
          <a:ln/>
        </p:spPr>
        <p:txBody>
          <a:bodyPr wrap="square" lIns="0" tIns="0" rIns="0" bIns="0" rtlCol="0" anchor="t"/>
          <a:lstStyle/>
          <a:p>
            <a:pPr marL="0" indent="0">
              <a:lnSpc>
                <a:spcPct val="106000"/>
              </a:lnSpc>
              <a:buNone/>
            </a:pPr>
            <a:r>
              <a:rPr lang="fr-FR" sz="1500" noProof="0" dirty="0">
                <a:solidFill>
                  <a:srgbClr val="1F2A37"/>
                </a:solidFill>
                <a:latin typeface="Calibri" pitchFamily="34" charset="0"/>
                <a:ea typeface="Calibri" pitchFamily="34" charset="-122"/>
                <a:cs typeface="Calibri" pitchFamily="34" charset="-120"/>
              </a:rPr>
              <a:t>Deux pathologies peuvent diverger sur le rapport tout en ayant une radio similaire. </a:t>
            </a:r>
          </a:p>
          <a:p>
            <a:pPr marL="0" indent="0">
              <a:lnSpc>
                <a:spcPct val="106000"/>
              </a:lnSpc>
              <a:buNone/>
            </a:pPr>
            <a:r>
              <a:rPr lang="fr-FR" sz="1500" noProof="0" dirty="0">
                <a:solidFill>
                  <a:srgbClr val="1F2A37"/>
                </a:solidFill>
                <a:latin typeface="Calibri" pitchFamily="34" charset="0"/>
                <a:ea typeface="Calibri" pitchFamily="34" charset="-122"/>
                <a:cs typeface="Calibri" pitchFamily="34" charset="-120"/>
              </a:rPr>
              <a:t>Les douze pathologies sont regroupées en quatre familles anatomiques.</a:t>
            </a:r>
            <a:endParaRPr lang="fr-FR" sz="1500" noProof="0" dirty="0"/>
          </a:p>
        </p:txBody>
      </p:sp>
      <p:sp>
        <p:nvSpPr>
          <p:cNvPr id="7" name="Shape 4"/>
          <p:cNvSpPr/>
          <p:nvPr/>
        </p:nvSpPr>
        <p:spPr>
          <a:xfrm>
            <a:off x="640080" y="2514600"/>
            <a:ext cx="5166360" cy="1143000"/>
          </a:xfrm>
          <a:prstGeom prst="roundRect">
            <a:avLst>
              <a:gd name="adj" fmla="val 7200"/>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8" name="Shape 5"/>
          <p:cNvSpPr/>
          <p:nvPr/>
        </p:nvSpPr>
        <p:spPr>
          <a:xfrm>
            <a:off x="914400" y="2779776"/>
            <a:ext cx="603504" cy="603504"/>
          </a:xfrm>
          <a:prstGeom prst="ellipse">
            <a:avLst/>
          </a:prstGeom>
          <a:solidFill>
            <a:srgbClr val="1FA8B8"/>
          </a:solidFill>
          <a:ln/>
        </p:spPr>
        <p:txBody>
          <a:bodyPr/>
          <a:lstStyle/>
          <a:p>
            <a:endParaRPr lang="fr-FR" noProof="0" dirty="0"/>
          </a:p>
        </p:txBody>
      </p:sp>
      <p:pic>
        <p:nvPicPr>
          <p:cNvPr id="9" name="Image 1" descr="preencoded.png"/>
          <p:cNvPicPr>
            <a:picLocks noChangeAspect="1"/>
          </p:cNvPicPr>
          <p:nvPr/>
        </p:nvPicPr>
        <p:blipFill>
          <a:blip r:embed="rId4"/>
          <a:stretch>
            <a:fillRect/>
          </a:stretch>
        </p:blipFill>
        <p:spPr>
          <a:xfrm>
            <a:off x="1077346" y="2942722"/>
            <a:ext cx="277612" cy="277612"/>
          </a:xfrm>
          <a:prstGeom prst="rect">
            <a:avLst/>
          </a:prstGeom>
        </p:spPr>
      </p:pic>
      <p:sp>
        <p:nvSpPr>
          <p:cNvPr id="10" name="Text 6"/>
          <p:cNvSpPr/>
          <p:nvPr/>
        </p:nvSpPr>
        <p:spPr>
          <a:xfrm>
            <a:off x="1691640" y="2679192"/>
            <a:ext cx="3931920" cy="365760"/>
          </a:xfrm>
          <a:prstGeom prst="rect">
            <a:avLst/>
          </a:prstGeom>
          <a:noFill/>
          <a:ln/>
        </p:spPr>
        <p:txBody>
          <a:bodyPr wrap="square" lIns="0" tIns="0" rIns="0" bIns="0" rtlCol="0" anchor="ctr"/>
          <a:lstStyle/>
          <a:p>
            <a:pPr marL="0" indent="0">
              <a:buNone/>
            </a:pPr>
            <a:r>
              <a:rPr lang="fr-FR" sz="1600" b="1" noProof="0" dirty="0">
                <a:solidFill>
                  <a:srgbClr val="16243F"/>
                </a:solidFill>
                <a:latin typeface="Cambria" pitchFamily="34" charset="0"/>
                <a:ea typeface="Cambria" pitchFamily="34" charset="-122"/>
                <a:cs typeface="Cambria" pitchFamily="34" charset="-120"/>
              </a:rPr>
              <a:t>Cœur et médiastin</a:t>
            </a:r>
            <a:endParaRPr lang="fr-FR" sz="1600" noProof="0" dirty="0"/>
          </a:p>
        </p:txBody>
      </p:sp>
      <p:sp>
        <p:nvSpPr>
          <p:cNvPr id="11" name="Text 7"/>
          <p:cNvSpPr/>
          <p:nvPr/>
        </p:nvSpPr>
        <p:spPr>
          <a:xfrm>
            <a:off x="1691640" y="3063240"/>
            <a:ext cx="3977640" cy="502920"/>
          </a:xfrm>
          <a:prstGeom prst="rect">
            <a:avLst/>
          </a:prstGeom>
          <a:noFill/>
          <a:ln/>
        </p:spPr>
        <p:txBody>
          <a:bodyPr wrap="square" lIns="0" tIns="0" rIns="0" bIns="0" rtlCol="0" anchor="t"/>
          <a:lstStyle/>
          <a:p>
            <a:pPr marL="0" indent="0">
              <a:lnSpc>
                <a:spcPct val="100000"/>
              </a:lnSpc>
              <a:buNone/>
            </a:pPr>
            <a:r>
              <a:rPr lang="fr-FR" sz="1250" noProof="0" dirty="0">
                <a:solidFill>
                  <a:srgbClr val="5E6E7E"/>
                </a:solidFill>
                <a:latin typeface="Calibri" pitchFamily="34" charset="0"/>
                <a:ea typeface="Calibri" pitchFamily="34" charset="-122"/>
                <a:cs typeface="Calibri" pitchFamily="34" charset="-120"/>
              </a:rPr>
              <a:t>Cardiomégalie, élargissement du médiastin.</a:t>
            </a:r>
            <a:endParaRPr lang="fr-FR" sz="1250" noProof="0" dirty="0"/>
          </a:p>
        </p:txBody>
      </p:sp>
      <p:sp>
        <p:nvSpPr>
          <p:cNvPr id="12" name="Shape 8"/>
          <p:cNvSpPr/>
          <p:nvPr/>
        </p:nvSpPr>
        <p:spPr>
          <a:xfrm>
            <a:off x="6126480" y="2514600"/>
            <a:ext cx="5166360" cy="1143000"/>
          </a:xfrm>
          <a:prstGeom prst="roundRect">
            <a:avLst>
              <a:gd name="adj" fmla="val 7200"/>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3" name="Shape 9"/>
          <p:cNvSpPr/>
          <p:nvPr/>
        </p:nvSpPr>
        <p:spPr>
          <a:xfrm>
            <a:off x="6400800" y="2779776"/>
            <a:ext cx="603504" cy="603504"/>
          </a:xfrm>
          <a:prstGeom prst="ellipse">
            <a:avLst/>
          </a:prstGeom>
          <a:solidFill>
            <a:srgbClr val="1FA8B8"/>
          </a:solidFill>
          <a:ln/>
        </p:spPr>
        <p:txBody>
          <a:bodyPr/>
          <a:lstStyle/>
          <a:p>
            <a:endParaRPr lang="fr-FR" noProof="0" dirty="0"/>
          </a:p>
        </p:txBody>
      </p:sp>
      <p:pic>
        <p:nvPicPr>
          <p:cNvPr id="14" name="Image 2" descr="preencoded.png"/>
          <p:cNvPicPr>
            <a:picLocks noChangeAspect="1"/>
          </p:cNvPicPr>
          <p:nvPr/>
        </p:nvPicPr>
        <p:blipFill>
          <a:blip r:embed="rId5"/>
          <a:stretch>
            <a:fillRect/>
          </a:stretch>
        </p:blipFill>
        <p:spPr>
          <a:xfrm>
            <a:off x="6563746" y="2942722"/>
            <a:ext cx="277612" cy="277612"/>
          </a:xfrm>
          <a:prstGeom prst="rect">
            <a:avLst/>
          </a:prstGeom>
        </p:spPr>
      </p:pic>
      <p:sp>
        <p:nvSpPr>
          <p:cNvPr id="15" name="Text 10"/>
          <p:cNvSpPr/>
          <p:nvPr/>
        </p:nvSpPr>
        <p:spPr>
          <a:xfrm>
            <a:off x="7178040" y="2679192"/>
            <a:ext cx="3931920" cy="365760"/>
          </a:xfrm>
          <a:prstGeom prst="rect">
            <a:avLst/>
          </a:prstGeom>
          <a:noFill/>
          <a:ln/>
        </p:spPr>
        <p:txBody>
          <a:bodyPr wrap="square" lIns="0" tIns="0" rIns="0" bIns="0" rtlCol="0" anchor="ctr"/>
          <a:lstStyle/>
          <a:p>
            <a:pPr marL="0" indent="0">
              <a:buNone/>
            </a:pPr>
            <a:r>
              <a:rPr lang="fr-FR" sz="1600" b="1" noProof="0" dirty="0">
                <a:solidFill>
                  <a:srgbClr val="16243F"/>
                </a:solidFill>
                <a:latin typeface="Cambria" pitchFamily="34" charset="0"/>
                <a:ea typeface="Cambria" pitchFamily="34" charset="-122"/>
                <a:cs typeface="Cambria" pitchFamily="34" charset="-120"/>
              </a:rPr>
              <a:t>Opacités pulmonaires</a:t>
            </a:r>
            <a:endParaRPr lang="fr-FR" sz="1600" noProof="0" dirty="0"/>
          </a:p>
        </p:txBody>
      </p:sp>
      <p:sp>
        <p:nvSpPr>
          <p:cNvPr id="16" name="Text 11"/>
          <p:cNvSpPr/>
          <p:nvPr/>
        </p:nvSpPr>
        <p:spPr>
          <a:xfrm>
            <a:off x="7178040" y="3063240"/>
            <a:ext cx="3977640" cy="502920"/>
          </a:xfrm>
          <a:prstGeom prst="rect">
            <a:avLst/>
          </a:prstGeom>
          <a:noFill/>
          <a:ln/>
        </p:spPr>
        <p:txBody>
          <a:bodyPr wrap="square" lIns="0" tIns="0" rIns="0" bIns="0" rtlCol="0" anchor="t"/>
          <a:lstStyle/>
          <a:p>
            <a:pPr marL="0" indent="0">
              <a:lnSpc>
                <a:spcPct val="100000"/>
              </a:lnSpc>
              <a:buNone/>
            </a:pPr>
            <a:r>
              <a:rPr lang="fr-FR" sz="1250" noProof="0" dirty="0">
                <a:solidFill>
                  <a:srgbClr val="5E6E7E"/>
                </a:solidFill>
                <a:latin typeface="Calibri" pitchFamily="34" charset="0"/>
                <a:ea typeface="Calibri" pitchFamily="34" charset="-122"/>
                <a:cs typeface="Calibri" pitchFamily="34" charset="-120"/>
              </a:rPr>
              <a:t>Opacité, œdème, condensation, pneumonie, atélectasie.</a:t>
            </a:r>
            <a:endParaRPr lang="fr-FR" sz="1250" noProof="0" dirty="0"/>
          </a:p>
        </p:txBody>
      </p:sp>
      <p:sp>
        <p:nvSpPr>
          <p:cNvPr id="17" name="Shape 12"/>
          <p:cNvSpPr/>
          <p:nvPr/>
        </p:nvSpPr>
        <p:spPr>
          <a:xfrm>
            <a:off x="640080" y="3840480"/>
            <a:ext cx="5166360" cy="1143000"/>
          </a:xfrm>
          <a:prstGeom prst="roundRect">
            <a:avLst>
              <a:gd name="adj" fmla="val 7200"/>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8" name="Shape 13"/>
          <p:cNvSpPr/>
          <p:nvPr/>
        </p:nvSpPr>
        <p:spPr>
          <a:xfrm>
            <a:off x="914400" y="4105656"/>
            <a:ext cx="603504" cy="603504"/>
          </a:xfrm>
          <a:prstGeom prst="ellipse">
            <a:avLst/>
          </a:prstGeom>
          <a:solidFill>
            <a:srgbClr val="1FA8B8"/>
          </a:solidFill>
          <a:ln/>
        </p:spPr>
        <p:txBody>
          <a:bodyPr/>
          <a:lstStyle/>
          <a:p>
            <a:endParaRPr lang="fr-FR" noProof="0" dirty="0"/>
          </a:p>
        </p:txBody>
      </p:sp>
      <p:pic>
        <p:nvPicPr>
          <p:cNvPr id="19" name="Image 3" descr="preencoded.png"/>
          <p:cNvPicPr>
            <a:picLocks noChangeAspect="1"/>
          </p:cNvPicPr>
          <p:nvPr/>
        </p:nvPicPr>
        <p:blipFill>
          <a:blip r:embed="rId6"/>
          <a:stretch>
            <a:fillRect/>
          </a:stretch>
        </p:blipFill>
        <p:spPr>
          <a:xfrm>
            <a:off x="1077346" y="4268602"/>
            <a:ext cx="277612" cy="277612"/>
          </a:xfrm>
          <a:prstGeom prst="rect">
            <a:avLst/>
          </a:prstGeom>
        </p:spPr>
      </p:pic>
      <p:sp>
        <p:nvSpPr>
          <p:cNvPr id="20" name="Text 14"/>
          <p:cNvSpPr/>
          <p:nvPr/>
        </p:nvSpPr>
        <p:spPr>
          <a:xfrm>
            <a:off x="1691640" y="4005072"/>
            <a:ext cx="3931920" cy="365760"/>
          </a:xfrm>
          <a:prstGeom prst="rect">
            <a:avLst/>
          </a:prstGeom>
          <a:noFill/>
          <a:ln/>
        </p:spPr>
        <p:txBody>
          <a:bodyPr wrap="square" lIns="0" tIns="0" rIns="0" bIns="0" rtlCol="0" anchor="ctr"/>
          <a:lstStyle/>
          <a:p>
            <a:pPr marL="0" indent="0">
              <a:buNone/>
            </a:pPr>
            <a:r>
              <a:rPr lang="fr-FR" sz="1600" b="1" noProof="0" dirty="0">
                <a:solidFill>
                  <a:srgbClr val="16243F"/>
                </a:solidFill>
                <a:latin typeface="Cambria" pitchFamily="34" charset="0"/>
                <a:ea typeface="Cambria" pitchFamily="34" charset="-122"/>
                <a:cs typeface="Cambria" pitchFamily="34" charset="-120"/>
              </a:rPr>
              <a:t>Espace pleural</a:t>
            </a:r>
            <a:endParaRPr lang="fr-FR" sz="1600" noProof="0" dirty="0"/>
          </a:p>
        </p:txBody>
      </p:sp>
      <p:sp>
        <p:nvSpPr>
          <p:cNvPr id="21" name="Text 15"/>
          <p:cNvSpPr/>
          <p:nvPr/>
        </p:nvSpPr>
        <p:spPr>
          <a:xfrm>
            <a:off x="1691640" y="4389120"/>
            <a:ext cx="3977640" cy="502920"/>
          </a:xfrm>
          <a:prstGeom prst="rect">
            <a:avLst/>
          </a:prstGeom>
          <a:noFill/>
          <a:ln/>
        </p:spPr>
        <p:txBody>
          <a:bodyPr wrap="square" lIns="0" tIns="0" rIns="0" bIns="0" rtlCol="0" anchor="t"/>
          <a:lstStyle/>
          <a:p>
            <a:pPr marL="0" indent="0">
              <a:lnSpc>
                <a:spcPct val="100000"/>
              </a:lnSpc>
              <a:buNone/>
            </a:pPr>
            <a:r>
              <a:rPr lang="fr-FR" sz="1250" noProof="0" dirty="0">
                <a:solidFill>
                  <a:srgbClr val="5E6E7E"/>
                </a:solidFill>
                <a:latin typeface="Calibri" pitchFamily="34" charset="0"/>
                <a:ea typeface="Calibri" pitchFamily="34" charset="-122"/>
                <a:cs typeface="Calibri" pitchFamily="34" charset="-120"/>
              </a:rPr>
              <a:t>Pneumothorax, épanchement, atteinte pleurale.</a:t>
            </a:r>
            <a:endParaRPr lang="fr-FR" sz="1250" noProof="0" dirty="0"/>
          </a:p>
        </p:txBody>
      </p:sp>
      <p:sp>
        <p:nvSpPr>
          <p:cNvPr id="22" name="Shape 16"/>
          <p:cNvSpPr/>
          <p:nvPr/>
        </p:nvSpPr>
        <p:spPr>
          <a:xfrm>
            <a:off x="6126480" y="3840480"/>
            <a:ext cx="5166360" cy="1143000"/>
          </a:xfrm>
          <a:prstGeom prst="roundRect">
            <a:avLst>
              <a:gd name="adj" fmla="val 7200"/>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23" name="Shape 17"/>
          <p:cNvSpPr/>
          <p:nvPr/>
        </p:nvSpPr>
        <p:spPr>
          <a:xfrm>
            <a:off x="6400800" y="4105656"/>
            <a:ext cx="603504" cy="603504"/>
          </a:xfrm>
          <a:prstGeom prst="ellipse">
            <a:avLst/>
          </a:prstGeom>
          <a:solidFill>
            <a:srgbClr val="1FA8B8"/>
          </a:solidFill>
          <a:ln/>
        </p:spPr>
        <p:txBody>
          <a:bodyPr/>
          <a:lstStyle/>
          <a:p>
            <a:endParaRPr lang="fr-FR" noProof="0" dirty="0"/>
          </a:p>
        </p:txBody>
      </p:sp>
      <p:pic>
        <p:nvPicPr>
          <p:cNvPr id="24" name="Image 4" descr="preencoded.png"/>
          <p:cNvPicPr>
            <a:picLocks noChangeAspect="1"/>
          </p:cNvPicPr>
          <p:nvPr/>
        </p:nvPicPr>
        <p:blipFill>
          <a:blip r:embed="rId7"/>
          <a:stretch>
            <a:fillRect/>
          </a:stretch>
        </p:blipFill>
        <p:spPr>
          <a:xfrm>
            <a:off x="6563746" y="4268602"/>
            <a:ext cx="277612" cy="277612"/>
          </a:xfrm>
          <a:prstGeom prst="rect">
            <a:avLst/>
          </a:prstGeom>
        </p:spPr>
      </p:pic>
      <p:sp>
        <p:nvSpPr>
          <p:cNvPr id="25" name="Text 18"/>
          <p:cNvSpPr/>
          <p:nvPr/>
        </p:nvSpPr>
        <p:spPr>
          <a:xfrm>
            <a:off x="7178040" y="4005072"/>
            <a:ext cx="3931920" cy="365760"/>
          </a:xfrm>
          <a:prstGeom prst="rect">
            <a:avLst/>
          </a:prstGeom>
          <a:noFill/>
          <a:ln/>
        </p:spPr>
        <p:txBody>
          <a:bodyPr wrap="square" lIns="0" tIns="0" rIns="0" bIns="0" rtlCol="0" anchor="ctr"/>
          <a:lstStyle/>
          <a:p>
            <a:pPr marL="0" indent="0">
              <a:buNone/>
            </a:pPr>
            <a:r>
              <a:rPr lang="fr-FR" sz="1600" b="1" noProof="0" dirty="0">
                <a:solidFill>
                  <a:srgbClr val="16243F"/>
                </a:solidFill>
                <a:latin typeface="Cambria" pitchFamily="34" charset="0"/>
                <a:ea typeface="Cambria" pitchFamily="34" charset="-122"/>
                <a:cs typeface="Cambria" pitchFamily="34" charset="-120"/>
              </a:rPr>
              <a:t>Lésions focales et os</a:t>
            </a:r>
            <a:endParaRPr lang="fr-FR" sz="1600" noProof="0" dirty="0"/>
          </a:p>
        </p:txBody>
      </p:sp>
      <p:sp>
        <p:nvSpPr>
          <p:cNvPr id="26" name="Text 19"/>
          <p:cNvSpPr/>
          <p:nvPr/>
        </p:nvSpPr>
        <p:spPr>
          <a:xfrm>
            <a:off x="7178040" y="4389120"/>
            <a:ext cx="3977640" cy="502920"/>
          </a:xfrm>
          <a:prstGeom prst="rect">
            <a:avLst/>
          </a:prstGeom>
          <a:noFill/>
          <a:ln/>
        </p:spPr>
        <p:txBody>
          <a:bodyPr wrap="square" lIns="0" tIns="0" rIns="0" bIns="0" rtlCol="0" anchor="t"/>
          <a:lstStyle/>
          <a:p>
            <a:pPr marL="0" indent="0">
              <a:lnSpc>
                <a:spcPct val="100000"/>
              </a:lnSpc>
              <a:buNone/>
            </a:pPr>
            <a:r>
              <a:rPr lang="fr-FR" sz="1250" noProof="0" dirty="0">
                <a:solidFill>
                  <a:srgbClr val="5E6E7E"/>
                </a:solidFill>
                <a:latin typeface="Calibri" pitchFamily="34" charset="0"/>
                <a:ea typeface="Calibri" pitchFamily="34" charset="-122"/>
                <a:cs typeface="Calibri" pitchFamily="34" charset="-120"/>
              </a:rPr>
              <a:t>Lésion focale, fracture.</a:t>
            </a:r>
            <a:endParaRPr lang="fr-FR" sz="1250" noProof="0" dirty="0"/>
          </a:p>
        </p:txBody>
      </p:sp>
      <p:sp>
        <p:nvSpPr>
          <p:cNvPr id="27" name="Text 20"/>
          <p:cNvSpPr/>
          <p:nvPr/>
        </p:nvSpPr>
        <p:spPr>
          <a:xfrm>
            <a:off x="640080" y="5257800"/>
            <a:ext cx="10881360" cy="548640"/>
          </a:xfrm>
          <a:prstGeom prst="rect">
            <a:avLst/>
          </a:prstGeom>
          <a:noFill/>
          <a:ln/>
        </p:spPr>
        <p:txBody>
          <a:bodyPr wrap="square" lIns="0" tIns="0" rIns="0" bIns="0" rtlCol="0" anchor="t"/>
          <a:lstStyle/>
          <a:p>
            <a:pPr marL="0" indent="0">
              <a:lnSpc>
                <a:spcPct val="104000"/>
              </a:lnSpc>
              <a:buNone/>
            </a:pPr>
            <a:r>
              <a:rPr lang="fr-FR" sz="1400" b="1" noProof="0" dirty="0">
                <a:solidFill>
                  <a:srgbClr val="16243F"/>
                </a:solidFill>
                <a:latin typeface="Calibri" pitchFamily="34" charset="0"/>
                <a:ea typeface="Calibri" pitchFamily="34" charset="-122"/>
                <a:cs typeface="Calibri" pitchFamily="34" charset="-120"/>
              </a:rPr>
              <a:t>L'idée clé : </a:t>
            </a:r>
            <a:r>
              <a:rPr lang="fr-FR" sz="1400" noProof="0" dirty="0">
                <a:solidFill>
                  <a:srgbClr val="16243F"/>
                </a:solidFill>
                <a:latin typeface="Calibri" pitchFamily="34" charset="0"/>
                <a:ea typeface="Calibri" pitchFamily="34" charset="-122"/>
                <a:cs typeface="Calibri" pitchFamily="34" charset="-120"/>
              </a:rPr>
              <a:t>Cas négatifs appartenant à des familles différentes + cas négatifs appartenant à la même famille</a:t>
            </a:r>
            <a:endParaRPr lang="fr-FR" sz="1400" noProof="0" dirty="0"/>
          </a:p>
        </p:txBody>
      </p:sp>
      <p:sp>
        <p:nvSpPr>
          <p:cNvPr id="28"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6</a:t>
            </a:fld>
            <a:endParaRPr lang="fr-FR" noProof="0" dirty="0"/>
          </a:p>
        </p:txBody>
      </p:sp>
      <p:pic>
        <p:nvPicPr>
          <p:cNvPr id="29" name="Image 28">
            <a:extLst>
              <a:ext uri="{FF2B5EF4-FFF2-40B4-BE49-F238E27FC236}">
                <a16:creationId xmlns:a16="http://schemas.microsoft.com/office/drawing/2014/main" id="{65299A58-1225-2D43-FA79-6BC9430E02E5}"/>
              </a:ext>
            </a:extLst>
          </p:cNvPr>
          <p:cNvPicPr>
            <a:picLocks noChangeAspect="1"/>
          </p:cNvPicPr>
          <p:nvPr/>
        </p:nvPicPr>
        <p:blipFill>
          <a:blip r:embed="rId8"/>
          <a:stretch>
            <a:fillRect/>
          </a:stretch>
        </p:blipFill>
        <p:spPr>
          <a:xfrm>
            <a:off x="9292784" y="393192"/>
            <a:ext cx="2000056" cy="176479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335280" y="688848"/>
            <a:ext cx="11247120" cy="548640"/>
          </a:xfrm>
          <a:prstGeom prst="rect">
            <a:avLst/>
          </a:prstGeom>
          <a:noFill/>
          <a:ln/>
        </p:spPr>
        <p:txBody>
          <a:bodyPr wrap="square" lIns="0" tIns="0" rIns="0" bIns="0" rtlCol="0" anchor="ctr"/>
          <a:lstStyle/>
          <a:p>
            <a:pPr marL="0" indent="0" algn="l">
              <a:buNone/>
            </a:pPr>
            <a:r>
              <a:rPr lang="en-US" sz="2800" b="1" dirty="0">
                <a:solidFill>
                  <a:srgbClr val="14264A"/>
                </a:solidFill>
                <a:latin typeface="Cambria" pitchFamily="34" charset="0"/>
                <a:ea typeface="Cambria" pitchFamily="34" charset="-122"/>
                <a:cs typeface="Cambria" pitchFamily="34" charset="-120"/>
              </a:rPr>
              <a:t>Comment le code fabrique les paires incohérentes</a:t>
            </a:r>
            <a:endParaRPr lang="en-US" sz="2800" dirty="0"/>
          </a:p>
        </p:txBody>
      </p:sp>
      <p:sp>
        <p:nvSpPr>
          <p:cNvPr id="3" name="Text 1"/>
          <p:cNvSpPr/>
          <p:nvPr/>
        </p:nvSpPr>
        <p:spPr>
          <a:xfrm>
            <a:off x="457200" y="1397000"/>
            <a:ext cx="11247120" cy="320040"/>
          </a:xfrm>
          <a:prstGeom prst="rect">
            <a:avLst/>
          </a:prstGeom>
          <a:noFill/>
          <a:ln/>
        </p:spPr>
        <p:txBody>
          <a:bodyPr wrap="square" lIns="0" tIns="0" rIns="0" bIns="0" rtlCol="0" anchor="ctr"/>
          <a:lstStyle/>
          <a:p>
            <a:pPr marL="0" indent="0" algn="l">
              <a:buNone/>
            </a:pPr>
            <a:r>
              <a:rPr lang="en-US" sz="1300" i="1" dirty="0">
                <a:solidFill>
                  <a:srgbClr val="1C7C8C"/>
                </a:solidFill>
                <a:latin typeface="Calibri"/>
                <a:ea typeface="Calibri"/>
                <a:cs typeface="Calibri"/>
              </a:rPr>
              <a:t>Un </a:t>
            </a:r>
            <a:r>
              <a:rPr lang="en-US" sz="1300" i="1" dirty="0" err="1">
                <a:solidFill>
                  <a:srgbClr val="1C7C8C"/>
                </a:solidFill>
                <a:latin typeface="Calibri"/>
                <a:ea typeface="Calibri"/>
                <a:cs typeface="Calibri"/>
              </a:rPr>
              <a:t>échange</a:t>
            </a:r>
            <a:r>
              <a:rPr lang="en-US" sz="1300" i="1" dirty="0">
                <a:solidFill>
                  <a:srgbClr val="1C7C8C"/>
                </a:solidFill>
                <a:latin typeface="Calibri"/>
                <a:ea typeface="Calibri"/>
                <a:cs typeface="Calibri"/>
              </a:rPr>
              <a:t> </a:t>
            </a:r>
            <a:r>
              <a:rPr lang="en-US" sz="1300" i="1" dirty="0" err="1">
                <a:solidFill>
                  <a:srgbClr val="1C7C8C"/>
                </a:solidFill>
                <a:latin typeface="Calibri"/>
                <a:ea typeface="Calibri"/>
                <a:cs typeface="Calibri"/>
              </a:rPr>
              <a:t>contrôlé</a:t>
            </a:r>
            <a:r>
              <a:rPr lang="en-US" sz="1300" i="1" dirty="0">
                <a:solidFill>
                  <a:srgbClr val="1C7C8C"/>
                </a:solidFill>
                <a:latin typeface="Calibri"/>
                <a:ea typeface="Calibri"/>
                <a:cs typeface="Calibri"/>
              </a:rPr>
              <a:t> de </a:t>
            </a:r>
            <a:r>
              <a:rPr lang="en-US" sz="1300" i="1" dirty="0" err="1">
                <a:solidFill>
                  <a:srgbClr val="1C7C8C"/>
                </a:solidFill>
                <a:latin typeface="Calibri"/>
                <a:ea typeface="Calibri"/>
                <a:cs typeface="Calibri"/>
              </a:rPr>
              <a:t>comptes</a:t>
            </a:r>
            <a:r>
              <a:rPr lang="en-US" sz="1300" i="1" dirty="0">
                <a:solidFill>
                  <a:srgbClr val="1C7C8C"/>
                </a:solidFill>
                <a:latin typeface="Calibri"/>
                <a:ea typeface="Calibri"/>
                <a:cs typeface="Calibri"/>
              </a:rPr>
              <a:t> </a:t>
            </a:r>
            <a:r>
              <a:rPr lang="en-US" sz="1300" i="1" dirty="0" err="1">
                <a:solidFill>
                  <a:srgbClr val="1C7C8C"/>
                </a:solidFill>
                <a:latin typeface="Calibri"/>
                <a:ea typeface="Calibri"/>
                <a:cs typeface="Calibri"/>
              </a:rPr>
              <a:t>rendus</a:t>
            </a:r>
            <a:r>
              <a:rPr lang="en-US" sz="1300" i="1" dirty="0">
                <a:solidFill>
                  <a:srgbClr val="1C7C8C"/>
                </a:solidFill>
                <a:latin typeface="Calibri"/>
                <a:ea typeface="Calibri"/>
                <a:cs typeface="Calibri"/>
              </a:rPr>
              <a:t> entre patients.</a:t>
            </a:r>
          </a:p>
        </p:txBody>
      </p:sp>
      <p:sp>
        <p:nvSpPr>
          <p:cNvPr id="4" name="Shape 2"/>
          <p:cNvSpPr/>
          <p:nvPr/>
        </p:nvSpPr>
        <p:spPr>
          <a:xfrm>
            <a:off x="416560" y="2199640"/>
            <a:ext cx="2011680" cy="2286000"/>
          </a:xfrm>
          <a:prstGeom prst="roundRect">
            <a:avLst>
              <a:gd name="adj" fmla="val 4091"/>
            </a:avLst>
          </a:prstGeom>
          <a:solidFill>
            <a:srgbClr val="FFFFFF"/>
          </a:solidFill>
          <a:ln w="12700">
            <a:solidFill>
              <a:srgbClr val="D5DEEA"/>
            </a:solidFill>
            <a:prstDash val="solid"/>
          </a:ln>
          <a:effectLst>
            <a:outerShdw blurRad="63500" dist="25400" dir="5400000" algn="bl" rotWithShape="0">
              <a:srgbClr val="9AA7B8">
                <a:alpha val="28000"/>
              </a:srgbClr>
            </a:outerShdw>
          </a:effectLst>
        </p:spPr>
        <p:txBody>
          <a:bodyPr/>
          <a:lstStyle/>
          <a:p>
            <a:endParaRPr lang="fr-FR"/>
          </a:p>
        </p:txBody>
      </p:sp>
      <p:sp>
        <p:nvSpPr>
          <p:cNvPr id="5" name="Shape 3"/>
          <p:cNvSpPr/>
          <p:nvPr/>
        </p:nvSpPr>
        <p:spPr>
          <a:xfrm>
            <a:off x="1170940" y="2400808"/>
            <a:ext cx="502920" cy="502920"/>
          </a:xfrm>
          <a:prstGeom prst="ellipse">
            <a:avLst/>
          </a:prstGeom>
          <a:solidFill>
            <a:srgbClr val="1C7C8C"/>
          </a:solidFill>
          <a:ln/>
        </p:spPr>
        <p:txBody>
          <a:bodyPr/>
          <a:lstStyle/>
          <a:p>
            <a:endParaRPr lang="fr-FR"/>
          </a:p>
        </p:txBody>
      </p:sp>
      <p:sp>
        <p:nvSpPr>
          <p:cNvPr id="6" name="Text 4"/>
          <p:cNvSpPr/>
          <p:nvPr/>
        </p:nvSpPr>
        <p:spPr>
          <a:xfrm>
            <a:off x="1170940" y="240080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526288" y="3040888"/>
            <a:ext cx="1792224" cy="457200"/>
          </a:xfrm>
          <a:prstGeom prst="rect">
            <a:avLst/>
          </a:prstGeom>
          <a:noFill/>
          <a:ln/>
        </p:spPr>
        <p:txBody>
          <a:bodyPr wrap="square" lIns="0" tIns="0" rIns="0" bIns="0" rtlCol="0" anchor="t"/>
          <a:lstStyle/>
          <a:p>
            <a:pPr marL="0" indent="0" algn="ctr">
              <a:buNone/>
            </a:pPr>
            <a:r>
              <a:rPr lang="en-US" sz="1300" b="1" dirty="0">
                <a:solidFill>
                  <a:srgbClr val="14264A"/>
                </a:solidFill>
                <a:latin typeface="Cambria" pitchFamily="34" charset="0"/>
                <a:ea typeface="Cambria" pitchFamily="34" charset="-122"/>
                <a:cs typeface="Cambria" pitchFamily="34" charset="-120"/>
              </a:rPr>
              <a:t>Une image par patient</a:t>
            </a:r>
            <a:endParaRPr lang="en-US" sz="1300" dirty="0"/>
          </a:p>
        </p:txBody>
      </p:sp>
      <p:sp>
        <p:nvSpPr>
          <p:cNvPr id="8" name="Text 6"/>
          <p:cNvSpPr/>
          <p:nvPr/>
        </p:nvSpPr>
        <p:spPr>
          <a:xfrm>
            <a:off x="544576" y="3498088"/>
            <a:ext cx="1755648" cy="914400"/>
          </a:xfrm>
          <a:prstGeom prst="rect">
            <a:avLst/>
          </a:prstGeom>
          <a:noFill/>
          <a:ln/>
        </p:spPr>
        <p:txBody>
          <a:bodyPr wrap="square" lIns="0" tIns="0" rIns="0" bIns="0" rtlCol="0" anchor="t"/>
          <a:lstStyle/>
          <a:p>
            <a:pPr marL="0" indent="0" algn="ctr">
              <a:buNone/>
            </a:pPr>
            <a:r>
              <a:rPr lang="en-US" sz="1000" dirty="0">
                <a:solidFill>
                  <a:srgbClr val="2A2F36"/>
                </a:solidFill>
                <a:latin typeface="Calibri" pitchFamily="34" charset="0"/>
                <a:ea typeface="Calibri" pitchFamily="34" charset="-122"/>
                <a:cs typeface="Calibri" pitchFamily="34" charset="-120"/>
              </a:rPr>
              <a:t>Jeu CheXpert Plus. Une seule radiographie par patient, tirée au hasard.</a:t>
            </a:r>
            <a:endParaRPr lang="en-US" sz="1000" dirty="0"/>
          </a:p>
        </p:txBody>
      </p:sp>
      <p:sp>
        <p:nvSpPr>
          <p:cNvPr id="9" name="Shape 7"/>
          <p:cNvSpPr/>
          <p:nvPr/>
        </p:nvSpPr>
        <p:spPr>
          <a:xfrm>
            <a:off x="2446528" y="3342640"/>
            <a:ext cx="214884" cy="0"/>
          </a:xfrm>
          <a:prstGeom prst="line">
            <a:avLst/>
          </a:prstGeom>
          <a:noFill/>
          <a:ln w="25400">
            <a:solidFill>
              <a:srgbClr val="14264A"/>
            </a:solidFill>
            <a:prstDash val="solid"/>
            <a:headEnd type="none"/>
            <a:tailEnd type="triangle"/>
          </a:ln>
        </p:spPr>
        <p:txBody>
          <a:bodyPr/>
          <a:lstStyle/>
          <a:p>
            <a:endParaRPr lang="fr-FR"/>
          </a:p>
        </p:txBody>
      </p:sp>
      <p:sp>
        <p:nvSpPr>
          <p:cNvPr id="10" name="Shape 8"/>
          <p:cNvSpPr/>
          <p:nvPr/>
        </p:nvSpPr>
        <p:spPr>
          <a:xfrm>
            <a:off x="2679700" y="2199640"/>
            <a:ext cx="2011680" cy="2286000"/>
          </a:xfrm>
          <a:prstGeom prst="roundRect">
            <a:avLst>
              <a:gd name="adj" fmla="val 4091"/>
            </a:avLst>
          </a:prstGeom>
          <a:solidFill>
            <a:srgbClr val="FFFFFF"/>
          </a:solidFill>
          <a:ln w="12700">
            <a:solidFill>
              <a:srgbClr val="D5DEEA"/>
            </a:solidFill>
            <a:prstDash val="solid"/>
          </a:ln>
          <a:effectLst>
            <a:outerShdw blurRad="63500" dist="25400" dir="5400000" algn="bl" rotWithShape="0">
              <a:srgbClr val="9AA7B8">
                <a:alpha val="28000"/>
              </a:srgbClr>
            </a:outerShdw>
          </a:effectLst>
        </p:spPr>
        <p:txBody>
          <a:bodyPr/>
          <a:lstStyle/>
          <a:p>
            <a:endParaRPr lang="fr-FR"/>
          </a:p>
        </p:txBody>
      </p:sp>
      <p:sp>
        <p:nvSpPr>
          <p:cNvPr id="11" name="Shape 9"/>
          <p:cNvSpPr/>
          <p:nvPr/>
        </p:nvSpPr>
        <p:spPr>
          <a:xfrm>
            <a:off x="3434080" y="2400808"/>
            <a:ext cx="502920" cy="502920"/>
          </a:xfrm>
          <a:prstGeom prst="ellipse">
            <a:avLst/>
          </a:prstGeom>
          <a:solidFill>
            <a:srgbClr val="1C7C8C"/>
          </a:solidFill>
          <a:ln/>
        </p:spPr>
        <p:txBody>
          <a:bodyPr/>
          <a:lstStyle/>
          <a:p>
            <a:endParaRPr lang="fr-FR"/>
          </a:p>
        </p:txBody>
      </p:sp>
      <p:sp>
        <p:nvSpPr>
          <p:cNvPr id="12" name="Text 10"/>
          <p:cNvSpPr/>
          <p:nvPr/>
        </p:nvSpPr>
        <p:spPr>
          <a:xfrm>
            <a:off x="3434080" y="240080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2789428" y="3040888"/>
            <a:ext cx="1792224" cy="457200"/>
          </a:xfrm>
          <a:prstGeom prst="rect">
            <a:avLst/>
          </a:prstGeom>
          <a:noFill/>
          <a:ln/>
        </p:spPr>
        <p:txBody>
          <a:bodyPr wrap="square" lIns="0" tIns="0" rIns="0" bIns="0" rtlCol="0" anchor="t"/>
          <a:lstStyle/>
          <a:p>
            <a:pPr marL="0" indent="0" algn="ctr">
              <a:buNone/>
            </a:pPr>
            <a:r>
              <a:rPr lang="en-US" sz="1300" b="1" dirty="0">
                <a:solidFill>
                  <a:srgbClr val="14264A"/>
                </a:solidFill>
                <a:latin typeface="Cambria" pitchFamily="34" charset="0"/>
                <a:ea typeface="Cambria" pitchFamily="34" charset="-122"/>
                <a:cs typeface="Cambria" pitchFamily="34" charset="-120"/>
              </a:rPr>
              <a:t>Deux groupes</a:t>
            </a:r>
            <a:endParaRPr lang="en-US" sz="1300" dirty="0"/>
          </a:p>
        </p:txBody>
      </p:sp>
      <p:sp>
        <p:nvSpPr>
          <p:cNvPr id="14" name="Text 12"/>
          <p:cNvSpPr/>
          <p:nvPr/>
        </p:nvSpPr>
        <p:spPr>
          <a:xfrm>
            <a:off x="2807716" y="3498088"/>
            <a:ext cx="1755648" cy="914400"/>
          </a:xfrm>
          <a:prstGeom prst="rect">
            <a:avLst/>
          </a:prstGeom>
          <a:noFill/>
          <a:ln/>
        </p:spPr>
        <p:txBody>
          <a:bodyPr wrap="square" lIns="0" tIns="0" rIns="0" bIns="0" rtlCol="0" anchor="t"/>
          <a:lstStyle/>
          <a:p>
            <a:pPr marL="0" indent="0" algn="ctr">
              <a:buNone/>
            </a:pPr>
            <a:r>
              <a:rPr lang="en-US" sz="1000" dirty="0">
                <a:solidFill>
                  <a:srgbClr val="2A2F36"/>
                </a:solidFill>
                <a:latin typeface="Calibri" pitchFamily="34" charset="0"/>
                <a:ea typeface="Calibri" pitchFamily="34" charset="-122"/>
                <a:cs typeface="Calibri" pitchFamily="34" charset="-120"/>
              </a:rPr>
              <a:t>Cohérent : garde son vrai rapport. Incohérent : recevra un autre rapport.</a:t>
            </a:r>
            <a:endParaRPr lang="en-US" sz="1000" dirty="0"/>
          </a:p>
        </p:txBody>
      </p:sp>
      <p:sp>
        <p:nvSpPr>
          <p:cNvPr id="15" name="Shape 13"/>
          <p:cNvSpPr/>
          <p:nvPr/>
        </p:nvSpPr>
        <p:spPr>
          <a:xfrm>
            <a:off x="4709668" y="3342640"/>
            <a:ext cx="214884" cy="0"/>
          </a:xfrm>
          <a:prstGeom prst="line">
            <a:avLst/>
          </a:prstGeom>
          <a:noFill/>
          <a:ln w="25400">
            <a:solidFill>
              <a:srgbClr val="14264A"/>
            </a:solidFill>
            <a:prstDash val="solid"/>
            <a:headEnd type="none"/>
            <a:tailEnd type="triangle"/>
          </a:ln>
        </p:spPr>
        <p:txBody>
          <a:bodyPr/>
          <a:lstStyle/>
          <a:p>
            <a:endParaRPr lang="fr-FR"/>
          </a:p>
        </p:txBody>
      </p:sp>
      <p:sp>
        <p:nvSpPr>
          <p:cNvPr id="16" name="Shape 14"/>
          <p:cNvSpPr/>
          <p:nvPr/>
        </p:nvSpPr>
        <p:spPr>
          <a:xfrm>
            <a:off x="4942840" y="2199640"/>
            <a:ext cx="2011680" cy="2286000"/>
          </a:xfrm>
          <a:prstGeom prst="roundRect">
            <a:avLst>
              <a:gd name="adj" fmla="val 4091"/>
            </a:avLst>
          </a:prstGeom>
          <a:solidFill>
            <a:srgbClr val="FFFFFF"/>
          </a:solidFill>
          <a:ln w="12700">
            <a:solidFill>
              <a:srgbClr val="D5DEEA"/>
            </a:solidFill>
            <a:prstDash val="solid"/>
          </a:ln>
          <a:effectLst>
            <a:outerShdw blurRad="63500" dist="25400" dir="5400000" algn="bl" rotWithShape="0">
              <a:srgbClr val="9AA7B8">
                <a:alpha val="28000"/>
              </a:srgbClr>
            </a:outerShdw>
          </a:effectLst>
        </p:spPr>
        <p:txBody>
          <a:bodyPr/>
          <a:lstStyle/>
          <a:p>
            <a:endParaRPr lang="fr-FR"/>
          </a:p>
        </p:txBody>
      </p:sp>
      <p:sp>
        <p:nvSpPr>
          <p:cNvPr id="17" name="Shape 15"/>
          <p:cNvSpPr/>
          <p:nvPr/>
        </p:nvSpPr>
        <p:spPr>
          <a:xfrm>
            <a:off x="5697220" y="2400808"/>
            <a:ext cx="502920" cy="502920"/>
          </a:xfrm>
          <a:prstGeom prst="ellipse">
            <a:avLst/>
          </a:prstGeom>
          <a:solidFill>
            <a:srgbClr val="1C7C8C"/>
          </a:solidFill>
          <a:ln/>
        </p:spPr>
        <p:txBody>
          <a:bodyPr/>
          <a:lstStyle/>
          <a:p>
            <a:endParaRPr lang="fr-FR"/>
          </a:p>
        </p:txBody>
      </p:sp>
      <p:sp>
        <p:nvSpPr>
          <p:cNvPr id="18" name="Text 16"/>
          <p:cNvSpPr/>
          <p:nvPr/>
        </p:nvSpPr>
        <p:spPr>
          <a:xfrm>
            <a:off x="5697220" y="240080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5052568" y="3040888"/>
            <a:ext cx="1792224" cy="457200"/>
          </a:xfrm>
          <a:prstGeom prst="rect">
            <a:avLst/>
          </a:prstGeom>
          <a:noFill/>
          <a:ln/>
        </p:spPr>
        <p:txBody>
          <a:bodyPr wrap="square" lIns="0" tIns="0" rIns="0" bIns="0" rtlCol="0" anchor="t"/>
          <a:lstStyle/>
          <a:p>
            <a:pPr marL="0" indent="0" algn="ctr">
              <a:buNone/>
            </a:pPr>
            <a:r>
              <a:rPr lang="en-US" sz="1300" b="1" dirty="0">
                <a:solidFill>
                  <a:srgbClr val="14264A"/>
                </a:solidFill>
                <a:latin typeface="Cambria" pitchFamily="34" charset="0"/>
                <a:ea typeface="Cambria" pitchFamily="34" charset="-122"/>
                <a:cs typeface="Cambria" pitchFamily="34" charset="-120"/>
              </a:rPr>
              <a:t>Étiquettes de pathologies</a:t>
            </a:r>
            <a:endParaRPr lang="en-US" sz="1300" dirty="0"/>
          </a:p>
        </p:txBody>
      </p:sp>
      <p:sp>
        <p:nvSpPr>
          <p:cNvPr id="20" name="Text 18"/>
          <p:cNvSpPr/>
          <p:nvPr/>
        </p:nvSpPr>
        <p:spPr>
          <a:xfrm>
            <a:off x="5070856" y="3498088"/>
            <a:ext cx="1755648" cy="914400"/>
          </a:xfrm>
          <a:prstGeom prst="rect">
            <a:avLst/>
          </a:prstGeom>
          <a:noFill/>
          <a:ln/>
        </p:spPr>
        <p:txBody>
          <a:bodyPr wrap="square" lIns="0" tIns="0" rIns="0" bIns="0" rtlCol="0" anchor="t"/>
          <a:lstStyle/>
          <a:p>
            <a:pPr marL="0" indent="0" algn="ctr">
              <a:buNone/>
            </a:pPr>
            <a:r>
              <a:rPr lang="en-US" sz="1000" dirty="0">
                <a:solidFill>
                  <a:srgbClr val="2A2F36"/>
                </a:solidFill>
                <a:latin typeface="Calibri" pitchFamily="34" charset="0"/>
                <a:ea typeface="Calibri" pitchFamily="34" charset="-122"/>
                <a:cs typeface="Calibri" pitchFamily="34" charset="-120"/>
              </a:rPr>
              <a:t>Chaque rapport devient un vecteur de 12 pathologies (source CheXbert).</a:t>
            </a:r>
            <a:endParaRPr lang="en-US" sz="1000" dirty="0"/>
          </a:p>
        </p:txBody>
      </p:sp>
      <p:sp>
        <p:nvSpPr>
          <p:cNvPr id="21" name="Shape 19"/>
          <p:cNvSpPr/>
          <p:nvPr/>
        </p:nvSpPr>
        <p:spPr>
          <a:xfrm>
            <a:off x="6972808" y="3342640"/>
            <a:ext cx="214884" cy="0"/>
          </a:xfrm>
          <a:prstGeom prst="line">
            <a:avLst/>
          </a:prstGeom>
          <a:noFill/>
          <a:ln w="25400">
            <a:solidFill>
              <a:srgbClr val="14264A"/>
            </a:solidFill>
            <a:prstDash val="solid"/>
            <a:headEnd type="none"/>
            <a:tailEnd type="triangle"/>
          </a:ln>
        </p:spPr>
        <p:txBody>
          <a:bodyPr/>
          <a:lstStyle/>
          <a:p>
            <a:endParaRPr lang="fr-FR"/>
          </a:p>
        </p:txBody>
      </p:sp>
      <p:sp>
        <p:nvSpPr>
          <p:cNvPr id="22" name="Shape 20"/>
          <p:cNvSpPr/>
          <p:nvPr/>
        </p:nvSpPr>
        <p:spPr>
          <a:xfrm>
            <a:off x="7205980" y="2199640"/>
            <a:ext cx="2011680" cy="2286000"/>
          </a:xfrm>
          <a:prstGeom prst="roundRect">
            <a:avLst>
              <a:gd name="adj" fmla="val 4091"/>
            </a:avLst>
          </a:prstGeom>
          <a:solidFill>
            <a:srgbClr val="FFFFFF"/>
          </a:solidFill>
          <a:ln w="12700">
            <a:solidFill>
              <a:srgbClr val="D5DEEA"/>
            </a:solidFill>
            <a:prstDash val="solid"/>
          </a:ln>
          <a:effectLst>
            <a:outerShdw blurRad="63500" dist="25400" dir="5400000" algn="bl" rotWithShape="0">
              <a:srgbClr val="9AA7B8">
                <a:alpha val="28000"/>
              </a:srgbClr>
            </a:outerShdw>
          </a:effectLst>
        </p:spPr>
        <p:txBody>
          <a:bodyPr/>
          <a:lstStyle/>
          <a:p>
            <a:endParaRPr lang="fr-FR"/>
          </a:p>
        </p:txBody>
      </p:sp>
      <p:sp>
        <p:nvSpPr>
          <p:cNvPr id="23" name="Shape 21"/>
          <p:cNvSpPr/>
          <p:nvPr/>
        </p:nvSpPr>
        <p:spPr>
          <a:xfrm>
            <a:off x="7960360" y="2400808"/>
            <a:ext cx="502920" cy="502920"/>
          </a:xfrm>
          <a:prstGeom prst="ellipse">
            <a:avLst/>
          </a:prstGeom>
          <a:solidFill>
            <a:srgbClr val="1C7C8C"/>
          </a:solidFill>
          <a:ln/>
        </p:spPr>
        <p:txBody>
          <a:bodyPr/>
          <a:lstStyle/>
          <a:p>
            <a:endParaRPr lang="fr-FR"/>
          </a:p>
        </p:txBody>
      </p:sp>
      <p:sp>
        <p:nvSpPr>
          <p:cNvPr id="24" name="Text 22"/>
          <p:cNvSpPr/>
          <p:nvPr/>
        </p:nvSpPr>
        <p:spPr>
          <a:xfrm>
            <a:off x="7960360" y="240080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p:nvPr/>
        </p:nvSpPr>
        <p:spPr>
          <a:xfrm>
            <a:off x="7315708" y="3040888"/>
            <a:ext cx="1792224" cy="457200"/>
          </a:xfrm>
          <a:prstGeom prst="rect">
            <a:avLst/>
          </a:prstGeom>
          <a:noFill/>
          <a:ln/>
        </p:spPr>
        <p:txBody>
          <a:bodyPr wrap="square" lIns="0" tIns="0" rIns="0" bIns="0" rtlCol="0" anchor="t"/>
          <a:lstStyle/>
          <a:p>
            <a:pPr marL="0" indent="0" algn="ctr">
              <a:buNone/>
            </a:pPr>
            <a:r>
              <a:rPr lang="en-US" sz="1300" b="1" dirty="0">
                <a:solidFill>
                  <a:srgbClr val="14264A"/>
                </a:solidFill>
                <a:latin typeface="Cambria" pitchFamily="34" charset="0"/>
                <a:ea typeface="Cambria" pitchFamily="34" charset="-122"/>
                <a:cs typeface="Cambria" pitchFamily="34" charset="-120"/>
              </a:rPr>
              <a:t>Échange contrôlé</a:t>
            </a:r>
            <a:endParaRPr lang="en-US" sz="1300" dirty="0"/>
          </a:p>
        </p:txBody>
      </p:sp>
      <p:sp>
        <p:nvSpPr>
          <p:cNvPr id="26" name="Text 24"/>
          <p:cNvSpPr/>
          <p:nvPr/>
        </p:nvSpPr>
        <p:spPr>
          <a:xfrm>
            <a:off x="7333996" y="3498088"/>
            <a:ext cx="1755648" cy="914400"/>
          </a:xfrm>
          <a:prstGeom prst="rect">
            <a:avLst/>
          </a:prstGeom>
          <a:noFill/>
          <a:ln/>
        </p:spPr>
        <p:txBody>
          <a:bodyPr wrap="square" lIns="0" tIns="0" rIns="0" bIns="0" rtlCol="0" anchor="t"/>
          <a:lstStyle/>
          <a:p>
            <a:pPr marL="0" indent="0" algn="ctr">
              <a:buNone/>
            </a:pPr>
            <a:r>
              <a:rPr lang="en-US" sz="1000" dirty="0">
                <a:solidFill>
                  <a:srgbClr val="2A2F36"/>
                </a:solidFill>
                <a:latin typeface="Calibri" pitchFamily="34" charset="0"/>
                <a:ea typeface="Calibri" pitchFamily="34" charset="-122"/>
                <a:cs typeface="Calibri" pitchFamily="34" charset="-120"/>
              </a:rPr>
              <a:t>On classe l'incohérence (totale, nette, ambiguë) sous quotas. Un rapport utilisé une seule fois.</a:t>
            </a:r>
            <a:endParaRPr lang="en-US" sz="1000" dirty="0"/>
          </a:p>
        </p:txBody>
      </p:sp>
      <p:sp>
        <p:nvSpPr>
          <p:cNvPr id="27" name="Shape 25"/>
          <p:cNvSpPr/>
          <p:nvPr/>
        </p:nvSpPr>
        <p:spPr>
          <a:xfrm>
            <a:off x="9235948" y="3342640"/>
            <a:ext cx="214884" cy="0"/>
          </a:xfrm>
          <a:prstGeom prst="line">
            <a:avLst/>
          </a:prstGeom>
          <a:noFill/>
          <a:ln w="25400">
            <a:solidFill>
              <a:srgbClr val="14264A"/>
            </a:solidFill>
            <a:prstDash val="solid"/>
            <a:headEnd type="none"/>
            <a:tailEnd type="triangle"/>
          </a:ln>
        </p:spPr>
        <p:txBody>
          <a:bodyPr/>
          <a:lstStyle/>
          <a:p>
            <a:endParaRPr lang="fr-FR"/>
          </a:p>
        </p:txBody>
      </p:sp>
      <p:sp>
        <p:nvSpPr>
          <p:cNvPr id="28" name="Shape 26"/>
          <p:cNvSpPr/>
          <p:nvPr/>
        </p:nvSpPr>
        <p:spPr>
          <a:xfrm>
            <a:off x="9469120" y="2199640"/>
            <a:ext cx="2011680" cy="2286000"/>
          </a:xfrm>
          <a:prstGeom prst="roundRect">
            <a:avLst>
              <a:gd name="adj" fmla="val 4091"/>
            </a:avLst>
          </a:prstGeom>
          <a:solidFill>
            <a:srgbClr val="14264A"/>
          </a:solidFill>
          <a:ln w="12700">
            <a:solidFill>
              <a:srgbClr val="14264A"/>
            </a:solidFill>
            <a:prstDash val="solid"/>
          </a:ln>
          <a:effectLst>
            <a:outerShdw blurRad="63500" dist="25400" dir="5400000" algn="bl" rotWithShape="0">
              <a:srgbClr val="9AA7B8">
                <a:alpha val="28000"/>
              </a:srgbClr>
            </a:outerShdw>
          </a:effectLst>
        </p:spPr>
        <p:txBody>
          <a:bodyPr/>
          <a:lstStyle/>
          <a:p>
            <a:endParaRPr lang="fr-FR"/>
          </a:p>
        </p:txBody>
      </p:sp>
      <p:sp>
        <p:nvSpPr>
          <p:cNvPr id="29" name="Shape 27"/>
          <p:cNvSpPr/>
          <p:nvPr/>
        </p:nvSpPr>
        <p:spPr>
          <a:xfrm>
            <a:off x="10223500" y="2400808"/>
            <a:ext cx="502920" cy="502920"/>
          </a:xfrm>
          <a:prstGeom prst="ellipse">
            <a:avLst/>
          </a:prstGeom>
          <a:solidFill>
            <a:srgbClr val="FFFFFF"/>
          </a:solidFill>
          <a:ln/>
        </p:spPr>
        <p:txBody>
          <a:bodyPr/>
          <a:lstStyle/>
          <a:p>
            <a:endParaRPr lang="fr-FR"/>
          </a:p>
        </p:txBody>
      </p:sp>
      <p:sp>
        <p:nvSpPr>
          <p:cNvPr id="30" name="Text 28"/>
          <p:cNvSpPr/>
          <p:nvPr/>
        </p:nvSpPr>
        <p:spPr>
          <a:xfrm>
            <a:off x="10223500" y="2400808"/>
            <a:ext cx="502920" cy="502920"/>
          </a:xfrm>
          <a:prstGeom prst="rect">
            <a:avLst/>
          </a:prstGeom>
          <a:noFill/>
          <a:ln/>
        </p:spPr>
        <p:txBody>
          <a:bodyPr wrap="square" lIns="0" tIns="0" rIns="0" bIns="0" rtlCol="0" anchor="ctr"/>
          <a:lstStyle/>
          <a:p>
            <a:pPr marL="0" indent="0" algn="ctr">
              <a:buNone/>
            </a:pPr>
            <a:r>
              <a:rPr lang="en-US" sz="1800" b="1" dirty="0">
                <a:solidFill>
                  <a:srgbClr val="14264A"/>
                </a:solidFill>
                <a:latin typeface="Cambria" pitchFamily="34" charset="0"/>
                <a:ea typeface="Cambria" pitchFamily="34" charset="-122"/>
                <a:cs typeface="Cambria" pitchFamily="34" charset="-120"/>
              </a:rPr>
              <a:t>5</a:t>
            </a:r>
            <a:endParaRPr lang="en-US" sz="1800" dirty="0"/>
          </a:p>
        </p:txBody>
      </p:sp>
      <p:sp>
        <p:nvSpPr>
          <p:cNvPr id="31" name="Text 29"/>
          <p:cNvSpPr/>
          <p:nvPr/>
        </p:nvSpPr>
        <p:spPr>
          <a:xfrm>
            <a:off x="9578848" y="3040888"/>
            <a:ext cx="1792224" cy="457200"/>
          </a:xfrm>
          <a:prstGeom prst="rect">
            <a:avLst/>
          </a:prstGeom>
          <a:noFill/>
          <a:ln/>
        </p:spPr>
        <p:txBody>
          <a:bodyPr wrap="square" lIns="0" tIns="0" rIns="0" bIns="0" rtlCol="0" anchor="t"/>
          <a:lstStyle/>
          <a:p>
            <a:pPr marL="0" indent="0" algn="ctr">
              <a:buNone/>
            </a:pPr>
            <a:r>
              <a:rPr lang="en-US" sz="1300" b="1" dirty="0">
                <a:solidFill>
                  <a:srgbClr val="FFFFFF"/>
                </a:solidFill>
                <a:latin typeface="Cambria" pitchFamily="34" charset="0"/>
                <a:ea typeface="Cambria" pitchFamily="34" charset="-122"/>
                <a:cs typeface="Cambria" pitchFamily="34" charset="-120"/>
              </a:rPr>
              <a:t>36 000 paires</a:t>
            </a:r>
            <a:endParaRPr lang="en-US" sz="1300" dirty="0"/>
          </a:p>
        </p:txBody>
      </p:sp>
      <p:sp>
        <p:nvSpPr>
          <p:cNvPr id="32" name="Text 30"/>
          <p:cNvSpPr/>
          <p:nvPr/>
        </p:nvSpPr>
        <p:spPr>
          <a:xfrm>
            <a:off x="9597136" y="3498088"/>
            <a:ext cx="1755648" cy="914400"/>
          </a:xfrm>
          <a:prstGeom prst="rect">
            <a:avLst/>
          </a:prstGeom>
          <a:noFill/>
          <a:ln/>
        </p:spPr>
        <p:txBody>
          <a:bodyPr wrap="square" lIns="0" tIns="0" rIns="0" bIns="0" rtlCol="0" anchor="t"/>
          <a:lstStyle/>
          <a:p>
            <a:pPr marL="0" indent="0" algn="ctr">
              <a:buNone/>
            </a:pPr>
            <a:r>
              <a:rPr lang="en-US" sz="1000" dirty="0">
                <a:solidFill>
                  <a:srgbClr val="DDE6F2"/>
                </a:solidFill>
                <a:latin typeface="Calibri" pitchFamily="34" charset="0"/>
                <a:ea typeface="Calibri" pitchFamily="34" charset="-122"/>
                <a:cs typeface="Calibri" pitchFamily="34" charset="-120"/>
              </a:rPr>
              <a:t>18 000 cohérentes et 18 000 incohérentes, mélangées et enregistrées.</a:t>
            </a:r>
            <a:endParaRPr lang="en-US" sz="1000" dirty="0"/>
          </a:p>
        </p:txBody>
      </p:sp>
      <p:sp>
        <p:nvSpPr>
          <p:cNvPr id="43" name="Slide Number Placeholder 0">
            <a:extLst>
              <a:ext uri="{FF2B5EF4-FFF2-40B4-BE49-F238E27FC236}">
                <a16:creationId xmlns:a16="http://schemas.microsoft.com/office/drawing/2014/main" id="{4F97D055-CFC4-2527-27BE-2ADF766D7D47}"/>
              </a:ext>
            </a:extLst>
          </p:cNvPr>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7</a:t>
            </a:fld>
            <a:endParaRPr lang="fr-FR"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p:cNvPicPr>
            <a:picLocks noChangeAspect="1"/>
          </p:cNvPicPr>
          <p:nvPr/>
        </p:nvPicPr>
        <p:blipFill>
          <a:blip r:embed="rId3"/>
          <a:stretch>
            <a:fillRect/>
          </a:stretch>
        </p:blipFill>
        <p:spPr>
          <a:xfrm>
            <a:off x="731520" y="621792"/>
            <a:ext cx="329184" cy="329184"/>
          </a:xfrm>
          <a:prstGeom prst="rect">
            <a:avLst/>
          </a:prstGeom>
        </p:spPr>
      </p:pic>
      <p:sp>
        <p:nvSpPr>
          <p:cNvPr id="4" name="Text 1"/>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05 - LE MODÈLE UTILISÉ</a:t>
            </a:r>
            <a:endParaRPr lang="fr-FR" sz="1100" noProof="0" dirty="0"/>
          </a:p>
        </p:txBody>
      </p:sp>
      <p:sp>
        <p:nvSpPr>
          <p:cNvPr id="5" name="Text 2"/>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cs typeface="Cambria" pitchFamily="34" charset="-120"/>
              </a:rPr>
              <a:t>Le choix du regard : un œil radiologique</a:t>
            </a:r>
            <a:endParaRPr lang="fr-FR" sz="2700" noProof="0" dirty="0"/>
          </a:p>
        </p:txBody>
      </p:sp>
      <p:sp>
        <p:nvSpPr>
          <p:cNvPr id="6" name="Text 3"/>
          <p:cNvSpPr/>
          <p:nvPr/>
        </p:nvSpPr>
        <p:spPr>
          <a:xfrm>
            <a:off x="640080" y="1259904"/>
            <a:ext cx="10881360" cy="365760"/>
          </a:xfrm>
          <a:prstGeom prst="rect">
            <a:avLst/>
          </a:prstGeom>
          <a:noFill/>
          <a:ln/>
        </p:spPr>
        <p:txBody>
          <a:bodyPr wrap="square" lIns="0" tIns="0" rIns="0" bIns="0" rtlCol="0" anchor="t"/>
          <a:lstStyle/>
          <a:p>
            <a:pPr marL="0" indent="0">
              <a:lnSpc>
                <a:spcPct val="105000"/>
              </a:lnSpc>
              <a:buNone/>
            </a:pPr>
            <a:r>
              <a:rPr lang="fr-FR" sz="1500" noProof="0" dirty="0">
                <a:solidFill>
                  <a:srgbClr val="1F2A37"/>
                </a:solidFill>
                <a:latin typeface="Calibri" pitchFamily="34" charset="0"/>
                <a:ea typeface="Calibri" pitchFamily="34" charset="-122"/>
                <a:cs typeface="Calibri" pitchFamily="34" charset="-120"/>
              </a:rPr>
              <a:t>Un modèle entraîné sur la radiographie thoracique et ses comptes rendus, plutôt qu'un modèle médical généraliste - il réunit deux encodeurs complémentaires.</a:t>
            </a:r>
          </a:p>
          <a:p>
            <a:pPr marL="0" indent="0">
              <a:lnSpc>
                <a:spcPct val="105000"/>
              </a:lnSpc>
              <a:buNone/>
            </a:pPr>
            <a:endParaRPr lang="fr-FR" sz="1500" noProof="0" dirty="0"/>
          </a:p>
        </p:txBody>
      </p:sp>
      <p:sp>
        <p:nvSpPr>
          <p:cNvPr id="30" name="Badge BG"/>
          <p:cNvSpPr/>
          <p:nvPr/>
        </p:nvSpPr>
        <p:spPr>
          <a:xfrm>
            <a:off x="640080" y="1770000"/>
            <a:ext cx="6400800" cy="457200"/>
          </a:xfrm>
          <a:prstGeom prst="roundRect">
            <a:avLst>
              <a:gd name="adj" fmla="val 16667"/>
            </a:avLst>
          </a:prstGeom>
          <a:solidFill>
            <a:srgbClr val="16243F"/>
          </a:solidFill>
          <a:ln/>
        </p:spPr>
        <p:txBody>
          <a:bodyPr wrap="square" lIns="182880" tIns="0" rIns="91440" bIns="0" rtlCol="0" anchor="ctr"/>
          <a:lstStyle/>
          <a:p>
            <a:pPr marL="0" indent="0">
              <a:buNone/>
            </a:pPr>
            <a:r>
              <a:rPr lang="fr-FR" sz="1300" b="1" noProof="0" dirty="0">
                <a:solidFill>
                  <a:srgbClr val="9FC7D6"/>
                </a:solidFill>
                <a:latin typeface="Calibri" pitchFamily="34" charset="0"/>
                <a:ea typeface="Calibri" pitchFamily="34" charset="-122"/>
                <a:cs typeface="Calibri" pitchFamily="34" charset="-120"/>
              </a:rPr>
              <a:t>Modèle pré-entraîné : </a:t>
            </a:r>
            <a:r>
              <a:rPr lang="fr-FR" sz="1300" b="1" noProof="0" dirty="0" err="1">
                <a:solidFill>
                  <a:srgbClr val="1FA8B8"/>
                </a:solidFill>
                <a:latin typeface="Calibri" pitchFamily="34" charset="0"/>
                <a:ea typeface="Calibri" pitchFamily="34" charset="-122"/>
                <a:cs typeface="Calibri" pitchFamily="34" charset="-120"/>
              </a:rPr>
              <a:t>BioViL</a:t>
            </a:r>
            <a:r>
              <a:rPr lang="fr-FR" sz="1300" b="1" noProof="0" dirty="0">
                <a:solidFill>
                  <a:srgbClr val="1FA8B8"/>
                </a:solidFill>
                <a:latin typeface="Calibri" pitchFamily="34" charset="0"/>
                <a:ea typeface="Calibri" pitchFamily="34" charset="-122"/>
                <a:cs typeface="Calibri" pitchFamily="34" charset="-120"/>
              </a:rPr>
              <a:t>-T</a:t>
            </a:r>
            <a:r>
              <a:rPr lang="fr-FR" sz="1300" noProof="0" dirty="0">
                <a:solidFill>
                  <a:srgbClr val="CFE0EA"/>
                </a:solidFill>
                <a:latin typeface="Calibri" pitchFamily="34" charset="0"/>
                <a:ea typeface="Calibri" pitchFamily="34" charset="-122"/>
                <a:cs typeface="Calibri" pitchFamily="34" charset="-120"/>
              </a:rPr>
              <a:t>   -   </a:t>
            </a:r>
            <a:r>
              <a:rPr lang="fr-FR" sz="1300" noProof="0" dirty="0" err="1">
                <a:solidFill>
                  <a:srgbClr val="CFE0EA"/>
                </a:solidFill>
                <a:latin typeface="Calibri" pitchFamily="34" charset="0"/>
                <a:ea typeface="Calibri" pitchFamily="34" charset="-122"/>
                <a:cs typeface="Calibri" pitchFamily="34" charset="-120"/>
              </a:rPr>
              <a:t>microsoft</a:t>
            </a:r>
            <a:r>
              <a:rPr lang="fr-FR" sz="1300" noProof="0" dirty="0">
                <a:solidFill>
                  <a:srgbClr val="CFE0EA"/>
                </a:solidFill>
                <a:latin typeface="Calibri" pitchFamily="34" charset="0"/>
                <a:ea typeface="Calibri" pitchFamily="34" charset="-122"/>
                <a:cs typeface="Calibri" pitchFamily="34" charset="-120"/>
              </a:rPr>
              <a:t>/</a:t>
            </a:r>
            <a:r>
              <a:rPr lang="fr-FR" sz="1300" noProof="0" dirty="0" err="1">
                <a:solidFill>
                  <a:srgbClr val="CFE0EA"/>
                </a:solidFill>
                <a:latin typeface="Calibri" pitchFamily="34" charset="0"/>
                <a:ea typeface="Calibri" pitchFamily="34" charset="-122"/>
                <a:cs typeface="Calibri" pitchFamily="34" charset="-120"/>
              </a:rPr>
              <a:t>BiomedVLP</a:t>
            </a:r>
            <a:r>
              <a:rPr lang="fr-FR" sz="1300" noProof="0" dirty="0">
                <a:solidFill>
                  <a:srgbClr val="CFE0EA"/>
                </a:solidFill>
                <a:latin typeface="Calibri" pitchFamily="34" charset="0"/>
                <a:ea typeface="Calibri" pitchFamily="34" charset="-122"/>
                <a:cs typeface="Calibri" pitchFamily="34" charset="-120"/>
              </a:rPr>
              <a:t>-</a:t>
            </a:r>
            <a:r>
              <a:rPr lang="fr-FR" sz="1300" noProof="0" dirty="0" err="1">
                <a:solidFill>
                  <a:srgbClr val="CFE0EA"/>
                </a:solidFill>
                <a:latin typeface="Calibri" pitchFamily="34" charset="0"/>
                <a:ea typeface="Calibri" pitchFamily="34" charset="-122"/>
                <a:cs typeface="Calibri" pitchFamily="34" charset="-120"/>
              </a:rPr>
              <a:t>BioViL</a:t>
            </a:r>
            <a:r>
              <a:rPr lang="fr-FR" sz="1300" noProof="0" dirty="0">
                <a:solidFill>
                  <a:srgbClr val="CFE0EA"/>
                </a:solidFill>
                <a:latin typeface="Calibri" pitchFamily="34" charset="0"/>
                <a:ea typeface="Calibri" pitchFamily="34" charset="-122"/>
                <a:cs typeface="Calibri" pitchFamily="34" charset="-120"/>
              </a:rPr>
              <a:t>-T</a:t>
            </a:r>
            <a:endParaRPr lang="fr-FR" sz="1300" noProof="0" dirty="0"/>
          </a:p>
        </p:txBody>
      </p:sp>
      <p:sp>
        <p:nvSpPr>
          <p:cNvPr id="7" name="Card A BG"/>
          <p:cNvSpPr/>
          <p:nvPr/>
        </p:nvSpPr>
        <p:spPr>
          <a:xfrm>
            <a:off x="731520" y="2440000"/>
            <a:ext cx="5400000" cy="880000"/>
          </a:xfrm>
          <a:prstGeom prst="roundRect">
            <a:avLst>
              <a:gd name="adj" fmla="val 4865"/>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8" name="Card A Icon"/>
          <p:cNvSpPr/>
          <p:nvPr/>
        </p:nvSpPr>
        <p:spPr>
          <a:xfrm>
            <a:off x="900000" y="2540000"/>
            <a:ext cx="560000" cy="560000"/>
          </a:xfrm>
          <a:prstGeom prst="ellipse">
            <a:avLst/>
          </a:prstGeom>
          <a:solidFill>
            <a:srgbClr val="1FA8B8"/>
          </a:solidFill>
          <a:ln/>
        </p:spPr>
        <p:txBody>
          <a:bodyPr/>
          <a:lstStyle/>
          <a:p>
            <a:endParaRPr lang="fr-FR" noProof="0" dirty="0"/>
          </a:p>
        </p:txBody>
      </p:sp>
      <p:pic>
        <p:nvPicPr>
          <p:cNvPr id="9" name="Card A IconImg" descr="preencoded.png"/>
          <p:cNvPicPr>
            <a:picLocks noChangeAspect="1"/>
          </p:cNvPicPr>
          <p:nvPr/>
        </p:nvPicPr>
        <p:blipFill>
          <a:blip r:embed="rId4"/>
          <a:stretch>
            <a:fillRect/>
          </a:stretch>
        </p:blipFill>
        <p:spPr>
          <a:xfrm>
            <a:off x="1028575" y="2668575"/>
            <a:ext cx="302849" cy="302849"/>
          </a:xfrm>
          <a:prstGeom prst="rect">
            <a:avLst/>
          </a:prstGeom>
        </p:spPr>
      </p:pic>
      <p:sp>
        <p:nvSpPr>
          <p:cNvPr id="10" name="Card A Title"/>
          <p:cNvSpPr/>
          <p:nvPr/>
        </p:nvSpPr>
        <p:spPr>
          <a:xfrm>
            <a:off x="1620000" y="2620000"/>
            <a:ext cx="4150000" cy="400000"/>
          </a:xfrm>
          <a:prstGeom prst="rect">
            <a:avLst/>
          </a:prstGeom>
          <a:noFill/>
          <a:ln/>
        </p:spPr>
        <p:txBody>
          <a:bodyPr wrap="square" lIns="0" tIns="0" rIns="0" bIns="0" rtlCol="0" anchor="ctr"/>
          <a:lstStyle/>
          <a:p>
            <a:pPr marL="0" indent="0">
              <a:buNone/>
            </a:pPr>
            <a:r>
              <a:rPr lang="fr-FR" sz="1700" b="1" noProof="0" dirty="0">
                <a:solidFill>
                  <a:srgbClr val="16243F"/>
                </a:solidFill>
                <a:latin typeface="Cambria" pitchFamily="34" charset="0"/>
                <a:ea typeface="Cambria" pitchFamily="34" charset="-122"/>
                <a:cs typeface="Cambria" pitchFamily="34" charset="-120"/>
              </a:rPr>
              <a:t>Encodeur d'images</a:t>
            </a:r>
            <a:endParaRPr lang="fr-FR" sz="1700" noProof="0" dirty="0"/>
          </a:p>
        </p:txBody>
      </p:sp>
      <p:sp>
        <p:nvSpPr>
          <p:cNvPr id="12" name="Card B BG"/>
          <p:cNvSpPr/>
          <p:nvPr/>
        </p:nvSpPr>
        <p:spPr>
          <a:xfrm>
            <a:off x="731520" y="3618932"/>
            <a:ext cx="5400000" cy="860000"/>
          </a:xfrm>
          <a:prstGeom prst="roundRect">
            <a:avLst>
              <a:gd name="adj" fmla="val 4865"/>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3" name="Card B Icon"/>
          <p:cNvSpPr/>
          <p:nvPr/>
        </p:nvSpPr>
        <p:spPr>
          <a:xfrm>
            <a:off x="891719" y="3711068"/>
            <a:ext cx="560000" cy="560000"/>
          </a:xfrm>
          <a:prstGeom prst="ellipse">
            <a:avLst/>
          </a:prstGeom>
          <a:solidFill>
            <a:srgbClr val="1FA8B8"/>
          </a:solidFill>
          <a:ln/>
        </p:spPr>
        <p:txBody>
          <a:bodyPr/>
          <a:lstStyle/>
          <a:p>
            <a:endParaRPr lang="fr-FR" noProof="0" dirty="0"/>
          </a:p>
        </p:txBody>
      </p:sp>
      <p:pic>
        <p:nvPicPr>
          <p:cNvPr id="14" name="Card B IconImg" descr="preencoded.png"/>
          <p:cNvPicPr>
            <a:picLocks noChangeAspect="1"/>
          </p:cNvPicPr>
          <p:nvPr/>
        </p:nvPicPr>
        <p:blipFill>
          <a:blip r:embed="rId5"/>
          <a:stretch>
            <a:fillRect/>
          </a:stretch>
        </p:blipFill>
        <p:spPr>
          <a:xfrm>
            <a:off x="1028575" y="4088575"/>
            <a:ext cx="302849" cy="302849"/>
          </a:xfrm>
          <a:prstGeom prst="rect">
            <a:avLst/>
          </a:prstGeom>
        </p:spPr>
      </p:pic>
      <p:sp>
        <p:nvSpPr>
          <p:cNvPr id="15" name="Card B Title"/>
          <p:cNvSpPr/>
          <p:nvPr/>
        </p:nvSpPr>
        <p:spPr>
          <a:xfrm>
            <a:off x="1628479" y="3848932"/>
            <a:ext cx="4150000" cy="400000"/>
          </a:xfrm>
          <a:prstGeom prst="rect">
            <a:avLst/>
          </a:prstGeom>
          <a:noFill/>
          <a:ln/>
        </p:spPr>
        <p:txBody>
          <a:bodyPr wrap="square" lIns="0" tIns="0" rIns="0" bIns="0" rtlCol="0" anchor="ctr"/>
          <a:lstStyle/>
          <a:p>
            <a:pPr marL="0" indent="0">
              <a:buNone/>
            </a:pPr>
            <a:r>
              <a:rPr lang="fr-FR" sz="1700" b="1" noProof="0" dirty="0">
                <a:solidFill>
                  <a:srgbClr val="16243F"/>
                </a:solidFill>
                <a:latin typeface="Cambria" pitchFamily="34" charset="0"/>
                <a:ea typeface="Cambria" pitchFamily="34" charset="-122"/>
                <a:cs typeface="Cambria" pitchFamily="34" charset="-120"/>
              </a:rPr>
              <a:t>Encodeur de texte</a:t>
            </a:r>
            <a:endParaRPr lang="fr-FR" sz="1700" noProof="0" dirty="0"/>
          </a:p>
        </p:txBody>
      </p:sp>
      <p:sp>
        <p:nvSpPr>
          <p:cNvPr id="20" name="Figure Frame"/>
          <p:cNvSpPr/>
          <p:nvPr/>
        </p:nvSpPr>
        <p:spPr>
          <a:xfrm>
            <a:off x="7150000" y="2046364"/>
            <a:ext cx="4310480" cy="3033636"/>
          </a:xfrm>
          <a:prstGeom prst="roundRect">
            <a:avLst>
              <a:gd name="adj" fmla="val 3000"/>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22" name="Figure Caption"/>
          <p:cNvSpPr/>
          <p:nvPr/>
        </p:nvSpPr>
        <p:spPr>
          <a:xfrm>
            <a:off x="7300000" y="2204336"/>
            <a:ext cx="3400000" cy="280000"/>
          </a:xfrm>
          <a:prstGeom prst="rect">
            <a:avLst/>
          </a:prstGeom>
          <a:noFill/>
          <a:ln/>
        </p:spPr>
        <p:txBody>
          <a:bodyPr wrap="square" lIns="0" tIns="0" rIns="0" bIns="0" rtlCol="0" anchor="ctr"/>
          <a:lstStyle/>
          <a:p>
            <a:pPr marL="0" indent="0" algn="ctr">
              <a:buNone/>
            </a:pPr>
            <a:r>
              <a:rPr lang="fr-FR" sz="1100" b="1" noProof="0" dirty="0">
                <a:solidFill>
                  <a:srgbClr val="16243F"/>
                </a:solidFill>
                <a:latin typeface="Calibri" pitchFamily="34" charset="0"/>
                <a:ea typeface="Calibri" pitchFamily="34" charset="-122"/>
                <a:cs typeface="Calibri" pitchFamily="34" charset="-120"/>
              </a:rPr>
              <a:t>Pré-entraînement contrastif image-texte</a:t>
            </a:r>
            <a:endParaRPr lang="fr-FR" sz="1100" noProof="0" dirty="0"/>
          </a:p>
        </p:txBody>
      </p:sp>
      <p:pic>
        <p:nvPicPr>
          <p:cNvPr id="21" name="CLIP Screenshot" descr="Schéma de pré-entraînement contrastif image-texte"/>
          <p:cNvPicPr>
            <a:picLocks noChangeAspect="1"/>
          </p:cNvPicPr>
          <p:nvPr/>
        </p:nvPicPr>
        <p:blipFill>
          <a:blip r:embed="rId6"/>
          <a:stretch>
            <a:fillRect/>
          </a:stretch>
        </p:blipFill>
        <p:spPr>
          <a:xfrm>
            <a:off x="7469499" y="2534140"/>
            <a:ext cx="3399999" cy="2465860"/>
          </a:xfrm>
          <a:prstGeom prst="rect">
            <a:avLst/>
          </a:prstGeom>
        </p:spPr>
      </p:pic>
      <p:sp>
        <p:nvSpPr>
          <p:cNvPr id="17" name="Footer BG"/>
          <p:cNvSpPr/>
          <p:nvPr/>
        </p:nvSpPr>
        <p:spPr>
          <a:xfrm>
            <a:off x="640080" y="5300000"/>
            <a:ext cx="10927080" cy="860000"/>
          </a:xfrm>
          <a:prstGeom prst="roundRect">
            <a:avLst>
              <a:gd name="adj" fmla="val 8000"/>
            </a:avLst>
          </a:prstGeom>
          <a:solidFill>
            <a:srgbClr val="16243F"/>
          </a:solidFill>
          <a:ln/>
          <a:effectLst>
            <a:outerShdw blurRad="88900" dist="25400" dir="5400000" algn="bl" rotWithShape="0">
              <a:srgbClr val="000000">
                <a:alpha val="10000"/>
              </a:srgbClr>
            </a:outerShdw>
          </a:effectLst>
        </p:spPr>
        <p:txBody>
          <a:bodyPr/>
          <a:lstStyle/>
          <a:p>
            <a:endParaRPr lang="fr-FR" noProof="0" dirty="0"/>
          </a:p>
        </p:txBody>
      </p:sp>
      <p:sp>
        <p:nvSpPr>
          <p:cNvPr id="18" name="Footer Title"/>
          <p:cNvSpPr/>
          <p:nvPr/>
        </p:nvSpPr>
        <p:spPr>
          <a:xfrm>
            <a:off x="914400" y="5400000"/>
            <a:ext cx="9000000" cy="300000"/>
          </a:xfrm>
          <a:prstGeom prst="rect">
            <a:avLst/>
          </a:prstGeom>
          <a:noFill/>
          <a:ln/>
        </p:spPr>
        <p:txBody>
          <a:bodyPr wrap="square" lIns="0" tIns="0" rIns="0" bIns="0" rtlCol="0" anchor="ctr"/>
          <a:lstStyle/>
          <a:p>
            <a:pPr marL="0" indent="0">
              <a:buNone/>
            </a:pPr>
            <a:r>
              <a:rPr lang="fr-FR" sz="1500" b="1" noProof="0" dirty="0">
                <a:solidFill>
                  <a:srgbClr val="FFFFFF"/>
                </a:solidFill>
                <a:latin typeface="Cambria" pitchFamily="34" charset="0"/>
                <a:ea typeface="Cambria" pitchFamily="34" charset="-122"/>
                <a:cs typeface="Cambria" pitchFamily="34" charset="-120"/>
              </a:rPr>
              <a:t>Deux phases, de plus en plus fines</a:t>
            </a:r>
            <a:endParaRPr lang="fr-FR" sz="1500" noProof="0" dirty="0"/>
          </a:p>
        </p:txBody>
      </p:sp>
      <p:sp>
        <p:nvSpPr>
          <p:cNvPr id="19" name="Footer Phases"/>
          <p:cNvSpPr/>
          <p:nvPr/>
        </p:nvSpPr>
        <p:spPr>
          <a:xfrm>
            <a:off x="914400" y="5740000"/>
            <a:ext cx="10300000" cy="360000"/>
          </a:xfrm>
          <a:prstGeom prst="rect">
            <a:avLst/>
          </a:prstGeom>
          <a:noFill/>
          <a:ln/>
        </p:spPr>
        <p:txBody>
          <a:bodyPr wrap="square" lIns="0" tIns="0" rIns="0" bIns="0" rtlCol="0" anchor="t"/>
          <a:lstStyle/>
          <a:p>
            <a:r>
              <a:rPr lang="fr-FR" sz="1350" b="1" dirty="0">
                <a:solidFill>
                  <a:srgbClr val="1FA8B8"/>
                </a:solidFill>
                <a:latin typeface="Calibri" pitchFamily="34" charset="0"/>
                <a:ea typeface="Calibri" pitchFamily="34" charset="-122"/>
                <a:cs typeface="Calibri" pitchFamily="34" charset="-120"/>
              </a:rPr>
              <a:t>Approche</a:t>
            </a:r>
            <a:r>
              <a:rPr lang="fr-FR" sz="1350" b="1" noProof="0" dirty="0">
                <a:solidFill>
                  <a:srgbClr val="1FA8B8"/>
                </a:solidFill>
                <a:latin typeface="Calibri" pitchFamily="34" charset="0"/>
                <a:ea typeface="Calibri" pitchFamily="34" charset="-122"/>
                <a:cs typeface="Calibri" pitchFamily="34" charset="-120"/>
              </a:rPr>
              <a:t> 1 - </a:t>
            </a:r>
            <a:r>
              <a:rPr lang="fr-FR" sz="1350" noProof="0" dirty="0">
                <a:solidFill>
                  <a:srgbClr val="CFE0EA"/>
                </a:solidFill>
                <a:latin typeface="Calibri" pitchFamily="34" charset="0"/>
                <a:ea typeface="Calibri" pitchFamily="34" charset="-122"/>
                <a:cs typeface="Calibri" pitchFamily="34" charset="-120"/>
              </a:rPr>
              <a:t>comparer les deux résumés globaux (similarité).      </a:t>
            </a:r>
            <a:r>
              <a:rPr lang="fr-FR" sz="1350" b="1" dirty="0">
                <a:solidFill>
                  <a:srgbClr val="1FA8B8"/>
                </a:solidFill>
                <a:latin typeface="Calibri" pitchFamily="34" charset="0"/>
                <a:ea typeface="Calibri" pitchFamily="34" charset="-122"/>
                <a:cs typeface="Calibri" pitchFamily="34" charset="-120"/>
              </a:rPr>
              <a:t>Approche</a:t>
            </a:r>
            <a:r>
              <a:rPr lang="fr-FR" sz="1350" b="1" noProof="0" dirty="0">
                <a:solidFill>
                  <a:srgbClr val="1FA8B8"/>
                </a:solidFill>
                <a:latin typeface="Calibri" pitchFamily="34" charset="0"/>
                <a:ea typeface="Calibri" pitchFamily="34" charset="-122"/>
                <a:cs typeface="Calibri" pitchFamily="34" charset="-120"/>
              </a:rPr>
              <a:t> 2 - </a:t>
            </a:r>
            <a:r>
              <a:rPr lang="fr-FR" sz="1350" noProof="0" dirty="0">
                <a:solidFill>
                  <a:srgbClr val="CFE0EA"/>
                </a:solidFill>
                <a:latin typeface="Calibri" pitchFamily="34" charset="0"/>
                <a:ea typeface="Calibri" pitchFamily="34" charset="-122"/>
                <a:cs typeface="Calibri" pitchFamily="34" charset="-120"/>
              </a:rPr>
              <a:t>faire dialoguer régions et mots (Cross Attention).</a:t>
            </a:r>
            <a:endParaRPr lang="fr-FR" sz="1350" noProof="0" dirty="0"/>
          </a:p>
        </p:txBody>
      </p:sp>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8</a:t>
            </a:fld>
            <a:endParaRPr lang="fr-FR"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C072D-41F2-E8AE-14B4-7D7CEDF60F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B037E1F-6424-F457-7D34-53AEF1C06BC1}"/>
              </a:ext>
            </a:extLst>
          </p:cNvPr>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a:extLst>
              <a:ext uri="{FF2B5EF4-FFF2-40B4-BE49-F238E27FC236}">
                <a16:creationId xmlns:a16="http://schemas.microsoft.com/office/drawing/2014/main" id="{3486F431-C3F0-A3C3-C69F-888489F8392F}"/>
              </a:ext>
            </a:extLst>
          </p:cNvPr>
          <p:cNvPicPr>
            <a:picLocks noChangeAspect="1"/>
          </p:cNvPicPr>
          <p:nvPr/>
        </p:nvPicPr>
        <p:blipFill>
          <a:blip r:embed="rId3"/>
          <a:stretch>
            <a:fillRect/>
          </a:stretch>
        </p:blipFill>
        <p:spPr>
          <a:xfrm>
            <a:off x="731520" y="621792"/>
            <a:ext cx="329184" cy="329184"/>
          </a:xfrm>
          <a:prstGeom prst="rect">
            <a:avLst/>
          </a:prstGeom>
        </p:spPr>
      </p:pic>
      <p:sp>
        <p:nvSpPr>
          <p:cNvPr id="4" name="Text 1">
            <a:extLst>
              <a:ext uri="{FF2B5EF4-FFF2-40B4-BE49-F238E27FC236}">
                <a16:creationId xmlns:a16="http://schemas.microsoft.com/office/drawing/2014/main" id="{970910A5-D23C-BA78-8AC7-923A32C3EA5D}"/>
              </a:ext>
            </a:extLst>
          </p:cNvPr>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05 - LECTURE DU MODÈLE</a:t>
            </a:r>
            <a:endParaRPr lang="fr-FR" sz="1100" noProof="0" dirty="0"/>
          </a:p>
        </p:txBody>
      </p:sp>
      <p:sp>
        <p:nvSpPr>
          <p:cNvPr id="5" name="Text 2">
            <a:extLst>
              <a:ext uri="{FF2B5EF4-FFF2-40B4-BE49-F238E27FC236}">
                <a16:creationId xmlns:a16="http://schemas.microsoft.com/office/drawing/2014/main" id="{CE424F99-C93E-D713-051D-AE11F8BBB3DA}"/>
              </a:ext>
            </a:extLst>
          </p:cNvPr>
          <p:cNvSpPr/>
          <p:nvPr/>
        </p:nvSpPr>
        <p:spPr>
          <a:xfrm>
            <a:off x="1417320" y="695538"/>
            <a:ext cx="3997779" cy="529758"/>
          </a:xfrm>
          <a:prstGeom prst="rect">
            <a:avLst/>
          </a:prstGeom>
          <a:noFill/>
          <a:ln/>
        </p:spPr>
        <p:txBody>
          <a:bodyPr wrap="square" lIns="0" tIns="0" rIns="0" bIns="0" rtlCol="0" anchor="ctr"/>
          <a:lstStyle/>
          <a:p>
            <a:pPr marL="0" indent="0">
              <a:buNone/>
            </a:pPr>
            <a:r>
              <a:rPr lang="fr-FR" sz="2700" b="1">
                <a:solidFill>
                  <a:srgbClr val="16243F"/>
                </a:solidFill>
                <a:latin typeface="Cambria"/>
                <a:ea typeface="Cambria"/>
                <a:cs typeface="Cambria" pitchFamily="34" charset="-120"/>
              </a:rPr>
              <a:t>Approche1</a:t>
            </a:r>
            <a:r>
              <a:rPr lang="fr-FR" sz="2700" b="1" noProof="0">
                <a:solidFill>
                  <a:srgbClr val="16243F"/>
                </a:solidFill>
                <a:latin typeface="Cambria"/>
                <a:ea typeface="Cambria"/>
                <a:cs typeface="Cambria" pitchFamily="34" charset="-120"/>
              </a:rPr>
              <a:t> : la similarité</a:t>
            </a:r>
            <a:endParaRPr lang="fr-FR" sz="2700" noProof="0">
              <a:latin typeface="Cambria"/>
              <a:ea typeface="Cambria"/>
            </a:endParaRPr>
          </a:p>
        </p:txBody>
      </p:sp>
      <p:sp>
        <p:nvSpPr>
          <p:cNvPr id="6" name="Text 3">
            <a:extLst>
              <a:ext uri="{FF2B5EF4-FFF2-40B4-BE49-F238E27FC236}">
                <a16:creationId xmlns:a16="http://schemas.microsoft.com/office/drawing/2014/main" id="{51F6705F-F1A3-355F-3AFA-BCC19C70290D}"/>
              </a:ext>
            </a:extLst>
          </p:cNvPr>
          <p:cNvSpPr/>
          <p:nvPr/>
        </p:nvSpPr>
        <p:spPr>
          <a:xfrm>
            <a:off x="1417319" y="1430941"/>
            <a:ext cx="3359265" cy="1191538"/>
          </a:xfrm>
          <a:prstGeom prst="rect">
            <a:avLst/>
          </a:prstGeom>
          <a:noFill/>
          <a:ln/>
        </p:spPr>
        <p:txBody>
          <a:bodyPr wrap="square" lIns="0" tIns="0" rIns="0" bIns="0" rtlCol="0" anchor="t"/>
          <a:lstStyle/>
          <a:p>
            <a:pPr marL="0" indent="0">
              <a:lnSpc>
                <a:spcPct val="108000"/>
              </a:lnSpc>
              <a:buNone/>
            </a:pPr>
            <a:r>
              <a:rPr lang="fr-FR" sz="1500" noProof="0" dirty="0">
                <a:solidFill>
                  <a:srgbClr val="1F2A37"/>
                </a:solidFill>
                <a:latin typeface="Calibri" pitchFamily="34" charset="0"/>
                <a:ea typeface="Calibri" pitchFamily="34" charset="-122"/>
                <a:cs typeface="Calibri" pitchFamily="34" charset="-120"/>
              </a:rPr>
              <a:t>Chaque image et chaque compte rendu sont réduits à leur vecteur global. Un simple score de similarité mesure leur proximité.</a:t>
            </a:r>
            <a:endParaRPr lang="fr-FR" sz="1500" noProof="0" dirty="0"/>
          </a:p>
        </p:txBody>
      </p:sp>
      <p:graphicFrame>
        <p:nvGraphicFramePr>
          <p:cNvPr id="14" name="Table 0">
            <a:extLst>
              <a:ext uri="{FF2B5EF4-FFF2-40B4-BE49-F238E27FC236}">
                <a16:creationId xmlns:a16="http://schemas.microsoft.com/office/drawing/2014/main" id="{40F9A1C5-075C-42EF-A234-2E47B3EF1AE5}"/>
              </a:ext>
            </a:extLst>
          </p:cNvPr>
          <p:cNvGraphicFramePr>
            <a:graphicFrameLocks noGrp="1"/>
          </p:cNvGraphicFramePr>
          <p:nvPr/>
        </p:nvGraphicFramePr>
        <p:xfrm>
          <a:off x="1062412" y="2847293"/>
          <a:ext cx="4069080" cy="2944368"/>
        </p:xfrm>
        <a:graphic>
          <a:graphicData uri="http://schemas.openxmlformats.org/drawingml/2006/table">
            <a:tbl>
              <a:tblPr/>
              <a:tblGrid>
                <a:gridCol w="2788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420624">
                <a:tc>
                  <a:txBody>
                    <a:bodyPr/>
                    <a:lstStyle/>
                    <a:p>
                      <a:pPr marL="0" indent="0" algn="l">
                        <a:buNone/>
                      </a:pPr>
                      <a:r>
                        <a:rPr lang="fr-FR" sz="1300" b="1" noProof="0" dirty="0">
                          <a:solidFill>
                            <a:srgbClr val="FFFFFF"/>
                          </a:solidFill>
                          <a:latin typeface="Calibri" pitchFamily="34" charset="0"/>
                          <a:ea typeface="Calibri" pitchFamily="34" charset="-122"/>
                          <a:cs typeface="Calibri" pitchFamily="34" charset="-120"/>
                        </a:rPr>
                        <a:t>Performance Phase 1</a:t>
                      </a:r>
                      <a:endParaRPr lang="fr-FR" sz="130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16243F"/>
                    </a:solidFill>
                  </a:tcPr>
                </a:tc>
                <a:tc>
                  <a:txBody>
                    <a:bodyPr/>
                    <a:lstStyle/>
                    <a:p>
                      <a:pPr marL="0" indent="0" algn="ctr">
                        <a:buNone/>
                      </a:pPr>
                      <a:r>
                        <a:rPr lang="fr-FR" sz="1300" b="1" noProof="0" dirty="0">
                          <a:solidFill>
                            <a:srgbClr val="FFFFFF"/>
                          </a:solidFill>
                          <a:latin typeface="Calibri" pitchFamily="34" charset="0"/>
                          <a:ea typeface="Calibri" pitchFamily="34" charset="-122"/>
                          <a:cs typeface="Calibri" pitchFamily="34" charset="-120"/>
                        </a:rPr>
                        <a:t>Test</a:t>
                      </a:r>
                      <a:endParaRPr lang="fr-FR" sz="130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16243F"/>
                    </a:solidFill>
                  </a:tcPr>
                </a:tc>
                <a:extLst>
                  <a:ext uri="{0D108BD9-81ED-4DB2-BD59-A6C34878D82A}">
                    <a16:rowId xmlns:a16="http://schemas.microsoft.com/office/drawing/2014/main" val="10000"/>
                  </a:ext>
                </a:extLst>
              </a:tr>
              <a:tr h="420624">
                <a:tc>
                  <a:txBody>
                    <a:bodyPr/>
                    <a:lstStyle/>
                    <a:p>
                      <a:pPr marL="0" indent="0" algn="l" defTabSz="914400" rtl="0" eaLnBrk="1" latinLnBrk="0" hangingPunct="1">
                        <a:buNone/>
                      </a:pPr>
                      <a:r>
                        <a:rPr lang="fr-FR" sz="1250" kern="1200" noProof="0" dirty="0">
                          <a:solidFill>
                            <a:srgbClr val="1F2A37"/>
                          </a:solidFill>
                          <a:latin typeface="Calibri" pitchFamily="34" charset="0"/>
                          <a:ea typeface="Calibri" pitchFamily="34" charset="-122"/>
                          <a:cs typeface="Calibri" pitchFamily="34" charset="-120"/>
                        </a:rPr>
                        <a:t>ROC-AUC</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tc>
                  <a:txBody>
                    <a:bodyPr/>
                    <a:lstStyle/>
                    <a:p>
                      <a:pPr marL="0" indent="0" algn="ctr">
                        <a:buNone/>
                      </a:pPr>
                      <a:r>
                        <a:rPr lang="fr-FR" sz="1250" b="1" noProof="0">
                          <a:solidFill>
                            <a:srgbClr val="1FA8B8"/>
                          </a:solidFill>
                          <a:latin typeface="Calibri"/>
                          <a:ea typeface="Calibri"/>
                          <a:cs typeface="Calibri"/>
                        </a:rPr>
                        <a:t>86%</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extLst>
                  <a:ext uri="{0D108BD9-81ED-4DB2-BD59-A6C34878D82A}">
                    <a16:rowId xmlns:a16="http://schemas.microsoft.com/office/drawing/2014/main" val="10001"/>
                  </a:ext>
                </a:extLst>
              </a:tr>
              <a:tr h="420624">
                <a:tc>
                  <a:txBody>
                    <a:bodyPr/>
                    <a:lstStyle/>
                    <a:p>
                      <a:pPr marL="0" indent="0" algn="l">
                        <a:buNone/>
                      </a:pPr>
                      <a:r>
                        <a:rPr lang="fr-FR" sz="1250" noProof="0" dirty="0" err="1">
                          <a:solidFill>
                            <a:srgbClr val="1F2A37"/>
                          </a:solidFill>
                          <a:latin typeface="Calibri" pitchFamily="34" charset="0"/>
                          <a:ea typeface="Calibri" pitchFamily="34" charset="-122"/>
                          <a:cs typeface="Calibri" pitchFamily="34" charset="-120"/>
                        </a:rPr>
                        <a:t>Accuracy</a:t>
                      </a:r>
                      <a:endParaRPr lang="fr-FR" sz="125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tc>
                  <a:txBody>
                    <a:bodyPr/>
                    <a:lstStyle/>
                    <a:p>
                      <a:pPr marL="0" indent="0" algn="ctr">
                        <a:buNone/>
                      </a:pPr>
                      <a:r>
                        <a:rPr lang="fr-FR" sz="1250" b="1" noProof="0">
                          <a:solidFill>
                            <a:srgbClr val="1FA8B8"/>
                          </a:solidFill>
                          <a:latin typeface="Calibri"/>
                          <a:ea typeface="Calibri"/>
                          <a:cs typeface="Calibri"/>
                        </a:rPr>
                        <a:t>78%</a:t>
                      </a:r>
                      <a:endParaRPr lang="fr-FR" sz="1250" noProof="0">
                        <a:solidFill>
                          <a:srgbClr val="1FA8B8"/>
                        </a:solidFill>
                        <a:latin typeface="Calibri"/>
                        <a:ea typeface="Calibri"/>
                        <a:cs typeface="Calibri"/>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fr-FR" sz="1250" noProof="0" dirty="0" err="1">
                          <a:solidFill>
                            <a:srgbClr val="1F2A37"/>
                          </a:solidFill>
                          <a:latin typeface="Calibri" pitchFamily="34" charset="0"/>
                          <a:ea typeface="Calibri" pitchFamily="34" charset="-122"/>
                          <a:cs typeface="Calibri" pitchFamily="34" charset="-120"/>
                        </a:rPr>
                        <a:t>Precision</a:t>
                      </a:r>
                      <a:endParaRPr lang="fr-FR" sz="125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tc>
                  <a:txBody>
                    <a:bodyPr/>
                    <a:lstStyle/>
                    <a:p>
                      <a:pPr marL="0" indent="0" algn="ctr">
                        <a:buNone/>
                      </a:pPr>
                      <a:r>
                        <a:rPr lang="fr-FR" sz="1250" b="1" noProof="0">
                          <a:solidFill>
                            <a:srgbClr val="1FA8B8"/>
                          </a:solidFill>
                          <a:latin typeface="Calibri"/>
                          <a:ea typeface="Calibri"/>
                          <a:cs typeface="Calibri"/>
                        </a:rPr>
                        <a:t>77%</a:t>
                      </a:r>
                      <a:endParaRPr lang="fr-FR" sz="1250" noProof="0">
                        <a:solidFill>
                          <a:srgbClr val="1FA8B8"/>
                        </a:solidFill>
                        <a:latin typeface="Calibri"/>
                        <a:ea typeface="Calibri"/>
                        <a:cs typeface="Calibri"/>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extLst>
                  <a:ext uri="{0D108BD9-81ED-4DB2-BD59-A6C34878D82A}">
                    <a16:rowId xmlns:a16="http://schemas.microsoft.com/office/drawing/2014/main" val="10003"/>
                  </a:ext>
                </a:extLst>
              </a:tr>
              <a:tr h="420624">
                <a:tc>
                  <a:txBody>
                    <a:bodyPr/>
                    <a:lstStyle/>
                    <a:p>
                      <a:pPr marL="0" indent="0" algn="l">
                        <a:buNone/>
                      </a:pPr>
                      <a:r>
                        <a:rPr lang="fr-FR" sz="1250" noProof="0" dirty="0" err="1">
                          <a:solidFill>
                            <a:srgbClr val="1F2A37"/>
                          </a:solidFill>
                          <a:latin typeface="Calibri" pitchFamily="34" charset="0"/>
                          <a:ea typeface="Calibri" pitchFamily="34" charset="-122"/>
                          <a:cs typeface="Calibri" pitchFamily="34" charset="-120"/>
                        </a:rPr>
                        <a:t>Recall</a:t>
                      </a:r>
                      <a:endParaRPr lang="fr-FR" sz="125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tc>
                  <a:txBody>
                    <a:bodyPr/>
                    <a:lstStyle/>
                    <a:p>
                      <a:pPr marL="0" indent="0" algn="ctr">
                        <a:buNone/>
                      </a:pPr>
                      <a:r>
                        <a:rPr lang="fr-FR" sz="1250" b="1" noProof="0">
                          <a:solidFill>
                            <a:srgbClr val="1FA8B8"/>
                          </a:solidFill>
                          <a:latin typeface="Calibri"/>
                          <a:ea typeface="Calibri"/>
                          <a:cs typeface="Calibri"/>
                        </a:rPr>
                        <a:t>79%</a:t>
                      </a:r>
                      <a:endParaRPr lang="fr-FR" sz="1250" noProof="0">
                        <a:solidFill>
                          <a:srgbClr val="1FA8B8"/>
                        </a:solidFill>
                        <a:latin typeface="Calibri"/>
                        <a:ea typeface="Calibri"/>
                        <a:cs typeface="Calibri"/>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defTabSz="914400" rtl="0" eaLnBrk="1" latinLnBrk="0" hangingPunct="1">
                        <a:buNone/>
                      </a:pPr>
                      <a:r>
                        <a:rPr lang="fr-FR" sz="1250" kern="1200" noProof="0" dirty="0">
                          <a:solidFill>
                            <a:srgbClr val="1F2A37"/>
                          </a:solidFill>
                          <a:latin typeface="Calibri" pitchFamily="34" charset="0"/>
                          <a:ea typeface="Calibri" pitchFamily="34" charset="-122"/>
                          <a:cs typeface="Calibri" pitchFamily="34" charset="-120"/>
                        </a:rPr>
                        <a:t>F1-Score</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tc>
                  <a:txBody>
                    <a:bodyPr/>
                    <a:lstStyle/>
                    <a:p>
                      <a:pPr marL="0" indent="0" algn="ctr">
                        <a:buNone/>
                      </a:pPr>
                      <a:r>
                        <a:rPr lang="fr-FR" sz="1250" b="1" noProof="0">
                          <a:solidFill>
                            <a:srgbClr val="1FA8B8"/>
                          </a:solidFill>
                          <a:latin typeface="Calibri"/>
                          <a:ea typeface="Calibri"/>
                          <a:cs typeface="Calibri"/>
                        </a:rPr>
                        <a:t>78%</a:t>
                      </a:r>
                      <a:endParaRPr lang="fr-FR" sz="1250" noProof="0">
                        <a:solidFill>
                          <a:srgbClr val="1FA8B8"/>
                        </a:solidFill>
                        <a:latin typeface="Calibri"/>
                        <a:ea typeface="Calibri"/>
                        <a:cs typeface="Calibri"/>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extLst>
                  <a:ext uri="{0D108BD9-81ED-4DB2-BD59-A6C34878D82A}">
                    <a16:rowId xmlns:a16="http://schemas.microsoft.com/office/drawing/2014/main" val="10005"/>
                  </a:ext>
                </a:extLst>
              </a:tr>
              <a:tr h="420624">
                <a:tc>
                  <a:txBody>
                    <a:bodyPr/>
                    <a:lstStyle/>
                    <a:p>
                      <a:pPr marL="0" indent="0" algn="l" defTabSz="914400" rtl="0" eaLnBrk="1" latinLnBrk="0" hangingPunct="1">
                        <a:buNone/>
                      </a:pPr>
                      <a:r>
                        <a:rPr lang="fr-FR" sz="1250" kern="1200" noProof="0" dirty="0">
                          <a:solidFill>
                            <a:srgbClr val="1F2A37"/>
                          </a:solidFill>
                          <a:latin typeface="Calibri" pitchFamily="34" charset="0"/>
                          <a:ea typeface="Calibri" pitchFamily="34" charset="-122"/>
                          <a:cs typeface="Calibri" pitchFamily="34" charset="-120"/>
                        </a:rPr>
                        <a:t>Specificity</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tc>
                  <a:txBody>
                    <a:bodyPr/>
                    <a:lstStyle/>
                    <a:p>
                      <a:pPr marL="0" indent="0" algn="ctr">
                        <a:buNone/>
                      </a:pPr>
                      <a:r>
                        <a:rPr lang="fr-FR" sz="1250" b="1" noProof="0">
                          <a:solidFill>
                            <a:srgbClr val="1FA8B8"/>
                          </a:solidFill>
                          <a:latin typeface="Calibri"/>
                          <a:ea typeface="Calibri"/>
                          <a:cs typeface="Calibri"/>
                        </a:rPr>
                        <a:t>76%</a:t>
                      </a:r>
                      <a:endParaRPr lang="fr-FR" sz="1250" noProof="0">
                        <a:solidFill>
                          <a:srgbClr val="1FA8B8"/>
                        </a:solidFill>
                        <a:latin typeface="Calibri"/>
                        <a:ea typeface="Calibri"/>
                        <a:cs typeface="Calibri"/>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a:extLst>
              <a:ext uri="{FF2B5EF4-FFF2-40B4-BE49-F238E27FC236}">
                <a16:creationId xmlns:a16="http://schemas.microsoft.com/office/drawing/2014/main" id="{A5DA2BCE-101F-99E5-D65A-7C6838BA6811}"/>
              </a:ext>
            </a:extLst>
          </p:cNvPr>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9</a:t>
            </a:fld>
            <a:endParaRPr lang="fr-FR" noProof="0" dirty="0"/>
          </a:p>
        </p:txBody>
      </p:sp>
      <p:sp>
        <p:nvSpPr>
          <p:cNvPr id="13" name="Text 2">
            <a:extLst>
              <a:ext uri="{FF2B5EF4-FFF2-40B4-BE49-F238E27FC236}">
                <a16:creationId xmlns:a16="http://schemas.microsoft.com/office/drawing/2014/main" id="{56EA49CD-BFAB-A51F-FE17-2A987688E401}"/>
              </a:ext>
            </a:extLst>
          </p:cNvPr>
          <p:cNvSpPr/>
          <p:nvPr/>
        </p:nvSpPr>
        <p:spPr>
          <a:xfrm>
            <a:off x="6779491" y="694944"/>
            <a:ext cx="4674117" cy="529758"/>
          </a:xfrm>
          <a:prstGeom prst="rect">
            <a:avLst/>
          </a:prstGeom>
          <a:noFill/>
          <a:ln/>
        </p:spPr>
        <p:txBody>
          <a:bodyPr wrap="square" lIns="0" tIns="0" rIns="0" bIns="0" rtlCol="0" anchor="ctr"/>
          <a:lstStyle/>
          <a:p>
            <a:r>
              <a:rPr lang="fr-FR" sz="2700" b="1">
                <a:solidFill>
                  <a:srgbClr val="16243F"/>
                </a:solidFill>
                <a:latin typeface="Cambria"/>
                <a:ea typeface="Cambria"/>
                <a:cs typeface="Cambria" pitchFamily="34" charset="-120"/>
              </a:rPr>
              <a:t>Approche 2</a:t>
            </a:r>
            <a:r>
              <a:rPr lang="fr-FR" sz="2700" b="1" noProof="0">
                <a:solidFill>
                  <a:srgbClr val="16243F"/>
                </a:solidFill>
                <a:latin typeface="Cambria"/>
                <a:ea typeface="Cambria"/>
                <a:cs typeface="Cambria" pitchFamily="34" charset="-120"/>
              </a:rPr>
              <a:t> : Cross Attention </a:t>
            </a:r>
            <a:endParaRPr lang="fr-FR" sz="2700" noProof="0">
              <a:latin typeface="Cambria"/>
              <a:ea typeface="Cambria"/>
            </a:endParaRPr>
          </a:p>
        </p:txBody>
      </p:sp>
      <p:graphicFrame>
        <p:nvGraphicFramePr>
          <p:cNvPr id="15" name="Table 0">
            <a:extLst>
              <a:ext uri="{FF2B5EF4-FFF2-40B4-BE49-F238E27FC236}">
                <a16:creationId xmlns:a16="http://schemas.microsoft.com/office/drawing/2014/main" id="{A4352CAB-90E6-9FFB-5168-4103FF391165}"/>
              </a:ext>
            </a:extLst>
          </p:cNvPr>
          <p:cNvGraphicFramePr>
            <a:graphicFrameLocks noGrp="1"/>
          </p:cNvGraphicFramePr>
          <p:nvPr/>
        </p:nvGraphicFramePr>
        <p:xfrm>
          <a:off x="6779490" y="2847293"/>
          <a:ext cx="4069080" cy="2944368"/>
        </p:xfrm>
        <a:graphic>
          <a:graphicData uri="http://schemas.openxmlformats.org/drawingml/2006/table">
            <a:tbl>
              <a:tblPr/>
              <a:tblGrid>
                <a:gridCol w="2788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tblGrid>
              <a:tr h="420624">
                <a:tc>
                  <a:txBody>
                    <a:bodyPr/>
                    <a:lstStyle/>
                    <a:p>
                      <a:pPr marL="0" indent="0" algn="l">
                        <a:buNone/>
                      </a:pPr>
                      <a:r>
                        <a:rPr lang="fr-FR" sz="1300" b="1" noProof="0" dirty="0">
                          <a:solidFill>
                            <a:srgbClr val="FFFFFF"/>
                          </a:solidFill>
                          <a:latin typeface="Calibri" pitchFamily="34" charset="0"/>
                          <a:ea typeface="Calibri" pitchFamily="34" charset="-122"/>
                          <a:cs typeface="Calibri" pitchFamily="34" charset="-120"/>
                        </a:rPr>
                        <a:t>Performance Phase 2</a:t>
                      </a:r>
                      <a:endParaRPr lang="fr-FR" sz="130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16243F"/>
                    </a:solidFill>
                  </a:tcPr>
                </a:tc>
                <a:tc>
                  <a:txBody>
                    <a:bodyPr/>
                    <a:lstStyle/>
                    <a:p>
                      <a:pPr marL="0" indent="0" algn="ctr">
                        <a:buNone/>
                      </a:pPr>
                      <a:r>
                        <a:rPr lang="fr-FR" sz="1300" b="1" noProof="0" dirty="0">
                          <a:solidFill>
                            <a:srgbClr val="FFFFFF"/>
                          </a:solidFill>
                          <a:latin typeface="Calibri" pitchFamily="34" charset="0"/>
                          <a:ea typeface="Calibri" pitchFamily="34" charset="-122"/>
                          <a:cs typeface="Calibri" pitchFamily="34" charset="-120"/>
                        </a:rPr>
                        <a:t>Test</a:t>
                      </a:r>
                      <a:endParaRPr lang="fr-FR" sz="1300" noProof="0" dirty="0">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16243F"/>
                    </a:solidFill>
                  </a:tcPr>
                </a:tc>
                <a:extLst>
                  <a:ext uri="{0D108BD9-81ED-4DB2-BD59-A6C34878D82A}">
                    <a16:rowId xmlns:a16="http://schemas.microsoft.com/office/drawing/2014/main" val="10000"/>
                  </a:ext>
                </a:extLst>
              </a:tr>
              <a:tr h="420624">
                <a:tc>
                  <a:txBody>
                    <a:bodyPr/>
                    <a:lstStyle/>
                    <a:p>
                      <a:pPr marL="0" indent="0" algn="l" defTabSz="914400" rtl="0" eaLnBrk="1" latinLnBrk="0" hangingPunct="1">
                        <a:buNone/>
                      </a:pPr>
                      <a:r>
                        <a:rPr lang="fr-FR" sz="1250" kern="1200" noProof="0" dirty="0">
                          <a:solidFill>
                            <a:schemeClr val="tx1"/>
                          </a:solidFill>
                          <a:latin typeface="Calibri" pitchFamily="34" charset="0"/>
                          <a:ea typeface="Calibri" pitchFamily="34" charset="-122"/>
                          <a:cs typeface="Calibri" pitchFamily="34" charset="-120"/>
                        </a:rPr>
                        <a:t>ROC-AUC</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tc>
                  <a:txBody>
                    <a:bodyPr/>
                    <a:lstStyle/>
                    <a:p>
                      <a:pPr marL="0" indent="0" algn="ctr">
                        <a:buNone/>
                      </a:pPr>
                      <a:r>
                        <a:rPr lang="fr-FR" sz="1250" b="1" noProof="0">
                          <a:solidFill>
                            <a:srgbClr val="00B050"/>
                          </a:solidFill>
                          <a:latin typeface="Calibri"/>
                          <a:ea typeface="Calibri"/>
                          <a:cs typeface="Calibri"/>
                        </a:rPr>
                        <a:t>95%</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extLst>
                  <a:ext uri="{0D108BD9-81ED-4DB2-BD59-A6C34878D82A}">
                    <a16:rowId xmlns:a16="http://schemas.microsoft.com/office/drawing/2014/main" val="10001"/>
                  </a:ext>
                </a:extLst>
              </a:tr>
              <a:tr h="420624">
                <a:tc>
                  <a:txBody>
                    <a:bodyPr/>
                    <a:lstStyle/>
                    <a:p>
                      <a:pPr marL="0" indent="0" algn="l">
                        <a:buNone/>
                      </a:pPr>
                      <a:r>
                        <a:rPr lang="fr-FR" sz="1250" noProof="0" dirty="0" err="1">
                          <a:solidFill>
                            <a:schemeClr val="tx1"/>
                          </a:solidFill>
                          <a:latin typeface="Calibri" pitchFamily="34" charset="0"/>
                          <a:ea typeface="Calibri" pitchFamily="34" charset="-122"/>
                          <a:cs typeface="Calibri" pitchFamily="34" charset="-120"/>
                        </a:rPr>
                        <a:t>Accuracy</a:t>
                      </a:r>
                      <a:endParaRPr lang="fr-FR" sz="1250" noProof="0" dirty="0">
                        <a:solidFill>
                          <a:schemeClr val="tx1"/>
                        </a:solidFill>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tc>
                  <a:txBody>
                    <a:bodyPr/>
                    <a:lstStyle/>
                    <a:p>
                      <a:pPr marL="0" indent="0" algn="ctr">
                        <a:buNone/>
                      </a:pPr>
                      <a:r>
                        <a:rPr lang="fr-FR" sz="1250" b="1" noProof="0">
                          <a:solidFill>
                            <a:srgbClr val="00B050"/>
                          </a:solidFill>
                          <a:latin typeface="Calibri"/>
                          <a:ea typeface="Calibri"/>
                          <a:cs typeface="Calibri"/>
                        </a:rPr>
                        <a:t>88%</a:t>
                      </a:r>
                      <a:endParaRPr lang="fr-FR" sz="1250" noProof="0">
                        <a:solidFill>
                          <a:srgbClr val="00B050"/>
                        </a:solidFill>
                        <a:latin typeface="Calibri"/>
                        <a:ea typeface="Calibri"/>
                        <a:cs typeface="Calibri"/>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fr-FR" sz="1250" noProof="0" dirty="0" err="1">
                          <a:solidFill>
                            <a:schemeClr val="tx1"/>
                          </a:solidFill>
                          <a:latin typeface="Calibri" pitchFamily="34" charset="0"/>
                          <a:ea typeface="Calibri" pitchFamily="34" charset="-122"/>
                          <a:cs typeface="Calibri" pitchFamily="34" charset="-120"/>
                        </a:rPr>
                        <a:t>Precision</a:t>
                      </a:r>
                      <a:endParaRPr lang="fr-FR" sz="1250" noProof="0" dirty="0">
                        <a:solidFill>
                          <a:schemeClr val="tx1"/>
                        </a:solidFill>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tc>
                  <a:txBody>
                    <a:bodyPr/>
                    <a:lstStyle/>
                    <a:p>
                      <a:pPr marL="0" indent="0" algn="ctr">
                        <a:buNone/>
                      </a:pPr>
                      <a:r>
                        <a:rPr lang="fr-FR" sz="1250" b="1" noProof="0">
                          <a:solidFill>
                            <a:srgbClr val="00B050"/>
                          </a:solidFill>
                          <a:latin typeface="Calibri"/>
                          <a:ea typeface="Calibri"/>
                          <a:cs typeface="Calibri"/>
                        </a:rPr>
                        <a:t>88%</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extLst>
                  <a:ext uri="{0D108BD9-81ED-4DB2-BD59-A6C34878D82A}">
                    <a16:rowId xmlns:a16="http://schemas.microsoft.com/office/drawing/2014/main" val="10003"/>
                  </a:ext>
                </a:extLst>
              </a:tr>
              <a:tr h="420624">
                <a:tc>
                  <a:txBody>
                    <a:bodyPr/>
                    <a:lstStyle/>
                    <a:p>
                      <a:pPr marL="0" indent="0" algn="l">
                        <a:buNone/>
                      </a:pPr>
                      <a:r>
                        <a:rPr lang="fr-FR" sz="1250" noProof="0" dirty="0" err="1">
                          <a:solidFill>
                            <a:schemeClr val="tx1"/>
                          </a:solidFill>
                          <a:latin typeface="Calibri" pitchFamily="34" charset="0"/>
                          <a:ea typeface="Calibri" pitchFamily="34" charset="-122"/>
                          <a:cs typeface="Calibri" pitchFamily="34" charset="-120"/>
                        </a:rPr>
                        <a:t>Recall</a:t>
                      </a:r>
                      <a:endParaRPr lang="fr-FR" sz="1250" noProof="0" dirty="0">
                        <a:solidFill>
                          <a:schemeClr val="tx1"/>
                        </a:solidFill>
                        <a:latin typeface="Calibri" charset="0"/>
                        <a:ea typeface="Calibri" charset="0"/>
                        <a:cs typeface="Calibri" charset="0"/>
                      </a:endParaRP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tc>
                  <a:txBody>
                    <a:bodyPr/>
                    <a:lstStyle/>
                    <a:p>
                      <a:pPr marL="0" indent="0" algn="ctr">
                        <a:buNone/>
                      </a:pPr>
                      <a:r>
                        <a:rPr lang="fr-FR" sz="1250" b="1" noProof="0">
                          <a:solidFill>
                            <a:srgbClr val="00B050"/>
                          </a:solidFill>
                          <a:latin typeface="Calibri"/>
                          <a:ea typeface="Calibri"/>
                          <a:cs typeface="Calibri"/>
                        </a:rPr>
                        <a:t>90%</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defTabSz="914400" rtl="0" eaLnBrk="1" latinLnBrk="0" hangingPunct="1">
                        <a:buNone/>
                      </a:pPr>
                      <a:r>
                        <a:rPr lang="fr-FR" sz="1250" kern="1200" noProof="0" dirty="0">
                          <a:solidFill>
                            <a:schemeClr val="tx1"/>
                          </a:solidFill>
                          <a:latin typeface="Calibri" pitchFamily="34" charset="0"/>
                          <a:ea typeface="Calibri" pitchFamily="34" charset="-122"/>
                          <a:cs typeface="Calibri" pitchFamily="34" charset="-120"/>
                        </a:rPr>
                        <a:t>F1-Score</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tc>
                  <a:txBody>
                    <a:bodyPr/>
                    <a:lstStyle/>
                    <a:p>
                      <a:pPr marL="0" indent="0" algn="ctr">
                        <a:buNone/>
                      </a:pPr>
                      <a:r>
                        <a:rPr lang="fr-FR" sz="1250" b="1" noProof="0">
                          <a:solidFill>
                            <a:srgbClr val="00B050"/>
                          </a:solidFill>
                          <a:latin typeface="Calibri"/>
                          <a:ea typeface="Calibri"/>
                          <a:cs typeface="Calibri"/>
                        </a:rPr>
                        <a:t>89%</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E7EFF6"/>
                    </a:solidFill>
                  </a:tcPr>
                </a:tc>
                <a:extLst>
                  <a:ext uri="{0D108BD9-81ED-4DB2-BD59-A6C34878D82A}">
                    <a16:rowId xmlns:a16="http://schemas.microsoft.com/office/drawing/2014/main" val="10005"/>
                  </a:ext>
                </a:extLst>
              </a:tr>
              <a:tr h="420624">
                <a:tc>
                  <a:txBody>
                    <a:bodyPr/>
                    <a:lstStyle/>
                    <a:p>
                      <a:pPr marL="0" indent="0" algn="l" defTabSz="914400" rtl="0" eaLnBrk="1" latinLnBrk="0" hangingPunct="1">
                        <a:buNone/>
                      </a:pPr>
                      <a:r>
                        <a:rPr lang="fr-FR" sz="1250" kern="1200" noProof="0" dirty="0">
                          <a:solidFill>
                            <a:schemeClr val="tx1"/>
                          </a:solidFill>
                          <a:latin typeface="Calibri" pitchFamily="34" charset="0"/>
                          <a:ea typeface="Calibri" pitchFamily="34" charset="-122"/>
                          <a:cs typeface="Calibri" pitchFamily="34" charset="-120"/>
                        </a:rPr>
                        <a:t>Specificity</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tc>
                  <a:txBody>
                    <a:bodyPr/>
                    <a:lstStyle/>
                    <a:p>
                      <a:pPr marL="0" indent="0" algn="ctr">
                        <a:buNone/>
                      </a:pPr>
                      <a:r>
                        <a:rPr lang="fr-FR" sz="1250" b="1" noProof="0">
                          <a:solidFill>
                            <a:srgbClr val="00B050"/>
                          </a:solidFill>
                          <a:latin typeface="Calibri"/>
                          <a:ea typeface="Calibri"/>
                          <a:cs typeface="Calibri"/>
                        </a:rPr>
                        <a:t>87%</a:t>
                      </a:r>
                    </a:p>
                  </a:txBody>
                  <a:tcPr anchor="ctr">
                    <a:lnL w="6350" cap="flat" cmpd="sng" algn="ctr">
                      <a:solidFill>
                        <a:srgbClr val="D7E1EC"/>
                      </a:solidFill>
                      <a:prstDash val="solid"/>
                      <a:round/>
                      <a:headEnd type="none" w="med" len="med"/>
                      <a:tailEnd type="none" w="med" len="med"/>
                    </a:lnL>
                    <a:lnR w="6350" cap="flat" cmpd="sng" algn="ctr">
                      <a:solidFill>
                        <a:srgbClr val="D7E1EC"/>
                      </a:solidFill>
                      <a:prstDash val="solid"/>
                      <a:round/>
                      <a:headEnd type="none" w="med" len="med"/>
                      <a:tailEnd type="none" w="med" len="med"/>
                    </a:lnR>
                    <a:lnT w="6350" cap="flat" cmpd="sng" algn="ctr">
                      <a:solidFill>
                        <a:srgbClr val="D7E1EC"/>
                      </a:solidFill>
                      <a:prstDash val="solid"/>
                      <a:round/>
                      <a:headEnd type="none" w="med" len="med"/>
                      <a:tailEnd type="none" w="med" len="med"/>
                    </a:lnT>
                    <a:lnB w="6350" cap="flat" cmpd="sng" algn="ctr">
                      <a:solidFill>
                        <a:srgbClr val="D7E1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16" name="Text 3">
            <a:extLst>
              <a:ext uri="{FF2B5EF4-FFF2-40B4-BE49-F238E27FC236}">
                <a16:creationId xmlns:a16="http://schemas.microsoft.com/office/drawing/2014/main" id="{3EDFB4AD-D4B7-5271-81E1-D27E4F0D88DB}"/>
              </a:ext>
            </a:extLst>
          </p:cNvPr>
          <p:cNvSpPr/>
          <p:nvPr/>
        </p:nvSpPr>
        <p:spPr>
          <a:xfrm>
            <a:off x="6779490" y="1440525"/>
            <a:ext cx="3902825" cy="1191538"/>
          </a:xfrm>
          <a:prstGeom prst="rect">
            <a:avLst/>
          </a:prstGeom>
          <a:noFill/>
          <a:ln/>
        </p:spPr>
        <p:txBody>
          <a:bodyPr wrap="square" lIns="0" tIns="0" rIns="0" bIns="0" rtlCol="0" anchor="t"/>
          <a:lstStyle/>
          <a:p>
            <a:pPr>
              <a:lnSpc>
                <a:spcPct val="108000"/>
              </a:lnSpc>
            </a:pPr>
            <a:r>
              <a:rPr lang="fr-FR" sz="1500" noProof="0" dirty="0">
                <a:solidFill>
                  <a:srgbClr val="1F2A37"/>
                </a:solidFill>
                <a:latin typeface="Calibri" pitchFamily="34" charset="0"/>
                <a:ea typeface="Calibri" pitchFamily="34" charset="-122"/>
                <a:cs typeface="Calibri" pitchFamily="34" charset="-120"/>
              </a:rPr>
              <a:t>Au lieu des résumés globaux, chaque mot du compte rendu « regarde » l'ensemble des régions de l'image et retient celles qui le concernent.</a:t>
            </a:r>
            <a:endParaRPr lang="fr-FR" sz="1500" noProof="0" dirty="0"/>
          </a:p>
        </p:txBody>
      </p:sp>
    </p:spTree>
    <p:extLst>
      <p:ext uri="{BB962C8B-B14F-4D97-AF65-F5344CB8AC3E}">
        <p14:creationId xmlns:p14="http://schemas.microsoft.com/office/powerpoint/2010/main" val="282745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62FD1-BD63-AE73-F8C5-B545DA78519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0540348-C0CF-1E07-7141-23FB128D2A42}"/>
              </a:ext>
            </a:extLst>
          </p:cNvPr>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a:extLst>
              <a:ext uri="{FF2B5EF4-FFF2-40B4-BE49-F238E27FC236}">
                <a16:creationId xmlns:a16="http://schemas.microsoft.com/office/drawing/2014/main" id="{F3ADC3F1-8C17-5F39-0FE5-46BFE49A73B6}"/>
              </a:ext>
            </a:extLst>
          </p:cNvPr>
          <p:cNvPicPr>
            <a:picLocks noChangeAspect="1"/>
          </p:cNvPicPr>
          <p:nvPr/>
        </p:nvPicPr>
        <p:blipFill>
          <a:blip r:embed="rId3"/>
          <a:stretch>
            <a:fillRect/>
          </a:stretch>
        </p:blipFill>
        <p:spPr>
          <a:xfrm>
            <a:off x="731520" y="621792"/>
            <a:ext cx="329184" cy="329184"/>
          </a:xfrm>
          <a:prstGeom prst="rect">
            <a:avLst/>
          </a:prstGeom>
        </p:spPr>
      </p:pic>
      <p:sp>
        <p:nvSpPr>
          <p:cNvPr id="4" name="Text 1">
            <a:extLst>
              <a:ext uri="{FF2B5EF4-FFF2-40B4-BE49-F238E27FC236}">
                <a16:creationId xmlns:a16="http://schemas.microsoft.com/office/drawing/2014/main" id="{B74649CF-524E-1554-2185-05874BAF25DB}"/>
              </a:ext>
            </a:extLst>
          </p:cNvPr>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05 - CE QUE RACONTENT LES CHIFFRES</a:t>
            </a:r>
            <a:endParaRPr lang="fr-FR" sz="1100" noProof="0" dirty="0"/>
          </a:p>
        </p:txBody>
      </p:sp>
      <p:sp>
        <p:nvSpPr>
          <p:cNvPr id="5" name="Text 2">
            <a:extLst>
              <a:ext uri="{FF2B5EF4-FFF2-40B4-BE49-F238E27FC236}">
                <a16:creationId xmlns:a16="http://schemas.microsoft.com/office/drawing/2014/main" id="{3985DFBF-F171-091E-AD37-EA7008BA044D}"/>
              </a:ext>
            </a:extLst>
          </p:cNvPr>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rPr>
              <a:t>Matrices de confusion</a:t>
            </a:r>
            <a:endParaRPr lang="fr-FR" sz="2700" noProof="0" dirty="0"/>
          </a:p>
        </p:txBody>
      </p:sp>
      <p:sp>
        <p:nvSpPr>
          <p:cNvPr id="6" name="Text 3">
            <a:extLst>
              <a:ext uri="{FF2B5EF4-FFF2-40B4-BE49-F238E27FC236}">
                <a16:creationId xmlns:a16="http://schemas.microsoft.com/office/drawing/2014/main" id="{29213612-5A48-59B7-BD43-E07D3A582AC7}"/>
              </a:ext>
            </a:extLst>
          </p:cNvPr>
          <p:cNvSpPr/>
          <p:nvPr/>
        </p:nvSpPr>
        <p:spPr>
          <a:xfrm>
            <a:off x="2394483" y="1600200"/>
            <a:ext cx="2147217" cy="365760"/>
          </a:xfrm>
          <a:prstGeom prst="rect">
            <a:avLst/>
          </a:prstGeom>
          <a:noFill/>
          <a:ln/>
        </p:spPr>
        <p:txBody>
          <a:bodyPr wrap="square" lIns="0" tIns="0" rIns="0" bIns="0" rtlCol="0" anchor="ctr"/>
          <a:lstStyle/>
          <a:p>
            <a:r>
              <a:rPr lang="fr-FR" sz="1600" b="1">
                <a:solidFill>
                  <a:srgbClr val="16243F"/>
                </a:solidFill>
                <a:latin typeface="Cambria"/>
                <a:ea typeface="Cambria"/>
              </a:rPr>
              <a:t>La similarité</a:t>
            </a:r>
            <a:endParaRPr lang="fr-FR" sz="1600" noProof="0" dirty="0"/>
          </a:p>
        </p:txBody>
      </p:sp>
      <p:sp>
        <p:nvSpPr>
          <p:cNvPr id="25" name="Slide Number Placeholder 0">
            <a:extLst>
              <a:ext uri="{FF2B5EF4-FFF2-40B4-BE49-F238E27FC236}">
                <a16:creationId xmlns:a16="http://schemas.microsoft.com/office/drawing/2014/main" id="{A20053B0-029D-DAAB-9131-2B7ECA3C456A}"/>
              </a:ext>
            </a:extLst>
          </p:cNvPr>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10</a:t>
            </a:fld>
            <a:endParaRPr lang="fr-FR" noProof="0" dirty="0"/>
          </a:p>
        </p:txBody>
      </p:sp>
      <p:sp>
        <p:nvSpPr>
          <p:cNvPr id="7" name="Text 3">
            <a:extLst>
              <a:ext uri="{FF2B5EF4-FFF2-40B4-BE49-F238E27FC236}">
                <a16:creationId xmlns:a16="http://schemas.microsoft.com/office/drawing/2014/main" id="{A018F4DE-35D8-F33F-5DEC-5623FC02AF6C}"/>
              </a:ext>
            </a:extLst>
          </p:cNvPr>
          <p:cNvSpPr/>
          <p:nvPr/>
        </p:nvSpPr>
        <p:spPr>
          <a:xfrm>
            <a:off x="8066117" y="1600200"/>
            <a:ext cx="1627728" cy="365760"/>
          </a:xfrm>
          <a:prstGeom prst="rect">
            <a:avLst/>
          </a:prstGeom>
          <a:noFill/>
          <a:ln/>
        </p:spPr>
        <p:txBody>
          <a:bodyPr wrap="square" lIns="0" tIns="0" rIns="0" bIns="0" rtlCol="0" anchor="ctr"/>
          <a:lstStyle/>
          <a:p>
            <a:r>
              <a:rPr lang="fr-FR" sz="1600" b="1">
                <a:solidFill>
                  <a:srgbClr val="16243F"/>
                </a:solidFill>
                <a:latin typeface="Cambria"/>
                <a:ea typeface="Cambria"/>
              </a:rPr>
              <a:t>Cross Attention</a:t>
            </a:r>
            <a:endParaRPr lang="fr-FR" sz="1600" noProof="0" dirty="0"/>
          </a:p>
        </p:txBody>
      </p:sp>
      <p:pic>
        <p:nvPicPr>
          <p:cNvPr id="8" name="Image 7" descr="Une image contenant texte, capture d’écran, Police, diagramme  Le contenu généré par l’IA peut être incorrect.">
            <a:extLst>
              <a:ext uri="{FF2B5EF4-FFF2-40B4-BE49-F238E27FC236}">
                <a16:creationId xmlns:a16="http://schemas.microsoft.com/office/drawing/2014/main" id="{8931718B-D51E-AD6A-231B-854AF1B76B72}"/>
              </a:ext>
            </a:extLst>
          </p:cNvPr>
          <p:cNvPicPr>
            <a:picLocks noChangeAspect="1"/>
          </p:cNvPicPr>
          <p:nvPr/>
        </p:nvPicPr>
        <p:blipFill>
          <a:blip r:embed="rId4"/>
          <a:stretch>
            <a:fillRect/>
          </a:stretch>
        </p:blipFill>
        <p:spPr>
          <a:xfrm>
            <a:off x="1088988" y="2062743"/>
            <a:ext cx="3908734" cy="3829050"/>
          </a:xfrm>
          <a:prstGeom prst="rect">
            <a:avLst/>
          </a:prstGeom>
        </p:spPr>
      </p:pic>
      <p:pic>
        <p:nvPicPr>
          <p:cNvPr id="9" name="Image 8" descr="Une image contenant texte, capture d’écran, Police, nombre  Le contenu généré par l’IA peut être incorrect.">
            <a:extLst>
              <a:ext uri="{FF2B5EF4-FFF2-40B4-BE49-F238E27FC236}">
                <a16:creationId xmlns:a16="http://schemas.microsoft.com/office/drawing/2014/main" id="{9245F59E-EA40-E3E2-8B7E-868F32C57DBD}"/>
              </a:ext>
            </a:extLst>
          </p:cNvPr>
          <p:cNvPicPr>
            <a:picLocks noChangeAspect="1"/>
          </p:cNvPicPr>
          <p:nvPr/>
        </p:nvPicPr>
        <p:blipFill>
          <a:blip r:embed="rId5"/>
          <a:stretch>
            <a:fillRect/>
          </a:stretch>
        </p:blipFill>
        <p:spPr>
          <a:xfrm>
            <a:off x="6746837" y="2059375"/>
            <a:ext cx="4255351" cy="3724275"/>
          </a:xfrm>
          <a:prstGeom prst="rect">
            <a:avLst/>
          </a:prstGeom>
        </p:spPr>
      </p:pic>
    </p:spTree>
    <p:extLst>
      <p:ext uri="{BB962C8B-B14F-4D97-AF65-F5344CB8AC3E}">
        <p14:creationId xmlns:p14="http://schemas.microsoft.com/office/powerpoint/2010/main" val="3567918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3" name="Shape 1"/>
          <p:cNvSpPr/>
          <p:nvPr/>
        </p:nvSpPr>
        <p:spPr>
          <a:xfrm>
            <a:off x="868680" y="777240"/>
            <a:ext cx="868680" cy="868680"/>
          </a:xfrm>
          <a:prstGeom prst="ellipse">
            <a:avLst/>
          </a:prstGeom>
          <a:solidFill>
            <a:srgbClr val="1FA8B8"/>
          </a:solidFill>
          <a:ln/>
        </p:spPr>
        <p:txBody>
          <a:bodyPr/>
          <a:lstStyle/>
          <a:p>
            <a:endParaRPr lang="fr-FR" noProof="0" dirty="0"/>
          </a:p>
        </p:txBody>
      </p:sp>
      <p:pic>
        <p:nvPicPr>
          <p:cNvPr id="4" name="Image 0" descr="preencoded.png"/>
          <p:cNvPicPr>
            <a:picLocks noChangeAspect="1"/>
          </p:cNvPicPr>
          <p:nvPr/>
        </p:nvPicPr>
        <p:blipFill>
          <a:blip r:embed="rId3"/>
          <a:stretch>
            <a:fillRect/>
          </a:stretch>
        </p:blipFill>
        <p:spPr>
          <a:xfrm>
            <a:off x="1103224" y="1011784"/>
            <a:ext cx="399593" cy="399593"/>
          </a:xfrm>
          <a:prstGeom prst="rect">
            <a:avLst/>
          </a:prstGeom>
        </p:spPr>
      </p:pic>
      <p:sp>
        <p:nvSpPr>
          <p:cNvPr id="5" name="Text 2"/>
          <p:cNvSpPr/>
          <p:nvPr/>
        </p:nvSpPr>
        <p:spPr>
          <a:xfrm>
            <a:off x="1920240" y="841248"/>
            <a:ext cx="9144000" cy="36576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06 - LA SUITE DE L'HISTOIRE</a:t>
            </a:r>
          </a:p>
        </p:txBody>
      </p:sp>
      <p:sp>
        <p:nvSpPr>
          <p:cNvPr id="6" name="Text 3"/>
          <p:cNvSpPr/>
          <p:nvPr/>
        </p:nvSpPr>
        <p:spPr>
          <a:xfrm>
            <a:off x="1920240" y="1170432"/>
            <a:ext cx="9144000" cy="640080"/>
          </a:xfrm>
          <a:prstGeom prst="rect">
            <a:avLst/>
          </a:prstGeom>
          <a:noFill/>
          <a:ln/>
        </p:spPr>
        <p:txBody>
          <a:bodyPr wrap="square" lIns="0" tIns="0" rIns="0" bIns="0" rtlCol="0" anchor="ctr"/>
          <a:lstStyle/>
          <a:p>
            <a:pPr marL="0" indent="0">
              <a:buNone/>
            </a:pPr>
            <a:r>
              <a:rPr lang="fr-FR" sz="3000" b="1" noProof="0" dirty="0">
                <a:latin typeface="Cambria" pitchFamily="34" charset="0"/>
                <a:ea typeface="Cambria" pitchFamily="34" charset="-122"/>
                <a:cs typeface="Cambria" pitchFamily="34" charset="-120"/>
              </a:rPr>
              <a:t>Les prochaines étapes</a:t>
            </a:r>
            <a:endParaRPr lang="fr-FR" sz="3000" noProof="0" dirty="0"/>
          </a:p>
        </p:txBody>
      </p:sp>
      <p:sp>
        <p:nvSpPr>
          <p:cNvPr id="8" name="Text 5"/>
          <p:cNvSpPr/>
          <p:nvPr/>
        </p:nvSpPr>
        <p:spPr>
          <a:xfrm>
            <a:off x="1097280" y="2560320"/>
            <a:ext cx="640080" cy="640080"/>
          </a:xfrm>
          <a:prstGeom prst="rect">
            <a:avLst/>
          </a:prstGeom>
          <a:noFill/>
          <a:ln/>
        </p:spPr>
        <p:txBody>
          <a:bodyPr wrap="square" lIns="0" tIns="0" rIns="0" bIns="0" rtlCol="0" anchor="ctr"/>
          <a:lstStyle/>
          <a:p>
            <a:pPr marL="0" indent="0" algn="ctr">
              <a:buNone/>
            </a:pPr>
            <a:r>
              <a:rPr lang="fr-FR" sz="3000" b="1" noProof="0" dirty="0">
                <a:solidFill>
                  <a:srgbClr val="1FA8B8"/>
                </a:solidFill>
                <a:latin typeface="Cambria" pitchFamily="34" charset="0"/>
                <a:ea typeface="Cambria" pitchFamily="34" charset="-122"/>
                <a:cs typeface="Cambria" pitchFamily="34" charset="-120"/>
              </a:rPr>
              <a:t>1</a:t>
            </a:r>
            <a:endParaRPr lang="fr-FR" sz="3000" noProof="0" dirty="0"/>
          </a:p>
        </p:txBody>
      </p:sp>
      <p:sp>
        <p:nvSpPr>
          <p:cNvPr id="9" name="Text 6"/>
          <p:cNvSpPr/>
          <p:nvPr/>
        </p:nvSpPr>
        <p:spPr>
          <a:xfrm>
            <a:off x="1874520" y="2468880"/>
            <a:ext cx="4023360" cy="384048"/>
          </a:xfrm>
          <a:prstGeom prst="rect">
            <a:avLst/>
          </a:prstGeom>
          <a:noFill/>
          <a:ln/>
        </p:spPr>
        <p:txBody>
          <a:bodyPr wrap="square" lIns="0" tIns="0" rIns="0" bIns="0" rtlCol="0" anchor="ctr"/>
          <a:lstStyle/>
          <a:p>
            <a:pPr marL="0" indent="0">
              <a:buNone/>
            </a:pPr>
            <a:r>
              <a:rPr lang="fr-FR" sz="1550" b="1" noProof="0" dirty="0">
                <a:solidFill>
                  <a:srgbClr val="FFFFFF"/>
                </a:solidFill>
                <a:latin typeface="Cambria" pitchFamily="34" charset="0"/>
                <a:ea typeface="Cambria" pitchFamily="34" charset="-122"/>
              </a:rPr>
              <a:t>Enrichir les “faux” cas</a:t>
            </a:r>
            <a:endParaRPr lang="fr-FR" sz="1550" noProof="0" dirty="0"/>
          </a:p>
        </p:txBody>
      </p:sp>
      <p:sp>
        <p:nvSpPr>
          <p:cNvPr id="30" name="Tech1 Label"/>
          <p:cNvSpPr/>
          <p:nvPr/>
        </p:nvSpPr>
        <p:spPr>
          <a:xfrm>
            <a:off x="1168803" y="3140250"/>
            <a:ext cx="4600000" cy="280000"/>
          </a:xfrm>
          <a:prstGeom prst="rect">
            <a:avLst/>
          </a:prstGeom>
          <a:noFill/>
          <a:ln/>
        </p:spPr>
        <p:txBody>
          <a:bodyPr wrap="square" lIns="0" tIns="0" rIns="0" bIns="0" rtlCol="0" anchor="ctr"/>
          <a:lstStyle/>
          <a:p>
            <a:pPr marL="0" indent="0">
              <a:buNone/>
            </a:pPr>
            <a:r>
              <a:rPr lang="fr-FR" sz="1050" b="1" spc="150" noProof="0" dirty="0">
                <a:solidFill>
                  <a:srgbClr val="1FA8B8"/>
                </a:solidFill>
                <a:latin typeface="Calibri" pitchFamily="34" charset="0"/>
                <a:ea typeface="Calibri" pitchFamily="34" charset="-122"/>
                <a:cs typeface="Calibri" pitchFamily="34" charset="-120"/>
              </a:rPr>
              <a:t>EXEMPLE DE TECHNIQUE</a:t>
            </a:r>
            <a:endParaRPr lang="fr-FR" sz="1050" noProof="0" dirty="0"/>
          </a:p>
        </p:txBody>
      </p:sp>
      <p:sp>
        <p:nvSpPr>
          <p:cNvPr id="16" name="Text 13"/>
          <p:cNvSpPr/>
          <p:nvPr/>
        </p:nvSpPr>
        <p:spPr>
          <a:xfrm>
            <a:off x="1097280" y="3931920"/>
            <a:ext cx="640080" cy="640080"/>
          </a:xfrm>
          <a:prstGeom prst="rect">
            <a:avLst/>
          </a:prstGeom>
          <a:noFill/>
          <a:ln/>
        </p:spPr>
        <p:txBody>
          <a:bodyPr wrap="square" lIns="0" tIns="0" rIns="0" bIns="0" rtlCol="0" anchor="ctr"/>
          <a:lstStyle/>
          <a:p>
            <a:pPr marL="0" indent="0" algn="ctr">
              <a:buNone/>
            </a:pPr>
            <a:endParaRPr lang="fr-FR" sz="3000" noProof="0" dirty="0"/>
          </a:p>
        </p:txBody>
      </p:sp>
      <p:sp>
        <p:nvSpPr>
          <p:cNvPr id="23" name="Text 20"/>
          <p:cNvSpPr/>
          <p:nvPr/>
        </p:nvSpPr>
        <p:spPr>
          <a:xfrm>
            <a:off x="868680" y="5806440"/>
            <a:ext cx="10424160" cy="640080"/>
          </a:xfrm>
          <a:prstGeom prst="rect">
            <a:avLst/>
          </a:prstGeom>
          <a:noFill/>
          <a:ln/>
        </p:spPr>
        <p:txBody>
          <a:bodyPr wrap="square" lIns="0" tIns="0" rIns="0" bIns="0" rtlCol="0" anchor="t"/>
          <a:lstStyle/>
          <a:p>
            <a:pPr marL="0" indent="0">
              <a:lnSpc>
                <a:spcPct val="105000"/>
              </a:lnSpc>
              <a:buNone/>
            </a:pPr>
            <a:r>
              <a:rPr lang="fr-FR" sz="1450" i="1" noProof="0" dirty="0">
                <a:latin typeface="Calibri" pitchFamily="34" charset="0"/>
                <a:ea typeface="Calibri" pitchFamily="34" charset="-122"/>
                <a:cs typeface="Calibri" pitchFamily="34" charset="-120"/>
              </a:rPr>
              <a:t>Apprendre à une machine à vérifier qu'une image et son texte racontent la même histoire - un second regard fiable, au service de la sécurité du patient.</a:t>
            </a:r>
            <a:endParaRPr lang="fr-FR" sz="1450" noProof="0" dirty="0"/>
          </a:p>
        </p:txBody>
      </p:sp>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C7D6"/>
                </a:solidFill>
                <a:latin typeface="Calibri"/>
                <a:ea typeface="Calibri"/>
                <a:cs typeface="Calibri"/>
              </a:defRPr>
            </a:lvl1pPr>
          </a:lstStyle>
          <a:p>
            <a:pPr algn="r"/>
            <a:fld id="{F7021451-1387-4CA6-816F-3879F97B5CBC}" type="slidenum">
              <a:rPr lang="fr-FR" b="0" noProof="0" smtClean="0"/>
              <a:t>11</a:t>
            </a:fld>
            <a:endParaRPr lang="fr-FR" noProof="0" dirty="0"/>
          </a:p>
        </p:txBody>
      </p:sp>
      <p:sp>
        <p:nvSpPr>
          <p:cNvPr id="12" name="Text 5">
            <a:extLst>
              <a:ext uri="{FF2B5EF4-FFF2-40B4-BE49-F238E27FC236}">
                <a16:creationId xmlns:a16="http://schemas.microsoft.com/office/drawing/2014/main" id="{38C24DF3-AA3C-D8D8-E617-7B3478878E0D}"/>
              </a:ext>
            </a:extLst>
          </p:cNvPr>
          <p:cNvSpPr/>
          <p:nvPr/>
        </p:nvSpPr>
        <p:spPr>
          <a:xfrm>
            <a:off x="1097280" y="2542033"/>
            <a:ext cx="640080" cy="640080"/>
          </a:xfrm>
          <a:prstGeom prst="rect">
            <a:avLst/>
          </a:prstGeom>
          <a:noFill/>
          <a:ln/>
        </p:spPr>
        <p:txBody>
          <a:bodyPr wrap="square" lIns="0" tIns="0" rIns="0" bIns="0" rtlCol="0" anchor="ctr"/>
          <a:lstStyle/>
          <a:p>
            <a:pPr marL="0" indent="0" algn="ctr">
              <a:buNone/>
            </a:pPr>
            <a:r>
              <a:rPr lang="fr-FR" sz="3000" b="1" noProof="0" dirty="0">
                <a:solidFill>
                  <a:srgbClr val="1FA8B8"/>
                </a:solidFill>
                <a:latin typeface="Cambria" pitchFamily="34" charset="0"/>
                <a:ea typeface="Cambria" pitchFamily="34" charset="-122"/>
                <a:cs typeface="Cambria" pitchFamily="34" charset="-120"/>
              </a:rPr>
              <a:t>1</a:t>
            </a:r>
            <a:endParaRPr lang="fr-FR" sz="3000" noProof="0" dirty="0"/>
          </a:p>
        </p:txBody>
      </p:sp>
      <p:sp>
        <p:nvSpPr>
          <p:cNvPr id="13" name="Shape 4">
            <a:extLst>
              <a:ext uri="{FF2B5EF4-FFF2-40B4-BE49-F238E27FC236}">
                <a16:creationId xmlns:a16="http://schemas.microsoft.com/office/drawing/2014/main" id="{877AB69A-65A7-BDFE-D106-175DAE8E266B}"/>
              </a:ext>
            </a:extLst>
          </p:cNvPr>
          <p:cNvSpPr/>
          <p:nvPr/>
        </p:nvSpPr>
        <p:spPr>
          <a:xfrm>
            <a:off x="868680" y="1861941"/>
            <a:ext cx="4971646" cy="3773647"/>
          </a:xfrm>
          <a:prstGeom prst="roundRect">
            <a:avLst>
              <a:gd name="adj" fmla="val 6923"/>
            </a:avLst>
          </a:prstGeom>
          <a:solidFill>
            <a:srgbClr val="1E3252"/>
          </a:solidFill>
          <a:ln/>
        </p:spPr>
        <p:txBody>
          <a:bodyPr/>
          <a:lstStyle/>
          <a:p>
            <a:endParaRPr lang="fr-FR" noProof="0" dirty="0"/>
          </a:p>
        </p:txBody>
      </p:sp>
      <p:sp>
        <p:nvSpPr>
          <p:cNvPr id="14" name="Text 5">
            <a:extLst>
              <a:ext uri="{FF2B5EF4-FFF2-40B4-BE49-F238E27FC236}">
                <a16:creationId xmlns:a16="http://schemas.microsoft.com/office/drawing/2014/main" id="{80921CB7-A54F-DE4E-745F-C920F83F17FF}"/>
              </a:ext>
            </a:extLst>
          </p:cNvPr>
          <p:cNvSpPr/>
          <p:nvPr/>
        </p:nvSpPr>
        <p:spPr>
          <a:xfrm>
            <a:off x="722240" y="1995004"/>
            <a:ext cx="640080" cy="640080"/>
          </a:xfrm>
          <a:prstGeom prst="rect">
            <a:avLst/>
          </a:prstGeom>
          <a:noFill/>
          <a:ln/>
        </p:spPr>
        <p:txBody>
          <a:bodyPr wrap="square" lIns="0" tIns="0" rIns="0" bIns="0" rtlCol="0" anchor="ctr"/>
          <a:lstStyle/>
          <a:p>
            <a:pPr marL="0" indent="0" algn="ctr">
              <a:buNone/>
            </a:pPr>
            <a:endParaRPr lang="fr-FR" sz="3000" noProof="0" dirty="0"/>
          </a:p>
        </p:txBody>
      </p:sp>
      <p:sp>
        <p:nvSpPr>
          <p:cNvPr id="15" name="Text 6">
            <a:extLst>
              <a:ext uri="{FF2B5EF4-FFF2-40B4-BE49-F238E27FC236}">
                <a16:creationId xmlns:a16="http://schemas.microsoft.com/office/drawing/2014/main" id="{B95ACE3B-9A78-D380-CAEC-D6CA60ED382F}"/>
              </a:ext>
            </a:extLst>
          </p:cNvPr>
          <p:cNvSpPr/>
          <p:nvPr/>
        </p:nvSpPr>
        <p:spPr>
          <a:xfrm>
            <a:off x="1580930" y="2085270"/>
            <a:ext cx="4023360" cy="384048"/>
          </a:xfrm>
          <a:prstGeom prst="rect">
            <a:avLst/>
          </a:prstGeom>
          <a:noFill/>
          <a:ln/>
        </p:spPr>
        <p:txBody>
          <a:bodyPr wrap="square" lIns="0" tIns="0" rIns="0" bIns="0" rtlCol="0" anchor="ctr"/>
          <a:lstStyle/>
          <a:p>
            <a:pPr marL="0" indent="0">
              <a:buNone/>
            </a:pPr>
            <a:r>
              <a:rPr lang="fr-FR" b="1" noProof="0" dirty="0">
                <a:solidFill>
                  <a:srgbClr val="FFFFFF"/>
                </a:solidFill>
                <a:latin typeface="Cambria" pitchFamily="34" charset="0"/>
                <a:ea typeface="Cambria" pitchFamily="34" charset="-122"/>
              </a:rPr>
              <a:t>Enrichir les “faux” cas</a:t>
            </a:r>
            <a:endParaRPr lang="fr-FR" noProof="0" dirty="0"/>
          </a:p>
        </p:txBody>
      </p:sp>
      <p:sp>
        <p:nvSpPr>
          <p:cNvPr id="17" name="Tech1 Label">
            <a:extLst>
              <a:ext uri="{FF2B5EF4-FFF2-40B4-BE49-F238E27FC236}">
                <a16:creationId xmlns:a16="http://schemas.microsoft.com/office/drawing/2014/main" id="{631E854F-7DEB-E063-78B1-9DE7CBD4776C}"/>
              </a:ext>
            </a:extLst>
          </p:cNvPr>
          <p:cNvSpPr/>
          <p:nvPr/>
        </p:nvSpPr>
        <p:spPr>
          <a:xfrm>
            <a:off x="1065459" y="2785203"/>
            <a:ext cx="4600000" cy="280000"/>
          </a:xfrm>
          <a:prstGeom prst="rect">
            <a:avLst/>
          </a:prstGeom>
          <a:noFill/>
          <a:ln/>
        </p:spPr>
        <p:txBody>
          <a:bodyPr wrap="square" lIns="0" tIns="0" rIns="0" bIns="0" rtlCol="0" anchor="ctr"/>
          <a:lstStyle/>
          <a:p>
            <a:pPr marL="0" indent="0">
              <a:buNone/>
            </a:pPr>
            <a:r>
              <a:rPr lang="fr-FR" sz="1400" b="1" spc="150" noProof="0" dirty="0">
                <a:solidFill>
                  <a:srgbClr val="1FA8B8"/>
                </a:solidFill>
                <a:latin typeface="Calibri" pitchFamily="34" charset="0"/>
                <a:ea typeface="Calibri" pitchFamily="34" charset="-122"/>
                <a:cs typeface="Calibri" pitchFamily="34" charset="-120"/>
              </a:rPr>
              <a:t>EXEMPLE DE TECHNIQUE</a:t>
            </a:r>
            <a:endParaRPr lang="fr-FR" sz="1400" noProof="0" dirty="0"/>
          </a:p>
        </p:txBody>
      </p:sp>
      <p:sp>
        <p:nvSpPr>
          <p:cNvPr id="18" name="Tech1 Text">
            <a:extLst>
              <a:ext uri="{FF2B5EF4-FFF2-40B4-BE49-F238E27FC236}">
                <a16:creationId xmlns:a16="http://schemas.microsoft.com/office/drawing/2014/main" id="{0EA6EBFA-6CD1-AC9E-54E6-1B7F2359CF48}"/>
              </a:ext>
            </a:extLst>
          </p:cNvPr>
          <p:cNvSpPr/>
          <p:nvPr/>
        </p:nvSpPr>
        <p:spPr>
          <a:xfrm>
            <a:off x="1041365" y="3355791"/>
            <a:ext cx="4600000" cy="1276995"/>
          </a:xfrm>
          <a:prstGeom prst="rect">
            <a:avLst/>
          </a:prstGeom>
          <a:noFill/>
          <a:ln/>
        </p:spPr>
        <p:txBody>
          <a:bodyPr wrap="square" lIns="0" tIns="0" rIns="0" bIns="0" rtlCol="0" anchor="t"/>
          <a:lstStyle/>
          <a:p>
            <a:pPr>
              <a:lnSpc>
                <a:spcPct val="106000"/>
              </a:lnSpc>
            </a:pPr>
            <a:r>
              <a:rPr lang="fr-FR" sz="1600" noProof="0" dirty="0">
                <a:solidFill>
                  <a:srgbClr val="D9E4F0"/>
                </a:solidFill>
                <a:latin typeface="Calibri" pitchFamily="34" charset="0"/>
                <a:ea typeface="Calibri" pitchFamily="34" charset="-122"/>
                <a:cs typeface="Calibri" pitchFamily="34" charset="-120"/>
              </a:rPr>
              <a:t>En modifiant le texte du rapport en jouant sur des mots contraires, changer des pathologies … En utilisant des Transformers/LLM,  </a:t>
            </a:r>
            <a:r>
              <a:rPr lang="fr-FR" sz="1600" noProof="0" dirty="0" err="1">
                <a:solidFill>
                  <a:srgbClr val="D9E4F0"/>
                </a:solidFill>
                <a:latin typeface="Calibri" pitchFamily="34" charset="0"/>
                <a:ea typeface="Calibri" pitchFamily="34" charset="-122"/>
                <a:cs typeface="Calibri" pitchFamily="34" charset="-120"/>
              </a:rPr>
              <a:t>RadGraph</a:t>
            </a:r>
            <a:r>
              <a:rPr lang="fr-FR" sz="1600" noProof="0" dirty="0">
                <a:solidFill>
                  <a:srgbClr val="D9E4F0"/>
                </a:solidFill>
                <a:latin typeface="Calibri" pitchFamily="34" charset="0"/>
                <a:ea typeface="Calibri" pitchFamily="34" charset="-122"/>
                <a:cs typeface="Calibri" pitchFamily="34" charset="-120"/>
              </a:rPr>
              <a:t> …</a:t>
            </a:r>
          </a:p>
        </p:txBody>
      </p:sp>
      <p:sp>
        <p:nvSpPr>
          <p:cNvPr id="24" name="Text 5">
            <a:extLst>
              <a:ext uri="{FF2B5EF4-FFF2-40B4-BE49-F238E27FC236}">
                <a16:creationId xmlns:a16="http://schemas.microsoft.com/office/drawing/2014/main" id="{1F092DF3-3CC1-276D-9C0F-068124590085}"/>
              </a:ext>
            </a:extLst>
          </p:cNvPr>
          <p:cNvSpPr/>
          <p:nvPr/>
        </p:nvSpPr>
        <p:spPr>
          <a:xfrm>
            <a:off x="960120" y="1917922"/>
            <a:ext cx="640080" cy="640080"/>
          </a:xfrm>
          <a:prstGeom prst="rect">
            <a:avLst/>
          </a:prstGeom>
          <a:noFill/>
          <a:ln/>
        </p:spPr>
        <p:txBody>
          <a:bodyPr wrap="square" lIns="0" tIns="0" rIns="0" bIns="0" rtlCol="0" anchor="ctr"/>
          <a:lstStyle/>
          <a:p>
            <a:pPr marL="0" indent="0" algn="ctr">
              <a:buNone/>
            </a:pPr>
            <a:r>
              <a:rPr lang="fr-FR" sz="3000" b="1" noProof="0" dirty="0">
                <a:solidFill>
                  <a:srgbClr val="1FA8B8"/>
                </a:solidFill>
                <a:latin typeface="Cambria" pitchFamily="34" charset="0"/>
                <a:ea typeface="Cambria" pitchFamily="34" charset="-122"/>
                <a:cs typeface="Cambria" pitchFamily="34" charset="-120"/>
              </a:rPr>
              <a:t>1</a:t>
            </a:r>
            <a:endParaRPr lang="fr-FR" sz="3000" noProof="0" dirty="0"/>
          </a:p>
        </p:txBody>
      </p:sp>
      <p:sp>
        <p:nvSpPr>
          <p:cNvPr id="27" name="Text 17">
            <a:extLst>
              <a:ext uri="{FF2B5EF4-FFF2-40B4-BE49-F238E27FC236}">
                <a16:creationId xmlns:a16="http://schemas.microsoft.com/office/drawing/2014/main" id="{B92DF207-4505-6F62-619C-756B4EFC5909}"/>
              </a:ext>
            </a:extLst>
          </p:cNvPr>
          <p:cNvSpPr/>
          <p:nvPr/>
        </p:nvSpPr>
        <p:spPr>
          <a:xfrm>
            <a:off x="405901" y="4103578"/>
            <a:ext cx="640080" cy="640080"/>
          </a:xfrm>
          <a:prstGeom prst="rect">
            <a:avLst/>
          </a:prstGeom>
          <a:noFill/>
          <a:ln/>
        </p:spPr>
        <p:txBody>
          <a:bodyPr wrap="square" lIns="0" tIns="0" rIns="0" bIns="0" rtlCol="0" anchor="ctr"/>
          <a:lstStyle/>
          <a:p>
            <a:pPr marL="0" indent="0" algn="ctr">
              <a:buNone/>
            </a:pPr>
            <a:endParaRPr lang="fr-FR" sz="3000" noProof="0" dirty="0"/>
          </a:p>
        </p:txBody>
      </p:sp>
      <p:sp>
        <p:nvSpPr>
          <p:cNvPr id="39" name="Text 13">
            <a:extLst>
              <a:ext uri="{FF2B5EF4-FFF2-40B4-BE49-F238E27FC236}">
                <a16:creationId xmlns:a16="http://schemas.microsoft.com/office/drawing/2014/main" id="{3DFEB2D5-D6E9-C242-412E-63DBAB9E097E}"/>
              </a:ext>
            </a:extLst>
          </p:cNvPr>
          <p:cNvSpPr/>
          <p:nvPr/>
        </p:nvSpPr>
        <p:spPr>
          <a:xfrm>
            <a:off x="5315881" y="378185"/>
            <a:ext cx="640080" cy="640080"/>
          </a:xfrm>
          <a:prstGeom prst="rect">
            <a:avLst/>
          </a:prstGeom>
          <a:noFill/>
          <a:ln/>
        </p:spPr>
        <p:txBody>
          <a:bodyPr wrap="square" lIns="0" tIns="0" rIns="0" bIns="0" rtlCol="0" anchor="ctr"/>
          <a:lstStyle/>
          <a:p>
            <a:pPr marL="0" indent="0" algn="ctr">
              <a:buNone/>
            </a:pPr>
            <a:endParaRPr lang="fr-FR" sz="3000" noProof="0" dirty="0"/>
          </a:p>
        </p:txBody>
      </p:sp>
      <p:sp>
        <p:nvSpPr>
          <p:cNvPr id="40" name="Shape 16">
            <a:extLst>
              <a:ext uri="{FF2B5EF4-FFF2-40B4-BE49-F238E27FC236}">
                <a16:creationId xmlns:a16="http://schemas.microsoft.com/office/drawing/2014/main" id="{34177371-7741-EB73-ABB7-CA4EF7224ADD}"/>
              </a:ext>
            </a:extLst>
          </p:cNvPr>
          <p:cNvSpPr/>
          <p:nvPr/>
        </p:nvSpPr>
        <p:spPr>
          <a:xfrm>
            <a:off x="6583045" y="1861941"/>
            <a:ext cx="4971646" cy="3773647"/>
          </a:xfrm>
          <a:prstGeom prst="roundRect">
            <a:avLst>
              <a:gd name="adj" fmla="val 6923"/>
            </a:avLst>
          </a:prstGeom>
          <a:solidFill>
            <a:srgbClr val="1E3252"/>
          </a:solidFill>
          <a:ln/>
        </p:spPr>
        <p:txBody>
          <a:bodyPr/>
          <a:lstStyle/>
          <a:p>
            <a:endParaRPr lang="fr-FR" noProof="0" dirty="0"/>
          </a:p>
        </p:txBody>
      </p:sp>
      <p:sp>
        <p:nvSpPr>
          <p:cNvPr id="34" name="Tech2 Text">
            <a:extLst>
              <a:ext uri="{FF2B5EF4-FFF2-40B4-BE49-F238E27FC236}">
                <a16:creationId xmlns:a16="http://schemas.microsoft.com/office/drawing/2014/main" id="{B528E9DA-F35A-E51F-F72B-6E18511C9339}"/>
              </a:ext>
            </a:extLst>
          </p:cNvPr>
          <p:cNvSpPr/>
          <p:nvPr/>
        </p:nvSpPr>
        <p:spPr>
          <a:xfrm>
            <a:off x="6881091" y="3420250"/>
            <a:ext cx="4481559" cy="1037205"/>
          </a:xfrm>
          <a:prstGeom prst="rect">
            <a:avLst/>
          </a:prstGeom>
          <a:noFill/>
          <a:ln/>
        </p:spPr>
        <p:txBody>
          <a:bodyPr wrap="square" lIns="0" tIns="0" rIns="0" bIns="0" rtlCol="0" anchor="t"/>
          <a:lstStyle/>
          <a:p>
            <a:pPr marL="0" indent="0">
              <a:lnSpc>
                <a:spcPct val="106000"/>
              </a:lnSpc>
              <a:buNone/>
            </a:pPr>
            <a:r>
              <a:rPr lang="fr-FR" sz="1600" noProof="0" dirty="0">
                <a:solidFill>
                  <a:srgbClr val="D9E4F0"/>
                </a:solidFill>
                <a:latin typeface="Calibri" pitchFamily="34" charset="0"/>
                <a:ea typeface="Calibri" pitchFamily="34" charset="-122"/>
                <a:cs typeface="Calibri" pitchFamily="34" charset="-120"/>
              </a:rPr>
              <a:t>Une carte d'attention (Grad-CAM) surlignant les régions </a:t>
            </a:r>
            <a:r>
              <a:rPr lang="fr-FR" sz="1600" noProof="0" dirty="0">
                <a:solidFill>
                  <a:schemeClr val="bg1"/>
                </a:solidFill>
                <a:latin typeface="Calibri" pitchFamily="34" charset="0"/>
                <a:ea typeface="Calibri" pitchFamily="34" charset="-122"/>
                <a:cs typeface="Calibri" pitchFamily="34" charset="-120"/>
              </a:rPr>
              <a:t>décisives, un RAG médical …</a:t>
            </a:r>
            <a:endParaRPr lang="fr-FR" sz="1600" noProof="0" dirty="0">
              <a:solidFill>
                <a:schemeClr val="bg1"/>
              </a:solidFill>
            </a:endParaRPr>
          </a:p>
        </p:txBody>
      </p:sp>
      <p:sp>
        <p:nvSpPr>
          <p:cNvPr id="43" name="Tech2 Label">
            <a:extLst>
              <a:ext uri="{FF2B5EF4-FFF2-40B4-BE49-F238E27FC236}">
                <a16:creationId xmlns:a16="http://schemas.microsoft.com/office/drawing/2014/main" id="{B928519C-E6CD-CA85-A40B-A2CA4C3257CD}"/>
              </a:ext>
            </a:extLst>
          </p:cNvPr>
          <p:cNvSpPr/>
          <p:nvPr/>
        </p:nvSpPr>
        <p:spPr>
          <a:xfrm>
            <a:off x="6935339" y="2812784"/>
            <a:ext cx="2528600" cy="280000"/>
          </a:xfrm>
          <a:prstGeom prst="rect">
            <a:avLst/>
          </a:prstGeom>
          <a:noFill/>
          <a:ln/>
        </p:spPr>
        <p:txBody>
          <a:bodyPr wrap="square" lIns="0" tIns="0" rIns="0" bIns="0" rtlCol="0" anchor="ctr"/>
          <a:lstStyle/>
          <a:p>
            <a:pPr marL="0" indent="0">
              <a:buNone/>
            </a:pPr>
            <a:r>
              <a:rPr lang="fr-FR" sz="1400" b="1" spc="150" noProof="0" dirty="0">
                <a:solidFill>
                  <a:srgbClr val="1FA8B8"/>
                </a:solidFill>
                <a:latin typeface="Calibri" pitchFamily="34" charset="0"/>
                <a:ea typeface="Calibri" pitchFamily="34" charset="-122"/>
                <a:cs typeface="Calibri" pitchFamily="34" charset="-120"/>
              </a:rPr>
              <a:t>EXEMPLE DE TECHNIQUE</a:t>
            </a:r>
            <a:endParaRPr lang="fr-FR" sz="1400" noProof="0" dirty="0"/>
          </a:p>
        </p:txBody>
      </p:sp>
      <p:sp>
        <p:nvSpPr>
          <p:cNvPr id="42" name="Text 18">
            <a:extLst>
              <a:ext uri="{FF2B5EF4-FFF2-40B4-BE49-F238E27FC236}">
                <a16:creationId xmlns:a16="http://schemas.microsoft.com/office/drawing/2014/main" id="{D4D78C65-8B65-9EDA-E762-6DF2E012664A}"/>
              </a:ext>
            </a:extLst>
          </p:cNvPr>
          <p:cNvSpPr/>
          <p:nvPr/>
        </p:nvSpPr>
        <p:spPr>
          <a:xfrm>
            <a:off x="7354599" y="2085270"/>
            <a:ext cx="2788458" cy="384048"/>
          </a:xfrm>
          <a:prstGeom prst="rect">
            <a:avLst/>
          </a:prstGeom>
          <a:noFill/>
          <a:ln/>
        </p:spPr>
        <p:txBody>
          <a:bodyPr wrap="square" lIns="0" tIns="0" rIns="0" bIns="0" rtlCol="0" anchor="ctr"/>
          <a:lstStyle/>
          <a:p>
            <a:pPr marL="0" indent="0">
              <a:buNone/>
            </a:pPr>
            <a:r>
              <a:rPr lang="fr-FR" b="1" noProof="0" dirty="0">
                <a:solidFill>
                  <a:srgbClr val="FFFFFF"/>
                </a:solidFill>
                <a:latin typeface="Cambria" pitchFamily="34" charset="0"/>
                <a:ea typeface="Cambria" pitchFamily="34" charset="-122"/>
                <a:cs typeface="Cambria" pitchFamily="34" charset="-120"/>
              </a:rPr>
              <a:t>Rendre l'outil plus intuitif</a:t>
            </a:r>
            <a:endParaRPr lang="fr-FR" noProof="0" dirty="0"/>
          </a:p>
        </p:txBody>
      </p:sp>
      <p:sp>
        <p:nvSpPr>
          <p:cNvPr id="41" name="Text 17">
            <a:extLst>
              <a:ext uri="{FF2B5EF4-FFF2-40B4-BE49-F238E27FC236}">
                <a16:creationId xmlns:a16="http://schemas.microsoft.com/office/drawing/2014/main" id="{F4754885-F948-ECA4-7761-6AE8B45BFBDD}"/>
              </a:ext>
            </a:extLst>
          </p:cNvPr>
          <p:cNvSpPr/>
          <p:nvPr/>
        </p:nvSpPr>
        <p:spPr>
          <a:xfrm>
            <a:off x="6714519" y="1916338"/>
            <a:ext cx="640080" cy="625695"/>
          </a:xfrm>
          <a:prstGeom prst="rect">
            <a:avLst/>
          </a:prstGeom>
          <a:noFill/>
          <a:ln/>
        </p:spPr>
        <p:txBody>
          <a:bodyPr wrap="square" lIns="0" tIns="0" rIns="0" bIns="0" rtlCol="0" anchor="ctr"/>
          <a:lstStyle/>
          <a:p>
            <a:pPr marL="0" indent="0" algn="ctr">
              <a:buNone/>
            </a:pPr>
            <a:r>
              <a:rPr lang="fr-FR" sz="3000" b="1" noProof="0" dirty="0">
                <a:solidFill>
                  <a:srgbClr val="1FA8B8"/>
                </a:solidFill>
                <a:latin typeface="Cambria" pitchFamily="34" charset="0"/>
                <a:ea typeface="Cambria" pitchFamily="34" charset="-122"/>
              </a:rPr>
              <a:t>2</a:t>
            </a:r>
            <a:endParaRPr lang="fr-FR" sz="30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566928" y="457200"/>
            <a:ext cx="658368" cy="658368"/>
          </a:xfrm>
          <a:prstGeom prst="ellipse">
            <a:avLst/>
          </a:prstGeom>
          <a:solidFill>
            <a:srgbClr val="1FA8B8"/>
          </a:solidFill>
          <a:ln/>
        </p:spPr>
        <p:txBody>
          <a:bodyPr/>
          <a:lstStyle/>
          <a:p>
            <a:endParaRPr lang="fr-FR" noProof="0" dirty="0"/>
          </a:p>
        </p:txBody>
      </p:sp>
      <p:pic>
        <p:nvPicPr>
          <p:cNvPr id="3" name="Image 0" descr="preencoded.png"/>
          <p:cNvPicPr>
            <a:picLocks noChangeAspect="1"/>
          </p:cNvPicPr>
          <p:nvPr/>
        </p:nvPicPr>
        <p:blipFill>
          <a:blip r:embed="rId3"/>
          <a:stretch>
            <a:fillRect/>
          </a:stretch>
        </p:blipFill>
        <p:spPr>
          <a:xfrm>
            <a:off x="731520" y="621792"/>
            <a:ext cx="329184" cy="329184"/>
          </a:xfrm>
          <a:prstGeom prst="rect">
            <a:avLst/>
          </a:prstGeom>
        </p:spPr>
      </p:pic>
      <p:sp>
        <p:nvSpPr>
          <p:cNvPr id="4" name="Text 1"/>
          <p:cNvSpPr/>
          <p:nvPr/>
        </p:nvSpPr>
        <p:spPr>
          <a:xfrm>
            <a:off x="1417320" y="420624"/>
            <a:ext cx="10241280" cy="274320"/>
          </a:xfrm>
          <a:prstGeom prst="rect">
            <a:avLst/>
          </a:prstGeom>
          <a:noFill/>
          <a:ln/>
        </p:spPr>
        <p:txBody>
          <a:bodyPr wrap="square" lIns="0" tIns="0" rIns="0" bIns="0" rtlCol="0" anchor="ctr"/>
          <a:lstStyle/>
          <a:p>
            <a:pPr marL="0" indent="0">
              <a:buNone/>
            </a:pPr>
            <a:r>
              <a:rPr lang="fr-FR" sz="1100" b="1" kern="0" spc="200" noProof="0" dirty="0">
                <a:solidFill>
                  <a:srgbClr val="12798A"/>
                </a:solidFill>
                <a:latin typeface="Calibri" pitchFamily="34" charset="0"/>
                <a:ea typeface="Calibri" pitchFamily="34" charset="-122"/>
                <a:cs typeface="Calibri" pitchFamily="34" charset="-120"/>
              </a:rPr>
              <a:t>SECTION 07 - PROVENANCE DES DONNÉES ET DU MODÈLE</a:t>
            </a:r>
            <a:endParaRPr lang="fr-FR" sz="1100" noProof="0" dirty="0"/>
          </a:p>
        </p:txBody>
      </p:sp>
      <p:sp>
        <p:nvSpPr>
          <p:cNvPr id="5" name="Text 2"/>
          <p:cNvSpPr/>
          <p:nvPr/>
        </p:nvSpPr>
        <p:spPr>
          <a:xfrm>
            <a:off x="1417320" y="658368"/>
            <a:ext cx="10241280" cy="566928"/>
          </a:xfrm>
          <a:prstGeom prst="rect">
            <a:avLst/>
          </a:prstGeom>
          <a:noFill/>
          <a:ln/>
        </p:spPr>
        <p:txBody>
          <a:bodyPr wrap="square" lIns="0" tIns="0" rIns="0" bIns="0" rtlCol="0" anchor="ctr"/>
          <a:lstStyle/>
          <a:p>
            <a:pPr marL="0" indent="0">
              <a:buNone/>
            </a:pPr>
            <a:r>
              <a:rPr lang="fr-FR" sz="2700" b="1" noProof="0" dirty="0">
                <a:solidFill>
                  <a:srgbClr val="16243F"/>
                </a:solidFill>
                <a:latin typeface="Cambria" pitchFamily="34" charset="0"/>
                <a:ea typeface="Cambria" pitchFamily="34" charset="-122"/>
                <a:cs typeface="Cambria" pitchFamily="34" charset="-120"/>
              </a:rPr>
              <a:t>Annexe - Sources et références</a:t>
            </a:r>
            <a:endParaRPr lang="fr-FR" sz="2700" noProof="0" dirty="0"/>
          </a:p>
        </p:txBody>
      </p:sp>
      <p:sp>
        <p:nvSpPr>
          <p:cNvPr id="6" name="Shape 3"/>
          <p:cNvSpPr/>
          <p:nvPr/>
        </p:nvSpPr>
        <p:spPr>
          <a:xfrm>
            <a:off x="640080" y="1417320"/>
            <a:ext cx="10908792" cy="1060704"/>
          </a:xfrm>
          <a:prstGeom prst="roundRect">
            <a:avLst>
              <a:gd name="adj" fmla="val 7759"/>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7" name="Text 4"/>
          <p:cNvSpPr/>
          <p:nvPr/>
        </p:nvSpPr>
        <p:spPr>
          <a:xfrm>
            <a:off x="914400" y="1517904"/>
            <a:ext cx="10332720" cy="301752"/>
          </a:xfrm>
          <a:prstGeom prst="rect">
            <a:avLst/>
          </a:prstGeom>
          <a:noFill/>
          <a:ln/>
        </p:spPr>
        <p:txBody>
          <a:bodyPr wrap="square" lIns="0" tIns="0" rIns="0" bIns="0" rtlCol="0" anchor="ctr"/>
          <a:lstStyle/>
          <a:p>
            <a:pPr marL="0" indent="0">
              <a:buNone/>
            </a:pPr>
            <a:r>
              <a:rPr lang="fr-FR" sz="1400" b="1" noProof="0" dirty="0">
                <a:solidFill>
                  <a:srgbClr val="16243F"/>
                </a:solidFill>
                <a:latin typeface="Cambria" pitchFamily="34" charset="0"/>
                <a:ea typeface="Cambria" pitchFamily="34" charset="-122"/>
                <a:cs typeface="Cambria" pitchFamily="34" charset="-120"/>
              </a:rPr>
              <a:t>Images et étiquettes - CheXpert (version « </a:t>
            </a:r>
            <a:r>
              <a:rPr lang="fr-FR" sz="1400" b="1" noProof="0" dirty="0" err="1">
                <a:solidFill>
                  <a:srgbClr val="16243F"/>
                </a:solidFill>
                <a:latin typeface="Cambria" pitchFamily="34" charset="0"/>
                <a:ea typeface="Cambria" pitchFamily="34" charset="-122"/>
                <a:cs typeface="Cambria" pitchFamily="34" charset="-120"/>
              </a:rPr>
              <a:t>small</a:t>
            </a:r>
            <a:r>
              <a:rPr lang="fr-FR" sz="1400" b="1" noProof="0" dirty="0">
                <a:solidFill>
                  <a:srgbClr val="16243F"/>
                </a:solidFill>
                <a:latin typeface="Cambria" pitchFamily="34" charset="0"/>
                <a:ea typeface="Cambria" pitchFamily="34" charset="-122"/>
                <a:cs typeface="Cambria" pitchFamily="34" charset="-120"/>
              </a:rPr>
              <a:t> »)</a:t>
            </a:r>
            <a:endParaRPr lang="fr-FR" sz="1400" noProof="0" dirty="0"/>
          </a:p>
        </p:txBody>
      </p:sp>
      <p:sp>
        <p:nvSpPr>
          <p:cNvPr id="8" name="Text 5"/>
          <p:cNvSpPr/>
          <p:nvPr/>
        </p:nvSpPr>
        <p:spPr>
          <a:xfrm>
            <a:off x="914400" y="1819656"/>
            <a:ext cx="10332720" cy="420624"/>
          </a:xfrm>
          <a:prstGeom prst="rect">
            <a:avLst/>
          </a:prstGeom>
          <a:noFill/>
          <a:ln/>
        </p:spPr>
        <p:txBody>
          <a:bodyPr wrap="square" lIns="0" tIns="0" rIns="0" bIns="0" rtlCol="0" anchor="t"/>
          <a:lstStyle/>
          <a:p>
            <a:pPr marL="0" indent="0">
              <a:lnSpc>
                <a:spcPct val="100000"/>
              </a:lnSpc>
              <a:buNone/>
            </a:pPr>
            <a:r>
              <a:rPr lang="fr-FR" sz="1150" noProof="0" dirty="0">
                <a:solidFill>
                  <a:srgbClr val="1F2A37"/>
                </a:solidFill>
                <a:latin typeface="Calibri" pitchFamily="34" charset="0"/>
                <a:ea typeface="Calibri" pitchFamily="34" charset="-122"/>
                <a:cs typeface="Calibri" pitchFamily="34" charset="-120"/>
              </a:rPr>
              <a:t>Irvin, J., </a:t>
            </a:r>
            <a:r>
              <a:rPr lang="fr-FR" sz="1150" noProof="0" dirty="0" err="1">
                <a:solidFill>
                  <a:srgbClr val="1F2A37"/>
                </a:solidFill>
                <a:latin typeface="Calibri" pitchFamily="34" charset="0"/>
                <a:ea typeface="Calibri" pitchFamily="34" charset="-122"/>
                <a:cs typeface="Calibri" pitchFamily="34" charset="-120"/>
              </a:rPr>
              <a:t>Rajpurkar</a:t>
            </a:r>
            <a:r>
              <a:rPr lang="fr-FR" sz="1150" noProof="0" dirty="0">
                <a:solidFill>
                  <a:srgbClr val="1F2A37"/>
                </a:solidFill>
                <a:latin typeface="Calibri" pitchFamily="34" charset="0"/>
                <a:ea typeface="Calibri" pitchFamily="34" charset="-122"/>
                <a:cs typeface="Calibri" pitchFamily="34" charset="-120"/>
              </a:rPr>
              <a:t>, P., Ko, M., et al. (2019). CheXpert: A Large Chest </a:t>
            </a:r>
            <a:r>
              <a:rPr lang="fr-FR" sz="1150" noProof="0" dirty="0" err="1">
                <a:solidFill>
                  <a:srgbClr val="1F2A37"/>
                </a:solidFill>
                <a:latin typeface="Calibri" pitchFamily="34" charset="0"/>
                <a:ea typeface="Calibri" pitchFamily="34" charset="-122"/>
                <a:cs typeface="Calibri" pitchFamily="34" charset="-120"/>
              </a:rPr>
              <a:t>Radiograph</a:t>
            </a:r>
            <a:r>
              <a:rPr lang="fr-FR" sz="1150" noProof="0" dirty="0">
                <a:solidFill>
                  <a:srgbClr val="1F2A37"/>
                </a:solidFill>
                <a:latin typeface="Calibri" pitchFamily="34" charset="0"/>
                <a:ea typeface="Calibri" pitchFamily="34" charset="-122"/>
                <a:cs typeface="Calibri" pitchFamily="34" charset="-120"/>
              </a:rPr>
              <a:t> Dataset </a:t>
            </a:r>
            <a:r>
              <a:rPr lang="fr-FR" sz="1150" noProof="0" dirty="0" err="1">
                <a:solidFill>
                  <a:srgbClr val="1F2A37"/>
                </a:solidFill>
                <a:latin typeface="Calibri" pitchFamily="34" charset="0"/>
                <a:ea typeface="Calibri" pitchFamily="34" charset="-122"/>
                <a:cs typeface="Calibri" pitchFamily="34" charset="-120"/>
              </a:rPr>
              <a:t>with</a:t>
            </a:r>
            <a:r>
              <a:rPr lang="fr-FR" sz="1150" noProof="0" dirty="0">
                <a:solidFill>
                  <a:srgbClr val="1F2A37"/>
                </a:solidFill>
                <a:latin typeface="Calibri" pitchFamily="34" charset="0"/>
                <a:ea typeface="Calibri" pitchFamily="34" charset="-122"/>
                <a:cs typeface="Calibri" pitchFamily="34" charset="-120"/>
              </a:rPr>
              <a:t> </a:t>
            </a:r>
            <a:r>
              <a:rPr lang="fr-FR" sz="1150" noProof="0" dirty="0" err="1">
                <a:solidFill>
                  <a:srgbClr val="1F2A37"/>
                </a:solidFill>
                <a:latin typeface="Calibri" pitchFamily="34" charset="0"/>
                <a:ea typeface="Calibri" pitchFamily="34" charset="-122"/>
                <a:cs typeface="Calibri" pitchFamily="34" charset="-120"/>
              </a:rPr>
              <a:t>Uncertainty</a:t>
            </a:r>
            <a:r>
              <a:rPr lang="fr-FR" sz="1150" noProof="0" dirty="0">
                <a:solidFill>
                  <a:srgbClr val="1F2A37"/>
                </a:solidFill>
                <a:latin typeface="Calibri" pitchFamily="34" charset="0"/>
                <a:ea typeface="Calibri" pitchFamily="34" charset="-122"/>
                <a:cs typeface="Calibri" pitchFamily="34" charset="-120"/>
              </a:rPr>
              <a:t> Labels and Expert </a:t>
            </a:r>
            <a:r>
              <a:rPr lang="fr-FR" sz="1150" noProof="0" dirty="0" err="1">
                <a:solidFill>
                  <a:srgbClr val="1F2A37"/>
                </a:solidFill>
                <a:latin typeface="Calibri" pitchFamily="34" charset="0"/>
                <a:ea typeface="Calibri" pitchFamily="34" charset="-122"/>
                <a:cs typeface="Calibri" pitchFamily="34" charset="-120"/>
              </a:rPr>
              <a:t>Comparison</a:t>
            </a:r>
            <a:r>
              <a:rPr lang="fr-FR" sz="1150" noProof="0" dirty="0">
                <a:solidFill>
                  <a:srgbClr val="1F2A37"/>
                </a:solidFill>
                <a:latin typeface="Calibri" pitchFamily="34" charset="0"/>
                <a:ea typeface="Calibri" pitchFamily="34" charset="-122"/>
                <a:cs typeface="Calibri" pitchFamily="34" charset="-120"/>
              </a:rPr>
              <a:t>. </a:t>
            </a:r>
            <a:r>
              <a:rPr lang="fr-FR" sz="1150" noProof="0" dirty="0" err="1">
                <a:solidFill>
                  <a:srgbClr val="1F2A37"/>
                </a:solidFill>
                <a:latin typeface="Calibri" pitchFamily="34" charset="0"/>
                <a:ea typeface="Calibri" pitchFamily="34" charset="-122"/>
                <a:cs typeface="Calibri" pitchFamily="34" charset="-120"/>
              </a:rPr>
              <a:t>Proceedings</a:t>
            </a:r>
            <a:r>
              <a:rPr lang="fr-FR" sz="1150" noProof="0" dirty="0">
                <a:solidFill>
                  <a:srgbClr val="1F2A37"/>
                </a:solidFill>
                <a:latin typeface="Calibri" pitchFamily="34" charset="0"/>
                <a:ea typeface="Calibri" pitchFamily="34" charset="-122"/>
                <a:cs typeface="Calibri" pitchFamily="34" charset="-120"/>
              </a:rPr>
              <a:t> of the AAAI </a:t>
            </a:r>
            <a:r>
              <a:rPr lang="fr-FR" sz="1150" noProof="0" dirty="0" err="1">
                <a:solidFill>
                  <a:srgbClr val="1F2A37"/>
                </a:solidFill>
                <a:latin typeface="Calibri" pitchFamily="34" charset="0"/>
                <a:ea typeface="Calibri" pitchFamily="34" charset="-122"/>
                <a:cs typeface="Calibri" pitchFamily="34" charset="-120"/>
              </a:rPr>
              <a:t>Conference</a:t>
            </a:r>
            <a:r>
              <a:rPr lang="fr-FR" sz="1150" noProof="0" dirty="0">
                <a:solidFill>
                  <a:srgbClr val="1F2A37"/>
                </a:solidFill>
                <a:latin typeface="Calibri" pitchFamily="34" charset="0"/>
                <a:ea typeface="Calibri" pitchFamily="34" charset="-122"/>
                <a:cs typeface="Calibri" pitchFamily="34" charset="-120"/>
              </a:rPr>
              <a:t> on </a:t>
            </a:r>
            <a:r>
              <a:rPr lang="fr-FR" sz="1150" noProof="0" dirty="0" err="1">
                <a:solidFill>
                  <a:srgbClr val="1F2A37"/>
                </a:solidFill>
                <a:latin typeface="Calibri" pitchFamily="34" charset="0"/>
                <a:ea typeface="Calibri" pitchFamily="34" charset="-122"/>
                <a:cs typeface="Calibri" pitchFamily="34" charset="-120"/>
              </a:rPr>
              <a:t>Artificial</a:t>
            </a:r>
            <a:r>
              <a:rPr lang="fr-FR" sz="1150" noProof="0" dirty="0">
                <a:solidFill>
                  <a:srgbClr val="1F2A37"/>
                </a:solidFill>
                <a:latin typeface="Calibri" pitchFamily="34" charset="0"/>
                <a:ea typeface="Calibri" pitchFamily="34" charset="-122"/>
                <a:cs typeface="Calibri" pitchFamily="34" charset="-120"/>
              </a:rPr>
              <a:t> Intelligence, 33(01), 590-597.</a:t>
            </a:r>
            <a:endParaRPr lang="fr-FR" sz="1150" noProof="0" dirty="0"/>
          </a:p>
        </p:txBody>
      </p:sp>
      <p:sp>
        <p:nvSpPr>
          <p:cNvPr id="9" name="Text 6"/>
          <p:cNvSpPr/>
          <p:nvPr/>
        </p:nvSpPr>
        <p:spPr>
          <a:xfrm>
            <a:off x="914400" y="2221992"/>
            <a:ext cx="10332720" cy="237744"/>
          </a:xfrm>
          <a:prstGeom prst="rect">
            <a:avLst/>
          </a:prstGeom>
          <a:noFill/>
          <a:ln/>
        </p:spPr>
        <p:txBody>
          <a:bodyPr wrap="square" lIns="0" tIns="0" rIns="0" bIns="0" rtlCol="0" anchor="ctr"/>
          <a:lstStyle/>
          <a:p>
            <a:pPr marL="0" indent="0">
              <a:buNone/>
            </a:pPr>
            <a:r>
              <a:rPr lang="fr-FR" sz="1050" i="1" noProof="0" dirty="0">
                <a:solidFill>
                  <a:srgbClr val="12798A"/>
                </a:solidFill>
                <a:latin typeface="Calibri" pitchFamily="34" charset="0"/>
                <a:ea typeface="Calibri" pitchFamily="34" charset="-122"/>
                <a:cs typeface="Calibri" pitchFamily="34" charset="-120"/>
              </a:rPr>
              <a:t>DOI : 10.1609/aaai.v33i01.3301590   -   Accès : kaggle.com (CheXpert-v1.0-small)</a:t>
            </a:r>
            <a:endParaRPr lang="fr-FR" sz="1050" noProof="0" dirty="0"/>
          </a:p>
        </p:txBody>
      </p:sp>
      <p:sp>
        <p:nvSpPr>
          <p:cNvPr id="10" name="Shape 7"/>
          <p:cNvSpPr/>
          <p:nvPr/>
        </p:nvSpPr>
        <p:spPr>
          <a:xfrm>
            <a:off x="640080" y="2606040"/>
            <a:ext cx="10908792" cy="1060704"/>
          </a:xfrm>
          <a:prstGeom prst="roundRect">
            <a:avLst>
              <a:gd name="adj" fmla="val 7759"/>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1" name="Text 8"/>
          <p:cNvSpPr/>
          <p:nvPr/>
        </p:nvSpPr>
        <p:spPr>
          <a:xfrm>
            <a:off x="914400" y="2706624"/>
            <a:ext cx="10332720" cy="301752"/>
          </a:xfrm>
          <a:prstGeom prst="rect">
            <a:avLst/>
          </a:prstGeom>
          <a:noFill/>
          <a:ln/>
        </p:spPr>
        <p:txBody>
          <a:bodyPr wrap="square" lIns="0" tIns="0" rIns="0" bIns="0" rtlCol="0" anchor="ctr"/>
          <a:lstStyle/>
          <a:p>
            <a:pPr marL="0" indent="0">
              <a:buNone/>
            </a:pPr>
            <a:r>
              <a:rPr lang="fr-FR" sz="1400" b="1" noProof="0" dirty="0">
                <a:solidFill>
                  <a:srgbClr val="16243F"/>
                </a:solidFill>
                <a:latin typeface="Cambria" pitchFamily="34" charset="0"/>
                <a:ea typeface="Cambria" pitchFamily="34" charset="-122"/>
                <a:cs typeface="Cambria" pitchFamily="34" charset="-120"/>
              </a:rPr>
              <a:t>Rapports et métadonnées - CheXpert Plus (df_chexpert_plus_240401.csv)</a:t>
            </a:r>
            <a:endParaRPr lang="fr-FR" sz="1400" noProof="0" dirty="0"/>
          </a:p>
        </p:txBody>
      </p:sp>
      <p:sp>
        <p:nvSpPr>
          <p:cNvPr id="12" name="Text 9"/>
          <p:cNvSpPr/>
          <p:nvPr/>
        </p:nvSpPr>
        <p:spPr>
          <a:xfrm>
            <a:off x="914400" y="3008376"/>
            <a:ext cx="10332720" cy="420624"/>
          </a:xfrm>
          <a:prstGeom prst="rect">
            <a:avLst/>
          </a:prstGeom>
          <a:noFill/>
          <a:ln/>
        </p:spPr>
        <p:txBody>
          <a:bodyPr wrap="square" lIns="0" tIns="0" rIns="0" bIns="0" rtlCol="0" anchor="t"/>
          <a:lstStyle/>
          <a:p>
            <a:pPr marL="0" indent="0">
              <a:lnSpc>
                <a:spcPct val="100000"/>
              </a:lnSpc>
              <a:buNone/>
            </a:pPr>
            <a:r>
              <a:rPr lang="fr-FR" sz="1150" noProof="0" dirty="0">
                <a:solidFill>
                  <a:srgbClr val="1F2A37"/>
                </a:solidFill>
                <a:latin typeface="Calibri" pitchFamily="34" charset="0"/>
                <a:ea typeface="Calibri" pitchFamily="34" charset="-122"/>
                <a:cs typeface="Calibri" pitchFamily="34" charset="-120"/>
              </a:rPr>
              <a:t>Chambon, P., </a:t>
            </a:r>
            <a:r>
              <a:rPr lang="fr-FR" sz="1150" noProof="0" dirty="0" err="1">
                <a:solidFill>
                  <a:srgbClr val="1F2A37"/>
                </a:solidFill>
                <a:latin typeface="Calibri" pitchFamily="34" charset="0"/>
                <a:ea typeface="Calibri" pitchFamily="34" charset="-122"/>
                <a:cs typeface="Calibri" pitchFamily="34" charset="-120"/>
              </a:rPr>
              <a:t>Delbrouck</a:t>
            </a:r>
            <a:r>
              <a:rPr lang="fr-FR" sz="1150" noProof="0" dirty="0">
                <a:solidFill>
                  <a:srgbClr val="1F2A37"/>
                </a:solidFill>
                <a:latin typeface="Calibri" pitchFamily="34" charset="0"/>
                <a:ea typeface="Calibri" pitchFamily="34" charset="-122"/>
                <a:cs typeface="Calibri" pitchFamily="34" charset="-120"/>
              </a:rPr>
              <a:t>, J.-B., </a:t>
            </a:r>
            <a:r>
              <a:rPr lang="fr-FR" sz="1150" noProof="0" dirty="0" err="1">
                <a:solidFill>
                  <a:srgbClr val="1F2A37"/>
                </a:solidFill>
                <a:latin typeface="Calibri" pitchFamily="34" charset="0"/>
                <a:ea typeface="Calibri" pitchFamily="34" charset="-122"/>
                <a:cs typeface="Calibri" pitchFamily="34" charset="-120"/>
              </a:rPr>
              <a:t>Sounack</a:t>
            </a:r>
            <a:r>
              <a:rPr lang="fr-FR" sz="1150" noProof="0" dirty="0">
                <a:solidFill>
                  <a:srgbClr val="1F2A37"/>
                </a:solidFill>
                <a:latin typeface="Calibri" pitchFamily="34" charset="0"/>
                <a:ea typeface="Calibri" pitchFamily="34" charset="-122"/>
                <a:cs typeface="Calibri" pitchFamily="34" charset="-120"/>
              </a:rPr>
              <a:t>, T., et al. (2024). CheXpert Plus: </a:t>
            </a:r>
            <a:r>
              <a:rPr lang="fr-FR" sz="1150" noProof="0" dirty="0" err="1">
                <a:solidFill>
                  <a:srgbClr val="1F2A37"/>
                </a:solidFill>
                <a:latin typeface="Calibri" pitchFamily="34" charset="0"/>
                <a:ea typeface="Calibri" pitchFamily="34" charset="-122"/>
                <a:cs typeface="Calibri" pitchFamily="34" charset="-120"/>
              </a:rPr>
              <a:t>Augmenting</a:t>
            </a:r>
            <a:r>
              <a:rPr lang="fr-FR" sz="1150" noProof="0" dirty="0">
                <a:solidFill>
                  <a:srgbClr val="1F2A37"/>
                </a:solidFill>
                <a:latin typeface="Calibri" pitchFamily="34" charset="0"/>
                <a:ea typeface="Calibri" pitchFamily="34" charset="-122"/>
                <a:cs typeface="Calibri" pitchFamily="34" charset="-120"/>
              </a:rPr>
              <a:t> a Large Chest X-ray Dataset </a:t>
            </a:r>
            <a:r>
              <a:rPr lang="fr-FR" sz="1150" noProof="0" dirty="0" err="1">
                <a:solidFill>
                  <a:srgbClr val="1F2A37"/>
                </a:solidFill>
                <a:latin typeface="Calibri" pitchFamily="34" charset="0"/>
                <a:ea typeface="Calibri" pitchFamily="34" charset="-122"/>
                <a:cs typeface="Calibri" pitchFamily="34" charset="-120"/>
              </a:rPr>
              <a:t>with</a:t>
            </a:r>
            <a:r>
              <a:rPr lang="fr-FR" sz="1150" noProof="0" dirty="0">
                <a:solidFill>
                  <a:srgbClr val="1F2A37"/>
                </a:solidFill>
                <a:latin typeface="Calibri" pitchFamily="34" charset="0"/>
                <a:ea typeface="Calibri" pitchFamily="34" charset="-122"/>
                <a:cs typeface="Calibri" pitchFamily="34" charset="-120"/>
              </a:rPr>
              <a:t> </a:t>
            </a:r>
            <a:r>
              <a:rPr lang="fr-FR" sz="1150" noProof="0" dirty="0" err="1">
                <a:solidFill>
                  <a:srgbClr val="1F2A37"/>
                </a:solidFill>
                <a:latin typeface="Calibri" pitchFamily="34" charset="0"/>
                <a:ea typeface="Calibri" pitchFamily="34" charset="-122"/>
                <a:cs typeface="Calibri" pitchFamily="34" charset="-120"/>
              </a:rPr>
              <a:t>Text</a:t>
            </a:r>
            <a:r>
              <a:rPr lang="fr-FR" sz="1150" noProof="0" dirty="0">
                <a:solidFill>
                  <a:srgbClr val="1F2A37"/>
                </a:solidFill>
                <a:latin typeface="Calibri" pitchFamily="34" charset="0"/>
                <a:ea typeface="Calibri" pitchFamily="34" charset="-122"/>
                <a:cs typeface="Calibri" pitchFamily="34" charset="-120"/>
              </a:rPr>
              <a:t> </a:t>
            </a:r>
            <a:r>
              <a:rPr lang="fr-FR" sz="1150" noProof="0" dirty="0" err="1">
                <a:solidFill>
                  <a:srgbClr val="1F2A37"/>
                </a:solidFill>
                <a:latin typeface="Calibri" pitchFamily="34" charset="0"/>
                <a:ea typeface="Calibri" pitchFamily="34" charset="-122"/>
                <a:cs typeface="Calibri" pitchFamily="34" charset="-120"/>
              </a:rPr>
              <a:t>Radiology</a:t>
            </a:r>
            <a:r>
              <a:rPr lang="fr-FR" sz="1150" noProof="0" dirty="0">
                <a:solidFill>
                  <a:srgbClr val="1F2A37"/>
                </a:solidFill>
                <a:latin typeface="Calibri" pitchFamily="34" charset="0"/>
                <a:ea typeface="Calibri" pitchFamily="34" charset="-122"/>
                <a:cs typeface="Calibri" pitchFamily="34" charset="-120"/>
              </a:rPr>
              <a:t> Reports, Patient </a:t>
            </a:r>
            <a:r>
              <a:rPr lang="fr-FR" sz="1150" noProof="0" dirty="0" err="1">
                <a:solidFill>
                  <a:srgbClr val="1F2A37"/>
                </a:solidFill>
                <a:latin typeface="Calibri" pitchFamily="34" charset="0"/>
                <a:ea typeface="Calibri" pitchFamily="34" charset="-122"/>
                <a:cs typeface="Calibri" pitchFamily="34" charset="-120"/>
              </a:rPr>
              <a:t>Demographics</a:t>
            </a:r>
            <a:r>
              <a:rPr lang="fr-FR" sz="1150" noProof="0" dirty="0">
                <a:solidFill>
                  <a:srgbClr val="1F2A37"/>
                </a:solidFill>
                <a:latin typeface="Calibri" pitchFamily="34" charset="0"/>
                <a:ea typeface="Calibri" pitchFamily="34" charset="-122"/>
                <a:cs typeface="Calibri" pitchFamily="34" charset="-120"/>
              </a:rPr>
              <a:t> and </a:t>
            </a:r>
            <a:r>
              <a:rPr lang="fr-FR" sz="1150" noProof="0" dirty="0" err="1">
                <a:solidFill>
                  <a:srgbClr val="1F2A37"/>
                </a:solidFill>
                <a:latin typeface="Calibri" pitchFamily="34" charset="0"/>
                <a:ea typeface="Calibri" pitchFamily="34" charset="-122"/>
                <a:cs typeface="Calibri" pitchFamily="34" charset="-120"/>
              </a:rPr>
              <a:t>Additional</a:t>
            </a:r>
            <a:r>
              <a:rPr lang="fr-FR" sz="1150" noProof="0" dirty="0">
                <a:solidFill>
                  <a:srgbClr val="1F2A37"/>
                </a:solidFill>
                <a:latin typeface="Calibri" pitchFamily="34" charset="0"/>
                <a:ea typeface="Calibri" pitchFamily="34" charset="-122"/>
                <a:cs typeface="Calibri" pitchFamily="34" charset="-120"/>
              </a:rPr>
              <a:t> Image Formats. arXiv:2405.19538.</a:t>
            </a:r>
            <a:endParaRPr lang="fr-FR" sz="1150" noProof="0" dirty="0"/>
          </a:p>
        </p:txBody>
      </p:sp>
      <p:sp>
        <p:nvSpPr>
          <p:cNvPr id="13" name="Text 10"/>
          <p:cNvSpPr/>
          <p:nvPr/>
        </p:nvSpPr>
        <p:spPr>
          <a:xfrm>
            <a:off x="914400" y="3410712"/>
            <a:ext cx="10332720" cy="237744"/>
          </a:xfrm>
          <a:prstGeom prst="rect">
            <a:avLst/>
          </a:prstGeom>
          <a:noFill/>
          <a:ln/>
        </p:spPr>
        <p:txBody>
          <a:bodyPr wrap="square" lIns="0" tIns="0" rIns="0" bIns="0" rtlCol="0" anchor="ctr"/>
          <a:lstStyle/>
          <a:p>
            <a:pPr marL="0" indent="0">
              <a:buNone/>
            </a:pPr>
            <a:r>
              <a:rPr lang="fr-FR" sz="1050" i="1" noProof="0" dirty="0">
                <a:solidFill>
                  <a:srgbClr val="12798A"/>
                </a:solidFill>
                <a:latin typeface="Calibri" pitchFamily="34" charset="0"/>
                <a:ea typeface="Calibri" pitchFamily="34" charset="-122"/>
                <a:cs typeface="Calibri" pitchFamily="34" charset="-120"/>
              </a:rPr>
              <a:t>Accès : stanfordaimi.azurewebsites.net (Stanford AIMI)</a:t>
            </a:r>
            <a:endParaRPr lang="fr-FR" sz="1050" noProof="0" dirty="0"/>
          </a:p>
        </p:txBody>
      </p:sp>
      <p:sp>
        <p:nvSpPr>
          <p:cNvPr id="14" name="Shape 11"/>
          <p:cNvSpPr/>
          <p:nvPr/>
        </p:nvSpPr>
        <p:spPr>
          <a:xfrm>
            <a:off x="640080" y="3794760"/>
            <a:ext cx="10908792" cy="1060704"/>
          </a:xfrm>
          <a:prstGeom prst="roundRect">
            <a:avLst>
              <a:gd name="adj" fmla="val 7759"/>
            </a:avLst>
          </a:prstGeom>
          <a:solidFill>
            <a:srgbClr val="FFFFFF"/>
          </a:solidFill>
          <a:ln/>
          <a:effectLst>
            <a:outerShdw blurRad="88900" dist="25400" dir="5400000" algn="bl" rotWithShape="0">
              <a:srgbClr val="000000">
                <a:alpha val="10000"/>
              </a:srgbClr>
            </a:outerShdw>
          </a:effectLst>
        </p:spPr>
        <p:txBody>
          <a:bodyPr/>
          <a:lstStyle/>
          <a:p>
            <a:endParaRPr lang="fr-FR" noProof="0" dirty="0"/>
          </a:p>
        </p:txBody>
      </p:sp>
      <p:sp>
        <p:nvSpPr>
          <p:cNvPr id="15" name="Text 12"/>
          <p:cNvSpPr/>
          <p:nvPr/>
        </p:nvSpPr>
        <p:spPr>
          <a:xfrm>
            <a:off x="914400" y="3895344"/>
            <a:ext cx="10332720" cy="301752"/>
          </a:xfrm>
          <a:prstGeom prst="rect">
            <a:avLst/>
          </a:prstGeom>
          <a:noFill/>
          <a:ln/>
        </p:spPr>
        <p:txBody>
          <a:bodyPr wrap="square" lIns="0" tIns="0" rIns="0" bIns="0" rtlCol="0" anchor="ctr"/>
          <a:lstStyle/>
          <a:p>
            <a:pPr marL="0" indent="0">
              <a:buNone/>
            </a:pPr>
            <a:r>
              <a:rPr lang="fr-FR" sz="1400" b="1" noProof="0" dirty="0">
                <a:solidFill>
                  <a:srgbClr val="16243F"/>
                </a:solidFill>
                <a:latin typeface="Cambria" pitchFamily="34" charset="0"/>
                <a:ea typeface="Cambria" pitchFamily="34" charset="-122"/>
                <a:cs typeface="Cambria" pitchFamily="34" charset="-120"/>
              </a:rPr>
              <a:t>Modèle pré-entraîné - </a:t>
            </a:r>
            <a:r>
              <a:rPr lang="fr-FR" sz="1400" b="1" noProof="0" dirty="0" err="1">
                <a:solidFill>
                  <a:srgbClr val="16243F"/>
                </a:solidFill>
                <a:latin typeface="Cambria" pitchFamily="34" charset="0"/>
                <a:ea typeface="Cambria" pitchFamily="34" charset="-122"/>
                <a:cs typeface="Cambria" pitchFamily="34" charset="-120"/>
              </a:rPr>
              <a:t>BioViL</a:t>
            </a:r>
            <a:r>
              <a:rPr lang="fr-FR" sz="1400" b="1" noProof="0" dirty="0">
                <a:solidFill>
                  <a:srgbClr val="16243F"/>
                </a:solidFill>
                <a:latin typeface="Cambria" pitchFamily="34" charset="0"/>
                <a:ea typeface="Cambria" pitchFamily="34" charset="-122"/>
                <a:cs typeface="Cambria" pitchFamily="34" charset="-120"/>
              </a:rPr>
              <a:t>-T</a:t>
            </a:r>
            <a:endParaRPr lang="fr-FR" sz="1400" noProof="0" dirty="0"/>
          </a:p>
        </p:txBody>
      </p:sp>
      <p:sp>
        <p:nvSpPr>
          <p:cNvPr id="16" name="Text 13"/>
          <p:cNvSpPr/>
          <p:nvPr/>
        </p:nvSpPr>
        <p:spPr>
          <a:xfrm>
            <a:off x="914400" y="4197096"/>
            <a:ext cx="10332720" cy="420624"/>
          </a:xfrm>
          <a:prstGeom prst="rect">
            <a:avLst/>
          </a:prstGeom>
          <a:noFill/>
          <a:ln/>
        </p:spPr>
        <p:txBody>
          <a:bodyPr wrap="square" lIns="0" tIns="0" rIns="0" bIns="0" rtlCol="0" anchor="t"/>
          <a:lstStyle/>
          <a:p>
            <a:pPr marL="0" indent="0">
              <a:lnSpc>
                <a:spcPct val="100000"/>
              </a:lnSpc>
              <a:buNone/>
            </a:pPr>
            <a:r>
              <a:rPr lang="fr-FR" sz="1150" noProof="0" dirty="0" err="1">
                <a:solidFill>
                  <a:srgbClr val="1F2A37"/>
                </a:solidFill>
                <a:latin typeface="Calibri" pitchFamily="34" charset="0"/>
                <a:ea typeface="Calibri" pitchFamily="34" charset="-122"/>
                <a:cs typeface="Calibri" pitchFamily="34" charset="-120"/>
              </a:rPr>
              <a:t>Bannur</a:t>
            </a:r>
            <a:r>
              <a:rPr lang="fr-FR" sz="1150" noProof="0" dirty="0">
                <a:solidFill>
                  <a:srgbClr val="1F2A37"/>
                </a:solidFill>
                <a:latin typeface="Calibri" pitchFamily="34" charset="0"/>
                <a:ea typeface="Calibri" pitchFamily="34" charset="-122"/>
                <a:cs typeface="Calibri" pitchFamily="34" charset="-120"/>
              </a:rPr>
              <a:t>, S., Hyland, S., Liu, Q., et al. (2023). Learning to Exploit Temporal Structure for </a:t>
            </a:r>
            <a:r>
              <a:rPr lang="fr-FR" sz="1150" noProof="0" dirty="0" err="1">
                <a:solidFill>
                  <a:srgbClr val="1F2A37"/>
                </a:solidFill>
                <a:latin typeface="Calibri" pitchFamily="34" charset="0"/>
                <a:ea typeface="Calibri" pitchFamily="34" charset="-122"/>
                <a:cs typeface="Calibri" pitchFamily="34" charset="-120"/>
              </a:rPr>
              <a:t>Biomedical</a:t>
            </a:r>
            <a:r>
              <a:rPr lang="fr-FR" sz="1150" noProof="0" dirty="0">
                <a:solidFill>
                  <a:srgbClr val="1F2A37"/>
                </a:solidFill>
                <a:latin typeface="Calibri" pitchFamily="34" charset="0"/>
                <a:ea typeface="Calibri" pitchFamily="34" charset="-122"/>
                <a:cs typeface="Calibri" pitchFamily="34" charset="-120"/>
              </a:rPr>
              <a:t> Vision-</a:t>
            </a:r>
            <a:r>
              <a:rPr lang="fr-FR" sz="1150" noProof="0" dirty="0" err="1">
                <a:solidFill>
                  <a:srgbClr val="1F2A37"/>
                </a:solidFill>
                <a:latin typeface="Calibri" pitchFamily="34" charset="0"/>
                <a:ea typeface="Calibri" pitchFamily="34" charset="-122"/>
                <a:cs typeface="Calibri" pitchFamily="34" charset="-120"/>
              </a:rPr>
              <a:t>Language</a:t>
            </a:r>
            <a:r>
              <a:rPr lang="fr-FR" sz="1150" noProof="0" dirty="0">
                <a:solidFill>
                  <a:srgbClr val="1F2A37"/>
                </a:solidFill>
                <a:latin typeface="Calibri" pitchFamily="34" charset="0"/>
                <a:ea typeface="Calibri" pitchFamily="34" charset="-122"/>
                <a:cs typeface="Calibri" pitchFamily="34" charset="-120"/>
              </a:rPr>
              <a:t> </a:t>
            </a:r>
            <a:r>
              <a:rPr lang="fr-FR" sz="1150" noProof="0" dirty="0" err="1">
                <a:solidFill>
                  <a:srgbClr val="1F2A37"/>
                </a:solidFill>
                <a:latin typeface="Calibri" pitchFamily="34" charset="0"/>
                <a:ea typeface="Calibri" pitchFamily="34" charset="-122"/>
                <a:cs typeface="Calibri" pitchFamily="34" charset="-120"/>
              </a:rPr>
              <a:t>Processing</a:t>
            </a:r>
            <a:r>
              <a:rPr lang="fr-FR" sz="1150" noProof="0" dirty="0">
                <a:solidFill>
                  <a:srgbClr val="1F2A37"/>
                </a:solidFill>
                <a:latin typeface="Calibri" pitchFamily="34" charset="0"/>
                <a:ea typeface="Calibri" pitchFamily="34" charset="-122"/>
                <a:cs typeface="Calibri" pitchFamily="34" charset="-120"/>
              </a:rPr>
              <a:t>. CVPR 2023.</a:t>
            </a:r>
            <a:endParaRPr lang="fr-FR" sz="1150" noProof="0" dirty="0"/>
          </a:p>
        </p:txBody>
      </p:sp>
      <p:sp>
        <p:nvSpPr>
          <p:cNvPr id="17" name="Text 14"/>
          <p:cNvSpPr/>
          <p:nvPr/>
        </p:nvSpPr>
        <p:spPr>
          <a:xfrm>
            <a:off x="914400" y="4599432"/>
            <a:ext cx="10332720" cy="237744"/>
          </a:xfrm>
          <a:prstGeom prst="rect">
            <a:avLst/>
          </a:prstGeom>
          <a:noFill/>
          <a:ln/>
        </p:spPr>
        <p:txBody>
          <a:bodyPr wrap="square" lIns="0" tIns="0" rIns="0" bIns="0" rtlCol="0" anchor="ctr"/>
          <a:lstStyle/>
          <a:p>
            <a:pPr marL="0" indent="0">
              <a:buNone/>
            </a:pPr>
            <a:r>
              <a:rPr lang="fr-FR" sz="1050" i="1" noProof="0" dirty="0">
                <a:solidFill>
                  <a:srgbClr val="12798A"/>
                </a:solidFill>
                <a:latin typeface="Calibri" pitchFamily="34" charset="0"/>
                <a:ea typeface="Calibri" pitchFamily="34" charset="-122"/>
                <a:cs typeface="Calibri" pitchFamily="34" charset="-120"/>
              </a:rPr>
              <a:t>Modèle : </a:t>
            </a:r>
            <a:r>
              <a:rPr lang="fr-FR" sz="1050" i="1" noProof="0" dirty="0" err="1">
                <a:solidFill>
                  <a:srgbClr val="12798A"/>
                </a:solidFill>
                <a:latin typeface="Calibri" pitchFamily="34" charset="0"/>
                <a:ea typeface="Calibri" pitchFamily="34" charset="-122"/>
                <a:cs typeface="Calibri" pitchFamily="34" charset="-120"/>
              </a:rPr>
              <a:t>microsoft</a:t>
            </a:r>
            <a:r>
              <a:rPr lang="fr-FR" sz="1050" i="1" noProof="0" dirty="0">
                <a:solidFill>
                  <a:srgbClr val="12798A"/>
                </a:solidFill>
                <a:latin typeface="Calibri" pitchFamily="34" charset="0"/>
                <a:ea typeface="Calibri" pitchFamily="34" charset="-122"/>
                <a:cs typeface="Calibri" pitchFamily="34" charset="-120"/>
              </a:rPr>
              <a:t>/</a:t>
            </a:r>
            <a:r>
              <a:rPr lang="fr-FR" sz="1050" i="1" noProof="0" dirty="0" err="1">
                <a:solidFill>
                  <a:srgbClr val="12798A"/>
                </a:solidFill>
                <a:latin typeface="Calibri" pitchFamily="34" charset="0"/>
                <a:ea typeface="Calibri" pitchFamily="34" charset="-122"/>
                <a:cs typeface="Calibri" pitchFamily="34" charset="-120"/>
              </a:rPr>
              <a:t>BiomedVLP</a:t>
            </a:r>
            <a:r>
              <a:rPr lang="fr-FR" sz="1050" i="1" noProof="0" dirty="0">
                <a:solidFill>
                  <a:srgbClr val="12798A"/>
                </a:solidFill>
                <a:latin typeface="Calibri" pitchFamily="34" charset="0"/>
                <a:ea typeface="Calibri" pitchFamily="34" charset="-122"/>
                <a:cs typeface="Calibri" pitchFamily="34" charset="-120"/>
              </a:rPr>
              <a:t>-</a:t>
            </a:r>
            <a:r>
              <a:rPr lang="fr-FR" sz="1050" i="1" noProof="0" dirty="0" err="1">
                <a:solidFill>
                  <a:srgbClr val="12798A"/>
                </a:solidFill>
                <a:latin typeface="Calibri" pitchFamily="34" charset="0"/>
                <a:ea typeface="Calibri" pitchFamily="34" charset="-122"/>
                <a:cs typeface="Calibri" pitchFamily="34" charset="-120"/>
              </a:rPr>
              <a:t>BioViL</a:t>
            </a:r>
            <a:r>
              <a:rPr lang="fr-FR" sz="1050" i="1" noProof="0" dirty="0">
                <a:solidFill>
                  <a:srgbClr val="12798A"/>
                </a:solidFill>
                <a:latin typeface="Calibri" pitchFamily="34" charset="0"/>
                <a:ea typeface="Calibri" pitchFamily="34" charset="-122"/>
                <a:cs typeface="Calibri" pitchFamily="34" charset="-120"/>
              </a:rPr>
              <a:t>-T</a:t>
            </a:r>
            <a:endParaRPr lang="fr-FR" sz="1050" noProof="0" dirty="0"/>
          </a:p>
        </p:txBody>
      </p:sp>
      <p:sp>
        <p:nvSpPr>
          <p:cNvPr id="18" name="Shape 15"/>
          <p:cNvSpPr/>
          <p:nvPr/>
        </p:nvSpPr>
        <p:spPr>
          <a:xfrm>
            <a:off x="640080" y="5029200"/>
            <a:ext cx="10908792" cy="1325880"/>
          </a:xfrm>
          <a:prstGeom prst="roundRect">
            <a:avLst>
              <a:gd name="adj" fmla="val 6207"/>
            </a:avLst>
          </a:prstGeom>
          <a:solidFill>
            <a:srgbClr val="E4F3F5"/>
          </a:solidFill>
          <a:ln/>
          <a:effectLst>
            <a:outerShdw blurRad="88900" dist="25400" dir="5400000" algn="bl" rotWithShape="0">
              <a:srgbClr val="000000">
                <a:alpha val="10000"/>
              </a:srgbClr>
            </a:outerShdw>
          </a:effectLst>
        </p:spPr>
        <p:txBody>
          <a:bodyPr/>
          <a:lstStyle/>
          <a:p>
            <a:endParaRPr lang="fr-FR" noProof="0" dirty="0"/>
          </a:p>
        </p:txBody>
      </p:sp>
      <p:sp>
        <p:nvSpPr>
          <p:cNvPr id="19" name="Shape 16"/>
          <p:cNvSpPr/>
          <p:nvPr/>
        </p:nvSpPr>
        <p:spPr>
          <a:xfrm>
            <a:off x="914400" y="5321808"/>
            <a:ext cx="603504" cy="603504"/>
          </a:xfrm>
          <a:prstGeom prst="ellipse">
            <a:avLst/>
          </a:prstGeom>
          <a:solidFill>
            <a:srgbClr val="1FA8B8"/>
          </a:solidFill>
          <a:ln/>
        </p:spPr>
        <p:txBody>
          <a:bodyPr/>
          <a:lstStyle/>
          <a:p>
            <a:endParaRPr lang="fr-FR" noProof="0" dirty="0"/>
          </a:p>
        </p:txBody>
      </p:sp>
      <p:pic>
        <p:nvPicPr>
          <p:cNvPr id="20" name="Image 1" descr="preencoded.png"/>
          <p:cNvPicPr>
            <a:picLocks noChangeAspect="1"/>
          </p:cNvPicPr>
          <p:nvPr/>
        </p:nvPicPr>
        <p:blipFill>
          <a:blip r:embed="rId4"/>
          <a:stretch>
            <a:fillRect/>
          </a:stretch>
        </p:blipFill>
        <p:spPr>
          <a:xfrm>
            <a:off x="1078992" y="5486400"/>
            <a:ext cx="274320" cy="274320"/>
          </a:xfrm>
          <a:prstGeom prst="rect">
            <a:avLst/>
          </a:prstGeom>
        </p:spPr>
      </p:pic>
      <p:sp>
        <p:nvSpPr>
          <p:cNvPr id="21" name="Text 17"/>
          <p:cNvSpPr/>
          <p:nvPr/>
        </p:nvSpPr>
        <p:spPr>
          <a:xfrm>
            <a:off x="1691640" y="5175504"/>
            <a:ext cx="9692640" cy="320040"/>
          </a:xfrm>
          <a:prstGeom prst="rect">
            <a:avLst/>
          </a:prstGeom>
          <a:noFill/>
          <a:ln/>
        </p:spPr>
        <p:txBody>
          <a:bodyPr wrap="square" lIns="0" tIns="0" rIns="0" bIns="0" rtlCol="0" anchor="ctr"/>
          <a:lstStyle/>
          <a:p>
            <a:pPr marL="0" indent="0">
              <a:buNone/>
            </a:pPr>
            <a:r>
              <a:rPr lang="fr-FR" sz="1450" b="1" noProof="0" dirty="0">
                <a:solidFill>
                  <a:srgbClr val="16243F"/>
                </a:solidFill>
                <a:latin typeface="Cambria" pitchFamily="34" charset="0"/>
                <a:ea typeface="Cambria" pitchFamily="34" charset="-122"/>
                <a:cs typeface="Cambria" pitchFamily="34" charset="-120"/>
              </a:rPr>
              <a:t>Protection des données (RGPD)</a:t>
            </a:r>
            <a:endParaRPr lang="fr-FR" sz="1450" noProof="0" dirty="0"/>
          </a:p>
        </p:txBody>
      </p:sp>
      <p:sp>
        <p:nvSpPr>
          <p:cNvPr id="22" name="Text 18"/>
          <p:cNvSpPr/>
          <p:nvPr/>
        </p:nvSpPr>
        <p:spPr>
          <a:xfrm>
            <a:off x="1691640" y="5522976"/>
            <a:ext cx="9646920" cy="777240"/>
          </a:xfrm>
          <a:prstGeom prst="rect">
            <a:avLst/>
          </a:prstGeom>
          <a:noFill/>
          <a:ln/>
        </p:spPr>
        <p:txBody>
          <a:bodyPr wrap="square" lIns="0" tIns="0" rIns="0" bIns="0" rtlCol="0" anchor="t"/>
          <a:lstStyle/>
          <a:p>
            <a:pPr marL="0" indent="0">
              <a:lnSpc>
                <a:spcPct val="104000"/>
              </a:lnSpc>
              <a:buNone/>
            </a:pPr>
            <a:r>
              <a:rPr lang="fr-FR" sz="1200" noProof="0" dirty="0">
                <a:solidFill>
                  <a:srgbClr val="1F2A37"/>
                </a:solidFill>
                <a:latin typeface="Calibri" pitchFamily="34" charset="0"/>
                <a:ea typeface="Calibri" pitchFamily="34" charset="-122"/>
                <a:cs typeface="Calibri" pitchFamily="34" charset="-120"/>
              </a:rPr>
              <a:t>Données de santé au sens de l'article 9 du RGPD, fournies dé-identifiées et utilisées dans le seul cadre de la recherche et de la formation - sans tentative de </a:t>
            </a:r>
            <a:r>
              <a:rPr lang="fr-FR" sz="1200" noProof="0" dirty="0" err="1">
                <a:solidFill>
                  <a:srgbClr val="1F2A37"/>
                </a:solidFill>
                <a:latin typeface="Calibri" pitchFamily="34" charset="0"/>
                <a:ea typeface="Calibri" pitchFamily="34" charset="-122"/>
                <a:cs typeface="Calibri" pitchFamily="34" charset="-120"/>
              </a:rPr>
              <a:t>ré-identification</a:t>
            </a:r>
            <a:r>
              <a:rPr lang="fr-FR" sz="1200" noProof="0" dirty="0">
                <a:solidFill>
                  <a:srgbClr val="1F2A37"/>
                </a:solidFill>
                <a:latin typeface="Calibri" pitchFamily="34" charset="0"/>
                <a:ea typeface="Calibri" pitchFamily="34" charset="-122"/>
                <a:cs typeface="Calibri" pitchFamily="34" charset="-120"/>
              </a:rPr>
              <a:t>, selon un principe de minimisation (une image par patient) et conformément à l'accord d'usage applicable.</a:t>
            </a:r>
            <a:endParaRPr lang="fr-FR" sz="1200" noProof="0" dirty="0"/>
          </a:p>
        </p:txBody>
      </p:sp>
      <p:sp>
        <p:nvSpPr>
          <p:cNvPr id="25" name="Slide Number Placeholder 0"/>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6E7E"/>
                </a:solidFill>
                <a:latin typeface="Calibri"/>
                <a:ea typeface="Calibri"/>
                <a:cs typeface="Calibri"/>
              </a:defRPr>
            </a:lvl1pPr>
          </a:lstStyle>
          <a:p>
            <a:pPr algn="r"/>
            <a:fld id="{F7021451-1387-4CA6-816F-3879F97B5CBC}" type="slidenum">
              <a:rPr lang="fr-FR" b="0" noProof="0" smtClean="0"/>
              <a:t>12</a:t>
            </a:fld>
            <a:endParaRPr lang="fr-FR"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6243F"/>
        </a:solidFill>
        <a:effectLst/>
      </p:bgPr>
    </p:bg>
    <p:spTree>
      <p:nvGrpSpPr>
        <p:cNvPr id="1" name="">
          <a:extLst>
            <a:ext uri="{FF2B5EF4-FFF2-40B4-BE49-F238E27FC236}">
              <a16:creationId xmlns:a16="http://schemas.microsoft.com/office/drawing/2014/main" id="{ED40F566-DA33-AA0F-1A11-36B24D46CF2B}"/>
            </a:ext>
          </a:extLst>
        </p:cNvPr>
        <p:cNvGrpSpPr/>
        <p:nvPr/>
      </p:nvGrpSpPr>
      <p:grpSpPr>
        <a:xfrm>
          <a:off x="0" y="0"/>
          <a:ext cx="0" cy="0"/>
          <a:chOff x="0" y="0"/>
          <a:chExt cx="0" cy="0"/>
        </a:xfrm>
      </p:grpSpPr>
      <p:sp>
        <p:nvSpPr>
          <p:cNvPr id="12" name="Text 9">
            <a:extLst>
              <a:ext uri="{FF2B5EF4-FFF2-40B4-BE49-F238E27FC236}">
                <a16:creationId xmlns:a16="http://schemas.microsoft.com/office/drawing/2014/main" id="{602BB7FA-73DE-026D-2D1A-6B340C876417}"/>
              </a:ext>
            </a:extLst>
          </p:cNvPr>
          <p:cNvSpPr/>
          <p:nvPr/>
        </p:nvSpPr>
        <p:spPr>
          <a:xfrm>
            <a:off x="6629400" y="2560320"/>
            <a:ext cx="640080" cy="640080"/>
          </a:xfrm>
          <a:prstGeom prst="rect">
            <a:avLst/>
          </a:prstGeom>
          <a:noFill/>
          <a:ln/>
        </p:spPr>
        <p:txBody>
          <a:bodyPr wrap="square" lIns="0" tIns="0" rIns="0" bIns="0" rtlCol="0" anchor="ctr"/>
          <a:lstStyle/>
          <a:p>
            <a:pPr marL="0" indent="0" algn="ctr">
              <a:buNone/>
            </a:pPr>
            <a:endParaRPr lang="fr-FR" sz="3000" noProof="0" dirty="0"/>
          </a:p>
        </p:txBody>
      </p:sp>
      <p:sp>
        <p:nvSpPr>
          <p:cNvPr id="20" name="Text 17">
            <a:extLst>
              <a:ext uri="{FF2B5EF4-FFF2-40B4-BE49-F238E27FC236}">
                <a16:creationId xmlns:a16="http://schemas.microsoft.com/office/drawing/2014/main" id="{526AA76A-A2AF-DFEC-FE76-9247A56B2D91}"/>
              </a:ext>
            </a:extLst>
          </p:cNvPr>
          <p:cNvSpPr/>
          <p:nvPr/>
        </p:nvSpPr>
        <p:spPr>
          <a:xfrm>
            <a:off x="6629400" y="3931920"/>
            <a:ext cx="640080" cy="640080"/>
          </a:xfrm>
          <a:prstGeom prst="rect">
            <a:avLst/>
          </a:prstGeom>
          <a:noFill/>
          <a:ln/>
        </p:spPr>
        <p:txBody>
          <a:bodyPr wrap="square" lIns="0" tIns="0" rIns="0" bIns="0" rtlCol="0" anchor="ctr"/>
          <a:lstStyle/>
          <a:p>
            <a:pPr marL="0" indent="0" algn="ctr">
              <a:buNone/>
            </a:pPr>
            <a:endParaRPr lang="fr-FR" sz="3000" noProof="0" dirty="0"/>
          </a:p>
        </p:txBody>
      </p:sp>
      <p:sp>
        <p:nvSpPr>
          <p:cNvPr id="25" name="Slide Number Placeholder 0">
            <a:extLst>
              <a:ext uri="{FF2B5EF4-FFF2-40B4-BE49-F238E27FC236}">
                <a16:creationId xmlns:a16="http://schemas.microsoft.com/office/drawing/2014/main" id="{D2B8AEEA-B098-2027-1478-095929815361}"/>
              </a:ext>
            </a:extLst>
          </p:cNvPr>
          <p:cNvSpPr>
            <a:spLocks noGrp="1"/>
          </p:cNvSpPr>
          <p:nvPr>
            <p:ph type="sldNum" sz="quarter" idx="4294967295"/>
          </p:nvPr>
        </p:nvSpPr>
        <p:spPr>
          <a:xfrm>
            <a:off x="11430000" y="6455664"/>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C7D6"/>
                </a:solidFill>
                <a:latin typeface="Calibri"/>
                <a:ea typeface="Calibri"/>
                <a:cs typeface="Calibri"/>
              </a:defRPr>
            </a:lvl1pPr>
          </a:lstStyle>
          <a:p>
            <a:pPr algn="r"/>
            <a:fld id="{F7021451-1387-4CA6-816F-3879F97B5CBC}" type="slidenum">
              <a:rPr lang="fr-FR" b="0" noProof="0" smtClean="0"/>
              <a:t>13</a:t>
            </a:fld>
            <a:endParaRPr lang="fr-FR" noProof="0" dirty="0"/>
          </a:p>
        </p:txBody>
      </p:sp>
      <p:sp>
        <p:nvSpPr>
          <p:cNvPr id="24" name="ZoneTexte 23">
            <a:extLst>
              <a:ext uri="{FF2B5EF4-FFF2-40B4-BE49-F238E27FC236}">
                <a16:creationId xmlns:a16="http://schemas.microsoft.com/office/drawing/2014/main" id="{A543C3DC-317E-7A34-D33C-DD831E8BCDF6}"/>
              </a:ext>
            </a:extLst>
          </p:cNvPr>
          <p:cNvSpPr txBox="1"/>
          <p:nvPr/>
        </p:nvSpPr>
        <p:spPr>
          <a:xfrm>
            <a:off x="2053087" y="2432649"/>
            <a:ext cx="6806242" cy="1661993"/>
          </a:xfrm>
          <a:prstGeom prst="rect">
            <a:avLst/>
          </a:prstGeom>
          <a:noFill/>
        </p:spPr>
        <p:txBody>
          <a:bodyPr wrap="square" lIns="91440" tIns="45720" rIns="91440" bIns="45720" rtlCol="0" anchor="t">
            <a:spAutoFit/>
          </a:bodyPr>
          <a:lstStyle/>
          <a:p>
            <a:pPr algn="ctr"/>
            <a:r>
              <a:rPr lang="fr-FR" sz="2800" noProof="0">
                <a:solidFill>
                  <a:schemeClr val="bg1"/>
                </a:solidFill>
                <a:latin typeface="Cambria"/>
                <a:ea typeface="Cambria"/>
              </a:rPr>
              <a:t>Merci de votre attention !</a:t>
            </a:r>
            <a:endParaRPr lang="fr-FR">
              <a:solidFill>
                <a:schemeClr val="bg1"/>
              </a:solidFill>
              <a:latin typeface="Cambria"/>
              <a:ea typeface="Cambria"/>
            </a:endParaRPr>
          </a:p>
          <a:p>
            <a:pPr algn="ctr"/>
            <a:endParaRPr lang="fr-FR" sz="2800" dirty="0">
              <a:solidFill>
                <a:schemeClr val="bg1"/>
              </a:solidFill>
              <a:latin typeface="Cambria"/>
              <a:ea typeface="Cambria"/>
            </a:endParaRPr>
          </a:p>
          <a:p>
            <a:pPr algn="ctr"/>
            <a:r>
              <a:rPr lang="fr-FR" sz="2800">
                <a:solidFill>
                  <a:schemeClr val="bg1"/>
                </a:solidFill>
                <a:latin typeface="Cambria"/>
                <a:ea typeface="Cambria"/>
              </a:rPr>
              <a:t>Des questions?</a:t>
            </a:r>
            <a:endParaRPr lang="fr-FR">
              <a:solidFill>
                <a:schemeClr val="bg1"/>
              </a:solidFill>
            </a:endParaRPr>
          </a:p>
          <a:p>
            <a:pPr algn="ctr"/>
            <a:r>
              <a:rPr lang="fr-FR" noProof="0" dirty="0"/>
              <a:t> </a:t>
            </a:r>
          </a:p>
        </p:txBody>
      </p:sp>
      <p:sp>
        <p:nvSpPr>
          <p:cNvPr id="26" name="ZoneTexte 25">
            <a:extLst>
              <a:ext uri="{FF2B5EF4-FFF2-40B4-BE49-F238E27FC236}">
                <a16:creationId xmlns:a16="http://schemas.microsoft.com/office/drawing/2014/main" id="{90941A79-90BF-0303-C9D0-815A918A4A2C}"/>
              </a:ext>
            </a:extLst>
          </p:cNvPr>
          <p:cNvSpPr txBox="1"/>
          <p:nvPr/>
        </p:nvSpPr>
        <p:spPr>
          <a:xfrm>
            <a:off x="698740" y="5089585"/>
            <a:ext cx="10593237" cy="1415772"/>
          </a:xfrm>
          <a:prstGeom prst="rect">
            <a:avLst/>
          </a:prstGeom>
          <a:noFill/>
        </p:spPr>
        <p:txBody>
          <a:bodyPr wrap="square" rtlCol="0">
            <a:spAutoFit/>
          </a:bodyPr>
          <a:lstStyle/>
          <a:p>
            <a:pPr marL="114300" indent="0">
              <a:buNone/>
            </a:pPr>
            <a:endParaRPr lang="fr-FR" noProof="0" dirty="0">
              <a:latin typeface="Abadi" panose="020B0604020104020204" pitchFamily="34" charset="0"/>
            </a:endParaRPr>
          </a:p>
          <a:p>
            <a:pPr marL="114300" indent="0">
              <a:buNone/>
            </a:pPr>
            <a:r>
              <a:rPr lang="fr-FR" sz="1000" noProof="0" dirty="0">
                <a:solidFill>
                  <a:schemeClr val="bg1"/>
                </a:solidFill>
                <a:latin typeface="Cambria" panose="02040503050406030204" pitchFamily="18" charset="0"/>
                <a:ea typeface="Cambria" panose="02040503050406030204" pitchFamily="18" charset="0"/>
              </a:rPr>
              <a:t>Licence et utilisation :</a:t>
            </a:r>
          </a:p>
          <a:p>
            <a:pPr marL="114300" indent="0">
              <a:buNone/>
            </a:pPr>
            <a:r>
              <a:rPr lang="fr-FR" sz="1000" noProof="0" dirty="0">
                <a:solidFill>
                  <a:schemeClr val="bg1"/>
                </a:solidFill>
                <a:latin typeface="Cambria" panose="02040503050406030204" pitchFamily="18" charset="0"/>
                <a:ea typeface="Cambria" panose="02040503050406030204" pitchFamily="18" charset="0"/>
              </a:rPr>
              <a:t>Cet ensemble de données est publié à des fins éducatives et de recherche uniquement.</a:t>
            </a:r>
          </a:p>
          <a:p>
            <a:pPr marL="114300" indent="0">
              <a:buNone/>
            </a:pPr>
            <a:r>
              <a:rPr lang="fr-FR" sz="1000" noProof="0" dirty="0">
                <a:solidFill>
                  <a:schemeClr val="bg1"/>
                </a:solidFill>
                <a:latin typeface="Cambria" panose="02040503050406030204" pitchFamily="18" charset="0"/>
                <a:ea typeface="Cambria" panose="02040503050406030204" pitchFamily="18" charset="0"/>
              </a:rPr>
              <a:t>Il s’agit d’une version traitée de données raclées, avec des transformations pour respecter la vie privée et éviter la redistribution du contenu propriétaire brut.</a:t>
            </a:r>
          </a:p>
          <a:p>
            <a:pPr marL="114300" indent="0">
              <a:buNone/>
            </a:pPr>
            <a:r>
              <a:rPr lang="fr-FR" sz="1000" noProof="0" dirty="0">
                <a:solidFill>
                  <a:schemeClr val="bg1"/>
                </a:solidFill>
                <a:latin typeface="Cambria" panose="02040503050406030204" pitchFamily="18" charset="0"/>
                <a:ea typeface="Cambria" panose="02040503050406030204" pitchFamily="18" charset="0"/>
              </a:rPr>
              <a:t>Ne l'utilisez pas à des fins commerciales.</a:t>
            </a:r>
          </a:p>
          <a:p>
            <a:pPr marL="114300" indent="0">
              <a:buNone/>
            </a:pPr>
            <a:r>
              <a:rPr lang="fr-FR" sz="1000" noProof="0" dirty="0">
                <a:solidFill>
                  <a:schemeClr val="bg1"/>
                </a:solidFill>
                <a:latin typeface="Cambria" panose="02040503050406030204" pitchFamily="18" charset="0"/>
                <a:ea typeface="Cambria" panose="02040503050406030204" pitchFamily="18" charset="0"/>
              </a:rPr>
              <a:t>L'attribution est appréciée si elle est utilisée dans des projets académiques ou personnels.</a:t>
            </a:r>
          </a:p>
          <a:p>
            <a:endParaRPr lang="fr-FR" noProof="0" dirty="0"/>
          </a:p>
        </p:txBody>
      </p:sp>
      <p:sp>
        <p:nvSpPr>
          <p:cNvPr id="2" name="Shape 0">
            <a:extLst>
              <a:ext uri="{FF2B5EF4-FFF2-40B4-BE49-F238E27FC236}">
                <a16:creationId xmlns:a16="http://schemas.microsoft.com/office/drawing/2014/main" id="{AB2DBBB2-0054-B161-A744-D06F2F1E22AC}"/>
              </a:ext>
            </a:extLst>
          </p:cNvPr>
          <p:cNvSpPr/>
          <p:nvPr/>
        </p:nvSpPr>
        <p:spPr>
          <a:xfrm>
            <a:off x="3078768" y="612278"/>
            <a:ext cx="4754880" cy="4754880"/>
          </a:xfrm>
          <a:prstGeom prst="ellipse">
            <a:avLst/>
          </a:prstGeom>
          <a:solidFill>
            <a:srgbClr val="1FA8B8">
              <a:alpha val="13725"/>
            </a:srgbClr>
          </a:solidFill>
          <a:ln/>
        </p:spPr>
        <p:txBody>
          <a:bodyPr/>
          <a:lstStyle/>
          <a:p>
            <a:endParaRPr lang="fr-FR" noProof="0" dirty="0"/>
          </a:p>
        </p:txBody>
      </p:sp>
    </p:spTree>
    <p:extLst>
      <p:ext uri="{BB962C8B-B14F-4D97-AF65-F5344CB8AC3E}">
        <p14:creationId xmlns:p14="http://schemas.microsoft.com/office/powerpoint/2010/main" val="26532809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1162</TotalTime>
  <Words>2039</Words>
  <Application>Microsoft Office PowerPoint</Application>
  <PresentationFormat>Widescreen</PresentationFormat>
  <Paragraphs>219</Paragraphs>
  <Slides>13</Slides>
  <Notes>13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Auditeur de Cohérence Médicale</dc:title>
  <dc:subject>PptxGenJS Presentation</dc:subject>
  <dc:creator>Auditeur de Cohérence Médicale</dc:creator>
  <cp:lastModifiedBy>Aicha FATHELLAH</cp:lastModifiedBy>
  <cp:revision>118</cp:revision>
  <dcterms:created xsi:type="dcterms:W3CDTF">2026-06-11T21:05:50Z</dcterms:created>
  <dcterms:modified xsi:type="dcterms:W3CDTF">2026-10-24T17:42:12Z</dcterms:modified>
</cp:coreProperties>
</file>