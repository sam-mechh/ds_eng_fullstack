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72" r:id="rId3"/>
    <p:sldId id="273" r:id="rId4"/>
    <p:sldId id="258" r:id="rId5"/>
    <p:sldId id="260" r:id="rId6"/>
    <p:sldId id="269"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10-25T09:44:49.720"/>
    <p1510:client id="{151BDDD4-5973-B48F-6D69-DEEA68F4FA48}" v="1458" dt="2026-10-25T12:23:41.3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2412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D628E-9573-DA54-F51E-2F81B4D52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872D0-0754-997E-B0B9-46716C498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08DBF4-F533-ADE3-8472-436E5D4D3E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D5BBD1-3C56-04AE-C81F-144F1CA70BA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61654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83B68-D06D-B97C-86E3-8D8B17586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72369-8E7E-262A-F637-55EDB35FE4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AD0F2-3D98-EFBC-C578-6F7CB171A2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F90E05-8E22-CA06-9171-DEBD47C6550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359779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3" name="Shape 1"/>
          <p:cNvSpPr/>
          <p:nvPr/>
        </p:nvSpPr>
        <p:spPr>
          <a:xfrm>
            <a:off x="6516406" y="22860"/>
            <a:ext cx="2553789" cy="2583180"/>
          </a:xfrm>
          <a:prstGeom prst="ellipse">
            <a:avLst/>
          </a:prstGeom>
          <a:solidFill>
            <a:srgbClr val="065A82">
              <a:alpha val="45000"/>
            </a:srgbClr>
          </a:solidFill>
          <a:ln w="12700">
            <a:solidFill>
              <a:srgbClr val="065A82">
                <a:alpha val="45000"/>
              </a:srgbClr>
            </a:solidFill>
            <a:prstDash val="solid"/>
          </a:ln>
        </p:spPr>
        <p:txBody>
          <a:bodyPr/>
          <a:lstStyle/>
          <a:p>
            <a:endParaRPr lang="fr-FR"/>
          </a:p>
        </p:txBody>
      </p:sp>
      <p:sp>
        <p:nvSpPr>
          <p:cNvPr id="4" name="Shape 2"/>
          <p:cNvSpPr/>
          <p:nvPr/>
        </p:nvSpPr>
        <p:spPr>
          <a:xfrm>
            <a:off x="6027202" y="178308"/>
            <a:ext cx="2011680" cy="2011680"/>
          </a:xfrm>
          <a:prstGeom prst="ellipse">
            <a:avLst/>
          </a:prstGeom>
          <a:solidFill>
            <a:srgbClr val="1C7293">
              <a:alpha val="55000"/>
            </a:srgbClr>
          </a:solidFill>
          <a:ln w="12700">
            <a:solidFill>
              <a:srgbClr val="1C7293">
                <a:alpha val="55000"/>
              </a:srgbClr>
            </a:solidFill>
            <a:prstDash val="solid"/>
          </a:ln>
        </p:spPr>
        <p:txBody>
          <a:bodyPr/>
          <a:lstStyle/>
          <a:p>
            <a:endParaRPr lang="fr-FR"/>
          </a:p>
        </p:txBody>
      </p:sp>
      <p:sp>
        <p:nvSpPr>
          <p:cNvPr id="6" name="Text 3"/>
          <p:cNvSpPr/>
          <p:nvPr/>
        </p:nvSpPr>
        <p:spPr>
          <a:xfrm>
            <a:off x="457200" y="722376"/>
            <a:ext cx="7315200" cy="8686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Plan your trip with</a:t>
            </a:r>
            <a:endParaRPr lang="en-US" sz="3400" dirty="0"/>
          </a:p>
        </p:txBody>
      </p:sp>
      <p:sp>
        <p:nvSpPr>
          <p:cNvPr id="7" name="Text 4"/>
          <p:cNvSpPr/>
          <p:nvPr/>
        </p:nvSpPr>
        <p:spPr>
          <a:xfrm>
            <a:off x="457200" y="1920240"/>
            <a:ext cx="6583680" cy="731520"/>
          </a:xfrm>
          <a:prstGeom prst="rect">
            <a:avLst/>
          </a:prstGeom>
          <a:noFill/>
          <a:ln/>
        </p:spPr>
        <p:txBody>
          <a:bodyPr wrap="square" lIns="0" tIns="0" rIns="0" bIns="0" rtlCol="0" anchor="ctr"/>
          <a:lstStyle/>
          <a:p>
            <a:pPr marL="0" indent="0">
              <a:lnSpc>
                <a:spcPct val="140000"/>
              </a:lnSpc>
              <a:buNone/>
            </a:pPr>
            <a:r>
              <a:rPr lang="en-US" sz="1300" i="1" dirty="0" err="1">
                <a:solidFill>
                  <a:srgbClr val="9E9E9E"/>
                </a:solidFill>
                <a:latin typeface="Calibri"/>
                <a:ea typeface="Calibri"/>
                <a:cs typeface="Calibri"/>
              </a:rPr>
              <a:t>Construire</a:t>
            </a:r>
            <a:r>
              <a:rPr lang="en-US" sz="1300" i="1" dirty="0">
                <a:solidFill>
                  <a:srgbClr val="9E9E9E"/>
                </a:solidFill>
                <a:latin typeface="Calibri"/>
                <a:ea typeface="Calibri"/>
                <a:cs typeface="Calibri"/>
              </a:rPr>
              <a:t> un pipeline pour </a:t>
            </a:r>
            <a:r>
              <a:rPr lang="en-US" sz="1300" i="1" dirty="0" err="1">
                <a:solidFill>
                  <a:srgbClr val="9E9E9E"/>
                </a:solidFill>
                <a:latin typeface="Calibri"/>
                <a:ea typeface="Calibri"/>
                <a:cs typeface="Calibri"/>
              </a:rPr>
              <a:t>recommander</a:t>
            </a:r>
            <a:r>
              <a:rPr lang="en-US" sz="1300" i="1" dirty="0">
                <a:solidFill>
                  <a:srgbClr val="9E9E9E"/>
                </a:solidFill>
                <a:latin typeface="Calibri"/>
                <a:ea typeface="Calibri"/>
                <a:cs typeface="Calibri"/>
              </a:rPr>
              <a:t> </a:t>
            </a:r>
            <a:r>
              <a:rPr lang="en-US" sz="1300" i="1" dirty="0" err="1">
                <a:solidFill>
                  <a:srgbClr val="9E9E9E"/>
                </a:solidFill>
                <a:latin typeface="Calibri"/>
                <a:ea typeface="Calibri"/>
                <a:cs typeface="Calibri"/>
              </a:rPr>
              <a:t>automatiquement</a:t>
            </a:r>
            <a:r>
              <a:rPr lang="en-US" sz="1300" i="1" dirty="0">
                <a:solidFill>
                  <a:srgbClr val="9E9E9E"/>
                </a:solidFill>
                <a:latin typeface="Calibri"/>
                <a:ea typeface="Calibri"/>
                <a:cs typeface="Calibri"/>
              </a:rPr>
              <a:t> les </a:t>
            </a:r>
            <a:r>
              <a:rPr lang="en-US" sz="1300" i="1" dirty="0" err="1">
                <a:solidFill>
                  <a:srgbClr val="9E9E9E"/>
                </a:solidFill>
                <a:latin typeface="Calibri"/>
                <a:ea typeface="Calibri"/>
                <a:cs typeface="Calibri"/>
              </a:rPr>
              <a:t>meilleures</a:t>
            </a:r>
            <a:r>
              <a:rPr lang="en-US" sz="1300" i="1" dirty="0">
                <a:solidFill>
                  <a:srgbClr val="9E9E9E"/>
                </a:solidFill>
                <a:latin typeface="Calibri"/>
                <a:ea typeface="Calibri"/>
                <a:cs typeface="Calibri"/>
              </a:rPr>
              <a:t> destinations de </a:t>
            </a:r>
            <a:r>
              <a:rPr lang="en-US" sz="1300" i="1" dirty="0" err="1">
                <a:solidFill>
                  <a:srgbClr val="9E9E9E"/>
                </a:solidFill>
                <a:latin typeface="Calibri"/>
                <a:ea typeface="Calibri"/>
                <a:cs typeface="Calibri"/>
              </a:rPr>
              <a:t>vacances</a:t>
            </a:r>
            <a:r>
              <a:rPr lang="en-US" sz="1300" i="1" dirty="0">
                <a:solidFill>
                  <a:srgbClr val="9E9E9E"/>
                </a:solidFill>
                <a:latin typeface="Calibri"/>
                <a:ea typeface="Calibri"/>
                <a:cs typeface="Calibri"/>
              </a:rPr>
              <a:t> </a:t>
            </a:r>
            <a:r>
              <a:rPr lang="en-US" sz="1300" i="1" dirty="0" err="1">
                <a:solidFill>
                  <a:srgbClr val="9E9E9E"/>
                </a:solidFill>
                <a:latin typeface="Calibri"/>
                <a:ea typeface="Calibri"/>
                <a:cs typeface="Calibri"/>
              </a:rPr>
              <a:t>en</a:t>
            </a:r>
            <a:r>
              <a:rPr lang="en-US" sz="1300" i="1" dirty="0">
                <a:solidFill>
                  <a:srgbClr val="9E9E9E"/>
                </a:solidFill>
                <a:latin typeface="Calibri"/>
                <a:ea typeface="Calibri"/>
                <a:cs typeface="Calibri"/>
              </a:rPr>
              <a:t> France.</a:t>
            </a:r>
            <a:endParaRPr lang="en-US" sz="1300" dirty="0">
              <a:latin typeface="Calibri"/>
              <a:ea typeface="Calibri"/>
              <a:cs typeface="Calibri"/>
            </a:endParaRPr>
          </a:p>
        </p:txBody>
      </p:sp>
      <p:sp>
        <p:nvSpPr>
          <p:cNvPr id="8" name="Shape 5"/>
          <p:cNvSpPr/>
          <p:nvPr/>
        </p:nvSpPr>
        <p:spPr>
          <a:xfrm>
            <a:off x="457200" y="2743200"/>
            <a:ext cx="4114800" cy="36576"/>
          </a:xfrm>
          <a:prstGeom prst="rect">
            <a:avLst/>
          </a:prstGeom>
          <a:solidFill>
            <a:srgbClr val="02C39A"/>
          </a:solidFill>
          <a:ln w="12700">
            <a:solidFill>
              <a:srgbClr val="02C39A"/>
            </a:solidFill>
            <a:prstDash val="solid"/>
          </a:ln>
        </p:spPr>
        <p:txBody>
          <a:bodyPr/>
          <a:lstStyle/>
          <a:p>
            <a:endParaRPr lang="fr-FR"/>
          </a:p>
        </p:txBody>
      </p:sp>
      <p:sp>
        <p:nvSpPr>
          <p:cNvPr id="9" name="Shape 6"/>
          <p:cNvSpPr/>
          <p:nvPr/>
        </p:nvSpPr>
        <p:spPr>
          <a:xfrm>
            <a:off x="457200" y="2834640"/>
            <a:ext cx="1280160" cy="1280160"/>
          </a:xfrm>
          <a:prstGeom prst="ellipse">
            <a:avLst/>
          </a:prstGeom>
          <a:solidFill>
            <a:srgbClr val="065A82"/>
          </a:solidFill>
          <a:ln w="12700">
            <a:solidFill>
              <a:srgbClr val="065A82"/>
            </a:solidFill>
            <a:prstDash val="solid"/>
          </a:ln>
        </p:spPr>
        <p:txBody>
          <a:bodyPr/>
          <a:lstStyle/>
          <a:p>
            <a:endParaRPr lang="fr-FR"/>
          </a:p>
        </p:txBody>
      </p:sp>
      <p:sp>
        <p:nvSpPr>
          <p:cNvPr id="10" name="Text 7"/>
          <p:cNvSpPr/>
          <p:nvPr/>
        </p:nvSpPr>
        <p:spPr>
          <a:xfrm>
            <a:off x="457200" y="2926080"/>
            <a:ext cx="1280160" cy="685800"/>
          </a:xfrm>
          <a:prstGeom prst="rect">
            <a:avLst/>
          </a:prstGeom>
          <a:noFill/>
          <a:ln/>
        </p:spPr>
        <p:txBody>
          <a:bodyPr wrap="square" lIns="0" tIns="0" rIns="0" bIns="0" rtlCol="0" anchor="ctr"/>
          <a:lstStyle/>
          <a:p>
            <a:pPr marL="0" indent="0" algn="ctr">
              <a:buNone/>
            </a:pPr>
            <a:r>
              <a:rPr lang="en-US" sz="2200" b="1" dirty="0">
                <a:solidFill>
                  <a:srgbClr val="02C39A"/>
                </a:solidFill>
                <a:latin typeface="Calibri" pitchFamily="34" charset="0"/>
                <a:ea typeface="Calibri" pitchFamily="34" charset="-122"/>
                <a:cs typeface="Calibri" pitchFamily="34" charset="-120"/>
              </a:rPr>
              <a:t>70 %</a:t>
            </a:r>
            <a:endParaRPr lang="en-US" sz="2200" dirty="0"/>
          </a:p>
        </p:txBody>
      </p:sp>
      <p:sp>
        <p:nvSpPr>
          <p:cNvPr id="11" name="Text 8"/>
          <p:cNvSpPr/>
          <p:nvPr/>
        </p:nvSpPr>
        <p:spPr>
          <a:xfrm>
            <a:off x="457200" y="3566160"/>
            <a:ext cx="1280160" cy="411480"/>
          </a:xfrm>
          <a:prstGeom prst="rect">
            <a:avLst/>
          </a:prstGeom>
          <a:noFill/>
          <a:ln/>
        </p:spPr>
        <p:txBody>
          <a:bodyPr wrap="square" lIns="0" tIns="0" rIns="0" bIns="0" rtlCol="0" anchor="ctr"/>
          <a:lstStyle/>
          <a:p>
            <a:pPr marL="0" indent="0" algn="ctr">
              <a:buNone/>
            </a:pPr>
            <a:r>
              <a:rPr lang="en-US" sz="850" dirty="0">
                <a:solidFill>
                  <a:schemeClr val="bg1"/>
                </a:solidFill>
                <a:latin typeface="Calibri" pitchFamily="34" charset="0"/>
                <a:ea typeface="Calibri" pitchFamily="34" charset="-122"/>
                <a:cs typeface="Calibri" pitchFamily="34" charset="-120"/>
              </a:rPr>
              <a:t>des utilisateurs</a:t>
            </a:r>
            <a:endParaRPr lang="en-US" sz="850" dirty="0">
              <a:solidFill>
                <a:schemeClr val="bg1"/>
              </a:solidFill>
            </a:endParaRPr>
          </a:p>
          <a:p>
            <a:pPr marL="0" indent="0" algn="ctr">
              <a:buNone/>
            </a:pPr>
            <a:r>
              <a:rPr lang="en-US" sz="850" dirty="0">
                <a:solidFill>
                  <a:schemeClr val="bg1"/>
                </a:solidFill>
                <a:latin typeface="Calibri" pitchFamily="34" charset="0"/>
                <a:ea typeface="Calibri" pitchFamily="34" charset="-122"/>
                <a:cs typeface="Calibri" pitchFamily="34" charset="-120"/>
              </a:rPr>
              <a:t>Kayak</a:t>
            </a:r>
            <a:endParaRPr lang="en-US" sz="850" dirty="0">
              <a:solidFill>
                <a:schemeClr val="bg1"/>
              </a:solidFill>
            </a:endParaRPr>
          </a:p>
        </p:txBody>
      </p:sp>
      <p:sp>
        <p:nvSpPr>
          <p:cNvPr id="12" name="Text 9"/>
          <p:cNvSpPr/>
          <p:nvPr/>
        </p:nvSpPr>
        <p:spPr>
          <a:xfrm>
            <a:off x="1920240" y="2852928"/>
            <a:ext cx="2926080" cy="1097280"/>
          </a:xfrm>
          <a:prstGeom prst="rect">
            <a:avLst/>
          </a:prstGeom>
          <a:noFill/>
          <a:ln/>
        </p:spPr>
        <p:txBody>
          <a:bodyPr wrap="square" lIns="0" tIns="0" rIns="0" bIns="0" rtlCol="0" anchor="ctr"/>
          <a:lstStyle/>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souhaitent plus d'informations sur leur destination avant de réserver. </a:t>
            </a:r>
          </a:p>
          <a:p>
            <a:pPr marL="0" indent="0">
              <a:lnSpc>
                <a:spcPct val="140000"/>
              </a:lnSpc>
              <a:buNone/>
            </a:pPr>
            <a:r>
              <a:rPr lang="en-US" sz="1050" dirty="0">
                <a:solidFill>
                  <a:srgbClr val="FFFFFF"/>
                </a:solidFill>
                <a:latin typeface="Calibri" pitchFamily="34" charset="0"/>
                <a:ea typeface="Calibri" pitchFamily="34" charset="-122"/>
                <a:cs typeface="Calibri" pitchFamily="34" charset="-120"/>
              </a:rPr>
              <a:t>Kayak n'a pas encore d'outil de recommandation basé sur des données réelles.</a:t>
            </a:r>
            <a:endParaRPr lang="en-US" sz="1050" dirty="0"/>
          </a:p>
        </p:txBody>
      </p:sp>
      <p:sp>
        <p:nvSpPr>
          <p:cNvPr id="13" name="Shape 10"/>
          <p:cNvSpPr/>
          <p:nvPr/>
        </p:nvSpPr>
        <p:spPr>
          <a:xfrm>
            <a:off x="5318760" y="3314700"/>
            <a:ext cx="1627632" cy="347472"/>
          </a:xfrm>
          <a:prstGeom prst="rect">
            <a:avLst/>
          </a:prstGeom>
          <a:solidFill>
            <a:srgbClr val="1C7293">
              <a:alpha val="75000"/>
            </a:srgbClr>
          </a:solidFill>
          <a:ln w="12700">
            <a:solidFill>
              <a:srgbClr val="02C39A"/>
            </a:solidFill>
            <a:prstDash val="solid"/>
          </a:ln>
        </p:spPr>
        <p:txBody>
          <a:bodyPr/>
          <a:lstStyle/>
          <a:p>
            <a:endParaRPr lang="fr-FR"/>
          </a:p>
        </p:txBody>
      </p:sp>
      <p:sp>
        <p:nvSpPr>
          <p:cNvPr id="14" name="Text 11"/>
          <p:cNvSpPr/>
          <p:nvPr/>
        </p:nvSpPr>
        <p:spPr>
          <a:xfrm>
            <a:off x="5318760" y="3314700"/>
            <a:ext cx="1627632" cy="34747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Python</a:t>
            </a:r>
            <a:endParaRPr lang="en-US" sz="850" dirty="0"/>
          </a:p>
        </p:txBody>
      </p:sp>
      <p:sp>
        <p:nvSpPr>
          <p:cNvPr id="15" name="Shape 12"/>
          <p:cNvSpPr/>
          <p:nvPr/>
        </p:nvSpPr>
        <p:spPr>
          <a:xfrm>
            <a:off x="7101840" y="3314700"/>
            <a:ext cx="1627632" cy="347472"/>
          </a:xfrm>
          <a:prstGeom prst="rect">
            <a:avLst/>
          </a:prstGeom>
          <a:solidFill>
            <a:srgbClr val="1C7293">
              <a:alpha val="75000"/>
            </a:srgbClr>
          </a:solidFill>
          <a:ln w="12700">
            <a:solidFill>
              <a:srgbClr val="02C39A"/>
            </a:solidFill>
            <a:prstDash val="solid"/>
          </a:ln>
        </p:spPr>
        <p:txBody>
          <a:bodyPr/>
          <a:lstStyle/>
          <a:p>
            <a:endParaRPr lang="fr-FR"/>
          </a:p>
        </p:txBody>
      </p:sp>
      <p:sp>
        <p:nvSpPr>
          <p:cNvPr id="16" name="Text 13"/>
          <p:cNvSpPr/>
          <p:nvPr/>
        </p:nvSpPr>
        <p:spPr>
          <a:xfrm>
            <a:off x="7101840" y="3314700"/>
            <a:ext cx="1627632" cy="34747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Selenium</a:t>
            </a:r>
            <a:endParaRPr lang="en-US" sz="850" dirty="0"/>
          </a:p>
        </p:txBody>
      </p:sp>
      <p:sp>
        <p:nvSpPr>
          <p:cNvPr id="17" name="Shape 14"/>
          <p:cNvSpPr/>
          <p:nvPr/>
        </p:nvSpPr>
        <p:spPr>
          <a:xfrm>
            <a:off x="5318760" y="3790188"/>
            <a:ext cx="1627632" cy="347472"/>
          </a:xfrm>
          <a:prstGeom prst="rect">
            <a:avLst/>
          </a:prstGeom>
          <a:solidFill>
            <a:srgbClr val="1C7293">
              <a:alpha val="75000"/>
            </a:srgbClr>
          </a:solidFill>
          <a:ln w="12700">
            <a:solidFill>
              <a:srgbClr val="02C39A"/>
            </a:solidFill>
            <a:prstDash val="solid"/>
          </a:ln>
        </p:spPr>
        <p:txBody>
          <a:bodyPr/>
          <a:lstStyle/>
          <a:p>
            <a:endParaRPr lang="fr-FR"/>
          </a:p>
        </p:txBody>
      </p:sp>
      <p:sp>
        <p:nvSpPr>
          <p:cNvPr id="18" name="Text 15"/>
          <p:cNvSpPr/>
          <p:nvPr/>
        </p:nvSpPr>
        <p:spPr>
          <a:xfrm>
            <a:off x="5318760" y="3790188"/>
            <a:ext cx="1627632" cy="347472"/>
          </a:xfrm>
          <a:prstGeom prst="rect">
            <a:avLst/>
          </a:prstGeom>
          <a:noFill/>
          <a:ln/>
        </p:spPr>
        <p:txBody>
          <a:bodyPr wrap="square" lIns="0" tIns="0" rIns="0" bIns="0" rtlCol="0" anchor="ctr"/>
          <a:lstStyle/>
          <a:p>
            <a:pPr marL="0" indent="0" algn="ctr">
              <a:buNone/>
            </a:pPr>
            <a:r>
              <a:rPr lang="en-US" sz="850">
                <a:solidFill>
                  <a:srgbClr val="FFFFFF"/>
                </a:solidFill>
                <a:latin typeface="Calibri"/>
                <a:ea typeface="Calibri"/>
                <a:cs typeface="Calibri"/>
              </a:rPr>
              <a:t>APIs</a:t>
            </a:r>
            <a:endParaRPr lang="fr-FR"/>
          </a:p>
        </p:txBody>
      </p:sp>
      <p:sp>
        <p:nvSpPr>
          <p:cNvPr id="19" name="Shape 16"/>
          <p:cNvSpPr/>
          <p:nvPr/>
        </p:nvSpPr>
        <p:spPr>
          <a:xfrm>
            <a:off x="7101840" y="3790188"/>
            <a:ext cx="1627632" cy="347472"/>
          </a:xfrm>
          <a:prstGeom prst="rect">
            <a:avLst/>
          </a:prstGeom>
          <a:solidFill>
            <a:srgbClr val="1C7293">
              <a:alpha val="75000"/>
            </a:srgbClr>
          </a:solidFill>
          <a:ln w="12700">
            <a:solidFill>
              <a:srgbClr val="02C39A"/>
            </a:solidFill>
            <a:prstDash val="solid"/>
          </a:ln>
        </p:spPr>
        <p:txBody>
          <a:bodyPr/>
          <a:lstStyle/>
          <a:p>
            <a:endParaRPr lang="fr-FR"/>
          </a:p>
        </p:txBody>
      </p:sp>
      <p:sp>
        <p:nvSpPr>
          <p:cNvPr id="20" name="Text 17"/>
          <p:cNvSpPr/>
          <p:nvPr/>
        </p:nvSpPr>
        <p:spPr>
          <a:xfrm>
            <a:off x="7101840" y="3790188"/>
            <a:ext cx="1627632" cy="34747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Pandas</a:t>
            </a:r>
            <a:endParaRPr lang="en-US" sz="850" dirty="0"/>
          </a:p>
        </p:txBody>
      </p:sp>
      <p:sp>
        <p:nvSpPr>
          <p:cNvPr id="21" name="Shape 18"/>
          <p:cNvSpPr/>
          <p:nvPr/>
        </p:nvSpPr>
        <p:spPr>
          <a:xfrm>
            <a:off x="5318760" y="4265676"/>
            <a:ext cx="1627632" cy="347472"/>
          </a:xfrm>
          <a:prstGeom prst="rect">
            <a:avLst/>
          </a:prstGeom>
          <a:solidFill>
            <a:srgbClr val="1C7293">
              <a:alpha val="75000"/>
            </a:srgbClr>
          </a:solidFill>
          <a:ln w="12700">
            <a:solidFill>
              <a:srgbClr val="02C39A"/>
            </a:solidFill>
            <a:prstDash val="solid"/>
          </a:ln>
        </p:spPr>
        <p:txBody>
          <a:bodyPr/>
          <a:lstStyle/>
          <a:p>
            <a:endParaRPr lang="fr-FR"/>
          </a:p>
        </p:txBody>
      </p:sp>
      <p:sp>
        <p:nvSpPr>
          <p:cNvPr id="22" name="Text 19"/>
          <p:cNvSpPr/>
          <p:nvPr/>
        </p:nvSpPr>
        <p:spPr>
          <a:xfrm>
            <a:off x="5318760" y="4265676"/>
            <a:ext cx="1627632" cy="347472"/>
          </a:xfrm>
          <a:prstGeom prst="rect">
            <a:avLst/>
          </a:prstGeom>
          <a:noFill/>
          <a:ln/>
        </p:spPr>
        <p:txBody>
          <a:bodyPr wrap="square" lIns="0" tIns="0" rIns="0" bIns="0" rtlCol="0" anchor="ctr"/>
          <a:lstStyle/>
          <a:p>
            <a:pPr algn="ctr"/>
            <a:r>
              <a:rPr lang="en-US" sz="850" dirty="0">
                <a:solidFill>
                  <a:srgbClr val="FFFFFF"/>
                </a:solidFill>
                <a:latin typeface="Calibri"/>
                <a:ea typeface="Calibri"/>
                <a:cs typeface="Calibri"/>
              </a:rPr>
              <a:t>AWS S3, Redsh</a:t>
            </a:r>
            <a:r>
              <a:rPr lang="en-US" sz="850">
                <a:solidFill>
                  <a:srgbClr val="FFFFFF"/>
                </a:solidFill>
                <a:latin typeface="Calibri"/>
                <a:ea typeface="Calibri"/>
                <a:cs typeface="Calibri"/>
              </a:rPr>
              <a:t>ift</a:t>
            </a:r>
            <a:endParaRPr lang="fr-FR"/>
          </a:p>
        </p:txBody>
      </p:sp>
      <p:sp>
        <p:nvSpPr>
          <p:cNvPr id="23" name="Shape 20"/>
          <p:cNvSpPr/>
          <p:nvPr/>
        </p:nvSpPr>
        <p:spPr>
          <a:xfrm>
            <a:off x="7101840" y="4265676"/>
            <a:ext cx="1627632" cy="347472"/>
          </a:xfrm>
          <a:prstGeom prst="rect">
            <a:avLst/>
          </a:prstGeom>
          <a:solidFill>
            <a:srgbClr val="1C7293">
              <a:alpha val="75000"/>
            </a:srgbClr>
          </a:solidFill>
          <a:ln w="12700">
            <a:solidFill>
              <a:srgbClr val="02C39A"/>
            </a:solidFill>
            <a:prstDash val="solid"/>
          </a:ln>
        </p:spPr>
        <p:txBody>
          <a:bodyPr/>
          <a:lstStyle/>
          <a:p>
            <a:endParaRPr lang="fr-FR"/>
          </a:p>
        </p:txBody>
      </p:sp>
      <p:sp>
        <p:nvSpPr>
          <p:cNvPr id="24" name="Text 21"/>
          <p:cNvSpPr/>
          <p:nvPr/>
        </p:nvSpPr>
        <p:spPr>
          <a:xfrm>
            <a:off x="7101840" y="4265676"/>
            <a:ext cx="1627632" cy="347472"/>
          </a:xfrm>
          <a:prstGeom prst="rect">
            <a:avLst/>
          </a:prstGeom>
          <a:noFill/>
          <a:ln/>
        </p:spPr>
        <p:txBody>
          <a:bodyPr wrap="square" lIns="0" tIns="0" rIns="0" bIns="0" rtlCol="0" anchor="ctr"/>
          <a:lstStyle/>
          <a:p>
            <a:pPr marL="0" indent="0" algn="ctr">
              <a:buNone/>
            </a:pPr>
            <a:r>
              <a:rPr lang="en-US" sz="850" dirty="0" err="1">
                <a:solidFill>
                  <a:srgbClr val="FFFFFF"/>
                </a:solidFill>
                <a:latin typeface="Calibri"/>
                <a:ea typeface="Calibri"/>
                <a:cs typeface="Calibri"/>
              </a:rPr>
              <a:t>SQLAlchemy</a:t>
            </a:r>
            <a:endParaRPr lang="en-US" sz="850" dirty="0" err="1"/>
          </a:p>
        </p:txBody>
      </p:sp>
      <p:sp>
        <p:nvSpPr>
          <p:cNvPr id="25" name="Text 22"/>
          <p:cNvSpPr/>
          <p:nvPr/>
        </p:nvSpPr>
        <p:spPr>
          <a:xfrm>
            <a:off x="510540" y="4564380"/>
            <a:ext cx="8229600" cy="342900"/>
          </a:xfrm>
          <a:prstGeom prst="rect">
            <a:avLst/>
          </a:prstGeom>
          <a:noFill/>
          <a:ln/>
        </p:spPr>
        <p:txBody>
          <a:bodyPr wrap="square" lIns="0" tIns="0" rIns="0" bIns="0" rtlCol="0" anchor="ctr"/>
          <a:lstStyle/>
          <a:p>
            <a:r>
              <a:rPr lang="en-US" sz="1100" b="1">
                <a:solidFill>
                  <a:srgbClr val="808080"/>
                </a:solidFill>
                <a:latin typeface="Calibri"/>
                <a:ea typeface="Calibri"/>
                <a:cs typeface="Calibri"/>
              </a:rPr>
              <a:t>Samer MECHHOUD</a:t>
            </a:r>
            <a:endParaRPr lang="en-US" sz="1100" dirty="0"/>
          </a:p>
        </p:txBody>
      </p:sp>
      <p:pic>
        <p:nvPicPr>
          <p:cNvPr id="27" name="Image 26">
            <a:extLst>
              <a:ext uri="{FF2B5EF4-FFF2-40B4-BE49-F238E27FC236}">
                <a16:creationId xmlns:a16="http://schemas.microsoft.com/office/drawing/2014/main" id="{F1B1A4C8-B164-478C-0D48-588DDD01C2B0}"/>
              </a:ext>
            </a:extLst>
          </p:cNvPr>
          <p:cNvPicPr>
            <a:picLocks noChangeAspect="1"/>
          </p:cNvPicPr>
          <p:nvPr/>
        </p:nvPicPr>
        <p:blipFill>
          <a:blip r:embed="rId3"/>
          <a:stretch>
            <a:fillRect/>
          </a:stretch>
        </p:blipFill>
        <p:spPr>
          <a:xfrm>
            <a:off x="3954350" y="1010412"/>
            <a:ext cx="1342639" cy="3046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DDC83DE1-76CA-0329-FA54-7EDDD655228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4779E4-6232-D949-3F51-EEC6FF2DCFF7}"/>
              </a:ext>
            </a:extLst>
          </p:cNvPr>
          <p:cNvSpPr/>
          <p:nvPr/>
        </p:nvSpPr>
        <p:spPr>
          <a:xfrm>
            <a:off x="0" y="0"/>
            <a:ext cx="9144000" cy="822960"/>
          </a:xfrm>
          <a:prstGeom prst="rect">
            <a:avLst/>
          </a:prstGeom>
          <a:solidFill>
            <a:srgbClr val="065A82"/>
          </a:solidFill>
          <a:ln w="12700">
            <a:solidFill>
              <a:srgbClr val="065A82"/>
            </a:solidFill>
            <a:prstDash val="solid"/>
          </a:ln>
        </p:spPr>
        <p:txBody>
          <a:bodyPr/>
          <a:lstStyle/>
          <a:p>
            <a:endParaRPr lang="fr-FR"/>
          </a:p>
        </p:txBody>
      </p:sp>
      <p:sp>
        <p:nvSpPr>
          <p:cNvPr id="5" name="Text 3">
            <a:extLst>
              <a:ext uri="{FF2B5EF4-FFF2-40B4-BE49-F238E27FC236}">
                <a16:creationId xmlns:a16="http://schemas.microsoft.com/office/drawing/2014/main" id="{F1E2F9AE-F088-FA30-221D-170F882B2566}"/>
              </a:ext>
            </a:extLst>
          </p:cNvPr>
          <p:cNvSpPr/>
          <p:nvPr/>
        </p:nvSpPr>
        <p:spPr>
          <a:xfrm>
            <a:off x="960120" y="0"/>
            <a:ext cx="7955280" cy="822960"/>
          </a:xfrm>
          <a:prstGeom prst="rect">
            <a:avLst/>
          </a:prstGeom>
          <a:noFill/>
          <a:ln/>
        </p:spPr>
        <p:txBody>
          <a:bodyPr wrap="square" lIns="0" tIns="0" rIns="0" bIns="0" rtlCol="0" anchor="ctr"/>
          <a:lstStyle/>
          <a:p>
            <a:r>
              <a:rPr lang="en-US" sz="2200" b="1" dirty="0" err="1">
                <a:solidFill>
                  <a:srgbClr val="FFFFFF"/>
                </a:solidFill>
                <a:latin typeface="Calibri"/>
                <a:ea typeface="Calibri"/>
                <a:cs typeface="Calibri"/>
              </a:rPr>
              <a:t>Collecte</a:t>
            </a:r>
            <a:r>
              <a:rPr lang="en-US" sz="2200" b="1" dirty="0">
                <a:solidFill>
                  <a:srgbClr val="FFFFFF"/>
                </a:solidFill>
                <a:latin typeface="Calibri"/>
                <a:ea typeface="Calibri"/>
                <a:cs typeface="Calibri"/>
              </a:rPr>
              <a:t> de données</a:t>
            </a:r>
            <a:endParaRPr lang="fr-FR" dirty="0"/>
          </a:p>
        </p:txBody>
      </p:sp>
      <p:sp>
        <p:nvSpPr>
          <p:cNvPr id="7" name="Shape 4">
            <a:extLst>
              <a:ext uri="{FF2B5EF4-FFF2-40B4-BE49-F238E27FC236}">
                <a16:creationId xmlns:a16="http://schemas.microsoft.com/office/drawing/2014/main" id="{B023FAEF-18E2-3784-27D9-C910FDF089EC}"/>
              </a:ext>
            </a:extLst>
          </p:cNvPr>
          <p:cNvSpPr/>
          <p:nvPr/>
        </p:nvSpPr>
        <p:spPr>
          <a:xfrm>
            <a:off x="5859780" y="2465832"/>
            <a:ext cx="3063240" cy="2110740"/>
          </a:xfrm>
          <a:prstGeom prst="rect">
            <a:avLst/>
          </a:prstGeom>
          <a:solidFill>
            <a:srgbClr val="E8F4F8"/>
          </a:solidFill>
          <a:ln w="12700">
            <a:solidFill>
              <a:srgbClr val="1C7293"/>
            </a:solidFill>
            <a:prstDash val="solid"/>
          </a:ln>
          <a:effectLst>
            <a:outerShdw blurRad="76200" dist="25400" dir="8100000" algn="bl" rotWithShape="0">
              <a:srgbClr val="000000">
                <a:alpha val="10000"/>
              </a:srgbClr>
            </a:outerShdw>
          </a:effectLst>
        </p:spPr>
        <p:txBody>
          <a:bodyPr/>
          <a:lstStyle/>
          <a:p>
            <a:endParaRPr lang="fr-FR"/>
          </a:p>
        </p:txBody>
      </p:sp>
      <p:sp>
        <p:nvSpPr>
          <p:cNvPr id="8" name="Text 5">
            <a:extLst>
              <a:ext uri="{FF2B5EF4-FFF2-40B4-BE49-F238E27FC236}">
                <a16:creationId xmlns:a16="http://schemas.microsoft.com/office/drawing/2014/main" id="{F8429811-CDF0-CFA3-A743-AA8654BB845A}"/>
              </a:ext>
            </a:extLst>
          </p:cNvPr>
          <p:cNvSpPr/>
          <p:nvPr/>
        </p:nvSpPr>
        <p:spPr>
          <a:xfrm>
            <a:off x="5996940" y="2529840"/>
            <a:ext cx="2743200" cy="347472"/>
          </a:xfrm>
          <a:prstGeom prst="rect">
            <a:avLst/>
          </a:prstGeom>
          <a:noFill/>
          <a:ln/>
        </p:spPr>
        <p:txBody>
          <a:bodyPr wrap="square" lIns="0" tIns="0" rIns="0" bIns="0" rtlCol="0" anchor="ctr"/>
          <a:lstStyle/>
          <a:p>
            <a:pPr marL="0" indent="0">
              <a:buNone/>
            </a:pPr>
            <a:r>
              <a:rPr lang="en-US" sz="1200" b="1" dirty="0">
                <a:solidFill>
                  <a:srgbClr val="065A82"/>
                </a:solidFill>
                <a:latin typeface="Calibri"/>
                <a:ea typeface="Calibri"/>
                <a:cs typeface="Calibri"/>
              </a:rPr>
              <a:t>Données collectées</a:t>
            </a:r>
            <a:endParaRPr lang="en-US" sz="1200">
              <a:solidFill>
                <a:srgbClr val="065A82"/>
              </a:solidFill>
              <a:latin typeface="Calibri"/>
              <a:ea typeface="Calibri"/>
              <a:cs typeface="Calibri"/>
            </a:endParaRPr>
          </a:p>
        </p:txBody>
      </p:sp>
      <p:sp>
        <p:nvSpPr>
          <p:cNvPr id="9" name="Shape 6">
            <a:extLst>
              <a:ext uri="{FF2B5EF4-FFF2-40B4-BE49-F238E27FC236}">
                <a16:creationId xmlns:a16="http://schemas.microsoft.com/office/drawing/2014/main" id="{9379488B-9175-FD6E-BA4B-867542FA406B}"/>
              </a:ext>
            </a:extLst>
          </p:cNvPr>
          <p:cNvSpPr/>
          <p:nvPr/>
        </p:nvSpPr>
        <p:spPr>
          <a:xfrm>
            <a:off x="5996940" y="2895600"/>
            <a:ext cx="2743200" cy="36576"/>
          </a:xfrm>
          <a:prstGeom prst="rect">
            <a:avLst/>
          </a:prstGeom>
          <a:solidFill>
            <a:srgbClr val="02C39A"/>
          </a:solidFill>
          <a:ln w="12700">
            <a:solidFill>
              <a:srgbClr val="02C39A"/>
            </a:solidFill>
            <a:prstDash val="solid"/>
          </a:ln>
        </p:spPr>
        <p:txBody>
          <a:bodyPr/>
          <a:lstStyle/>
          <a:p>
            <a:endParaRPr lang="fr-FR"/>
          </a:p>
        </p:txBody>
      </p:sp>
      <p:sp>
        <p:nvSpPr>
          <p:cNvPr id="10" name="Shape 7">
            <a:extLst>
              <a:ext uri="{FF2B5EF4-FFF2-40B4-BE49-F238E27FC236}">
                <a16:creationId xmlns:a16="http://schemas.microsoft.com/office/drawing/2014/main" id="{EF8E58F0-447F-D7BD-FEE5-68F15DB32286}"/>
              </a:ext>
            </a:extLst>
          </p:cNvPr>
          <p:cNvSpPr/>
          <p:nvPr/>
        </p:nvSpPr>
        <p:spPr>
          <a:xfrm>
            <a:off x="5996940" y="3014472"/>
            <a:ext cx="2743200" cy="402336"/>
          </a:xfrm>
          <a:prstGeom prst="rect">
            <a:avLst/>
          </a:prstGeom>
          <a:solidFill>
            <a:srgbClr val="FFFFFF"/>
          </a:solidFill>
          <a:ln w="12700">
            <a:solidFill>
              <a:srgbClr val="DDDDDD"/>
            </a:solidFill>
            <a:prstDash val="solid"/>
          </a:ln>
        </p:spPr>
        <p:txBody>
          <a:bodyPr/>
          <a:lstStyle/>
          <a:p>
            <a:endParaRPr lang="fr-FR"/>
          </a:p>
        </p:txBody>
      </p:sp>
      <p:sp>
        <p:nvSpPr>
          <p:cNvPr id="11" name="Text 8">
            <a:extLst>
              <a:ext uri="{FF2B5EF4-FFF2-40B4-BE49-F238E27FC236}">
                <a16:creationId xmlns:a16="http://schemas.microsoft.com/office/drawing/2014/main" id="{F67F7113-B493-FAC0-BCB8-6CBBD71250C3}"/>
              </a:ext>
            </a:extLst>
          </p:cNvPr>
          <p:cNvSpPr/>
          <p:nvPr/>
        </p:nvSpPr>
        <p:spPr>
          <a:xfrm>
            <a:off x="6131052" y="2936748"/>
            <a:ext cx="1005840" cy="329184"/>
          </a:xfrm>
          <a:prstGeom prst="rect">
            <a:avLst/>
          </a:prstGeom>
          <a:noFill/>
          <a:ln/>
        </p:spPr>
        <p:txBody>
          <a:bodyPr wrap="square" lIns="0" tIns="0" rIns="0" bIns="0" rtlCol="0" anchor="ctr"/>
          <a:lstStyle/>
          <a:p>
            <a:pPr marL="0" indent="0">
              <a:buNone/>
            </a:pPr>
            <a:r>
              <a:rPr lang="en-US" sz="1100" b="1" dirty="0">
                <a:solidFill>
                  <a:srgbClr val="1C7293"/>
                </a:solidFill>
                <a:latin typeface="Calibri"/>
                <a:ea typeface="Calibri"/>
                <a:cs typeface="Calibri"/>
              </a:rPr>
              <a:t>35 villes</a:t>
            </a:r>
            <a:endParaRPr lang="en-US" sz="1100">
              <a:solidFill>
                <a:srgbClr val="1C7293"/>
              </a:solidFill>
              <a:latin typeface="Calibri"/>
              <a:ea typeface="Calibri"/>
              <a:cs typeface="Calibri"/>
            </a:endParaRPr>
          </a:p>
        </p:txBody>
      </p:sp>
      <p:sp>
        <p:nvSpPr>
          <p:cNvPr id="12" name="Text 9">
            <a:extLst>
              <a:ext uri="{FF2B5EF4-FFF2-40B4-BE49-F238E27FC236}">
                <a16:creationId xmlns:a16="http://schemas.microsoft.com/office/drawing/2014/main" id="{A0AA4333-F9C2-3D27-2BB8-E64835228E82}"/>
              </a:ext>
            </a:extLst>
          </p:cNvPr>
          <p:cNvSpPr/>
          <p:nvPr/>
        </p:nvSpPr>
        <p:spPr>
          <a:xfrm>
            <a:off x="7139940" y="3051048"/>
            <a:ext cx="1463040" cy="329184"/>
          </a:xfrm>
          <a:prstGeom prst="rect">
            <a:avLst/>
          </a:prstGeom>
          <a:noFill/>
          <a:ln/>
        </p:spPr>
        <p:txBody>
          <a:bodyPr wrap="square" lIns="0" tIns="0" rIns="0" bIns="0" rtlCol="0" anchor="ctr"/>
          <a:lstStyle/>
          <a:p>
            <a:r>
              <a:rPr lang="en-US" sz="1000" dirty="0" err="1">
                <a:solidFill>
                  <a:srgbClr val="64748B"/>
                </a:solidFill>
                <a:latin typeface="Calibri"/>
                <a:ea typeface="Calibri"/>
                <a:cs typeface="Calibri"/>
              </a:rPr>
              <a:t>géocodées</a:t>
            </a:r>
            <a:r>
              <a:rPr lang="en-US" sz="1000" dirty="0">
                <a:solidFill>
                  <a:srgbClr val="64748B"/>
                </a:solidFill>
                <a:latin typeface="Calibri"/>
                <a:ea typeface="Calibri"/>
                <a:cs typeface="Calibri"/>
              </a:rPr>
              <a:t> + </a:t>
            </a:r>
            <a:r>
              <a:rPr lang="en-US" sz="1000" dirty="0" err="1">
                <a:solidFill>
                  <a:srgbClr val="64748B"/>
                </a:solidFill>
                <a:latin typeface="Calibri"/>
                <a:ea typeface="Calibri"/>
                <a:cs typeface="Calibri"/>
              </a:rPr>
              <a:t>Météo</a:t>
            </a:r>
            <a:endParaRPr lang="en-US" sz="1000" dirty="0" err="1">
              <a:solidFill>
                <a:srgbClr val="64748B"/>
              </a:solidFill>
              <a:ea typeface="Calibri"/>
              <a:cs typeface="Calibri"/>
            </a:endParaRPr>
          </a:p>
        </p:txBody>
      </p:sp>
      <p:sp>
        <p:nvSpPr>
          <p:cNvPr id="13" name="Shape 10">
            <a:extLst>
              <a:ext uri="{FF2B5EF4-FFF2-40B4-BE49-F238E27FC236}">
                <a16:creationId xmlns:a16="http://schemas.microsoft.com/office/drawing/2014/main" id="{FB673D34-72C9-8271-14F2-50CD27AC3FD2}"/>
              </a:ext>
            </a:extLst>
          </p:cNvPr>
          <p:cNvSpPr/>
          <p:nvPr/>
        </p:nvSpPr>
        <p:spPr>
          <a:xfrm>
            <a:off x="5996940" y="3517392"/>
            <a:ext cx="2743200" cy="402336"/>
          </a:xfrm>
          <a:prstGeom prst="rect">
            <a:avLst/>
          </a:prstGeom>
          <a:solidFill>
            <a:srgbClr val="FFFFFF"/>
          </a:solidFill>
          <a:ln w="12700">
            <a:solidFill>
              <a:srgbClr val="DDDDDD"/>
            </a:solidFill>
            <a:prstDash val="solid"/>
          </a:ln>
        </p:spPr>
        <p:txBody>
          <a:bodyPr/>
          <a:lstStyle/>
          <a:p>
            <a:endParaRPr lang="fr-FR"/>
          </a:p>
        </p:txBody>
      </p:sp>
      <p:sp>
        <p:nvSpPr>
          <p:cNvPr id="14" name="Text 11">
            <a:extLst>
              <a:ext uri="{FF2B5EF4-FFF2-40B4-BE49-F238E27FC236}">
                <a16:creationId xmlns:a16="http://schemas.microsoft.com/office/drawing/2014/main" id="{00AE0C6D-2955-B8B5-CA46-D239EAA5A4E0}"/>
              </a:ext>
            </a:extLst>
          </p:cNvPr>
          <p:cNvSpPr/>
          <p:nvPr/>
        </p:nvSpPr>
        <p:spPr>
          <a:xfrm>
            <a:off x="6131052" y="3439668"/>
            <a:ext cx="1005840" cy="329184"/>
          </a:xfrm>
          <a:prstGeom prst="rect">
            <a:avLst/>
          </a:prstGeom>
          <a:noFill/>
          <a:ln/>
        </p:spPr>
        <p:txBody>
          <a:bodyPr wrap="square" lIns="0" tIns="0" rIns="0" bIns="0" rtlCol="0" anchor="ctr"/>
          <a:lstStyle/>
          <a:p>
            <a:r>
              <a:rPr lang="en-US" sz="1100" b="1" dirty="0">
                <a:solidFill>
                  <a:srgbClr val="1C7293"/>
                </a:solidFill>
                <a:latin typeface="Calibri"/>
                <a:ea typeface="Calibri"/>
                <a:cs typeface="Calibri"/>
              </a:rPr>
              <a:t>104 </a:t>
            </a:r>
            <a:r>
              <a:rPr lang="en-US" sz="1100" b="1" dirty="0" err="1">
                <a:solidFill>
                  <a:srgbClr val="1C7293"/>
                </a:solidFill>
                <a:latin typeface="Calibri"/>
                <a:ea typeface="Calibri"/>
                <a:cs typeface="Calibri"/>
              </a:rPr>
              <a:t>hôtels</a:t>
            </a:r>
            <a:endParaRPr lang="en-US" sz="1100">
              <a:solidFill>
                <a:srgbClr val="1C7293"/>
              </a:solidFill>
              <a:latin typeface="Calibri"/>
              <a:ea typeface="Calibri"/>
              <a:cs typeface="Calibri"/>
            </a:endParaRPr>
          </a:p>
        </p:txBody>
      </p:sp>
      <p:sp>
        <p:nvSpPr>
          <p:cNvPr id="15" name="Text 12">
            <a:extLst>
              <a:ext uri="{FF2B5EF4-FFF2-40B4-BE49-F238E27FC236}">
                <a16:creationId xmlns:a16="http://schemas.microsoft.com/office/drawing/2014/main" id="{587FF537-E61F-88CA-4407-980B9AB60829}"/>
              </a:ext>
            </a:extLst>
          </p:cNvPr>
          <p:cNvSpPr/>
          <p:nvPr/>
        </p:nvSpPr>
        <p:spPr>
          <a:xfrm>
            <a:off x="7139940" y="3553968"/>
            <a:ext cx="1463040" cy="329184"/>
          </a:xfrm>
          <a:prstGeom prst="rect">
            <a:avLst/>
          </a:prstGeom>
          <a:noFill/>
          <a:ln/>
        </p:spPr>
        <p:txBody>
          <a:bodyPr wrap="square" lIns="0" tIns="0" rIns="0" bIns="0" rtlCol="0" anchor="ctr"/>
          <a:lstStyle/>
          <a:p>
            <a:pPr marL="0" indent="0">
              <a:buNone/>
            </a:pPr>
            <a:r>
              <a:rPr lang="en-US" sz="1000" dirty="0">
                <a:solidFill>
                  <a:srgbClr val="64748B"/>
                </a:solidFill>
                <a:latin typeface="Calibri"/>
                <a:ea typeface="Calibri"/>
                <a:cs typeface="Calibri"/>
              </a:rPr>
              <a:t>scrapés (Selenium)</a:t>
            </a:r>
            <a:endParaRPr lang="en-US" sz="1000">
              <a:solidFill>
                <a:srgbClr val="64748B"/>
              </a:solidFill>
              <a:latin typeface="Calibri"/>
              <a:ea typeface="Calibri"/>
              <a:cs typeface="Calibri"/>
            </a:endParaRPr>
          </a:p>
        </p:txBody>
      </p:sp>
      <p:sp>
        <p:nvSpPr>
          <p:cNvPr id="16" name="Shape 13">
            <a:extLst>
              <a:ext uri="{FF2B5EF4-FFF2-40B4-BE49-F238E27FC236}">
                <a16:creationId xmlns:a16="http://schemas.microsoft.com/office/drawing/2014/main" id="{3295AE87-BBD8-8B5B-F67D-19093F774A0F}"/>
              </a:ext>
            </a:extLst>
          </p:cNvPr>
          <p:cNvSpPr/>
          <p:nvPr/>
        </p:nvSpPr>
        <p:spPr>
          <a:xfrm>
            <a:off x="5996940" y="4020312"/>
            <a:ext cx="2743200" cy="402336"/>
          </a:xfrm>
          <a:prstGeom prst="rect">
            <a:avLst/>
          </a:prstGeom>
          <a:solidFill>
            <a:srgbClr val="FFFFFF"/>
          </a:solidFill>
          <a:ln w="12700">
            <a:solidFill>
              <a:srgbClr val="DDDDDD"/>
            </a:solidFill>
            <a:prstDash val="solid"/>
          </a:ln>
        </p:spPr>
        <p:txBody>
          <a:bodyPr/>
          <a:lstStyle/>
          <a:p>
            <a:endParaRPr lang="fr-FR"/>
          </a:p>
        </p:txBody>
      </p:sp>
      <p:sp>
        <p:nvSpPr>
          <p:cNvPr id="17" name="Text 14">
            <a:extLst>
              <a:ext uri="{FF2B5EF4-FFF2-40B4-BE49-F238E27FC236}">
                <a16:creationId xmlns:a16="http://schemas.microsoft.com/office/drawing/2014/main" id="{2CD42A9F-1809-C8DA-31DC-0791D92128BC}"/>
              </a:ext>
            </a:extLst>
          </p:cNvPr>
          <p:cNvSpPr/>
          <p:nvPr/>
        </p:nvSpPr>
        <p:spPr>
          <a:xfrm>
            <a:off x="6131052" y="3942588"/>
            <a:ext cx="1005840" cy="329184"/>
          </a:xfrm>
          <a:prstGeom prst="rect">
            <a:avLst/>
          </a:prstGeom>
          <a:noFill/>
          <a:ln/>
        </p:spPr>
        <p:txBody>
          <a:bodyPr wrap="square" lIns="0" tIns="0" rIns="0" bIns="0" rtlCol="0" anchor="ctr"/>
          <a:lstStyle/>
          <a:p>
            <a:r>
              <a:rPr lang="en-US" sz="1100" b="1">
                <a:solidFill>
                  <a:srgbClr val="1C7293"/>
                </a:solidFill>
                <a:latin typeface="Calibri"/>
                <a:ea typeface="Calibri"/>
                <a:cs typeface="Calibri"/>
              </a:rPr>
              <a:t>1 CSV dans S3</a:t>
            </a:r>
          </a:p>
        </p:txBody>
      </p:sp>
      <p:sp>
        <p:nvSpPr>
          <p:cNvPr id="18" name="Text 15">
            <a:extLst>
              <a:ext uri="{FF2B5EF4-FFF2-40B4-BE49-F238E27FC236}">
                <a16:creationId xmlns:a16="http://schemas.microsoft.com/office/drawing/2014/main" id="{102D28C9-7FAF-EC93-8068-971BAB513E8B}"/>
              </a:ext>
            </a:extLst>
          </p:cNvPr>
          <p:cNvSpPr/>
          <p:nvPr/>
        </p:nvSpPr>
        <p:spPr>
          <a:xfrm>
            <a:off x="7139940" y="4056888"/>
            <a:ext cx="1463040" cy="329184"/>
          </a:xfrm>
          <a:prstGeom prst="rect">
            <a:avLst/>
          </a:prstGeom>
          <a:noFill/>
          <a:ln/>
        </p:spPr>
        <p:txBody>
          <a:bodyPr wrap="square" lIns="0" tIns="0" rIns="0" bIns="0" rtlCol="0" anchor="ctr"/>
          <a:lstStyle/>
          <a:p>
            <a:r>
              <a:rPr lang="en-US" sz="1000" dirty="0">
                <a:solidFill>
                  <a:srgbClr val="64748B"/>
                </a:solidFill>
                <a:ea typeface="Calibri"/>
                <a:cs typeface="Calibri"/>
              </a:rPr>
              <a:t>104 </a:t>
            </a:r>
            <a:r>
              <a:rPr lang="en-US" sz="1000" dirty="0" err="1">
                <a:solidFill>
                  <a:srgbClr val="64748B"/>
                </a:solidFill>
                <a:ea typeface="Calibri"/>
                <a:cs typeface="Calibri"/>
              </a:rPr>
              <a:t>lignes</a:t>
            </a:r>
            <a:r>
              <a:rPr lang="en-US" sz="1000" dirty="0">
                <a:solidFill>
                  <a:srgbClr val="64748B"/>
                </a:solidFill>
                <a:ea typeface="Calibri"/>
                <a:cs typeface="Calibri"/>
              </a:rPr>
              <a:t> x 22 </a:t>
            </a:r>
            <a:r>
              <a:rPr lang="en-US" sz="1000" dirty="0" err="1">
                <a:solidFill>
                  <a:srgbClr val="64748B"/>
                </a:solidFill>
                <a:ea typeface="Calibri"/>
                <a:cs typeface="Calibri"/>
              </a:rPr>
              <a:t>colonnes</a:t>
            </a:r>
            <a:endParaRPr lang="fr-FR">
              <a:solidFill>
                <a:srgbClr val="64748B"/>
              </a:solidFill>
            </a:endParaRPr>
          </a:p>
        </p:txBody>
      </p:sp>
      <p:sp>
        <p:nvSpPr>
          <p:cNvPr id="25" name="Shape 22">
            <a:extLst>
              <a:ext uri="{FF2B5EF4-FFF2-40B4-BE49-F238E27FC236}">
                <a16:creationId xmlns:a16="http://schemas.microsoft.com/office/drawing/2014/main" id="{C3519D63-C725-75E0-7938-6EBF8056BBB5}"/>
              </a:ext>
            </a:extLst>
          </p:cNvPr>
          <p:cNvSpPr/>
          <p:nvPr/>
        </p:nvSpPr>
        <p:spPr>
          <a:xfrm>
            <a:off x="0" y="4828032"/>
            <a:ext cx="9144000" cy="320040"/>
          </a:xfrm>
          <a:prstGeom prst="rect">
            <a:avLst/>
          </a:prstGeom>
          <a:solidFill>
            <a:srgbClr val="065A82"/>
          </a:solidFill>
          <a:ln w="12700">
            <a:solidFill>
              <a:srgbClr val="065A82"/>
            </a:solidFill>
            <a:prstDash val="solid"/>
          </a:ln>
        </p:spPr>
        <p:txBody>
          <a:bodyPr/>
          <a:lstStyle/>
          <a:p>
            <a:endParaRPr lang="fr-FR"/>
          </a:p>
        </p:txBody>
      </p:sp>
      <p:sp>
        <p:nvSpPr>
          <p:cNvPr id="26" name="Text 23">
            <a:extLst>
              <a:ext uri="{FF2B5EF4-FFF2-40B4-BE49-F238E27FC236}">
                <a16:creationId xmlns:a16="http://schemas.microsoft.com/office/drawing/2014/main" id="{E4AC0EDF-E73E-E1A3-4673-F8A04CF5112F}"/>
              </a:ext>
            </a:extLst>
          </p:cNvPr>
          <p:cNvSpPr/>
          <p:nvPr/>
        </p:nvSpPr>
        <p:spPr>
          <a:xfrm>
            <a:off x="274320" y="4828032"/>
            <a:ext cx="8595360" cy="320040"/>
          </a:xfrm>
          <a:prstGeom prst="rect">
            <a:avLst/>
          </a:prstGeom>
          <a:noFill/>
          <a:ln/>
        </p:spPr>
        <p:txBody>
          <a:bodyPr wrap="square" lIns="0" tIns="0" rIns="0" bIns="0" rtlCol="0" anchor="ctr"/>
          <a:lstStyle/>
          <a:p>
            <a:r>
              <a:rPr lang="en-US" sz="1200" dirty="0" err="1">
                <a:solidFill>
                  <a:schemeClr val="bg1"/>
                </a:solidFill>
                <a:latin typeface="Calibri"/>
                <a:ea typeface="Calibri"/>
                <a:cs typeface="Calibri"/>
              </a:rPr>
              <a:t>Collecte</a:t>
            </a:r>
            <a:r>
              <a:rPr lang="en-US" sz="1200" dirty="0">
                <a:solidFill>
                  <a:schemeClr val="bg1"/>
                </a:solidFill>
                <a:latin typeface="Calibri"/>
                <a:ea typeface="Calibri"/>
                <a:cs typeface="Calibri"/>
              </a:rPr>
              <a:t> : </a:t>
            </a:r>
            <a:r>
              <a:rPr lang="en-US" sz="1200" dirty="0" err="1">
                <a:solidFill>
                  <a:schemeClr val="bg1"/>
                </a:solidFill>
                <a:latin typeface="Calibri"/>
                <a:ea typeface="Calibri"/>
                <a:cs typeface="Calibri"/>
              </a:rPr>
              <a:t>Nominatim</a:t>
            </a:r>
            <a:r>
              <a:rPr lang="en-US" sz="1200" dirty="0">
                <a:solidFill>
                  <a:schemeClr val="bg1"/>
                </a:solidFill>
                <a:latin typeface="Calibri"/>
                <a:ea typeface="Calibri"/>
                <a:cs typeface="Calibri"/>
              </a:rPr>
              <a:t> · </a:t>
            </a:r>
            <a:r>
              <a:rPr lang="en-US" sz="1200" dirty="0" err="1">
                <a:solidFill>
                  <a:schemeClr val="bg1"/>
                </a:solidFill>
                <a:latin typeface="Calibri"/>
                <a:ea typeface="Calibri"/>
                <a:cs typeface="Calibri"/>
              </a:rPr>
              <a:t>OpenWeatherMap</a:t>
            </a:r>
            <a:r>
              <a:rPr lang="en-US" sz="1200" dirty="0">
                <a:solidFill>
                  <a:schemeClr val="bg1"/>
                </a:solidFill>
                <a:latin typeface="Calibri"/>
                <a:ea typeface="Calibri"/>
                <a:cs typeface="Calibri"/>
              </a:rPr>
              <a:t> · Selenium → Data Lake</a:t>
            </a:r>
          </a:p>
        </p:txBody>
      </p:sp>
      <p:sp>
        <p:nvSpPr>
          <p:cNvPr id="28" name="Rectangle : coins arrondis 27">
            <a:extLst>
              <a:ext uri="{FF2B5EF4-FFF2-40B4-BE49-F238E27FC236}">
                <a16:creationId xmlns:a16="http://schemas.microsoft.com/office/drawing/2014/main" id="{815EAC19-4EA5-3AA1-8A56-6A49907CE218}"/>
              </a:ext>
            </a:extLst>
          </p:cNvPr>
          <p:cNvSpPr/>
          <p:nvPr/>
        </p:nvSpPr>
        <p:spPr>
          <a:xfrm>
            <a:off x="320824" y="1284306"/>
            <a:ext cx="1885165" cy="58068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dirty="0">
                <a:solidFill>
                  <a:schemeClr val="tx2"/>
                </a:solidFill>
                <a:ea typeface="Calibri"/>
                <a:cs typeface="Calibri"/>
              </a:rPr>
              <a:t>API </a:t>
            </a:r>
            <a:r>
              <a:rPr lang="fr-FR" sz="1600" dirty="0" err="1">
                <a:solidFill>
                  <a:schemeClr val="tx2"/>
                </a:solidFill>
                <a:ea typeface="Calibri"/>
                <a:cs typeface="Calibri"/>
              </a:rPr>
              <a:t>Nominatim</a:t>
            </a:r>
            <a:endParaRPr lang="fr-FR" sz="1600" dirty="0">
              <a:solidFill>
                <a:schemeClr val="tx2"/>
              </a:solidFill>
              <a:ea typeface="Calibri"/>
              <a:cs typeface="Calibri"/>
            </a:endParaRPr>
          </a:p>
          <a:p>
            <a:pPr algn="ctr"/>
            <a:r>
              <a:rPr lang="fr-FR" sz="1200">
                <a:solidFill>
                  <a:schemeClr val="tx2"/>
                </a:solidFill>
                <a:ea typeface="Calibri"/>
                <a:cs typeface="Calibri"/>
              </a:rPr>
              <a:t>Géocodage GPS (OSM)</a:t>
            </a:r>
          </a:p>
        </p:txBody>
      </p:sp>
      <p:sp>
        <p:nvSpPr>
          <p:cNvPr id="30" name="Rectangle : coins arrondis 29">
            <a:extLst>
              <a:ext uri="{FF2B5EF4-FFF2-40B4-BE49-F238E27FC236}">
                <a16:creationId xmlns:a16="http://schemas.microsoft.com/office/drawing/2014/main" id="{A401F221-0066-99FD-C9EF-D150517A28F5}"/>
              </a:ext>
            </a:extLst>
          </p:cNvPr>
          <p:cNvSpPr/>
          <p:nvPr/>
        </p:nvSpPr>
        <p:spPr>
          <a:xfrm>
            <a:off x="2324884" y="1284305"/>
            <a:ext cx="2144245" cy="58068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dirty="0">
                <a:solidFill>
                  <a:schemeClr val="tx2"/>
                </a:solidFill>
                <a:ea typeface="Calibri"/>
                <a:cs typeface="Calibri"/>
              </a:rPr>
              <a:t>API </a:t>
            </a:r>
            <a:r>
              <a:rPr lang="fr-FR" sz="1600" dirty="0" err="1">
                <a:solidFill>
                  <a:schemeClr val="tx2"/>
                </a:solidFill>
                <a:ea typeface="Calibri"/>
                <a:cs typeface="Calibri"/>
              </a:rPr>
              <a:t>OpenWeatherMap</a:t>
            </a:r>
            <a:endParaRPr lang="fr-FR" sz="1600" dirty="0">
              <a:solidFill>
                <a:schemeClr val="tx2"/>
              </a:solidFill>
              <a:ea typeface="Calibri"/>
              <a:cs typeface="Calibri"/>
            </a:endParaRPr>
          </a:p>
          <a:p>
            <a:pPr algn="ctr"/>
            <a:r>
              <a:rPr lang="fr-FR" sz="1200">
                <a:solidFill>
                  <a:schemeClr val="tx2"/>
                </a:solidFill>
                <a:ea typeface="Calibri"/>
                <a:cs typeface="Calibri"/>
              </a:rPr>
              <a:t>Météo (5 jours)</a:t>
            </a:r>
          </a:p>
        </p:txBody>
      </p:sp>
      <p:sp>
        <p:nvSpPr>
          <p:cNvPr id="32" name="Rectangle : coins arrondis 31">
            <a:extLst>
              <a:ext uri="{FF2B5EF4-FFF2-40B4-BE49-F238E27FC236}">
                <a16:creationId xmlns:a16="http://schemas.microsoft.com/office/drawing/2014/main" id="{C8AB0611-71C8-52AF-AD66-42AB99B4DD4A}"/>
              </a:ext>
            </a:extLst>
          </p:cNvPr>
          <p:cNvSpPr/>
          <p:nvPr/>
        </p:nvSpPr>
        <p:spPr>
          <a:xfrm>
            <a:off x="4595644" y="1276684"/>
            <a:ext cx="2136625" cy="58830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a:solidFill>
                  <a:schemeClr val="tx2"/>
                </a:solidFill>
                <a:ea typeface="Calibri"/>
                <a:cs typeface="Calibri"/>
              </a:rPr>
              <a:t>Scraping Booking.com</a:t>
            </a:r>
            <a:endParaRPr lang="fr-FR">
              <a:solidFill>
                <a:schemeClr val="tx2"/>
              </a:solidFill>
              <a:ea typeface="Calibri"/>
              <a:cs typeface="Calibri"/>
            </a:endParaRPr>
          </a:p>
          <a:p>
            <a:pPr algn="ctr"/>
            <a:r>
              <a:rPr lang="fr-FR" sz="1200" dirty="0" err="1">
                <a:solidFill>
                  <a:schemeClr val="tx2"/>
                </a:solidFill>
                <a:ea typeface="Calibri"/>
                <a:cs typeface="Calibri"/>
              </a:rPr>
              <a:t>Selenium</a:t>
            </a:r>
            <a:r>
              <a:rPr lang="fr-FR" sz="1200" dirty="0">
                <a:solidFill>
                  <a:schemeClr val="tx2"/>
                </a:solidFill>
                <a:ea typeface="Calibri"/>
                <a:cs typeface="Calibri"/>
              </a:rPr>
              <a:t> – Chrome </a:t>
            </a:r>
            <a:r>
              <a:rPr lang="fr-FR" sz="1200" dirty="0" err="1">
                <a:solidFill>
                  <a:schemeClr val="tx2"/>
                </a:solidFill>
                <a:ea typeface="Calibri"/>
                <a:cs typeface="Calibri"/>
              </a:rPr>
              <a:t>Headless</a:t>
            </a:r>
            <a:endParaRPr lang="fr-FR" sz="1200" dirty="0">
              <a:solidFill>
                <a:schemeClr val="tx2"/>
              </a:solidFill>
              <a:ea typeface="Calibri"/>
              <a:cs typeface="Calibri"/>
            </a:endParaRPr>
          </a:p>
        </p:txBody>
      </p:sp>
      <p:sp>
        <p:nvSpPr>
          <p:cNvPr id="34" name="Rectangle : coins arrondis 33">
            <a:extLst>
              <a:ext uri="{FF2B5EF4-FFF2-40B4-BE49-F238E27FC236}">
                <a16:creationId xmlns:a16="http://schemas.microsoft.com/office/drawing/2014/main" id="{1D245918-B4E1-9299-62CF-4143909AE217}"/>
              </a:ext>
            </a:extLst>
          </p:cNvPr>
          <p:cNvSpPr/>
          <p:nvPr/>
        </p:nvSpPr>
        <p:spPr>
          <a:xfrm>
            <a:off x="2423944" y="2975943"/>
            <a:ext cx="2449045" cy="588308"/>
          </a:xfrm>
          <a:prstGeom prst="roundRect">
            <a:avLst/>
          </a:prstGeom>
          <a:solidFill>
            <a:schemeClr val="accent2">
              <a:lumMod val="20000"/>
              <a:lumOff val="8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a:solidFill>
                  <a:schemeClr val="tx2"/>
                </a:solidFill>
                <a:ea typeface="Calibri"/>
                <a:cs typeface="Calibri"/>
              </a:rPr>
              <a:t>Data Lake</a:t>
            </a:r>
            <a:endParaRPr lang="fr-FR">
              <a:solidFill>
                <a:schemeClr val="tx2"/>
              </a:solidFill>
              <a:ea typeface="Calibri"/>
              <a:cs typeface="Calibri"/>
            </a:endParaRPr>
          </a:p>
          <a:p>
            <a:pPr algn="ctr"/>
            <a:r>
              <a:rPr lang="fr-FR" sz="1200" dirty="0" err="1">
                <a:solidFill>
                  <a:schemeClr val="tx2"/>
                </a:solidFill>
                <a:ea typeface="Calibri"/>
                <a:cs typeface="Calibri"/>
              </a:rPr>
              <a:t>Bucket</a:t>
            </a:r>
            <a:r>
              <a:rPr lang="fr-FR" sz="1200" dirty="0">
                <a:solidFill>
                  <a:schemeClr val="tx2"/>
                </a:solidFill>
                <a:ea typeface="Calibri"/>
                <a:cs typeface="Calibri"/>
              </a:rPr>
              <a:t> AWS S3 (Boto3)</a:t>
            </a:r>
          </a:p>
        </p:txBody>
      </p:sp>
      <p:cxnSp>
        <p:nvCxnSpPr>
          <p:cNvPr id="36" name="Connecteur droit avec flèche 35">
            <a:extLst>
              <a:ext uri="{FF2B5EF4-FFF2-40B4-BE49-F238E27FC236}">
                <a16:creationId xmlns:a16="http://schemas.microsoft.com/office/drawing/2014/main" id="{AEB2AE4E-CA72-BB58-58BC-667F72CB7CF7}"/>
              </a:ext>
            </a:extLst>
          </p:cNvPr>
          <p:cNvCxnSpPr/>
          <p:nvPr/>
        </p:nvCxnSpPr>
        <p:spPr>
          <a:xfrm flipH="1">
            <a:off x="1549437" y="1865779"/>
            <a:ext cx="8404" cy="537882"/>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38" name="Connecteur droit avec flèche 37">
            <a:extLst>
              <a:ext uri="{FF2B5EF4-FFF2-40B4-BE49-F238E27FC236}">
                <a16:creationId xmlns:a16="http://schemas.microsoft.com/office/drawing/2014/main" id="{17B3AE78-5375-E864-777A-68C7E4024A50}"/>
              </a:ext>
            </a:extLst>
          </p:cNvPr>
          <p:cNvCxnSpPr/>
          <p:nvPr/>
        </p:nvCxnSpPr>
        <p:spPr>
          <a:xfrm>
            <a:off x="1550221" y="2419685"/>
            <a:ext cx="4105499" cy="14456"/>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40" name="Connecteur droit avec flèche 39">
            <a:extLst>
              <a:ext uri="{FF2B5EF4-FFF2-40B4-BE49-F238E27FC236}">
                <a16:creationId xmlns:a16="http://schemas.microsoft.com/office/drawing/2014/main" id="{11541341-8433-6C4A-1621-724E02AD23DE}"/>
              </a:ext>
            </a:extLst>
          </p:cNvPr>
          <p:cNvCxnSpPr/>
          <p:nvPr/>
        </p:nvCxnSpPr>
        <p:spPr>
          <a:xfrm flipH="1" flipV="1">
            <a:off x="5655721" y="1871830"/>
            <a:ext cx="8404" cy="563095"/>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42" name="Connecteur droit avec flèche 41">
            <a:extLst>
              <a:ext uri="{FF2B5EF4-FFF2-40B4-BE49-F238E27FC236}">
                <a16:creationId xmlns:a16="http://schemas.microsoft.com/office/drawing/2014/main" id="{0293EF42-5156-E871-8EAA-CA84E242F793}"/>
              </a:ext>
            </a:extLst>
          </p:cNvPr>
          <p:cNvCxnSpPr/>
          <p:nvPr/>
        </p:nvCxnSpPr>
        <p:spPr>
          <a:xfrm>
            <a:off x="3641911" y="1872614"/>
            <a:ext cx="8404" cy="11009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1312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10A11AFB-D9E8-C709-1D16-0E4BD83524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9846A09-AE0B-A9F0-EA59-C48F8ACA245D}"/>
              </a:ext>
            </a:extLst>
          </p:cNvPr>
          <p:cNvSpPr/>
          <p:nvPr/>
        </p:nvSpPr>
        <p:spPr>
          <a:xfrm>
            <a:off x="0" y="0"/>
            <a:ext cx="9144000" cy="822960"/>
          </a:xfrm>
          <a:prstGeom prst="rect">
            <a:avLst/>
          </a:prstGeom>
          <a:solidFill>
            <a:srgbClr val="065A82"/>
          </a:solidFill>
          <a:ln w="12700">
            <a:solidFill>
              <a:srgbClr val="065A82"/>
            </a:solidFill>
            <a:prstDash val="solid"/>
          </a:ln>
        </p:spPr>
        <p:txBody>
          <a:bodyPr/>
          <a:lstStyle/>
          <a:p>
            <a:endParaRPr lang="fr-FR"/>
          </a:p>
        </p:txBody>
      </p:sp>
      <p:sp>
        <p:nvSpPr>
          <p:cNvPr id="5" name="Text 3">
            <a:extLst>
              <a:ext uri="{FF2B5EF4-FFF2-40B4-BE49-F238E27FC236}">
                <a16:creationId xmlns:a16="http://schemas.microsoft.com/office/drawing/2014/main" id="{65705EEF-B12C-2595-4A03-23CAB73C8144}"/>
              </a:ext>
            </a:extLst>
          </p:cNvPr>
          <p:cNvSpPr/>
          <p:nvPr/>
        </p:nvSpPr>
        <p:spPr>
          <a:xfrm>
            <a:off x="960120" y="0"/>
            <a:ext cx="7955280" cy="822960"/>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Pipeline ETL</a:t>
            </a:r>
            <a:endParaRPr lang="fr-FR"/>
          </a:p>
        </p:txBody>
      </p:sp>
      <p:sp>
        <p:nvSpPr>
          <p:cNvPr id="6" name="Rectangle : coins arrondis 5">
            <a:extLst>
              <a:ext uri="{FF2B5EF4-FFF2-40B4-BE49-F238E27FC236}">
                <a16:creationId xmlns:a16="http://schemas.microsoft.com/office/drawing/2014/main" id="{4B4DAD05-95B7-C2D0-8CA4-5F050D893C54}"/>
              </a:ext>
            </a:extLst>
          </p:cNvPr>
          <p:cNvSpPr/>
          <p:nvPr/>
        </p:nvSpPr>
        <p:spPr>
          <a:xfrm>
            <a:off x="525667" y="2167889"/>
            <a:ext cx="1790139" cy="722779"/>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a:solidFill>
                  <a:schemeClr val="bg1"/>
                </a:solidFill>
                <a:ea typeface="Calibri"/>
                <a:cs typeface="Calibri"/>
              </a:rPr>
              <a:t>Data Lake</a:t>
            </a:r>
          </a:p>
          <a:p>
            <a:pPr algn="ctr"/>
            <a:r>
              <a:rPr lang="fr-FR" sz="1200">
                <a:solidFill>
                  <a:schemeClr val="bg1"/>
                </a:solidFill>
                <a:ea typeface="Calibri"/>
                <a:cs typeface="Calibri"/>
              </a:rPr>
              <a:t>AWS S3</a:t>
            </a:r>
          </a:p>
        </p:txBody>
      </p:sp>
      <p:sp>
        <p:nvSpPr>
          <p:cNvPr id="20" name="Rectangle : coins arrondis 19">
            <a:extLst>
              <a:ext uri="{FF2B5EF4-FFF2-40B4-BE49-F238E27FC236}">
                <a16:creationId xmlns:a16="http://schemas.microsoft.com/office/drawing/2014/main" id="{3076DBFC-CD0C-5EB6-4A9E-107157C35B35}"/>
              </a:ext>
            </a:extLst>
          </p:cNvPr>
          <p:cNvSpPr/>
          <p:nvPr/>
        </p:nvSpPr>
        <p:spPr>
          <a:xfrm>
            <a:off x="3398406" y="1748789"/>
            <a:ext cx="1919679" cy="1484779"/>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a:solidFill>
                  <a:schemeClr val="bg1"/>
                </a:solidFill>
                <a:ea typeface="Calibri"/>
                <a:cs typeface="Calibri"/>
              </a:rPr>
              <a:t>Transform</a:t>
            </a:r>
            <a:endParaRPr lang="fr-FR" sz="1600" dirty="0">
              <a:solidFill>
                <a:schemeClr val="bg1"/>
              </a:solidFill>
              <a:ea typeface="Calibri"/>
              <a:cs typeface="Calibri"/>
            </a:endParaRPr>
          </a:p>
          <a:p>
            <a:pPr algn="ctr"/>
            <a:endParaRPr lang="fr-FR" sz="1600" dirty="0">
              <a:solidFill>
                <a:schemeClr val="bg1"/>
              </a:solidFill>
              <a:ea typeface="Calibri"/>
              <a:cs typeface="Calibri"/>
            </a:endParaRPr>
          </a:p>
          <a:p>
            <a:pPr algn="ctr"/>
            <a:r>
              <a:rPr lang="fr-FR" sz="1200" dirty="0" err="1">
                <a:solidFill>
                  <a:schemeClr val="bg1"/>
                </a:solidFill>
                <a:ea typeface="Calibri"/>
                <a:cs typeface="Calibri"/>
              </a:rPr>
              <a:t>Néttoyage</a:t>
            </a:r>
            <a:endParaRPr lang="fr-FR" sz="1200">
              <a:solidFill>
                <a:schemeClr val="bg1"/>
              </a:solidFill>
              <a:ea typeface="Calibri"/>
              <a:cs typeface="Calibri"/>
            </a:endParaRPr>
          </a:p>
          <a:p>
            <a:pPr algn="ctr"/>
            <a:r>
              <a:rPr lang="fr-FR" sz="1200">
                <a:solidFill>
                  <a:schemeClr val="bg1"/>
                </a:solidFill>
                <a:ea typeface="Calibri"/>
                <a:cs typeface="Calibri"/>
              </a:rPr>
              <a:t>+</a:t>
            </a:r>
          </a:p>
          <a:p>
            <a:pPr algn="ctr"/>
            <a:r>
              <a:rPr lang="fr-FR" sz="1200">
                <a:solidFill>
                  <a:schemeClr val="bg1"/>
                </a:solidFill>
                <a:ea typeface="Calibri"/>
                <a:cs typeface="Calibri"/>
              </a:rPr>
              <a:t>Score météo</a:t>
            </a:r>
          </a:p>
        </p:txBody>
      </p:sp>
      <p:sp>
        <p:nvSpPr>
          <p:cNvPr id="22" name="Rectangle : coins arrondis 21">
            <a:extLst>
              <a:ext uri="{FF2B5EF4-FFF2-40B4-BE49-F238E27FC236}">
                <a16:creationId xmlns:a16="http://schemas.microsoft.com/office/drawing/2014/main" id="{EC29A4E4-4FA4-893A-6F9A-BD34C187B36A}"/>
              </a:ext>
            </a:extLst>
          </p:cNvPr>
          <p:cNvSpPr/>
          <p:nvPr/>
        </p:nvSpPr>
        <p:spPr>
          <a:xfrm>
            <a:off x="6294006" y="2175509"/>
            <a:ext cx="1790139" cy="722779"/>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a:solidFill>
                  <a:schemeClr val="bg1"/>
                </a:solidFill>
                <a:ea typeface="Calibri"/>
                <a:cs typeface="Calibri"/>
              </a:rPr>
              <a:t>Data Warehouse</a:t>
            </a:r>
          </a:p>
          <a:p>
            <a:pPr algn="ctr"/>
            <a:r>
              <a:rPr lang="fr-FR" sz="1200" dirty="0">
                <a:solidFill>
                  <a:schemeClr val="bg1"/>
                </a:solidFill>
                <a:ea typeface="Calibri"/>
                <a:cs typeface="Calibri"/>
              </a:rPr>
              <a:t>AWS Redshift (</a:t>
            </a:r>
            <a:r>
              <a:rPr lang="fr-FR" sz="1200" dirty="0" err="1">
                <a:solidFill>
                  <a:schemeClr val="bg1"/>
                </a:solidFill>
                <a:ea typeface="Calibri"/>
                <a:cs typeface="Calibri"/>
              </a:rPr>
              <a:t>SQLAlchemy</a:t>
            </a:r>
            <a:r>
              <a:rPr lang="fr-FR" sz="1200" dirty="0">
                <a:solidFill>
                  <a:schemeClr val="bg1"/>
                </a:solidFill>
                <a:ea typeface="Calibri"/>
                <a:cs typeface="Calibri"/>
              </a:rPr>
              <a:t>)</a:t>
            </a:r>
          </a:p>
        </p:txBody>
      </p:sp>
      <p:cxnSp>
        <p:nvCxnSpPr>
          <p:cNvPr id="24" name="Connecteur droit avec flèche 23">
            <a:extLst>
              <a:ext uri="{FF2B5EF4-FFF2-40B4-BE49-F238E27FC236}">
                <a16:creationId xmlns:a16="http://schemas.microsoft.com/office/drawing/2014/main" id="{26CF1AC1-274F-B7A6-EE73-230A667343DC}"/>
              </a:ext>
            </a:extLst>
          </p:cNvPr>
          <p:cNvCxnSpPr/>
          <p:nvPr/>
        </p:nvCxnSpPr>
        <p:spPr>
          <a:xfrm flipV="1">
            <a:off x="2315919" y="2536674"/>
            <a:ext cx="1084057" cy="526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Connecteur droit avec flèche 28">
            <a:extLst>
              <a:ext uri="{FF2B5EF4-FFF2-40B4-BE49-F238E27FC236}">
                <a16:creationId xmlns:a16="http://schemas.microsoft.com/office/drawing/2014/main" id="{75B832D7-5879-831F-851A-9C3C090E535C}"/>
              </a:ext>
            </a:extLst>
          </p:cNvPr>
          <p:cNvCxnSpPr>
            <a:cxnSpLocks/>
          </p:cNvCxnSpPr>
          <p:nvPr/>
        </p:nvCxnSpPr>
        <p:spPr>
          <a:xfrm>
            <a:off x="5310579" y="2541941"/>
            <a:ext cx="984997" cy="997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3" name="ZoneTexte 32">
            <a:extLst>
              <a:ext uri="{FF2B5EF4-FFF2-40B4-BE49-F238E27FC236}">
                <a16:creationId xmlns:a16="http://schemas.microsoft.com/office/drawing/2014/main" id="{973D04A9-4518-D8F1-9D51-C50319AFF129}"/>
              </a:ext>
            </a:extLst>
          </p:cNvPr>
          <p:cNvSpPr txBox="1"/>
          <p:nvPr/>
        </p:nvSpPr>
        <p:spPr>
          <a:xfrm>
            <a:off x="2466302" y="2227281"/>
            <a:ext cx="72277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dirty="0" err="1">
                <a:solidFill>
                  <a:schemeClr val="bg1"/>
                </a:solidFill>
                <a:ea typeface="Calibri"/>
                <a:cs typeface="Calibri"/>
              </a:rPr>
              <a:t>Extract</a:t>
            </a:r>
            <a:endParaRPr lang="fr-FR" sz="1400">
              <a:solidFill>
                <a:schemeClr val="bg1"/>
              </a:solidFill>
              <a:ea typeface="Calibri"/>
              <a:cs typeface="Calibri"/>
            </a:endParaRPr>
          </a:p>
        </p:txBody>
      </p:sp>
      <p:sp>
        <p:nvSpPr>
          <p:cNvPr id="37" name="ZoneTexte 36">
            <a:extLst>
              <a:ext uri="{FF2B5EF4-FFF2-40B4-BE49-F238E27FC236}">
                <a16:creationId xmlns:a16="http://schemas.microsoft.com/office/drawing/2014/main" id="{84FFD82C-4D9B-D822-53AC-7F6E54D72D80}"/>
              </a:ext>
            </a:extLst>
          </p:cNvPr>
          <p:cNvSpPr txBox="1"/>
          <p:nvPr/>
        </p:nvSpPr>
        <p:spPr>
          <a:xfrm>
            <a:off x="5316967" y="2583851"/>
            <a:ext cx="85725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err="1">
                <a:solidFill>
                  <a:schemeClr val="bg1"/>
                </a:solidFill>
                <a:ea typeface="Calibri"/>
                <a:cs typeface="Calibri"/>
              </a:rPr>
              <a:t>Dataset</a:t>
            </a:r>
            <a:r>
              <a:rPr lang="fr-FR" sz="1200" dirty="0">
                <a:solidFill>
                  <a:schemeClr val="bg1"/>
                </a:solidFill>
                <a:ea typeface="Calibri"/>
                <a:cs typeface="Calibri"/>
              </a:rPr>
              <a:t> </a:t>
            </a:r>
            <a:r>
              <a:rPr lang="fr-FR" sz="1200" dirty="0" err="1">
                <a:solidFill>
                  <a:schemeClr val="bg1"/>
                </a:solidFill>
                <a:ea typeface="Calibri"/>
                <a:cs typeface="Calibri"/>
              </a:rPr>
              <a:t>néttoyé</a:t>
            </a:r>
            <a:r>
              <a:rPr lang="fr-FR" sz="1200" dirty="0">
                <a:solidFill>
                  <a:schemeClr val="bg1"/>
                </a:solidFill>
                <a:ea typeface="Calibri"/>
                <a:cs typeface="Calibri"/>
              </a:rPr>
              <a:t> et enrichi</a:t>
            </a:r>
          </a:p>
        </p:txBody>
      </p:sp>
      <p:sp>
        <p:nvSpPr>
          <p:cNvPr id="55" name="ZoneTexte 54">
            <a:extLst>
              <a:ext uri="{FF2B5EF4-FFF2-40B4-BE49-F238E27FC236}">
                <a16:creationId xmlns:a16="http://schemas.microsoft.com/office/drawing/2014/main" id="{FC916FBD-DD39-7529-C0B7-8B3D6CCF4E1C}"/>
              </a:ext>
            </a:extLst>
          </p:cNvPr>
          <p:cNvSpPr txBox="1"/>
          <p:nvPr/>
        </p:nvSpPr>
        <p:spPr>
          <a:xfrm>
            <a:off x="5384762" y="2219660"/>
            <a:ext cx="72277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400" dirty="0" err="1">
                <a:solidFill>
                  <a:schemeClr val="bg1"/>
                </a:solidFill>
                <a:ea typeface="Calibri"/>
                <a:cs typeface="Calibri"/>
              </a:rPr>
              <a:t>Load</a:t>
            </a:r>
            <a:endParaRPr lang="fr-FR" sz="1400">
              <a:solidFill>
                <a:schemeClr val="bg1"/>
              </a:solidFill>
              <a:ea typeface="Calibri"/>
              <a:cs typeface="Calibri"/>
            </a:endParaRPr>
          </a:p>
        </p:txBody>
      </p:sp>
      <p:sp>
        <p:nvSpPr>
          <p:cNvPr id="57" name="ZoneTexte 56">
            <a:extLst>
              <a:ext uri="{FF2B5EF4-FFF2-40B4-BE49-F238E27FC236}">
                <a16:creationId xmlns:a16="http://schemas.microsoft.com/office/drawing/2014/main" id="{DEB7010B-B125-19CB-BE87-EB764799A836}"/>
              </a:ext>
            </a:extLst>
          </p:cNvPr>
          <p:cNvSpPr txBox="1"/>
          <p:nvPr/>
        </p:nvSpPr>
        <p:spPr>
          <a:xfrm>
            <a:off x="335616" y="3864236"/>
            <a:ext cx="858090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fr-FR" sz="1200" dirty="0">
                <a:solidFill>
                  <a:schemeClr val="bg1"/>
                </a:solidFill>
                <a:ea typeface="Calibri"/>
                <a:cs typeface="Calibri"/>
              </a:rPr>
              <a:t>Le score météo est sur 100 points, établi selon la </a:t>
            </a:r>
            <a:r>
              <a:rPr lang="fr-FR" sz="1200" dirty="0" err="1">
                <a:solidFill>
                  <a:schemeClr val="bg1"/>
                </a:solidFill>
                <a:ea typeface="Calibri"/>
                <a:cs typeface="Calibri"/>
              </a:rPr>
              <a:t>fromule</a:t>
            </a:r>
            <a:r>
              <a:rPr lang="fr-FR" sz="1200" dirty="0">
                <a:solidFill>
                  <a:schemeClr val="bg1"/>
                </a:solidFill>
                <a:ea typeface="Calibri"/>
                <a:cs typeface="Calibri"/>
              </a:rPr>
              <a:t>:</a:t>
            </a:r>
            <a:endParaRPr lang="fr-FR">
              <a:solidFill>
                <a:schemeClr val="bg1"/>
              </a:solidFill>
              <a:ea typeface="Calibri"/>
              <a:cs typeface="Calibri"/>
            </a:endParaRPr>
          </a:p>
          <a:p>
            <a:endParaRPr lang="fr-FR" sz="1200" dirty="0">
              <a:solidFill>
                <a:schemeClr val="bg1"/>
              </a:solidFill>
              <a:ea typeface="Calibri"/>
              <a:cs typeface="Calibri"/>
            </a:endParaRPr>
          </a:p>
          <a:p>
            <a:pPr algn="ctr"/>
            <a:r>
              <a:rPr lang="fr-FR" sz="1200" dirty="0" err="1">
                <a:solidFill>
                  <a:schemeClr val="bg1"/>
                </a:solidFill>
                <a:ea typeface="Calibri"/>
                <a:cs typeface="Calibri"/>
              </a:rPr>
              <a:t>Score_meteo</a:t>
            </a:r>
            <a:r>
              <a:rPr lang="fr-FR" sz="1200" dirty="0">
                <a:solidFill>
                  <a:schemeClr val="bg1"/>
                </a:solidFill>
                <a:ea typeface="Calibri"/>
                <a:cs typeface="Calibri"/>
              </a:rPr>
              <a:t> = 4 * </a:t>
            </a:r>
            <a:r>
              <a:rPr lang="fr-FR" sz="1200" dirty="0" err="1">
                <a:solidFill>
                  <a:schemeClr val="bg1"/>
                </a:solidFill>
                <a:ea typeface="Calibri"/>
                <a:cs typeface="Calibri"/>
              </a:rPr>
              <a:t>note_pluie</a:t>
            </a:r>
            <a:r>
              <a:rPr lang="fr-FR" sz="1200" dirty="0">
                <a:solidFill>
                  <a:schemeClr val="bg1"/>
                </a:solidFill>
                <a:ea typeface="Calibri"/>
                <a:cs typeface="Calibri"/>
              </a:rPr>
              <a:t> + 3 * </a:t>
            </a:r>
            <a:r>
              <a:rPr lang="fr-FR" sz="1200" dirty="0" err="1">
                <a:solidFill>
                  <a:schemeClr val="bg1"/>
                </a:solidFill>
                <a:ea typeface="Calibri"/>
                <a:cs typeface="Calibri"/>
              </a:rPr>
              <a:t>note_soleil</a:t>
            </a:r>
            <a:r>
              <a:rPr lang="fr-FR" sz="1200" dirty="0">
                <a:solidFill>
                  <a:schemeClr val="bg1"/>
                </a:solidFill>
                <a:ea typeface="Calibri"/>
                <a:cs typeface="Calibri"/>
              </a:rPr>
              <a:t> + 2 * température + 1 * Vent</a:t>
            </a:r>
          </a:p>
          <a:p>
            <a:pPr algn="ctr"/>
            <a:r>
              <a:rPr lang="fr-FR" sz="1200">
                <a:solidFill>
                  <a:schemeClr val="accent1">
                    <a:lumMod val="49000"/>
                  </a:schemeClr>
                </a:solidFill>
                <a:ea typeface="Calibri"/>
                <a:cs typeface="Calibri"/>
              </a:rPr>
              <a:t> </a:t>
            </a:r>
            <a:endParaRPr lang="fr-FR" sz="1200" dirty="0">
              <a:solidFill>
                <a:schemeClr val="accent1">
                  <a:lumMod val="49000"/>
                </a:schemeClr>
              </a:solidFill>
              <a:ea typeface="Calibri"/>
              <a:cs typeface="Calibri"/>
            </a:endParaRPr>
          </a:p>
        </p:txBody>
      </p:sp>
    </p:spTree>
    <p:extLst>
      <p:ext uri="{BB962C8B-B14F-4D97-AF65-F5344CB8AC3E}">
        <p14:creationId xmlns:p14="http://schemas.microsoft.com/office/powerpoint/2010/main" val="326520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chemeClr val="tx2">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txBody>
          <a:bodyPr/>
          <a:lstStyle/>
          <a:p>
            <a:endParaRPr lang="fr-FR"/>
          </a:p>
        </p:txBody>
      </p:sp>
      <p:sp>
        <p:nvSpPr>
          <p:cNvPr id="5" name="Text 3"/>
          <p:cNvSpPr/>
          <p:nvPr/>
        </p:nvSpPr>
        <p:spPr>
          <a:xfrm>
            <a:off x="960120" y="0"/>
            <a:ext cx="7955280" cy="8229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Résultats - Visualisations interactives Plotly</a:t>
            </a:r>
            <a:endParaRPr lang="en-US" sz="2200" dirty="0"/>
          </a:p>
        </p:txBody>
      </p:sp>
      <p:sp>
        <p:nvSpPr>
          <p:cNvPr id="18" name="Text 16"/>
          <p:cNvSpPr/>
          <p:nvPr/>
        </p:nvSpPr>
        <p:spPr>
          <a:xfrm>
            <a:off x="320040" y="2084832"/>
            <a:ext cx="4206240" cy="292608"/>
          </a:xfrm>
          <a:prstGeom prst="rect">
            <a:avLst/>
          </a:prstGeom>
          <a:noFill/>
          <a:ln/>
        </p:spPr>
        <p:txBody>
          <a:bodyPr wrap="square" lIns="0" tIns="0" rIns="0" bIns="0" rtlCol="0" anchor="ctr"/>
          <a:lstStyle/>
          <a:p>
            <a:pPr marL="0" indent="0">
              <a:buNone/>
            </a:pPr>
            <a:r>
              <a:rPr lang="en-US" sz="1150" b="1" dirty="0">
                <a:solidFill>
                  <a:schemeClr val="bg1"/>
                </a:solidFill>
                <a:latin typeface="Calibri"/>
                <a:ea typeface="Calibri"/>
                <a:cs typeface="Calibri"/>
              </a:rPr>
              <a:t>Top 5 Destinations</a:t>
            </a:r>
            <a:endParaRPr lang="en-US" sz="1150">
              <a:solidFill>
                <a:schemeClr val="bg1"/>
              </a:solidFill>
              <a:latin typeface="Calibri"/>
              <a:ea typeface="Calibri"/>
              <a:cs typeface="Calibri"/>
            </a:endParaRPr>
          </a:p>
        </p:txBody>
      </p:sp>
      <p:sp>
        <p:nvSpPr>
          <p:cNvPr id="21" name="Shape 18"/>
          <p:cNvSpPr/>
          <p:nvPr/>
        </p:nvSpPr>
        <p:spPr>
          <a:xfrm>
            <a:off x="4617720" y="2057400"/>
            <a:ext cx="36576" cy="2633472"/>
          </a:xfrm>
          <a:prstGeom prst="rect">
            <a:avLst/>
          </a:prstGeom>
          <a:solidFill>
            <a:srgbClr val="02C39A"/>
          </a:solidFill>
          <a:ln w="12700">
            <a:solidFill>
              <a:srgbClr val="02C39A"/>
            </a:solidFill>
            <a:prstDash val="solid"/>
          </a:ln>
        </p:spPr>
        <p:txBody>
          <a:bodyPr/>
          <a:lstStyle/>
          <a:p>
            <a:endParaRPr lang="fr-FR"/>
          </a:p>
        </p:txBody>
      </p:sp>
      <p:sp>
        <p:nvSpPr>
          <p:cNvPr id="22" name="Text 19"/>
          <p:cNvSpPr/>
          <p:nvPr/>
        </p:nvSpPr>
        <p:spPr>
          <a:xfrm>
            <a:off x="4754880" y="2084832"/>
            <a:ext cx="4069080" cy="292608"/>
          </a:xfrm>
          <a:prstGeom prst="rect">
            <a:avLst/>
          </a:prstGeom>
          <a:noFill/>
          <a:ln/>
        </p:spPr>
        <p:txBody>
          <a:bodyPr wrap="square" lIns="0" tIns="0" rIns="0" bIns="0" rtlCol="0" anchor="ctr"/>
          <a:lstStyle/>
          <a:p>
            <a:pPr marL="0" indent="0">
              <a:buNone/>
            </a:pPr>
            <a:r>
              <a:rPr lang="en-US" sz="1150" b="1" dirty="0">
                <a:solidFill>
                  <a:schemeClr val="bg1"/>
                </a:solidFill>
                <a:latin typeface="Calibri"/>
                <a:ea typeface="Calibri"/>
                <a:cs typeface="Calibri"/>
              </a:rPr>
              <a:t>Top 20 </a:t>
            </a:r>
            <a:r>
              <a:rPr lang="en-US" sz="1150" b="1" dirty="0" err="1">
                <a:solidFill>
                  <a:schemeClr val="bg1"/>
                </a:solidFill>
                <a:latin typeface="Calibri"/>
                <a:ea typeface="Calibri"/>
                <a:cs typeface="Calibri"/>
              </a:rPr>
              <a:t>Hôtels</a:t>
            </a:r>
            <a:endParaRPr lang="en-US" sz="1150" err="1">
              <a:solidFill>
                <a:schemeClr val="bg1"/>
              </a:solidFill>
              <a:latin typeface="Calibri"/>
              <a:ea typeface="Calibri"/>
              <a:cs typeface="Calibri"/>
            </a:endParaRPr>
          </a:p>
        </p:txBody>
      </p:sp>
      <p:sp>
        <p:nvSpPr>
          <p:cNvPr id="20" name="ZoneTexte 19">
            <a:extLst>
              <a:ext uri="{FF2B5EF4-FFF2-40B4-BE49-F238E27FC236}">
                <a16:creationId xmlns:a16="http://schemas.microsoft.com/office/drawing/2014/main" id="{D17D5907-D215-14D0-B774-954780A1F7B4}"/>
              </a:ext>
            </a:extLst>
          </p:cNvPr>
          <p:cNvSpPr txBox="1"/>
          <p:nvPr/>
        </p:nvSpPr>
        <p:spPr>
          <a:xfrm>
            <a:off x="317462" y="1288115"/>
            <a:ext cx="85388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fr-FR" sz="1200" dirty="0">
                <a:solidFill>
                  <a:schemeClr val="bg1"/>
                </a:solidFill>
                <a:ea typeface="Calibri"/>
                <a:cs typeface="Calibri"/>
              </a:rPr>
              <a:t>Avec </a:t>
            </a:r>
            <a:r>
              <a:rPr lang="fr-FR" sz="1200" dirty="0" err="1">
                <a:solidFill>
                  <a:schemeClr val="bg1"/>
                </a:solidFill>
                <a:ea typeface="Calibri"/>
                <a:cs typeface="Calibri"/>
              </a:rPr>
              <a:t>SQLAlchemy</a:t>
            </a:r>
            <a:r>
              <a:rPr lang="fr-FR" sz="1200" dirty="0">
                <a:solidFill>
                  <a:schemeClr val="bg1"/>
                </a:solidFill>
                <a:ea typeface="Calibri"/>
                <a:cs typeface="Calibri"/>
              </a:rPr>
              <a:t>, on requête la </a:t>
            </a:r>
            <a:r>
              <a:rPr lang="fr-FR" sz="1200" dirty="0" err="1">
                <a:solidFill>
                  <a:schemeClr val="bg1"/>
                </a:solidFill>
                <a:ea typeface="Calibri"/>
                <a:cs typeface="Calibri"/>
              </a:rPr>
              <a:t>database</a:t>
            </a:r>
            <a:r>
              <a:rPr lang="fr-FR" sz="1200" dirty="0">
                <a:solidFill>
                  <a:schemeClr val="bg1"/>
                </a:solidFill>
                <a:ea typeface="Calibri"/>
                <a:cs typeface="Calibri"/>
              </a:rPr>
              <a:t> Redshift pour récupérer le top 5 des destinations et le top 20 des hôtels. </a:t>
            </a:r>
            <a:endParaRPr lang="fr-FR">
              <a:solidFill>
                <a:schemeClr val="bg1"/>
              </a:solidFill>
              <a:ea typeface="Calibri"/>
              <a:cs typeface="Calibri"/>
            </a:endParaRPr>
          </a:p>
          <a:p>
            <a:endParaRPr lang="fr-FR" sz="1200" dirty="0">
              <a:solidFill>
                <a:schemeClr val="bg1"/>
              </a:solidFill>
              <a:ea typeface="Calibri"/>
              <a:cs typeface="Calibri"/>
            </a:endParaRPr>
          </a:p>
          <a:p>
            <a:pPr marL="171450" indent="-171450">
              <a:buFont typeface="Arial"/>
              <a:buChar char="•"/>
            </a:pPr>
            <a:r>
              <a:rPr lang="fr-FR" sz="1200" dirty="0">
                <a:solidFill>
                  <a:schemeClr val="bg1"/>
                </a:solidFill>
                <a:ea typeface="Calibri"/>
                <a:cs typeface="Calibri"/>
              </a:rPr>
              <a:t>On visualise les résultats via </a:t>
            </a:r>
            <a:r>
              <a:rPr lang="fr-FR" sz="1200" dirty="0" err="1">
                <a:solidFill>
                  <a:schemeClr val="bg1"/>
                </a:solidFill>
                <a:ea typeface="Calibri"/>
                <a:cs typeface="Calibri"/>
              </a:rPr>
              <a:t>Plotly</a:t>
            </a:r>
            <a:r>
              <a:rPr lang="fr-FR" sz="1200" dirty="0">
                <a:solidFill>
                  <a:schemeClr val="bg1"/>
                </a:solidFill>
                <a:ea typeface="Calibri"/>
                <a:cs typeface="Calibri"/>
              </a:rPr>
              <a:t> (</a:t>
            </a:r>
            <a:r>
              <a:rPr lang="fr-FR" sz="1200" dirty="0" err="1">
                <a:solidFill>
                  <a:schemeClr val="bg1"/>
                </a:solidFill>
                <a:ea typeface="Calibri"/>
                <a:cs typeface="Calibri"/>
              </a:rPr>
              <a:t>map</a:t>
            </a:r>
            <a:r>
              <a:rPr lang="fr-FR" sz="1200" dirty="0">
                <a:solidFill>
                  <a:schemeClr val="bg1"/>
                </a:solidFill>
                <a:ea typeface="Calibri"/>
                <a:cs typeface="Calibri"/>
              </a:rPr>
              <a:t> plot).</a:t>
            </a:r>
          </a:p>
        </p:txBody>
      </p:sp>
      <p:pic>
        <p:nvPicPr>
          <p:cNvPr id="24" name="Image 23" descr="Une image contenant texte, carte, atlas, diagramme&#10;&#10;Le contenu généré par l’IA peut être incorrect.">
            <a:extLst>
              <a:ext uri="{FF2B5EF4-FFF2-40B4-BE49-F238E27FC236}">
                <a16:creationId xmlns:a16="http://schemas.microsoft.com/office/drawing/2014/main" id="{1E486741-8E33-F1F7-FE8F-B47643FEE6AD}"/>
              </a:ext>
            </a:extLst>
          </p:cNvPr>
          <p:cNvPicPr>
            <a:picLocks noChangeAspect="1"/>
          </p:cNvPicPr>
          <p:nvPr/>
        </p:nvPicPr>
        <p:blipFill>
          <a:blip r:embed="rId3"/>
          <a:stretch>
            <a:fillRect/>
          </a:stretch>
        </p:blipFill>
        <p:spPr>
          <a:xfrm>
            <a:off x="34290" y="2377440"/>
            <a:ext cx="4511040" cy="2636520"/>
          </a:xfrm>
          <a:prstGeom prst="rect">
            <a:avLst/>
          </a:prstGeom>
        </p:spPr>
      </p:pic>
      <p:pic>
        <p:nvPicPr>
          <p:cNvPr id="29" name="Image 28" descr="Une image contenant texte, carte, atlas, diagramme&#10;&#10;Le contenu généré par l’IA peut être incorrect.">
            <a:extLst>
              <a:ext uri="{FF2B5EF4-FFF2-40B4-BE49-F238E27FC236}">
                <a16:creationId xmlns:a16="http://schemas.microsoft.com/office/drawing/2014/main" id="{2A53612E-9040-9079-5256-1EC4B8BF53AB}"/>
              </a:ext>
            </a:extLst>
          </p:cNvPr>
          <p:cNvPicPr>
            <a:picLocks noChangeAspect="1"/>
          </p:cNvPicPr>
          <p:nvPr/>
        </p:nvPicPr>
        <p:blipFill>
          <a:blip r:embed="rId4"/>
          <a:stretch>
            <a:fillRect/>
          </a:stretch>
        </p:blipFill>
        <p:spPr>
          <a:xfrm>
            <a:off x="4659630" y="2438400"/>
            <a:ext cx="4427220" cy="2705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6" name="Text 4"/>
          <p:cNvSpPr/>
          <p:nvPr/>
        </p:nvSpPr>
        <p:spPr>
          <a:xfrm>
            <a:off x="320040" y="932688"/>
            <a:ext cx="4023360" cy="329184"/>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Ce que ce projet démontre</a:t>
            </a:r>
            <a:endParaRPr lang="en-US" sz="1200" dirty="0"/>
          </a:p>
        </p:txBody>
      </p:sp>
      <p:sp>
        <p:nvSpPr>
          <p:cNvPr id="7" name="Text 5"/>
          <p:cNvSpPr/>
          <p:nvPr/>
        </p:nvSpPr>
        <p:spPr>
          <a:xfrm>
            <a:off x="320040" y="1298448"/>
            <a:ext cx="4023360" cy="1828800"/>
          </a:xfrm>
          <a:prstGeom prst="rect">
            <a:avLst/>
          </a:prstGeom>
          <a:noFill/>
          <a:ln/>
        </p:spPr>
        <p:txBody>
          <a:bodyPr wrap="square" lIns="0" tIns="0" rIns="0" bIns="0" rtlCol="0" anchor="ctr"/>
          <a:lstStyle/>
          <a:p>
            <a:pPr marL="342900" indent="-342900">
              <a:lnSpc>
                <a:spcPct val="125000"/>
              </a:lnSpc>
              <a:spcAft>
                <a:spcPts val="500"/>
              </a:spcAft>
              <a:buSzPct val="100000"/>
              <a:buChar char="•"/>
            </a:pPr>
            <a:r>
              <a:rPr lang="en-US" sz="1000" dirty="0" err="1">
                <a:solidFill>
                  <a:srgbClr val="FFFFFF"/>
                </a:solidFill>
                <a:latin typeface="Calibri"/>
                <a:ea typeface="Calibri"/>
                <a:cs typeface="Calibri"/>
              </a:rPr>
              <a:t>Collecte</a:t>
            </a:r>
            <a:r>
              <a:rPr lang="en-US" sz="1000" dirty="0">
                <a:solidFill>
                  <a:srgbClr val="FFFFFF"/>
                </a:solidFill>
                <a:latin typeface="Calibri"/>
                <a:ea typeface="Calibri"/>
                <a:cs typeface="Calibri"/>
              </a:rPr>
              <a:t> multi-sources : API REST + Scraping Selenium</a:t>
            </a:r>
            <a:endParaRPr lang="en-US" sz="1000" dirty="0">
              <a:latin typeface="Calibri"/>
              <a:ea typeface="Calibri"/>
              <a:cs typeface="Calibri"/>
            </a:endParaRPr>
          </a:p>
          <a:p>
            <a:pPr marL="342900" indent="-342900">
              <a:lnSpc>
                <a:spcPct val="125000"/>
              </a:lnSpc>
              <a:spcAft>
                <a:spcPts val="500"/>
              </a:spcAft>
              <a:buSzPct val="100000"/>
              <a:buChar char="•"/>
            </a:pPr>
            <a:r>
              <a:rPr lang="en-US" sz="1000" dirty="0">
                <a:solidFill>
                  <a:srgbClr val="FFFFFF"/>
                </a:solidFill>
                <a:latin typeface="Calibri"/>
                <a:ea typeface="Calibri"/>
                <a:cs typeface="Calibri"/>
              </a:rPr>
              <a:t>Pipeline ETL </a:t>
            </a:r>
            <a:r>
              <a:rPr lang="en-US" sz="1000" dirty="0" err="1">
                <a:solidFill>
                  <a:srgbClr val="FFFFFF"/>
                </a:solidFill>
                <a:latin typeface="Calibri"/>
                <a:ea typeface="Calibri"/>
                <a:cs typeface="Calibri"/>
              </a:rPr>
              <a:t>structuré</a:t>
            </a:r>
            <a:r>
              <a:rPr lang="en-US" sz="1000" dirty="0">
                <a:solidFill>
                  <a:srgbClr val="FFFFFF"/>
                </a:solidFill>
                <a:latin typeface="Calibri"/>
                <a:ea typeface="Calibri"/>
                <a:cs typeface="Calibri"/>
              </a:rPr>
              <a:t> avec scoring métier</a:t>
            </a:r>
            <a:endParaRPr lang="en-US" sz="1000" dirty="0">
              <a:latin typeface="Calibri"/>
              <a:ea typeface="Calibri"/>
              <a:cs typeface="Calibri"/>
            </a:endParaRPr>
          </a:p>
          <a:p>
            <a:pPr marL="342900" indent="-342900">
              <a:lnSpc>
                <a:spcPct val="125000"/>
              </a:lnSpc>
              <a:spcAft>
                <a:spcPts val="500"/>
              </a:spcAft>
              <a:buSzPct val="100000"/>
              <a:buChar char="•"/>
            </a:pPr>
            <a:r>
              <a:rPr lang="en-US" sz="1000" dirty="0" err="1">
                <a:solidFill>
                  <a:srgbClr val="FFFFFF"/>
                </a:solidFill>
                <a:latin typeface="Calibri"/>
                <a:ea typeface="Calibri"/>
                <a:cs typeface="Calibri"/>
              </a:rPr>
              <a:t>Conformité</a:t>
            </a:r>
            <a:r>
              <a:rPr lang="en-US" sz="1000" dirty="0">
                <a:solidFill>
                  <a:srgbClr val="FFFFFF"/>
                </a:solidFill>
                <a:latin typeface="Calibri"/>
                <a:ea typeface="Calibri"/>
                <a:cs typeface="Calibri"/>
              </a:rPr>
              <a:t> RGPD : </a:t>
            </a:r>
            <a:r>
              <a:rPr lang="en-US" sz="1000" dirty="0" err="1">
                <a:solidFill>
                  <a:srgbClr val="FFFFFF"/>
                </a:solidFill>
                <a:latin typeface="Calibri"/>
                <a:ea typeface="Calibri"/>
                <a:cs typeface="Calibri"/>
              </a:rPr>
              <a:t>aucune</a:t>
            </a:r>
            <a:r>
              <a:rPr lang="en-US" sz="1000" dirty="0">
                <a:solidFill>
                  <a:srgbClr val="FFFFFF"/>
                </a:solidFill>
                <a:latin typeface="Calibri"/>
                <a:ea typeface="Calibri"/>
                <a:cs typeface="Calibri"/>
              </a:rPr>
              <a:t> donnée </a:t>
            </a:r>
            <a:r>
              <a:rPr lang="en-US" sz="1000" dirty="0" err="1">
                <a:solidFill>
                  <a:srgbClr val="FFFFFF"/>
                </a:solidFill>
                <a:latin typeface="Calibri"/>
                <a:ea typeface="Calibri"/>
                <a:cs typeface="Calibri"/>
              </a:rPr>
              <a:t>personnelle</a:t>
            </a:r>
            <a:r>
              <a:rPr lang="en-US" sz="1000" dirty="0">
                <a:solidFill>
                  <a:srgbClr val="FFFFFF"/>
                </a:solidFill>
                <a:latin typeface="Calibri"/>
                <a:ea typeface="Calibri"/>
                <a:cs typeface="Calibri"/>
              </a:rPr>
              <a:t> · </a:t>
            </a:r>
            <a:r>
              <a:rPr lang="en-US" sz="1000" dirty="0" err="1">
                <a:solidFill>
                  <a:srgbClr val="FFFFFF"/>
                </a:solidFill>
                <a:latin typeface="Calibri"/>
                <a:ea typeface="Calibri"/>
                <a:cs typeface="Calibri"/>
              </a:rPr>
              <a:t>clés</a:t>
            </a:r>
            <a:r>
              <a:rPr lang="en-US" sz="1000" dirty="0">
                <a:solidFill>
                  <a:srgbClr val="FFFFFF"/>
                </a:solidFill>
                <a:latin typeface="Calibri"/>
                <a:ea typeface="Calibri"/>
                <a:cs typeface="Calibri"/>
              </a:rPr>
              <a:t> protégées (.env)</a:t>
            </a:r>
            <a:endParaRPr lang="en-US" sz="1000" dirty="0">
              <a:latin typeface="Calibri"/>
              <a:ea typeface="Calibri"/>
              <a:cs typeface="Calibri"/>
            </a:endParaRPr>
          </a:p>
          <a:p>
            <a:pPr marL="342900" indent="-342900">
              <a:lnSpc>
                <a:spcPct val="125000"/>
              </a:lnSpc>
              <a:spcAft>
                <a:spcPts val="500"/>
              </a:spcAft>
              <a:buSzPct val="100000"/>
              <a:buChar char="•"/>
            </a:pPr>
            <a:r>
              <a:rPr lang="en-US" sz="1000" dirty="0">
                <a:solidFill>
                  <a:srgbClr val="FFFFFF"/>
                </a:solidFill>
                <a:latin typeface="Calibri"/>
                <a:ea typeface="Calibri"/>
                <a:cs typeface="Calibri"/>
              </a:rPr>
              <a:t>Architecture Data Lake / Data Warehouse </a:t>
            </a:r>
            <a:r>
              <a:rPr lang="en-US" sz="1000" dirty="0" err="1">
                <a:solidFill>
                  <a:srgbClr val="FFFFFF"/>
                </a:solidFill>
                <a:latin typeface="Calibri"/>
                <a:ea typeface="Calibri"/>
                <a:cs typeface="Calibri"/>
              </a:rPr>
              <a:t>séparée</a:t>
            </a:r>
          </a:p>
        </p:txBody>
      </p:sp>
      <p:sp>
        <p:nvSpPr>
          <p:cNvPr id="8" name="Text 6"/>
          <p:cNvSpPr/>
          <p:nvPr/>
        </p:nvSpPr>
        <p:spPr>
          <a:xfrm>
            <a:off x="320040" y="3200400"/>
            <a:ext cx="4023360" cy="329184"/>
          </a:xfrm>
          <a:prstGeom prst="rect">
            <a:avLst/>
          </a:prstGeom>
          <a:noFill/>
          <a:ln/>
        </p:spPr>
        <p:txBody>
          <a:bodyPr wrap="square" lIns="0" tIns="0" rIns="0" bIns="0" rtlCol="0" anchor="ctr"/>
          <a:lstStyle/>
          <a:p>
            <a:pPr marL="0" indent="0">
              <a:buNone/>
            </a:pPr>
            <a:r>
              <a:rPr lang="en-US" sz="1200" b="1" dirty="0">
                <a:solidFill>
                  <a:srgbClr val="E74C3C"/>
                </a:solidFill>
                <a:latin typeface="Calibri" pitchFamily="34" charset="0"/>
                <a:ea typeface="Calibri" pitchFamily="34" charset="-122"/>
                <a:cs typeface="Calibri" pitchFamily="34" charset="-120"/>
              </a:rPr>
              <a:t>Limites identifiées</a:t>
            </a:r>
            <a:endParaRPr lang="en-US" sz="1200" dirty="0"/>
          </a:p>
        </p:txBody>
      </p:sp>
      <p:sp>
        <p:nvSpPr>
          <p:cNvPr id="9" name="Text 7"/>
          <p:cNvSpPr/>
          <p:nvPr/>
        </p:nvSpPr>
        <p:spPr>
          <a:xfrm>
            <a:off x="320040" y="3566160"/>
            <a:ext cx="4023360" cy="9144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FCA5A5"/>
                </a:solidFill>
                <a:latin typeface="Calibri"/>
                <a:ea typeface="Calibri"/>
                <a:cs typeface="Calibri"/>
              </a:rPr>
              <a:t>Booking </a:t>
            </a:r>
            <a:r>
              <a:rPr lang="en-US" sz="1000" dirty="0" err="1">
                <a:solidFill>
                  <a:srgbClr val="FCA5A5"/>
                </a:solidFill>
                <a:latin typeface="Calibri"/>
                <a:ea typeface="Calibri"/>
                <a:cs typeface="Calibri"/>
              </a:rPr>
              <a:t>bloque</a:t>
            </a:r>
            <a:r>
              <a:rPr lang="en-US" sz="1000" dirty="0">
                <a:solidFill>
                  <a:srgbClr val="FCA5A5"/>
                </a:solidFill>
                <a:latin typeface="Calibri"/>
                <a:ea typeface="Calibri"/>
                <a:cs typeface="Calibri"/>
              </a:rPr>
              <a:t> à 3 </a:t>
            </a:r>
            <a:r>
              <a:rPr lang="en-US" sz="1000" dirty="0" err="1">
                <a:solidFill>
                  <a:srgbClr val="FCA5A5"/>
                </a:solidFill>
                <a:latin typeface="Calibri"/>
                <a:ea typeface="Calibri"/>
                <a:cs typeface="Calibri"/>
              </a:rPr>
              <a:t>hôtels</a:t>
            </a:r>
            <a:r>
              <a:rPr lang="en-US" sz="1000" dirty="0">
                <a:solidFill>
                  <a:srgbClr val="FCA5A5"/>
                </a:solidFill>
                <a:latin typeface="Calibri"/>
                <a:ea typeface="Calibri"/>
                <a:cs typeface="Calibri"/>
              </a:rPr>
              <a:t>/</a:t>
            </a:r>
            <a:r>
              <a:rPr lang="en-US" sz="1000" dirty="0" err="1">
                <a:solidFill>
                  <a:srgbClr val="FCA5A5"/>
                </a:solidFill>
                <a:latin typeface="Calibri"/>
                <a:ea typeface="Calibri"/>
                <a:cs typeface="Calibri"/>
              </a:rPr>
              <a:t>ville</a:t>
            </a:r>
            <a:r>
              <a:rPr lang="en-US" sz="1000" dirty="0">
                <a:solidFill>
                  <a:srgbClr val="FCA5A5"/>
                </a:solidFill>
                <a:latin typeface="Calibri"/>
                <a:ea typeface="Calibri"/>
                <a:cs typeface="Calibri"/>
              </a:rPr>
              <a:t> → rotation de proxies</a:t>
            </a:r>
            <a:endParaRPr lang="en-US" sz="1000" dirty="0">
              <a:latin typeface="Calibri"/>
              <a:ea typeface="Calibri"/>
              <a:cs typeface="Calibri"/>
            </a:endParaRPr>
          </a:p>
          <a:p>
            <a:pPr marL="342900" indent="-342900">
              <a:spcAft>
                <a:spcPts val="400"/>
              </a:spcAft>
              <a:buSzPct val="100000"/>
              <a:buChar char="•"/>
            </a:pPr>
            <a:r>
              <a:rPr lang="en-US" sz="1000" dirty="0">
                <a:solidFill>
                  <a:srgbClr val="FCA5A5"/>
                </a:solidFill>
                <a:latin typeface="Calibri"/>
                <a:ea typeface="Calibri"/>
                <a:cs typeface="Calibri"/>
              </a:rPr>
              <a:t>Temps de scraping large → </a:t>
            </a:r>
            <a:r>
              <a:rPr lang="en-US" sz="1000" dirty="0" err="1">
                <a:solidFill>
                  <a:srgbClr val="FCA5A5"/>
                </a:solidFill>
                <a:latin typeface="Calibri"/>
                <a:ea typeface="Calibri"/>
                <a:cs typeface="Calibri"/>
              </a:rPr>
              <a:t>attente</a:t>
            </a:r>
            <a:r>
              <a:rPr lang="en-US" sz="1000" dirty="0">
                <a:solidFill>
                  <a:srgbClr val="FCA5A5"/>
                </a:solidFill>
                <a:latin typeface="Calibri"/>
                <a:ea typeface="Calibri"/>
                <a:cs typeface="Calibri"/>
              </a:rPr>
              <a:t> </a:t>
            </a:r>
            <a:r>
              <a:rPr lang="en-US" sz="1000" dirty="0" err="1">
                <a:solidFill>
                  <a:srgbClr val="FCA5A5"/>
                </a:solidFill>
                <a:latin typeface="Calibri"/>
                <a:ea typeface="Calibri"/>
                <a:cs typeface="Calibri"/>
              </a:rPr>
              <a:t>intélligente</a:t>
            </a:r>
            <a:r>
              <a:rPr lang="en-US" sz="1000" dirty="0">
                <a:solidFill>
                  <a:srgbClr val="FCA5A5"/>
                </a:solidFill>
                <a:latin typeface="Calibri"/>
                <a:ea typeface="Calibri"/>
                <a:cs typeface="Calibri"/>
              </a:rPr>
              <a:t>, </a:t>
            </a:r>
            <a:r>
              <a:rPr lang="en-US" sz="1000" dirty="0" err="1">
                <a:solidFill>
                  <a:srgbClr val="FCA5A5"/>
                </a:solidFill>
                <a:latin typeface="Calibri"/>
                <a:ea typeface="Calibri"/>
                <a:cs typeface="Calibri"/>
              </a:rPr>
              <a:t>WebDriverWait</a:t>
            </a:r>
            <a:endParaRPr lang="en-US" sz="1000" dirty="0" err="1">
              <a:latin typeface="Calibri"/>
              <a:ea typeface="Calibri"/>
              <a:cs typeface="Calibri"/>
            </a:endParaRPr>
          </a:p>
        </p:txBody>
      </p:sp>
      <p:sp>
        <p:nvSpPr>
          <p:cNvPr id="22" name="Text 20"/>
          <p:cNvSpPr/>
          <p:nvPr/>
        </p:nvSpPr>
        <p:spPr>
          <a:xfrm>
            <a:off x="4815840" y="3200400"/>
            <a:ext cx="4023360" cy="329184"/>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Perspectives</a:t>
            </a:r>
            <a:endParaRPr lang="en-US" sz="1200" dirty="0"/>
          </a:p>
        </p:txBody>
      </p:sp>
      <p:sp>
        <p:nvSpPr>
          <p:cNvPr id="23" name="Text 21"/>
          <p:cNvSpPr/>
          <p:nvPr/>
        </p:nvSpPr>
        <p:spPr>
          <a:xfrm>
            <a:off x="4815840" y="3566160"/>
            <a:ext cx="4023360" cy="914400"/>
          </a:xfrm>
          <a:prstGeom prst="rect">
            <a:avLst/>
          </a:prstGeom>
          <a:noFill/>
          <a:ln/>
        </p:spPr>
        <p:txBody>
          <a:bodyPr wrap="square" lIns="0" tIns="0" rIns="0" bIns="0" rtlCol="0" anchor="ctr"/>
          <a:lstStyle/>
          <a:p>
            <a:pPr marL="342900" indent="-342900">
              <a:spcAft>
                <a:spcPts val="400"/>
              </a:spcAft>
              <a:buSzPct val="100000"/>
              <a:buChar char="•"/>
            </a:pPr>
            <a:r>
              <a:rPr lang="en-US" sz="1000" dirty="0" err="1">
                <a:solidFill>
                  <a:srgbClr val="FFFFFF"/>
                </a:solidFill>
                <a:latin typeface="Calibri"/>
                <a:ea typeface="Calibri"/>
                <a:cs typeface="Calibri"/>
              </a:rPr>
              <a:t>Automatiser</a:t>
            </a:r>
            <a:r>
              <a:rPr lang="en-US" sz="1000" dirty="0">
                <a:solidFill>
                  <a:srgbClr val="FFFFFF"/>
                </a:solidFill>
                <a:latin typeface="Calibri"/>
                <a:ea typeface="Calibri"/>
                <a:cs typeface="Calibri"/>
              </a:rPr>
              <a:t> le pipeline</a:t>
            </a:r>
          </a:p>
          <a:p>
            <a:pPr marL="342900" indent="-342900">
              <a:spcAft>
                <a:spcPts val="400"/>
              </a:spcAft>
              <a:buSzPct val="100000"/>
              <a:buChar char="•"/>
            </a:pPr>
            <a:r>
              <a:rPr lang="en-US" sz="1000" err="1">
                <a:solidFill>
                  <a:srgbClr val="FFFFFF"/>
                </a:solidFill>
                <a:latin typeface="Calibri"/>
                <a:ea typeface="Calibri"/>
                <a:cs typeface="Calibri"/>
              </a:rPr>
              <a:t>Enrichir</a:t>
            </a:r>
            <a:r>
              <a:rPr lang="en-US" sz="1000">
                <a:solidFill>
                  <a:srgbClr val="FFFFFF"/>
                </a:solidFill>
                <a:latin typeface="Calibri"/>
                <a:ea typeface="Calibri"/>
                <a:cs typeface="Calibri"/>
              </a:rPr>
              <a:t> le dataset avec les prix de trains, avions, ...</a:t>
            </a:r>
            <a:endParaRPr lang="en-US" sz="1000">
              <a:latin typeface="Calibri"/>
              <a:ea typeface="Calibri"/>
              <a:cs typeface="Calibri"/>
            </a:endParaRPr>
          </a:p>
          <a:p>
            <a:pPr marL="342900" indent="-342900">
              <a:spcAft>
                <a:spcPts val="400"/>
              </a:spcAft>
              <a:buSzPct val="100000"/>
              <a:buChar char="•"/>
            </a:pPr>
            <a:r>
              <a:rPr lang="en-US" sz="1000" dirty="0">
                <a:solidFill>
                  <a:srgbClr val="FFFFFF"/>
                </a:solidFill>
                <a:latin typeface="Calibri"/>
                <a:ea typeface="Calibri"/>
                <a:cs typeface="Calibri"/>
              </a:rPr>
              <a:t>Exposer le pipeline via </a:t>
            </a:r>
            <a:r>
              <a:rPr lang="en-US" sz="1000" dirty="0" err="1">
                <a:solidFill>
                  <a:srgbClr val="FFFFFF"/>
                </a:solidFill>
                <a:latin typeface="Calibri"/>
                <a:ea typeface="Calibri"/>
                <a:cs typeface="Calibri"/>
              </a:rPr>
              <a:t>une</a:t>
            </a:r>
            <a:r>
              <a:rPr lang="en-US" sz="1000" dirty="0">
                <a:solidFill>
                  <a:srgbClr val="FFFFFF"/>
                </a:solidFill>
                <a:latin typeface="Calibri"/>
                <a:ea typeface="Calibri"/>
                <a:cs typeface="Calibri"/>
              </a:rPr>
              <a:t> API </a:t>
            </a:r>
            <a:r>
              <a:rPr lang="en-US" sz="1000" dirty="0" err="1">
                <a:solidFill>
                  <a:srgbClr val="FFFFFF"/>
                </a:solidFill>
                <a:latin typeface="Calibri"/>
                <a:ea typeface="Calibri"/>
                <a:cs typeface="Calibri"/>
              </a:rPr>
              <a:t>FastAPI</a:t>
            </a:r>
            <a:endParaRPr lang="en-US" sz="1000" dirty="0" err="1">
              <a:latin typeface="Calibri"/>
              <a:ea typeface="Calibri"/>
              <a:cs typeface="Calibri"/>
            </a:endParaRPr>
          </a:p>
        </p:txBody>
      </p:sp>
      <p:sp>
        <p:nvSpPr>
          <p:cNvPr id="27" name="Shape 0">
            <a:extLst>
              <a:ext uri="{FF2B5EF4-FFF2-40B4-BE49-F238E27FC236}">
                <a16:creationId xmlns:a16="http://schemas.microsoft.com/office/drawing/2014/main" id="{CA7B0FA0-8BB1-B22B-96D2-752DE58FD5B5}"/>
              </a:ext>
            </a:extLst>
          </p:cNvPr>
          <p:cNvSpPr/>
          <p:nvPr/>
        </p:nvSpPr>
        <p:spPr>
          <a:xfrm>
            <a:off x="0" y="0"/>
            <a:ext cx="9144000" cy="822960"/>
          </a:xfrm>
          <a:prstGeom prst="rect">
            <a:avLst/>
          </a:prstGeom>
          <a:solidFill>
            <a:srgbClr val="065A82"/>
          </a:solidFill>
          <a:ln w="12700">
            <a:solidFill>
              <a:srgbClr val="065A82"/>
            </a:solidFill>
            <a:prstDash val="solid"/>
          </a:ln>
        </p:spPr>
        <p:txBody>
          <a:bodyPr/>
          <a:lstStyle/>
          <a:p>
            <a:endParaRPr lang="fr-FR"/>
          </a:p>
        </p:txBody>
      </p:sp>
      <p:sp>
        <p:nvSpPr>
          <p:cNvPr id="31" name="Text 3">
            <a:extLst>
              <a:ext uri="{FF2B5EF4-FFF2-40B4-BE49-F238E27FC236}">
                <a16:creationId xmlns:a16="http://schemas.microsoft.com/office/drawing/2014/main" id="{C1F9E38D-7A95-73C9-3E11-95874D163559}"/>
              </a:ext>
            </a:extLst>
          </p:cNvPr>
          <p:cNvSpPr/>
          <p:nvPr/>
        </p:nvSpPr>
        <p:spPr>
          <a:xfrm>
            <a:off x="975360" y="0"/>
            <a:ext cx="7955280" cy="822960"/>
          </a:xfrm>
          <a:prstGeom prst="rect">
            <a:avLst/>
          </a:prstGeom>
          <a:noFill/>
          <a:ln/>
        </p:spPr>
        <p:txBody>
          <a:bodyPr wrap="square" lIns="0" tIns="0" rIns="0" bIns="0" rtlCol="0" anchor="ctr"/>
          <a:lstStyle/>
          <a:p>
            <a:endParaRPr lang="en-US" sz="2000" b="1" dirty="0">
              <a:solidFill>
                <a:srgbClr val="FFFFFF"/>
              </a:solidFill>
              <a:latin typeface="Calibri"/>
              <a:ea typeface="Calibri"/>
              <a:cs typeface="Calibri"/>
            </a:endParaRPr>
          </a:p>
          <a:p>
            <a:r>
              <a:rPr lang="en-US" sz="2000" b="1" dirty="0">
                <a:solidFill>
                  <a:srgbClr val="FFFFFF"/>
                </a:solidFill>
                <a:latin typeface="Calibri"/>
                <a:ea typeface="Calibri"/>
                <a:cs typeface="Calibri"/>
              </a:rPr>
              <a:t>Points techniques, </a:t>
            </a:r>
            <a:r>
              <a:rPr lang="en-US" sz="2000" b="1" dirty="0" err="1">
                <a:solidFill>
                  <a:srgbClr val="FFFFFF"/>
                </a:solidFill>
                <a:latin typeface="Calibri"/>
                <a:ea typeface="Calibri"/>
                <a:cs typeface="Calibri"/>
              </a:rPr>
              <a:t>Limites</a:t>
            </a:r>
            <a:r>
              <a:rPr lang="en-US" sz="2000" b="1" dirty="0">
                <a:solidFill>
                  <a:srgbClr val="FFFFFF"/>
                </a:solidFill>
                <a:latin typeface="Calibri"/>
                <a:ea typeface="Calibri"/>
                <a:cs typeface="Calibri"/>
              </a:rPr>
              <a:t> &amp; Conclusion</a:t>
            </a:r>
            <a:endParaRPr lang="en-US" sz="2000" dirty="0">
              <a:solidFill>
                <a:srgbClr val="000000"/>
              </a:solidFill>
              <a:latin typeface="Calibri"/>
              <a:ea typeface="Calibri"/>
              <a:cs typeface="Calibri"/>
            </a:endParaRPr>
          </a:p>
          <a:p>
            <a:pPr marL="0" indent="0">
              <a:buNone/>
            </a:pPr>
            <a:endParaRPr lang="en-US" sz="2200" b="1" dirty="0">
              <a:solidFill>
                <a:srgbClr val="FFFFFF"/>
              </a:solidFill>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243F"/>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4972050" y="19202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4972050" y="29489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8572500" y="4841748"/>
            <a:ext cx="480060" cy="205740"/>
          </a:xfrm>
          <a:prstGeom prst="rect">
            <a:avLst/>
          </a:prstGeom>
          <a:extLst>
            <a:ext uri="{C572A759-6A51-4108-AA02-DFA0A04FC94B}">
              <ma14:wrappingTextBoxFlag xmlns="" xmlns:ma14="http://schemas.microsoft.com/office/mac/drawingml/2011/main" val="0"/>
            </a:ext>
          </a:extLst>
        </p:spPr>
        <p:txBody>
          <a:bodyPr/>
          <a:lstStyle>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r"/>
            <a:fld id="{F7021451-1387-4CA6-816F-3879F97B5CBC}" type="slidenum">
              <a:rPr lang="fr-FR" b="0" noProof="0" smtClean="0"/>
              <a:t>6</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1565028" y="1799274"/>
            <a:ext cx="5104682" cy="1038746"/>
          </a:xfrm>
          <a:prstGeom prst="rect">
            <a:avLst/>
          </a:prstGeom>
          <a:noFill/>
        </p:spPr>
        <p:txBody>
          <a:bodyPr wrap="square" lIns="68580" tIns="34290" rIns="68580" bIns="34290" rtlCol="0" anchor="t">
            <a:sp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fr-FR" sz="2100">
                <a:solidFill>
                  <a:schemeClr val="bg1"/>
                </a:solidFill>
                <a:latin typeface="Cambria"/>
                <a:ea typeface="Cambria"/>
              </a:rPr>
              <a:t>Merci</a:t>
            </a:r>
            <a:r>
              <a:rPr lang="fr-FR" sz="2100" noProof="0">
                <a:solidFill>
                  <a:schemeClr val="bg1"/>
                </a:solidFill>
                <a:latin typeface="Cambria"/>
                <a:ea typeface="Cambria"/>
              </a:rPr>
              <a:t> de votre attention !</a:t>
            </a:r>
            <a:endParaRPr lang="fr-FR" sz="1013">
              <a:solidFill>
                <a:schemeClr val="bg1"/>
              </a:solidFill>
              <a:latin typeface="Cambria"/>
              <a:ea typeface="Cambria"/>
            </a:endParaRPr>
          </a:p>
          <a:p>
            <a:pPr algn="ctr"/>
            <a:endParaRPr lang="fr-FR" sz="2100" dirty="0">
              <a:solidFill>
                <a:schemeClr val="bg1"/>
              </a:solidFill>
              <a:latin typeface="Cambria"/>
              <a:ea typeface="Cambria"/>
            </a:endParaRPr>
          </a:p>
          <a:p>
            <a:pPr algn="ctr"/>
            <a:r>
              <a:rPr lang="fr-FR" sz="2100">
                <a:solidFill>
                  <a:schemeClr val="bg1"/>
                </a:solidFill>
                <a:latin typeface="Cambria"/>
                <a:ea typeface="Cambria"/>
              </a:rPr>
              <a:t>Des questions?</a:t>
            </a:r>
            <a:r>
              <a:rPr lang="fr-FR" sz="1000" noProof="0" dirty="0"/>
              <a:t> </a:t>
            </a:r>
            <a:endParaRPr lang="fr-FR" sz="1000" noProof="0" dirty="0">
              <a:ea typeface="Calibri"/>
              <a:cs typeface="Calibri"/>
            </a:endParaRPr>
          </a:p>
        </p:txBody>
      </p:sp>
      <p:sp>
        <p:nvSpPr>
          <p:cNvPr id="2" name="Shape 0">
            <a:extLst>
              <a:ext uri="{FF2B5EF4-FFF2-40B4-BE49-F238E27FC236}">
                <a16:creationId xmlns:a16="http://schemas.microsoft.com/office/drawing/2014/main" id="{AB2DBBB2-0054-B161-A744-D06F2F1E22AC}"/>
              </a:ext>
            </a:extLst>
          </p:cNvPr>
          <p:cNvSpPr/>
          <p:nvPr/>
        </p:nvSpPr>
        <p:spPr>
          <a:xfrm>
            <a:off x="2309076" y="526444"/>
            <a:ext cx="3566160" cy="3566160"/>
          </a:xfrm>
          <a:prstGeom prst="ellipse">
            <a:avLst/>
          </a:prstGeom>
          <a:solidFill>
            <a:srgbClr val="1FA8B8">
              <a:alpha val="13725"/>
            </a:srgbClr>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fr-FR" sz="1013" noProof="0" dirty="0"/>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566</Words>
  <Application>Microsoft Office PowerPoint</Application>
  <PresentationFormat>Affichage à l'écran (16:9)</PresentationFormat>
  <Paragraphs>113</Paragraphs>
  <Slides>6</Slides>
  <Notes>6</Notes>
  <HiddenSlides>0</HiddenSlides>
  <MMClips>0</MMClips>
  <ScaleCrop>false</ScaleCrop>
  <HeadingPairs>
    <vt:vector size="4" baseType="variant">
      <vt:variant>
        <vt:lpstr>Thème</vt:lpstr>
      </vt:variant>
      <vt:variant>
        <vt:i4>1</vt:i4>
      </vt:variant>
      <vt:variant>
        <vt:lpstr>Titres des diapositives</vt:lpstr>
      </vt:variant>
      <vt:variant>
        <vt:i4>6</vt:i4>
      </vt:variant>
    </vt:vector>
  </HeadingPairs>
  <TitlesOfParts>
    <vt:vector size="7" baseType="lpstr">
      <vt:lpstr>Office Theme</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Kayak - Storytelling CSDS</dc:title>
  <dc:subject>PptxGenJS Presentation</dc:subject>
  <dc:creator>PptxGenJS</dc:creator>
  <cp:lastModifiedBy>Aicha FATHELLAH</cp:lastModifiedBy>
  <cp:revision>429</cp:revision>
  <dcterms:created xsi:type="dcterms:W3CDTF">2026-05-06T12:04:29Z</dcterms:created>
  <dcterms:modified xsi:type="dcterms:W3CDTF">2026-10-25T12:23:49Z</dcterms:modified>
</cp:coreProperties>
</file>