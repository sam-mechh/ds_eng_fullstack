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61" r:id="rId3"/>
    <p:sldId id="262" r:id="rId4"/>
    <p:sldId id="263" r:id="rId5"/>
    <p:sldId id="257" r:id="rId6"/>
    <p:sldId id="258" r:id="rId7"/>
    <p:sldId id="259" r:id="rId8"/>
    <p:sldId id="260" r:id="rId9"/>
    <p:sldId id="269"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1942"/>
    <a:srgbClr val="360C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403" dt="2026-10-25T14:43:43.1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0152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F7E68-B851-8F0E-FEF5-1A8F2ED8D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FE128B-D7F2-7767-BAEE-7DB9F5E57E27}"/>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9938CF52-1F85-9D32-9524-2F71FB5B0E57}"/>
              </a:ext>
            </a:extLst>
          </p:cNvPr>
          <p:cNvSpPr>
            <a:spLocks noGrp="1"/>
          </p:cNvSpPr>
          <p:nvPr>
            <p:ph type="body" idx="1"/>
          </p:nvPr>
        </p:nvSpPr>
        <p:spPr/>
        <p:txBody>
          <a:bodyPr/>
          <a:lstStyle/>
          <a:p>
            <a:r>
              <a:rPr lang="fr-FR" b="1" dirty="0"/>
              <a:t>7:30 - 8:00</a:t>
            </a:r>
          </a:p>
          <a:p>
            <a:r>
              <a:rPr lang="fr-FR" dirty="0"/>
              <a:t>Conclusion : ce projet montre qu'un second regard automatique, fonde sur un encodeur specialise et une fusion fine entre image et texte, peut renforcer la securite du patient sans se substituer au jugement medical.</a:t>
            </a:r>
          </a:p>
          <a:p>
            <a:r>
              <a:rPr lang="fr-FR" dirty="0"/>
              <a:t>La demonstration en ligne est accessible via le lien affiche ci-dessous. Je suis maintenant disponible pour vos questions.</a:t>
            </a:r>
          </a:p>
          <a:p>
            <a:endParaRPr lang="fr-FR" dirty="0"/>
          </a:p>
        </p:txBody>
      </p:sp>
      <p:sp>
        <p:nvSpPr>
          <p:cNvPr id="4" name="Slide Number Placeholder 3">
            <a:extLst>
              <a:ext uri="{FF2B5EF4-FFF2-40B4-BE49-F238E27FC236}">
                <a16:creationId xmlns:a16="http://schemas.microsoft.com/office/drawing/2014/main" id="{E3449097-D955-808A-CA9E-6D41DE4B8B72}"/>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364676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B33"/>
        </a:solidFill>
        <a:effectLst/>
      </p:bgPr>
    </p:bg>
    <p:spTree>
      <p:nvGrpSpPr>
        <p:cNvPr id="1" name=""/>
        <p:cNvGrpSpPr/>
        <p:nvPr/>
      </p:nvGrpSpPr>
      <p:grpSpPr>
        <a:xfrm>
          <a:off x="0" y="0"/>
          <a:ext cx="0" cy="0"/>
          <a:chOff x="0" y="0"/>
          <a:chExt cx="0" cy="0"/>
        </a:xfrm>
      </p:grpSpPr>
      <p:sp>
        <p:nvSpPr>
          <p:cNvPr id="2" name="Shape 0"/>
          <p:cNvSpPr/>
          <p:nvPr/>
        </p:nvSpPr>
        <p:spPr>
          <a:xfrm>
            <a:off x="1234440" y="102870"/>
            <a:ext cx="4937760" cy="4937760"/>
          </a:xfrm>
          <a:prstGeom prst="ellipse">
            <a:avLst/>
          </a:prstGeom>
          <a:solidFill>
            <a:srgbClr val="3C1E2D"/>
          </a:solidFill>
          <a:ln/>
        </p:spPr>
        <p:txBody>
          <a:bodyPr/>
          <a:lstStyle/>
          <a:p>
            <a:endParaRPr/>
          </a:p>
        </p:txBody>
      </p:sp>
      <p:sp>
        <p:nvSpPr>
          <p:cNvPr id="5" name="Text 2"/>
          <p:cNvSpPr/>
          <p:nvPr/>
        </p:nvSpPr>
        <p:spPr>
          <a:xfrm>
            <a:off x="2034540" y="807720"/>
            <a:ext cx="4259580" cy="1889760"/>
          </a:xfrm>
          <a:prstGeom prst="rect">
            <a:avLst/>
          </a:prstGeom>
          <a:noFill/>
          <a:ln/>
        </p:spPr>
        <p:txBody>
          <a:bodyPr wrap="square" lIns="0" tIns="0" rIns="0" bIns="0" rtlCol="0" anchor="t"/>
          <a:lstStyle/>
          <a:p>
            <a:pPr marL="0" indent="0" algn="l">
              <a:lnSpc>
                <a:spcPct val="98000"/>
              </a:lnSpc>
              <a:buNone/>
            </a:pPr>
            <a:r>
              <a:rPr lang="en-US" sz="4000" b="1" dirty="0" err="1">
                <a:solidFill>
                  <a:srgbClr val="FFFFFF"/>
                </a:solidFill>
                <a:latin typeface="Cambria"/>
                <a:ea typeface="Cambria"/>
                <a:cs typeface="Cambria" pitchFamily="34" charset="-120"/>
              </a:rPr>
              <a:t>Qu'est-ce</a:t>
            </a:r>
            <a:r>
              <a:rPr lang="en-US" sz="4000" b="1" dirty="0">
                <a:solidFill>
                  <a:srgbClr val="FFFFFF"/>
                </a:solidFill>
                <a:latin typeface="Cambria"/>
                <a:ea typeface="Cambria"/>
                <a:cs typeface="Cambria" pitchFamily="34" charset="-120"/>
              </a:rPr>
              <a:t> qui</a:t>
            </a:r>
            <a:endParaRPr lang="en-US" sz="4000" dirty="0">
              <a:latin typeface="Cambria"/>
              <a:ea typeface="Cambria"/>
            </a:endParaRPr>
          </a:p>
          <a:p>
            <a:pPr marL="0" indent="0" algn="l">
              <a:lnSpc>
                <a:spcPct val="98000"/>
              </a:lnSpc>
              <a:buNone/>
            </a:pPr>
            <a:r>
              <a:rPr lang="en-US" sz="4000" b="1" dirty="0" err="1">
                <a:solidFill>
                  <a:srgbClr val="FFFFFF"/>
                </a:solidFill>
                <a:latin typeface="Cambria"/>
                <a:ea typeface="Cambria"/>
                <a:cs typeface="Cambria" pitchFamily="34" charset="-120"/>
              </a:rPr>
              <a:t>déclenche</a:t>
            </a:r>
            <a:endParaRPr lang="en-US" sz="4000" dirty="0" err="1">
              <a:latin typeface="Cambria"/>
              <a:ea typeface="Cambria"/>
            </a:endParaRPr>
          </a:p>
          <a:p>
            <a:pPr>
              <a:lnSpc>
                <a:spcPct val="98000"/>
              </a:lnSpc>
            </a:pPr>
            <a:r>
              <a:rPr lang="en-US" sz="4000" b="1">
                <a:solidFill>
                  <a:srgbClr val="FFFFFF"/>
                </a:solidFill>
                <a:latin typeface="Cambria"/>
                <a:ea typeface="Cambria"/>
                <a:cs typeface="Cambria" pitchFamily="34" charset="-120"/>
              </a:rPr>
              <a:t>un match</a:t>
            </a:r>
            <a:r>
              <a:rPr lang="en-US" sz="4000" b="1" dirty="0">
                <a:solidFill>
                  <a:srgbClr val="FFFFFF"/>
                </a:solidFill>
                <a:latin typeface="Cambria"/>
                <a:ea typeface="Cambria"/>
                <a:cs typeface="Cambria" pitchFamily="34" charset="-120"/>
              </a:rPr>
              <a:t> ?</a:t>
            </a:r>
            <a:endParaRPr lang="en-US" sz="4000" dirty="0">
              <a:latin typeface="Cambria"/>
              <a:ea typeface="Cambria"/>
            </a:endParaRPr>
          </a:p>
        </p:txBody>
      </p:sp>
      <p:sp>
        <p:nvSpPr>
          <p:cNvPr id="6" name="Shape 3"/>
          <p:cNvSpPr/>
          <p:nvPr/>
        </p:nvSpPr>
        <p:spPr>
          <a:xfrm>
            <a:off x="2034540" y="2910840"/>
            <a:ext cx="2331720" cy="384048"/>
          </a:xfrm>
          <a:prstGeom prst="roundRect">
            <a:avLst>
              <a:gd name="adj" fmla="val 19048"/>
            </a:avLst>
          </a:prstGeom>
          <a:solidFill>
            <a:srgbClr val="EF4565"/>
          </a:solidFill>
          <a:ln/>
        </p:spPr>
        <p:txBody>
          <a:bodyPr/>
          <a:lstStyle/>
          <a:p>
            <a:endParaRPr/>
          </a:p>
        </p:txBody>
      </p:sp>
      <p:sp>
        <p:nvSpPr>
          <p:cNvPr id="7" name="Text 4"/>
          <p:cNvSpPr/>
          <p:nvPr/>
        </p:nvSpPr>
        <p:spPr>
          <a:xfrm>
            <a:off x="2034540" y="2910840"/>
            <a:ext cx="2331720" cy="384048"/>
          </a:xfrm>
          <a:prstGeom prst="rect">
            <a:avLst/>
          </a:prstGeom>
          <a:noFill/>
          <a:ln/>
        </p:spPr>
        <p:txBody>
          <a:bodyPr wrap="square" lIns="91440" tIns="45720" rIns="91440" bIns="45720" rtlCol="0" anchor="ctr"/>
          <a:lstStyle/>
          <a:p>
            <a:pPr marL="0" indent="0" algn="ctr">
              <a:buNone/>
            </a:pPr>
            <a:r>
              <a:rPr lang="en-US" sz="1200" b="1" kern="0" spc="100" dirty="0">
                <a:solidFill>
                  <a:srgbClr val="FFFFFF"/>
                </a:solidFill>
                <a:latin typeface="Cambria"/>
                <a:ea typeface="Cambria"/>
                <a:cs typeface="Cambria" pitchFamily="34" charset="-120"/>
              </a:rPr>
              <a:t>SPEED DATING (TINDER)</a:t>
            </a:r>
            <a:endParaRPr lang="en-US" sz="1200" dirty="0"/>
          </a:p>
        </p:txBody>
      </p:sp>
      <p:sp>
        <p:nvSpPr>
          <p:cNvPr id="8" name="Text 5"/>
          <p:cNvSpPr/>
          <p:nvPr/>
        </p:nvSpPr>
        <p:spPr>
          <a:xfrm>
            <a:off x="632460" y="3520440"/>
            <a:ext cx="4206240" cy="640080"/>
          </a:xfrm>
          <a:prstGeom prst="rect">
            <a:avLst/>
          </a:prstGeom>
          <a:noFill/>
          <a:ln/>
        </p:spPr>
        <p:txBody>
          <a:bodyPr wrap="square" lIns="91440" tIns="45720" rIns="91440" bIns="45720" rtlCol="0" anchor="t"/>
          <a:lstStyle/>
          <a:p>
            <a:pPr marL="0" indent="0" algn="l">
              <a:buNone/>
            </a:pPr>
            <a:r>
              <a:rPr lang="en-US" sz="1150" i="1" dirty="0" err="1">
                <a:solidFill>
                  <a:srgbClr val="AEB7C4"/>
                </a:solidFill>
                <a:latin typeface="Calibri"/>
                <a:ea typeface="Calibri"/>
                <a:cs typeface="Calibri"/>
              </a:rPr>
              <a:t>Analyse</a:t>
            </a:r>
            <a:r>
              <a:rPr lang="en-US" sz="1150" i="1" dirty="0">
                <a:solidFill>
                  <a:srgbClr val="AEB7C4"/>
                </a:solidFill>
                <a:latin typeface="Calibri"/>
                <a:ea typeface="Calibri"/>
                <a:cs typeface="Calibri"/>
              </a:rPr>
              <a:t> de 8 378 rencontres entre 552 participants, </a:t>
            </a:r>
            <a:r>
              <a:rPr lang="en-US" sz="1150" i="1" dirty="0" err="1">
                <a:solidFill>
                  <a:srgbClr val="AEB7C4"/>
                </a:solidFill>
                <a:latin typeface="Calibri"/>
                <a:ea typeface="Calibri"/>
                <a:cs typeface="Calibri"/>
              </a:rPr>
              <a:t>expérience</a:t>
            </a:r>
            <a:r>
              <a:rPr lang="en-US" sz="1150" i="1" dirty="0">
                <a:solidFill>
                  <a:srgbClr val="AEB7C4"/>
                </a:solidFill>
                <a:latin typeface="Calibri"/>
                <a:ea typeface="Calibri"/>
                <a:cs typeface="Calibri"/>
              </a:rPr>
              <a:t> Columbia University (2002-2004)</a:t>
            </a:r>
            <a:endParaRPr lang="en-US" sz="1150" dirty="0">
              <a:latin typeface="Calibri"/>
              <a:ea typeface="Calibri"/>
              <a:cs typeface="Calibri"/>
            </a:endParaRPr>
          </a:p>
        </p:txBody>
      </p:sp>
      <p:sp>
        <p:nvSpPr>
          <p:cNvPr id="9" name="Shape 6"/>
          <p:cNvSpPr/>
          <p:nvPr/>
        </p:nvSpPr>
        <p:spPr>
          <a:xfrm>
            <a:off x="6720840" y="502920"/>
            <a:ext cx="1965960" cy="1234440"/>
          </a:xfrm>
          <a:prstGeom prst="rect">
            <a:avLst/>
          </a:prstGeom>
          <a:solidFill>
            <a:srgbClr val="1E2540"/>
          </a:solidFill>
          <a:ln w="15875">
            <a:solidFill>
              <a:srgbClr val="EF4565"/>
            </a:solidFill>
            <a:prstDash val="solid"/>
          </a:ln>
        </p:spPr>
        <p:txBody>
          <a:bodyPr/>
          <a:lstStyle/>
          <a:p>
            <a:endParaRPr/>
          </a:p>
        </p:txBody>
      </p:sp>
      <p:sp>
        <p:nvSpPr>
          <p:cNvPr id="10" name="Text 7"/>
          <p:cNvSpPr/>
          <p:nvPr/>
        </p:nvSpPr>
        <p:spPr>
          <a:xfrm>
            <a:off x="6720840" y="667512"/>
            <a:ext cx="1965960" cy="548640"/>
          </a:xfrm>
          <a:prstGeom prst="rect">
            <a:avLst/>
          </a:prstGeom>
          <a:noFill/>
          <a:ln/>
        </p:spPr>
        <p:txBody>
          <a:bodyPr wrap="square" rtlCol="0" anchor="ctr"/>
          <a:lstStyle/>
          <a:p>
            <a:pPr marL="0" indent="0" algn="ctr">
              <a:buNone/>
            </a:pPr>
            <a:r>
              <a:rPr lang="en-US" sz="2800" b="1" dirty="0">
                <a:solidFill>
                  <a:srgbClr val="EF4565"/>
                </a:solidFill>
                <a:latin typeface="Cambria" pitchFamily="34" charset="0"/>
                <a:ea typeface="Cambria" pitchFamily="34" charset="-122"/>
                <a:cs typeface="Cambria" pitchFamily="34" charset="-120"/>
              </a:rPr>
              <a:t>8 378</a:t>
            </a:r>
            <a:endParaRPr lang="en-US" sz="2800" dirty="0"/>
          </a:p>
        </p:txBody>
      </p:sp>
      <p:sp>
        <p:nvSpPr>
          <p:cNvPr id="11" name="Text 8"/>
          <p:cNvSpPr/>
          <p:nvPr/>
        </p:nvSpPr>
        <p:spPr>
          <a:xfrm>
            <a:off x="6720840" y="1252728"/>
            <a:ext cx="1965960" cy="365760"/>
          </a:xfrm>
          <a:prstGeom prst="rect">
            <a:avLst/>
          </a:prstGeom>
          <a:noFill/>
          <a:ln/>
        </p:spPr>
        <p:txBody>
          <a:bodyPr wrap="square" rtlCol="0" anchor="ctr"/>
          <a:lstStyle/>
          <a:p>
            <a:pPr marL="0" indent="0" algn="ctr">
              <a:buNone/>
            </a:pPr>
            <a:r>
              <a:rPr lang="en-US" sz="1050" dirty="0">
                <a:solidFill>
                  <a:srgbClr val="D7DBE6"/>
                </a:solidFill>
                <a:latin typeface="Calibri" pitchFamily="34" charset="0"/>
                <a:ea typeface="Calibri" pitchFamily="34" charset="-122"/>
                <a:cs typeface="Calibri" pitchFamily="34" charset="-120"/>
              </a:rPr>
              <a:t>Rencontres analysées</a:t>
            </a:r>
            <a:endParaRPr lang="en-US" sz="1050" dirty="0"/>
          </a:p>
        </p:txBody>
      </p:sp>
      <p:sp>
        <p:nvSpPr>
          <p:cNvPr id="12" name="Shape 9"/>
          <p:cNvSpPr/>
          <p:nvPr/>
        </p:nvSpPr>
        <p:spPr>
          <a:xfrm>
            <a:off x="6720840" y="1984248"/>
            <a:ext cx="1965960" cy="1234440"/>
          </a:xfrm>
          <a:prstGeom prst="rect">
            <a:avLst/>
          </a:prstGeom>
          <a:solidFill>
            <a:srgbClr val="1E2540"/>
          </a:solidFill>
          <a:ln w="15875">
            <a:solidFill>
              <a:srgbClr val="EF4565"/>
            </a:solidFill>
            <a:prstDash val="solid"/>
          </a:ln>
        </p:spPr>
        <p:txBody>
          <a:bodyPr/>
          <a:lstStyle/>
          <a:p>
            <a:endParaRPr/>
          </a:p>
        </p:txBody>
      </p:sp>
      <p:sp>
        <p:nvSpPr>
          <p:cNvPr id="13" name="Text 10"/>
          <p:cNvSpPr/>
          <p:nvPr/>
        </p:nvSpPr>
        <p:spPr>
          <a:xfrm>
            <a:off x="6720840" y="2148840"/>
            <a:ext cx="1965960" cy="548640"/>
          </a:xfrm>
          <a:prstGeom prst="rect">
            <a:avLst/>
          </a:prstGeom>
          <a:noFill/>
          <a:ln/>
        </p:spPr>
        <p:txBody>
          <a:bodyPr wrap="square" rtlCol="0" anchor="ctr"/>
          <a:lstStyle/>
          <a:p>
            <a:pPr marL="0" indent="0" algn="ctr">
              <a:buNone/>
            </a:pPr>
            <a:r>
              <a:rPr lang="en-US" sz="2800" b="1" dirty="0">
                <a:solidFill>
                  <a:srgbClr val="EF4565"/>
                </a:solidFill>
                <a:latin typeface="Cambria" pitchFamily="34" charset="0"/>
                <a:ea typeface="Cambria" pitchFamily="34" charset="-122"/>
                <a:cs typeface="Cambria" pitchFamily="34" charset="-120"/>
              </a:rPr>
              <a:t>16,5 %</a:t>
            </a:r>
            <a:endParaRPr lang="en-US" sz="2800" dirty="0"/>
          </a:p>
        </p:txBody>
      </p:sp>
      <p:sp>
        <p:nvSpPr>
          <p:cNvPr id="14" name="Text 11"/>
          <p:cNvSpPr/>
          <p:nvPr/>
        </p:nvSpPr>
        <p:spPr>
          <a:xfrm>
            <a:off x="6720840" y="2734056"/>
            <a:ext cx="1965960" cy="365760"/>
          </a:xfrm>
          <a:prstGeom prst="rect">
            <a:avLst/>
          </a:prstGeom>
          <a:noFill/>
          <a:ln/>
        </p:spPr>
        <p:txBody>
          <a:bodyPr wrap="square" lIns="91440" tIns="45720" rIns="91440" bIns="45720" rtlCol="0" anchor="ctr"/>
          <a:lstStyle/>
          <a:p>
            <a:pPr marL="0" indent="0" algn="ctr">
              <a:buNone/>
            </a:pPr>
            <a:r>
              <a:rPr lang="en-US" sz="1050" dirty="0" err="1">
                <a:solidFill>
                  <a:srgbClr val="D7DBE6"/>
                </a:solidFill>
                <a:latin typeface="Calibri"/>
                <a:ea typeface="Calibri"/>
                <a:cs typeface="Calibri"/>
              </a:rPr>
              <a:t>Taux</a:t>
            </a:r>
            <a:r>
              <a:rPr lang="en-US" sz="1050" dirty="0">
                <a:solidFill>
                  <a:srgbClr val="D7DBE6"/>
                </a:solidFill>
                <a:latin typeface="Calibri"/>
                <a:ea typeface="Calibri"/>
                <a:cs typeface="Calibri"/>
              </a:rPr>
              <a:t> de match</a:t>
            </a:r>
            <a:endParaRPr lang="en-US" sz="1050" dirty="0">
              <a:latin typeface="Calibri"/>
              <a:ea typeface="Calibri"/>
              <a:cs typeface="Calibri"/>
            </a:endParaRPr>
          </a:p>
        </p:txBody>
      </p:sp>
      <p:sp>
        <p:nvSpPr>
          <p:cNvPr id="15" name="Shape 12"/>
          <p:cNvSpPr/>
          <p:nvPr/>
        </p:nvSpPr>
        <p:spPr>
          <a:xfrm>
            <a:off x="6720840" y="3465576"/>
            <a:ext cx="1965960" cy="1234440"/>
          </a:xfrm>
          <a:prstGeom prst="rect">
            <a:avLst/>
          </a:prstGeom>
          <a:solidFill>
            <a:srgbClr val="1E2540"/>
          </a:solidFill>
          <a:ln w="15875">
            <a:solidFill>
              <a:srgbClr val="EF4565"/>
            </a:solidFill>
            <a:prstDash val="solid"/>
          </a:ln>
        </p:spPr>
        <p:txBody>
          <a:bodyPr/>
          <a:lstStyle/>
          <a:p>
            <a:endParaRPr/>
          </a:p>
        </p:txBody>
      </p:sp>
      <p:sp>
        <p:nvSpPr>
          <p:cNvPr id="16" name="Text 13"/>
          <p:cNvSpPr/>
          <p:nvPr/>
        </p:nvSpPr>
        <p:spPr>
          <a:xfrm>
            <a:off x="6720840" y="3630168"/>
            <a:ext cx="1965960" cy="548640"/>
          </a:xfrm>
          <a:prstGeom prst="rect">
            <a:avLst/>
          </a:prstGeom>
          <a:noFill/>
          <a:ln/>
        </p:spPr>
        <p:txBody>
          <a:bodyPr wrap="square" rtlCol="0" anchor="ctr"/>
          <a:lstStyle/>
          <a:p>
            <a:pPr marL="0" indent="0" algn="ctr">
              <a:buNone/>
            </a:pPr>
            <a:r>
              <a:rPr lang="en-US" sz="2800" b="1" dirty="0">
                <a:solidFill>
                  <a:srgbClr val="EF4565"/>
                </a:solidFill>
                <a:latin typeface="Cambria" pitchFamily="34" charset="0"/>
                <a:ea typeface="Cambria" pitchFamily="34" charset="-122"/>
                <a:cs typeface="Cambria" pitchFamily="34" charset="-120"/>
              </a:rPr>
              <a:t>195</a:t>
            </a:r>
            <a:endParaRPr lang="en-US" sz="2800" dirty="0"/>
          </a:p>
        </p:txBody>
      </p:sp>
      <p:sp>
        <p:nvSpPr>
          <p:cNvPr id="17" name="Text 14"/>
          <p:cNvSpPr/>
          <p:nvPr/>
        </p:nvSpPr>
        <p:spPr>
          <a:xfrm>
            <a:off x="6720840" y="4215384"/>
            <a:ext cx="1965960" cy="365760"/>
          </a:xfrm>
          <a:prstGeom prst="rect">
            <a:avLst/>
          </a:prstGeom>
          <a:noFill/>
          <a:ln/>
        </p:spPr>
        <p:txBody>
          <a:bodyPr wrap="square" rtlCol="0" anchor="ctr"/>
          <a:lstStyle/>
          <a:p>
            <a:pPr marL="0" indent="0" algn="ctr">
              <a:buNone/>
            </a:pPr>
            <a:r>
              <a:rPr lang="en-US" sz="1050" dirty="0">
                <a:solidFill>
                  <a:srgbClr val="D7DBE6"/>
                </a:solidFill>
                <a:latin typeface="Calibri" pitchFamily="34" charset="0"/>
                <a:ea typeface="Calibri" pitchFamily="34" charset="-122"/>
                <a:cs typeface="Calibri" pitchFamily="34" charset="-120"/>
              </a:rPr>
              <a:t>Variables collectées</a:t>
            </a:r>
            <a:endParaRPr lang="en-US" sz="1050" dirty="0"/>
          </a:p>
        </p:txBody>
      </p:sp>
      <p:sp>
        <p:nvSpPr>
          <p:cNvPr id="18" name="TextBox 17">
            <a:extLst>
              <a:ext uri="{FF2B5EF4-FFF2-40B4-BE49-F238E27FC236}">
                <a16:creationId xmlns:a16="http://schemas.microsoft.com/office/drawing/2014/main" id="{280B1E10-4E99-2753-006E-FB70D5200A62}"/>
              </a:ext>
            </a:extLst>
          </p:cNvPr>
          <p:cNvSpPr txBox="1"/>
          <p:nvPr/>
        </p:nvSpPr>
        <p:spPr>
          <a:xfrm>
            <a:off x="781610" y="4580404"/>
            <a:ext cx="163886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chemeClr val="bg1"/>
                </a:solidFill>
                <a:ea typeface="Calibri"/>
                <a:cs typeface="Calibri"/>
              </a:rPr>
              <a:t>Samer MECHHOUD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457200" y="391407"/>
            <a:ext cx="8229600" cy="369332"/>
          </a:xfrm>
          <a:prstGeom prst="rect">
            <a:avLst/>
          </a:prstGeom>
          <a:noFill/>
        </p:spPr>
        <p:txBody>
          <a:bodyPr wrap="square" lIns="0" tIns="0" rIns="0" bIns="0" anchor="ctr">
            <a:spAutoFit/>
          </a:bodyPr>
          <a:lstStyle/>
          <a:p>
            <a:r>
              <a:rPr lang="en-US" sz="2400" b="1">
                <a:solidFill>
                  <a:srgbClr val="21304A"/>
                </a:solidFill>
                <a:latin typeface="Cambria"/>
              </a:rPr>
              <a:t>Environnement et premières observations</a:t>
            </a:r>
            <a:endParaRPr lang="en-US" sz="2400" b="1">
              <a:solidFill>
                <a:srgbClr val="21304A"/>
              </a:solidFill>
              <a:latin typeface="Cambria"/>
              <a:ea typeface="Cambria"/>
            </a:endParaRPr>
          </a:p>
        </p:txBody>
      </p:sp>
      <p:sp>
        <p:nvSpPr>
          <p:cNvPr id="48" name="TextBox 47">
            <a:extLst>
              <a:ext uri="{FF2B5EF4-FFF2-40B4-BE49-F238E27FC236}">
                <a16:creationId xmlns:a16="http://schemas.microsoft.com/office/drawing/2014/main" id="{F5834573-5635-DBC1-2BAC-E03CC7604C0C}"/>
              </a:ext>
            </a:extLst>
          </p:cNvPr>
          <p:cNvSpPr txBox="1"/>
          <p:nvPr/>
        </p:nvSpPr>
        <p:spPr>
          <a:xfrm>
            <a:off x="350407" y="1033742"/>
            <a:ext cx="8445761" cy="13773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solidFill>
                  <a:schemeClr val="tx2">
                    <a:lumMod val="49000"/>
                  </a:schemeClr>
                </a:solidFill>
                <a:ea typeface="Calibri"/>
                <a:cs typeface="Calibri"/>
              </a:rPr>
              <a:t>Speed dates de 4 min, </a:t>
            </a:r>
            <a:r>
              <a:rPr lang="en-US" sz="1200" dirty="0" err="1">
                <a:solidFill>
                  <a:schemeClr val="tx2">
                    <a:lumMod val="49000"/>
                  </a:schemeClr>
                </a:solidFill>
                <a:ea typeface="Calibri"/>
                <a:cs typeface="Calibri"/>
              </a:rPr>
              <a:t>enchaînés</a:t>
            </a:r>
            <a:r>
              <a:rPr lang="en-US" sz="1200" dirty="0">
                <a:solidFill>
                  <a:schemeClr val="tx2">
                    <a:lumMod val="49000"/>
                  </a:schemeClr>
                </a:solidFill>
                <a:ea typeface="Calibri"/>
                <a:cs typeface="Calibri"/>
              </a:rPr>
              <a:t> (</a:t>
            </a:r>
            <a:r>
              <a:rPr lang="en-US" sz="1200" dirty="0" err="1">
                <a:solidFill>
                  <a:schemeClr val="tx2">
                    <a:lumMod val="49000"/>
                  </a:schemeClr>
                </a:solidFill>
                <a:ea typeface="Calibri"/>
                <a:cs typeface="Calibri"/>
              </a:rPr>
              <a:t>jusqu'à</a:t>
            </a:r>
            <a:r>
              <a:rPr lang="en-US" sz="1200" dirty="0">
                <a:solidFill>
                  <a:schemeClr val="tx2">
                    <a:lumMod val="49000"/>
                  </a:schemeClr>
                </a:solidFill>
                <a:ea typeface="Calibri"/>
                <a:cs typeface="Calibri"/>
              </a:rPr>
              <a:t> 22 dates)</a:t>
            </a:r>
          </a:p>
          <a:p>
            <a:endParaRPr lang="en-US" sz="1200" dirty="0">
              <a:solidFill>
                <a:schemeClr val="tx2">
                  <a:lumMod val="49000"/>
                </a:schemeClr>
              </a:solidFill>
              <a:ea typeface="Calibri"/>
              <a:cs typeface="Calibri"/>
            </a:endParaRPr>
          </a:p>
          <a:p>
            <a:r>
              <a:rPr lang="en-US" sz="1200" dirty="0">
                <a:solidFill>
                  <a:schemeClr val="tx2">
                    <a:lumMod val="49000"/>
                  </a:schemeClr>
                </a:solidFill>
              </a:rPr>
              <a:t>78.5% des femmes et 73% des hommes </a:t>
            </a:r>
            <a:r>
              <a:rPr lang="en-US" sz="1200" dirty="0" err="1">
                <a:solidFill>
                  <a:schemeClr val="tx2">
                    <a:lumMod val="49000"/>
                  </a:schemeClr>
                </a:solidFill>
              </a:rPr>
              <a:t>ont</a:t>
            </a:r>
            <a:r>
              <a:rPr lang="en-US" sz="1200" dirty="0">
                <a:solidFill>
                  <a:schemeClr val="tx2">
                    <a:lumMod val="49000"/>
                  </a:schemeClr>
                </a:solidFill>
              </a:rPr>
              <a:t> fait </a:t>
            </a:r>
            <a:r>
              <a:rPr lang="en-US" sz="1200" dirty="0" err="1">
                <a:solidFill>
                  <a:schemeClr val="tx2">
                    <a:lumMod val="49000"/>
                  </a:schemeClr>
                </a:solidFill>
              </a:rPr>
              <a:t>l'expérience</a:t>
            </a:r>
            <a:r>
              <a:rPr lang="en-US" sz="1200" dirty="0">
                <a:solidFill>
                  <a:schemeClr val="tx2">
                    <a:lumMod val="49000"/>
                  </a:schemeClr>
                </a:solidFill>
              </a:rPr>
              <a:t> </a:t>
            </a:r>
            <a:r>
              <a:rPr lang="en-US" sz="1200" dirty="0" err="1">
                <a:solidFill>
                  <a:schemeClr val="tx2">
                    <a:lumMod val="49000"/>
                  </a:schemeClr>
                </a:solidFill>
              </a:rPr>
              <a:t>juste</a:t>
            </a:r>
            <a:r>
              <a:rPr lang="en-US" sz="1200" dirty="0">
                <a:solidFill>
                  <a:schemeClr val="tx2">
                    <a:lumMod val="49000"/>
                  </a:schemeClr>
                </a:solidFill>
              </a:rPr>
              <a:t> pour </a:t>
            </a:r>
            <a:r>
              <a:rPr lang="en-US" sz="1200" dirty="0" err="1">
                <a:solidFill>
                  <a:schemeClr val="tx2">
                    <a:lumMod val="49000"/>
                  </a:schemeClr>
                </a:solidFill>
              </a:rPr>
              <a:t>s'amuser</a:t>
            </a:r>
            <a:r>
              <a:rPr lang="en-US" sz="1200" dirty="0">
                <a:solidFill>
                  <a:schemeClr val="tx2">
                    <a:lumMod val="49000"/>
                  </a:schemeClr>
                </a:solidFill>
              </a:rPr>
              <a:t> </a:t>
            </a:r>
            <a:r>
              <a:rPr lang="en-US" sz="1200" dirty="0" err="1">
                <a:solidFill>
                  <a:schemeClr val="tx2">
                    <a:lumMod val="49000"/>
                  </a:schemeClr>
                </a:solidFill>
              </a:rPr>
              <a:t>ou</a:t>
            </a:r>
            <a:r>
              <a:rPr lang="en-US" sz="1200" dirty="0">
                <a:solidFill>
                  <a:schemeClr val="tx2">
                    <a:lumMod val="49000"/>
                  </a:schemeClr>
                </a:solidFill>
              </a:rPr>
              <a:t> </a:t>
            </a:r>
            <a:r>
              <a:rPr lang="en-US" sz="1200" dirty="0" err="1">
                <a:solidFill>
                  <a:schemeClr val="tx2">
                    <a:lumMod val="49000"/>
                  </a:schemeClr>
                </a:solidFill>
              </a:rPr>
              <a:t>rencontrer</a:t>
            </a:r>
            <a:r>
              <a:rPr lang="en-US" sz="1200" dirty="0">
                <a:solidFill>
                  <a:schemeClr val="tx2">
                    <a:lumMod val="49000"/>
                  </a:schemeClr>
                </a:solidFill>
              </a:rPr>
              <a:t> de </a:t>
            </a:r>
            <a:r>
              <a:rPr lang="en-US" sz="1200" dirty="0" err="1">
                <a:solidFill>
                  <a:schemeClr val="tx2">
                    <a:lumMod val="49000"/>
                  </a:schemeClr>
                </a:solidFill>
              </a:rPr>
              <a:t>nouvelles</a:t>
            </a:r>
            <a:r>
              <a:rPr lang="en-US" sz="1200" dirty="0">
                <a:solidFill>
                  <a:schemeClr val="tx2">
                    <a:lumMod val="49000"/>
                  </a:schemeClr>
                </a:solidFill>
              </a:rPr>
              <a:t> </a:t>
            </a:r>
            <a:r>
              <a:rPr lang="en-US" sz="1200" dirty="0" err="1">
                <a:solidFill>
                  <a:schemeClr val="tx2">
                    <a:lumMod val="49000"/>
                  </a:schemeClr>
                </a:solidFill>
              </a:rPr>
              <a:t>personnes</a:t>
            </a:r>
            <a:endParaRPr lang="en-US" sz="1200" dirty="0">
              <a:solidFill>
                <a:schemeClr val="tx2">
                  <a:lumMod val="49000"/>
                </a:schemeClr>
              </a:solidFill>
              <a:ea typeface="Calibri"/>
              <a:cs typeface="Calibri"/>
            </a:endParaRPr>
          </a:p>
          <a:p>
            <a:endParaRPr lang="en-US" sz="1200" dirty="0">
              <a:solidFill>
                <a:schemeClr val="tx2">
                  <a:lumMod val="49000"/>
                </a:schemeClr>
              </a:solidFill>
              <a:ea typeface="Calibri"/>
              <a:cs typeface="Calibri"/>
            </a:endParaRPr>
          </a:p>
          <a:p>
            <a:r>
              <a:rPr lang="en-US" sz="1200" dirty="0">
                <a:solidFill>
                  <a:schemeClr val="tx2">
                    <a:lumMod val="49000"/>
                  </a:schemeClr>
                </a:solidFill>
                <a:ea typeface="Calibri"/>
                <a:cs typeface="Calibri"/>
              </a:rPr>
              <a:t>16,5% des rencontres </a:t>
            </a:r>
            <a:r>
              <a:rPr lang="en-US" sz="1200" dirty="0" err="1">
                <a:solidFill>
                  <a:schemeClr val="tx2">
                    <a:lumMod val="49000"/>
                  </a:schemeClr>
                </a:solidFill>
                <a:ea typeface="Calibri"/>
                <a:cs typeface="Calibri"/>
              </a:rPr>
              <a:t>ont</a:t>
            </a:r>
            <a:r>
              <a:rPr lang="en-US" sz="1200" dirty="0">
                <a:solidFill>
                  <a:schemeClr val="tx2">
                    <a:lumMod val="49000"/>
                  </a:schemeClr>
                </a:solidFill>
                <a:ea typeface="Calibri"/>
                <a:cs typeface="Calibri"/>
              </a:rPr>
              <a:t> </a:t>
            </a:r>
            <a:r>
              <a:rPr lang="en-US" sz="1200" dirty="0" err="1">
                <a:solidFill>
                  <a:schemeClr val="tx2">
                    <a:lumMod val="49000"/>
                  </a:schemeClr>
                </a:solidFill>
                <a:ea typeface="Calibri"/>
                <a:cs typeface="Calibri"/>
              </a:rPr>
              <a:t>abouti</a:t>
            </a:r>
            <a:r>
              <a:rPr lang="en-US" sz="1200" dirty="0">
                <a:solidFill>
                  <a:schemeClr val="tx2">
                    <a:lumMod val="49000"/>
                  </a:schemeClr>
                </a:solidFill>
                <a:ea typeface="Calibri"/>
                <a:cs typeface="Calibri"/>
              </a:rPr>
              <a:t> sur un match. Le match est un </a:t>
            </a:r>
            <a:r>
              <a:rPr lang="en-US" sz="1200" dirty="0" err="1">
                <a:solidFill>
                  <a:schemeClr val="tx2">
                    <a:lumMod val="49000"/>
                  </a:schemeClr>
                </a:solidFill>
                <a:ea typeface="Calibri"/>
                <a:cs typeface="Calibri"/>
              </a:rPr>
              <a:t>évènement</a:t>
            </a:r>
            <a:r>
              <a:rPr lang="en-US" sz="1200" dirty="0">
                <a:solidFill>
                  <a:schemeClr val="tx2">
                    <a:lumMod val="49000"/>
                  </a:schemeClr>
                </a:solidFill>
                <a:ea typeface="Calibri"/>
                <a:cs typeface="Calibri"/>
              </a:rPr>
              <a:t> rare.</a:t>
            </a:r>
          </a:p>
          <a:p>
            <a:endParaRPr lang="en-US" sz="1200" dirty="0">
              <a:solidFill>
                <a:schemeClr val="tx2">
                  <a:lumMod val="49000"/>
                </a:schemeClr>
              </a:solidFill>
              <a:ea typeface="Calibri"/>
              <a:cs typeface="Calibri"/>
            </a:endParaRPr>
          </a:p>
          <a:p>
            <a:r>
              <a:rPr lang="en-US" sz="1200" dirty="0">
                <a:solidFill>
                  <a:schemeClr val="tx2">
                    <a:lumMod val="49000"/>
                  </a:schemeClr>
                </a:solidFill>
                <a:ea typeface="Calibri"/>
                <a:cs typeface="Calibri"/>
              </a:rPr>
              <a:t>Une </a:t>
            </a:r>
            <a:r>
              <a:rPr lang="en-US" sz="1200" dirty="0" err="1">
                <a:solidFill>
                  <a:schemeClr val="tx2">
                    <a:lumMod val="49000"/>
                  </a:schemeClr>
                </a:solidFill>
                <a:ea typeface="Calibri"/>
                <a:cs typeface="Calibri"/>
              </a:rPr>
              <a:t>asymétrie</a:t>
            </a:r>
            <a:r>
              <a:rPr lang="en-US" sz="1200" dirty="0">
                <a:solidFill>
                  <a:schemeClr val="tx2">
                    <a:lumMod val="49000"/>
                  </a:schemeClr>
                </a:solidFill>
                <a:ea typeface="Calibri"/>
                <a:cs typeface="Calibri"/>
              </a:rPr>
              <a:t> </a:t>
            </a:r>
            <a:r>
              <a:rPr lang="en-US" sz="1200" dirty="0" err="1">
                <a:solidFill>
                  <a:schemeClr val="tx2">
                    <a:lumMod val="49000"/>
                  </a:schemeClr>
                </a:solidFill>
                <a:ea typeface="Calibri"/>
                <a:cs typeface="Calibri"/>
              </a:rPr>
              <a:t>sélective</a:t>
            </a:r>
            <a:r>
              <a:rPr lang="en-US" sz="1200" dirty="0">
                <a:solidFill>
                  <a:schemeClr val="tx2">
                    <a:lumMod val="49000"/>
                  </a:schemeClr>
                </a:solidFill>
                <a:ea typeface="Calibri"/>
                <a:cs typeface="Calibri"/>
              </a:rPr>
              <a:t> entre femmes et hommes. Les femmes plus </a:t>
            </a:r>
            <a:r>
              <a:rPr lang="en-US" sz="1200" dirty="0" err="1">
                <a:solidFill>
                  <a:schemeClr val="tx2">
                    <a:lumMod val="49000"/>
                  </a:schemeClr>
                </a:solidFill>
                <a:ea typeface="Calibri"/>
                <a:cs typeface="Calibri"/>
              </a:rPr>
              <a:t>exigeantes</a:t>
            </a:r>
            <a:r>
              <a:rPr lang="en-US" sz="1200" dirty="0">
                <a:solidFill>
                  <a:schemeClr val="tx2">
                    <a:lumMod val="49000"/>
                  </a:schemeClr>
                </a:solidFill>
                <a:ea typeface="Calibri"/>
                <a:cs typeface="Calibri"/>
              </a:rPr>
              <a:t> et </a:t>
            </a:r>
            <a:r>
              <a:rPr lang="en-US" sz="1200" dirty="0" err="1">
                <a:solidFill>
                  <a:schemeClr val="tx2">
                    <a:lumMod val="49000"/>
                  </a:schemeClr>
                </a:solidFill>
                <a:ea typeface="Calibri"/>
                <a:cs typeface="Calibri"/>
              </a:rPr>
              <a:t>prudentes</a:t>
            </a:r>
            <a:r>
              <a:rPr lang="en-US" sz="1200" dirty="0">
                <a:solidFill>
                  <a:schemeClr val="tx2">
                    <a:lumMod val="49000"/>
                  </a:schemeClr>
                </a:solidFill>
                <a:ea typeface="Calibri"/>
                <a:cs typeface="Calibri"/>
              </a:rPr>
              <a:t>.</a:t>
            </a:r>
          </a:p>
        </p:txBody>
      </p:sp>
      <p:pic>
        <p:nvPicPr>
          <p:cNvPr id="51" name="Picture 50">
            <a:extLst>
              <a:ext uri="{FF2B5EF4-FFF2-40B4-BE49-F238E27FC236}">
                <a16:creationId xmlns:a16="http://schemas.microsoft.com/office/drawing/2014/main" id="{EE6EB2EB-745B-57CA-64BC-82384B2DD3EF}"/>
              </a:ext>
            </a:extLst>
          </p:cNvPr>
          <p:cNvPicPr>
            <a:picLocks noChangeAspect="1"/>
          </p:cNvPicPr>
          <p:nvPr/>
        </p:nvPicPr>
        <p:blipFill>
          <a:blip r:embed="rId2"/>
          <a:stretch>
            <a:fillRect/>
          </a:stretch>
        </p:blipFill>
        <p:spPr>
          <a:xfrm>
            <a:off x="0" y="2406335"/>
            <a:ext cx="9144000" cy="27387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7E22415C-7EB2-B65C-A0B5-AD9492006D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ED86A5-0494-9F10-2928-C4DC409BD6E6}"/>
              </a:ext>
            </a:extLst>
          </p:cNvPr>
          <p:cNvSpPr txBox="1"/>
          <p:nvPr/>
        </p:nvSpPr>
        <p:spPr>
          <a:xfrm>
            <a:off x="457200" y="391406"/>
            <a:ext cx="8229600" cy="369332"/>
          </a:xfrm>
          <a:prstGeom prst="rect">
            <a:avLst/>
          </a:prstGeom>
          <a:noFill/>
        </p:spPr>
        <p:txBody>
          <a:bodyPr wrap="square" lIns="0" tIns="0" rIns="0" bIns="0" anchor="ctr">
            <a:spAutoFit/>
          </a:bodyPr>
          <a:lstStyle/>
          <a:p>
            <a:pPr algn="l"/>
            <a:r>
              <a:rPr sz="2400" b="1" dirty="0">
                <a:solidFill>
                  <a:srgbClr val="21304A"/>
                </a:solidFill>
                <a:latin typeface="Cambria"/>
              </a:rPr>
              <a:t>Chacun </a:t>
            </a:r>
            <a:r>
              <a:rPr sz="2400" b="1" dirty="0" err="1">
                <a:solidFill>
                  <a:srgbClr val="21304A"/>
                </a:solidFill>
                <a:latin typeface="Cambria"/>
              </a:rPr>
              <a:t>cherche</a:t>
            </a:r>
            <a:r>
              <a:rPr sz="2400" b="1" dirty="0">
                <a:solidFill>
                  <a:srgbClr val="21304A"/>
                </a:solidFill>
                <a:latin typeface="Cambria"/>
              </a:rPr>
              <a:t> </a:t>
            </a:r>
            <a:r>
              <a:rPr sz="2400" b="1" dirty="0" err="1">
                <a:solidFill>
                  <a:srgbClr val="21304A"/>
                </a:solidFill>
                <a:latin typeface="Cambria"/>
              </a:rPr>
              <a:t>autre</a:t>
            </a:r>
            <a:r>
              <a:rPr sz="2400" b="1" dirty="0">
                <a:solidFill>
                  <a:srgbClr val="21304A"/>
                </a:solidFill>
                <a:latin typeface="Cambria"/>
              </a:rPr>
              <a:t> chose</a:t>
            </a:r>
            <a:endParaRPr lang="en-US" sz="2400" b="1" dirty="0">
              <a:solidFill>
                <a:srgbClr val="21304A"/>
              </a:solidFill>
              <a:latin typeface="Cambria"/>
              <a:ea typeface="Cambria"/>
            </a:endParaRPr>
          </a:p>
        </p:txBody>
      </p:sp>
      <p:sp>
        <p:nvSpPr>
          <p:cNvPr id="3" name="TextBox 2">
            <a:extLst>
              <a:ext uri="{FF2B5EF4-FFF2-40B4-BE49-F238E27FC236}">
                <a16:creationId xmlns:a16="http://schemas.microsoft.com/office/drawing/2014/main" id="{D84D84F8-0B4D-47FE-51A2-651B892216D1}"/>
              </a:ext>
            </a:extLst>
          </p:cNvPr>
          <p:cNvSpPr txBox="1"/>
          <p:nvPr/>
        </p:nvSpPr>
        <p:spPr>
          <a:xfrm>
            <a:off x="457200" y="1004947"/>
            <a:ext cx="8229600" cy="184666"/>
          </a:xfrm>
          <a:prstGeom prst="rect">
            <a:avLst/>
          </a:prstGeom>
          <a:noFill/>
        </p:spPr>
        <p:txBody>
          <a:bodyPr wrap="square" lIns="0" tIns="0" rIns="0" bIns="0" anchor="ctr">
            <a:spAutoFit/>
          </a:bodyPr>
          <a:lstStyle/>
          <a:p>
            <a:r>
              <a:rPr sz="1200" b="0" dirty="0" err="1">
                <a:solidFill>
                  <a:schemeClr val="tx2">
                    <a:lumMod val="49000"/>
                  </a:schemeClr>
                </a:solidFill>
                <a:latin typeface="Calibri"/>
              </a:rPr>
              <a:t>Préférences</a:t>
            </a:r>
            <a:r>
              <a:rPr sz="1200" b="0" dirty="0">
                <a:solidFill>
                  <a:schemeClr val="tx2">
                    <a:lumMod val="49000"/>
                  </a:schemeClr>
                </a:solidFill>
                <a:latin typeface="Calibri"/>
              </a:rPr>
              <a:t> </a:t>
            </a:r>
            <a:r>
              <a:rPr sz="1200" b="0" dirty="0" err="1">
                <a:solidFill>
                  <a:schemeClr val="tx2">
                    <a:lumMod val="49000"/>
                  </a:schemeClr>
                </a:solidFill>
                <a:latin typeface="Calibri"/>
              </a:rPr>
              <a:t>déclarées</a:t>
            </a:r>
            <a:r>
              <a:rPr sz="1200" b="0" dirty="0">
                <a:solidFill>
                  <a:schemeClr val="tx2">
                    <a:lumMod val="49000"/>
                  </a:schemeClr>
                </a:solidFill>
                <a:latin typeface="Calibri"/>
              </a:rPr>
              <a:t> à </a:t>
            </a:r>
            <a:r>
              <a:rPr sz="1200" b="0" dirty="0" err="1">
                <a:solidFill>
                  <a:schemeClr val="tx2">
                    <a:lumMod val="49000"/>
                  </a:schemeClr>
                </a:solidFill>
                <a:latin typeface="Calibri"/>
              </a:rPr>
              <a:t>l'inscription</a:t>
            </a:r>
            <a:r>
              <a:rPr lang="en-US" sz="1200" dirty="0">
                <a:solidFill>
                  <a:schemeClr val="tx2">
                    <a:lumMod val="49000"/>
                  </a:schemeClr>
                </a:solidFill>
                <a:latin typeface="Calibri"/>
              </a:rPr>
              <a:t> (Time1: avant les dates)</a:t>
            </a:r>
            <a:r>
              <a:rPr sz="1200" b="0" dirty="0">
                <a:solidFill>
                  <a:schemeClr val="tx2">
                    <a:lumMod val="49000"/>
                  </a:schemeClr>
                </a:solidFill>
                <a:latin typeface="Calibri"/>
              </a:rPr>
              <a:t> : 100 points </a:t>
            </a:r>
            <a:r>
              <a:rPr sz="1200" b="0" dirty="0" err="1">
                <a:solidFill>
                  <a:schemeClr val="tx2">
                    <a:lumMod val="49000"/>
                  </a:schemeClr>
                </a:solidFill>
                <a:latin typeface="Calibri"/>
              </a:rPr>
              <a:t>répartis</a:t>
            </a:r>
            <a:r>
              <a:rPr sz="1200" b="0" dirty="0">
                <a:solidFill>
                  <a:schemeClr val="tx2">
                    <a:lumMod val="49000"/>
                  </a:schemeClr>
                </a:solidFill>
                <a:latin typeface="Calibri"/>
              </a:rPr>
              <a:t> entre six </a:t>
            </a:r>
            <a:r>
              <a:rPr sz="1200" b="0" dirty="0" err="1">
                <a:solidFill>
                  <a:schemeClr val="tx2">
                    <a:lumMod val="49000"/>
                  </a:schemeClr>
                </a:solidFill>
                <a:latin typeface="Calibri"/>
              </a:rPr>
              <a:t>critères</a:t>
            </a:r>
            <a:endParaRPr lang="en-US" sz="1200" b="0" dirty="0" err="1">
              <a:solidFill>
                <a:schemeClr val="tx2">
                  <a:lumMod val="49000"/>
                </a:schemeClr>
              </a:solidFill>
              <a:latin typeface="Calibri"/>
              <a:ea typeface="Calibri"/>
              <a:cs typeface="Calibri"/>
            </a:endParaRPr>
          </a:p>
        </p:txBody>
      </p:sp>
      <p:sp>
        <p:nvSpPr>
          <p:cNvPr id="5" name="TextBox 4">
            <a:extLst>
              <a:ext uri="{FF2B5EF4-FFF2-40B4-BE49-F238E27FC236}">
                <a16:creationId xmlns:a16="http://schemas.microsoft.com/office/drawing/2014/main" id="{D7E0D908-8284-13A1-D104-B8237FA41E0C}"/>
              </a:ext>
            </a:extLst>
          </p:cNvPr>
          <p:cNvSpPr txBox="1"/>
          <p:nvPr/>
        </p:nvSpPr>
        <p:spPr>
          <a:xfrm>
            <a:off x="457200" y="1426184"/>
            <a:ext cx="3569920" cy="230832"/>
          </a:xfrm>
          <a:prstGeom prst="rect">
            <a:avLst/>
          </a:prstGeom>
          <a:noFill/>
        </p:spPr>
        <p:txBody>
          <a:bodyPr wrap="square" lIns="0" tIns="0" rIns="0" bIns="0" anchor="ctr">
            <a:spAutoFit/>
          </a:bodyPr>
          <a:lstStyle/>
          <a:p>
            <a:r>
              <a:rPr sz="1500" b="1" dirty="0">
                <a:solidFill>
                  <a:srgbClr val="21304A"/>
                </a:solidFill>
                <a:latin typeface="Cambria"/>
              </a:rPr>
              <a:t>Femmes : </a:t>
            </a:r>
            <a:r>
              <a:rPr sz="1500" b="1" dirty="0" err="1">
                <a:solidFill>
                  <a:srgbClr val="21304A"/>
                </a:solidFill>
                <a:latin typeface="Cambria"/>
              </a:rPr>
              <a:t>priorités</a:t>
            </a:r>
            <a:r>
              <a:rPr sz="1500" b="1" dirty="0">
                <a:solidFill>
                  <a:srgbClr val="21304A"/>
                </a:solidFill>
                <a:latin typeface="Cambria"/>
              </a:rPr>
              <a:t> chez un homme</a:t>
            </a:r>
          </a:p>
        </p:txBody>
      </p:sp>
      <p:sp>
        <p:nvSpPr>
          <p:cNvPr id="24" name="TextBox 23">
            <a:extLst>
              <a:ext uri="{FF2B5EF4-FFF2-40B4-BE49-F238E27FC236}">
                <a16:creationId xmlns:a16="http://schemas.microsoft.com/office/drawing/2014/main" id="{F82641F3-DE54-34A3-1F15-C3359D84965B}"/>
              </a:ext>
            </a:extLst>
          </p:cNvPr>
          <p:cNvSpPr txBox="1"/>
          <p:nvPr/>
        </p:nvSpPr>
        <p:spPr>
          <a:xfrm>
            <a:off x="4754880" y="1371600"/>
            <a:ext cx="3569920" cy="340000"/>
          </a:xfrm>
          <a:prstGeom prst="rect">
            <a:avLst/>
          </a:prstGeom>
          <a:noFill/>
        </p:spPr>
        <p:txBody>
          <a:bodyPr wrap="square" lIns="0" tIns="0" rIns="0" bIns="0" anchor="ctr">
            <a:spAutoFit/>
          </a:bodyPr>
          <a:lstStyle/>
          <a:p>
            <a:pPr algn="l"/>
            <a:r>
              <a:rPr sz="1500" b="1">
                <a:solidFill>
                  <a:srgbClr val="21304A"/>
                </a:solidFill>
                <a:latin typeface="Cambria"/>
              </a:rPr>
              <a:t>Hommes : priorités chez une femme</a:t>
            </a:r>
          </a:p>
        </p:txBody>
      </p:sp>
      <p:sp>
        <p:nvSpPr>
          <p:cNvPr id="43" name="Rounded Rectangle 42">
            <a:extLst>
              <a:ext uri="{FF2B5EF4-FFF2-40B4-BE49-F238E27FC236}">
                <a16:creationId xmlns:a16="http://schemas.microsoft.com/office/drawing/2014/main" id="{F09E0B6D-9768-1F16-4887-A45E53119F76}"/>
              </a:ext>
            </a:extLst>
          </p:cNvPr>
          <p:cNvSpPr/>
          <p:nvPr/>
        </p:nvSpPr>
        <p:spPr>
          <a:xfrm>
            <a:off x="156210" y="4483149"/>
            <a:ext cx="3931920" cy="548640"/>
          </a:xfrm>
          <a:prstGeom prst="roundRect">
            <a:avLst>
              <a:gd name="adj" fmla="val 10000"/>
            </a:avLst>
          </a:prstGeom>
          <a:solidFill>
            <a:srgbClr val="FB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B55325B3-1DA2-1918-92A9-F50CAB2DFBC7}"/>
              </a:ext>
            </a:extLst>
          </p:cNvPr>
          <p:cNvSpPr txBox="1"/>
          <p:nvPr/>
        </p:nvSpPr>
        <p:spPr>
          <a:xfrm>
            <a:off x="293370" y="4665136"/>
            <a:ext cx="3657600" cy="184666"/>
          </a:xfrm>
          <a:prstGeom prst="rect">
            <a:avLst/>
          </a:prstGeom>
          <a:noFill/>
        </p:spPr>
        <p:txBody>
          <a:bodyPr wrap="square" lIns="0" tIns="0" rIns="0" bIns="0" anchor="ctr">
            <a:spAutoFit/>
          </a:bodyPr>
          <a:lstStyle/>
          <a:p>
            <a:r>
              <a:rPr lang="en-US" sz="1200" b="1" dirty="0" err="1">
                <a:solidFill>
                  <a:srgbClr val="EF4565"/>
                </a:solidFill>
                <a:latin typeface="Calibri"/>
              </a:rPr>
              <a:t>Intélligence</a:t>
            </a:r>
            <a:r>
              <a:rPr lang="en-US" sz="1200" b="1" dirty="0">
                <a:solidFill>
                  <a:srgbClr val="EF4565"/>
                </a:solidFill>
                <a:latin typeface="Calibri"/>
              </a:rPr>
              <a:t>, </a:t>
            </a:r>
            <a:r>
              <a:rPr lang="en-US" sz="1200" b="1" dirty="0" err="1">
                <a:solidFill>
                  <a:srgbClr val="EF4565"/>
                </a:solidFill>
                <a:latin typeface="Calibri"/>
              </a:rPr>
              <a:t>sincérité</a:t>
            </a:r>
            <a:r>
              <a:rPr lang="en-US" sz="1200" b="1" dirty="0">
                <a:solidFill>
                  <a:srgbClr val="EF4565"/>
                </a:solidFill>
                <a:latin typeface="Calibri"/>
              </a:rPr>
              <a:t> et </a:t>
            </a:r>
            <a:r>
              <a:rPr lang="en-US" sz="1200" b="1" dirty="0" err="1">
                <a:solidFill>
                  <a:srgbClr val="EF4565"/>
                </a:solidFill>
                <a:latin typeface="Calibri"/>
              </a:rPr>
              <a:t>humour</a:t>
            </a:r>
            <a:r>
              <a:rPr lang="en-US" sz="1200" b="1" dirty="0">
                <a:solidFill>
                  <a:srgbClr val="EF4565"/>
                </a:solidFill>
                <a:latin typeface="Calibri"/>
              </a:rPr>
              <a:t> dans le top 3</a:t>
            </a:r>
            <a:endParaRPr lang="en-US" sz="1200" dirty="0">
              <a:ea typeface="Calibri"/>
              <a:cs typeface="Calibri"/>
            </a:endParaRPr>
          </a:p>
        </p:txBody>
      </p:sp>
      <p:sp>
        <p:nvSpPr>
          <p:cNvPr id="45" name="Rounded Rectangle 44">
            <a:extLst>
              <a:ext uri="{FF2B5EF4-FFF2-40B4-BE49-F238E27FC236}">
                <a16:creationId xmlns:a16="http://schemas.microsoft.com/office/drawing/2014/main" id="{D48D56CE-F06F-BFEC-DBFA-26AA11FA879A}"/>
              </a:ext>
            </a:extLst>
          </p:cNvPr>
          <p:cNvSpPr/>
          <p:nvPr/>
        </p:nvSpPr>
        <p:spPr>
          <a:xfrm>
            <a:off x="4739640" y="4466340"/>
            <a:ext cx="3931920" cy="548640"/>
          </a:xfrm>
          <a:prstGeom prst="roundRect">
            <a:avLst>
              <a:gd name="adj" fmla="val 10000"/>
            </a:avLst>
          </a:prstGeom>
          <a:solidFill>
            <a:srgbClr val="FB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a:extLst>
              <a:ext uri="{FF2B5EF4-FFF2-40B4-BE49-F238E27FC236}">
                <a16:creationId xmlns:a16="http://schemas.microsoft.com/office/drawing/2014/main" id="{AF85073B-F14E-C16F-EF6D-98A6211AAC55}"/>
              </a:ext>
            </a:extLst>
          </p:cNvPr>
          <p:cNvSpPr txBox="1"/>
          <p:nvPr/>
        </p:nvSpPr>
        <p:spPr>
          <a:xfrm>
            <a:off x="4876800" y="4555994"/>
            <a:ext cx="3657600" cy="369332"/>
          </a:xfrm>
          <a:prstGeom prst="rect">
            <a:avLst/>
          </a:prstGeom>
          <a:noFill/>
        </p:spPr>
        <p:txBody>
          <a:bodyPr wrap="square" lIns="0" tIns="0" rIns="0" bIns="0" anchor="ctr">
            <a:spAutoFit/>
          </a:bodyPr>
          <a:lstStyle/>
          <a:p>
            <a:r>
              <a:rPr sz="1200" b="1" dirty="0" err="1">
                <a:solidFill>
                  <a:srgbClr val="EF4565"/>
                </a:solidFill>
                <a:latin typeface="Calibri"/>
              </a:rPr>
              <a:t>L'attractivité</a:t>
            </a:r>
            <a:r>
              <a:rPr sz="1200" b="1" dirty="0">
                <a:solidFill>
                  <a:srgbClr val="EF4565"/>
                </a:solidFill>
                <a:latin typeface="Calibri"/>
              </a:rPr>
              <a:t> domine.</a:t>
            </a:r>
            <a:r>
              <a:rPr lang="en-US" sz="1200" b="1" dirty="0">
                <a:solidFill>
                  <a:srgbClr val="EF4565"/>
                </a:solidFill>
                <a:latin typeface="Calibri"/>
              </a:rPr>
              <a:t> </a:t>
            </a:r>
            <a:r>
              <a:rPr lang="en-US" sz="1200" b="1" dirty="0" err="1">
                <a:solidFill>
                  <a:srgbClr val="EF4565"/>
                </a:solidFill>
                <a:latin typeface="Calibri"/>
              </a:rPr>
              <a:t>Viennent</a:t>
            </a:r>
            <a:r>
              <a:rPr lang="en-US" sz="1200" b="1" dirty="0">
                <a:solidFill>
                  <a:srgbClr val="EF4565"/>
                </a:solidFill>
                <a:latin typeface="Calibri"/>
              </a:rPr>
              <a:t> ensuite </a:t>
            </a:r>
            <a:r>
              <a:rPr lang="en-US" sz="1200" b="1" dirty="0" err="1">
                <a:solidFill>
                  <a:srgbClr val="EF4565"/>
                </a:solidFill>
                <a:latin typeface="Calibri"/>
              </a:rPr>
              <a:t>l'intélligence</a:t>
            </a:r>
            <a:r>
              <a:rPr lang="en-US" sz="1200" b="1" dirty="0">
                <a:solidFill>
                  <a:srgbClr val="EF4565"/>
                </a:solidFill>
                <a:latin typeface="Calibri"/>
              </a:rPr>
              <a:t> et </a:t>
            </a:r>
            <a:r>
              <a:rPr lang="en-US" sz="1200" b="1" dirty="0" err="1">
                <a:solidFill>
                  <a:srgbClr val="EF4565"/>
                </a:solidFill>
                <a:latin typeface="Calibri"/>
              </a:rPr>
              <a:t>l'humour</a:t>
            </a:r>
            <a:endParaRPr lang="en-US" sz="1200" b="1" dirty="0" err="1">
              <a:solidFill>
                <a:srgbClr val="EF4565"/>
              </a:solidFill>
              <a:latin typeface="Calibri"/>
              <a:ea typeface="Calibri"/>
              <a:cs typeface="Calibri"/>
            </a:endParaRPr>
          </a:p>
        </p:txBody>
      </p:sp>
      <p:pic>
        <p:nvPicPr>
          <p:cNvPr id="50" name="Picture 49">
            <a:extLst>
              <a:ext uri="{FF2B5EF4-FFF2-40B4-BE49-F238E27FC236}">
                <a16:creationId xmlns:a16="http://schemas.microsoft.com/office/drawing/2014/main" id="{7AC0D9C1-4252-7FB7-D944-1BC66C6D6304}"/>
              </a:ext>
            </a:extLst>
          </p:cNvPr>
          <p:cNvPicPr>
            <a:picLocks noChangeAspect="1"/>
          </p:cNvPicPr>
          <p:nvPr/>
        </p:nvPicPr>
        <p:blipFill>
          <a:blip r:embed="rId2"/>
          <a:stretch>
            <a:fillRect/>
          </a:stretch>
        </p:blipFill>
        <p:spPr>
          <a:xfrm>
            <a:off x="177216" y="1653540"/>
            <a:ext cx="4126128" cy="2811780"/>
          </a:xfrm>
          <a:prstGeom prst="rect">
            <a:avLst/>
          </a:prstGeom>
        </p:spPr>
      </p:pic>
      <p:pic>
        <p:nvPicPr>
          <p:cNvPr id="51" name="Picture 50">
            <a:extLst>
              <a:ext uri="{FF2B5EF4-FFF2-40B4-BE49-F238E27FC236}">
                <a16:creationId xmlns:a16="http://schemas.microsoft.com/office/drawing/2014/main" id="{8CEC883B-24B5-F834-DA4D-8C4C805557D8}"/>
              </a:ext>
            </a:extLst>
          </p:cNvPr>
          <p:cNvPicPr>
            <a:picLocks noChangeAspect="1"/>
          </p:cNvPicPr>
          <p:nvPr/>
        </p:nvPicPr>
        <p:blipFill>
          <a:blip r:embed="rId3"/>
          <a:stretch>
            <a:fillRect/>
          </a:stretch>
        </p:blipFill>
        <p:spPr>
          <a:xfrm>
            <a:off x="4514620" y="1653540"/>
            <a:ext cx="4503881" cy="2811780"/>
          </a:xfrm>
          <a:prstGeom prst="rect">
            <a:avLst/>
          </a:prstGeom>
        </p:spPr>
      </p:pic>
    </p:spTree>
    <p:extLst>
      <p:ext uri="{BB962C8B-B14F-4D97-AF65-F5344CB8AC3E}">
        <p14:creationId xmlns:p14="http://schemas.microsoft.com/office/powerpoint/2010/main" val="3815279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6619FAD5-4C77-391B-59E3-3CF122AF695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478225-D663-F1F6-A9A2-5140CE4D9E27}"/>
              </a:ext>
            </a:extLst>
          </p:cNvPr>
          <p:cNvSpPr txBox="1"/>
          <p:nvPr/>
        </p:nvSpPr>
        <p:spPr>
          <a:xfrm>
            <a:off x="398369" y="198105"/>
            <a:ext cx="8229600" cy="369332"/>
          </a:xfrm>
          <a:prstGeom prst="rect">
            <a:avLst/>
          </a:prstGeom>
          <a:noFill/>
        </p:spPr>
        <p:txBody>
          <a:bodyPr wrap="square" lIns="0" tIns="0" rIns="0" bIns="0" anchor="ctr">
            <a:spAutoFit/>
          </a:bodyPr>
          <a:lstStyle/>
          <a:p>
            <a:r>
              <a:rPr lang="en-US" sz="2400" b="1">
                <a:solidFill>
                  <a:srgbClr val="21304A"/>
                </a:solidFill>
                <a:latin typeface="Cambria"/>
              </a:rPr>
              <a:t>Moment de vérité</a:t>
            </a:r>
            <a:endParaRPr lang="en-US"/>
          </a:p>
        </p:txBody>
      </p:sp>
      <p:sp>
        <p:nvSpPr>
          <p:cNvPr id="3" name="TextBox 2">
            <a:extLst>
              <a:ext uri="{FF2B5EF4-FFF2-40B4-BE49-F238E27FC236}">
                <a16:creationId xmlns:a16="http://schemas.microsoft.com/office/drawing/2014/main" id="{0B2123C6-F2DB-3FD2-B238-AC934CA111FB}"/>
              </a:ext>
            </a:extLst>
          </p:cNvPr>
          <p:cNvSpPr txBox="1"/>
          <p:nvPr/>
        </p:nvSpPr>
        <p:spPr>
          <a:xfrm>
            <a:off x="398369" y="887286"/>
            <a:ext cx="8229600" cy="184666"/>
          </a:xfrm>
          <a:prstGeom prst="rect">
            <a:avLst/>
          </a:prstGeom>
          <a:noFill/>
        </p:spPr>
        <p:txBody>
          <a:bodyPr wrap="square" lIns="0" tIns="0" rIns="0" bIns="0" anchor="ctr">
            <a:spAutoFit/>
          </a:bodyPr>
          <a:lstStyle/>
          <a:p>
            <a:r>
              <a:rPr lang="en-US" sz="1200" dirty="0">
                <a:solidFill>
                  <a:schemeClr val="tx2">
                    <a:lumMod val="49000"/>
                  </a:schemeClr>
                </a:solidFill>
                <a:latin typeface="Calibri"/>
              </a:rPr>
              <a:t>Comment les femmes ont évalué les hommes, et vice versa? Notes sur 10 </a:t>
            </a:r>
            <a:r>
              <a:rPr lang="en-US" sz="1200" dirty="0" err="1">
                <a:solidFill>
                  <a:schemeClr val="tx2">
                    <a:lumMod val="49000"/>
                  </a:schemeClr>
                </a:solidFill>
                <a:latin typeface="Calibri"/>
              </a:rPr>
              <a:t>attribuées</a:t>
            </a:r>
            <a:r>
              <a:rPr lang="en-US" sz="1200" dirty="0">
                <a:solidFill>
                  <a:schemeClr val="tx2">
                    <a:lumMod val="49000"/>
                  </a:schemeClr>
                </a:solidFill>
                <a:latin typeface="Calibri"/>
              </a:rPr>
              <a:t> aux </a:t>
            </a:r>
            <a:r>
              <a:rPr lang="en-US" sz="1200" dirty="0" err="1">
                <a:solidFill>
                  <a:schemeClr val="tx2">
                    <a:lumMod val="49000"/>
                  </a:schemeClr>
                </a:solidFill>
                <a:latin typeface="Calibri"/>
              </a:rPr>
              <a:t>critères</a:t>
            </a:r>
            <a:r>
              <a:rPr lang="en-US" sz="1200" dirty="0">
                <a:solidFill>
                  <a:schemeClr val="tx2">
                    <a:lumMod val="49000"/>
                  </a:schemeClr>
                </a:solidFill>
                <a:latin typeface="Calibri"/>
              </a:rPr>
              <a:t> pendant les dates.</a:t>
            </a:r>
            <a:endParaRPr lang="en-US" sz="1200" dirty="0">
              <a:solidFill>
                <a:schemeClr val="tx2">
                  <a:lumMod val="49000"/>
                </a:schemeClr>
              </a:solidFill>
              <a:ea typeface="Calibri"/>
              <a:cs typeface="Calibri"/>
            </a:endParaRPr>
          </a:p>
        </p:txBody>
      </p:sp>
      <p:pic>
        <p:nvPicPr>
          <p:cNvPr id="6" name="Picture 5">
            <a:extLst>
              <a:ext uri="{FF2B5EF4-FFF2-40B4-BE49-F238E27FC236}">
                <a16:creationId xmlns:a16="http://schemas.microsoft.com/office/drawing/2014/main" id="{E0E9F46B-1B64-5810-1593-FBD692DE5EB5}"/>
              </a:ext>
            </a:extLst>
          </p:cNvPr>
          <p:cNvPicPr>
            <a:picLocks noChangeAspect="1"/>
          </p:cNvPicPr>
          <p:nvPr/>
        </p:nvPicPr>
        <p:blipFill>
          <a:blip r:embed="rId2"/>
          <a:stretch>
            <a:fillRect/>
          </a:stretch>
        </p:blipFill>
        <p:spPr>
          <a:xfrm>
            <a:off x="4214253" y="1431270"/>
            <a:ext cx="4800039" cy="3423958"/>
          </a:xfrm>
          <a:prstGeom prst="rect">
            <a:avLst/>
          </a:prstGeom>
        </p:spPr>
      </p:pic>
      <p:sp>
        <p:nvSpPr>
          <p:cNvPr id="7" name="TextBox 6">
            <a:extLst>
              <a:ext uri="{FF2B5EF4-FFF2-40B4-BE49-F238E27FC236}">
                <a16:creationId xmlns:a16="http://schemas.microsoft.com/office/drawing/2014/main" id="{646A9292-C747-864C-B507-DB20D42BD9B0}"/>
              </a:ext>
            </a:extLst>
          </p:cNvPr>
          <p:cNvSpPr txBox="1"/>
          <p:nvPr/>
        </p:nvSpPr>
        <p:spPr>
          <a:xfrm>
            <a:off x="395007" y="1756521"/>
            <a:ext cx="3664323"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200" dirty="0" err="1">
                <a:solidFill>
                  <a:schemeClr val="tx2">
                    <a:lumMod val="49000"/>
                  </a:schemeClr>
                </a:solidFill>
              </a:rPr>
              <a:t>Différence</a:t>
            </a:r>
            <a:r>
              <a:rPr lang="en-US" sz="1200" dirty="0">
                <a:solidFill>
                  <a:schemeClr val="tx2">
                    <a:lumMod val="49000"/>
                  </a:schemeClr>
                </a:solidFill>
              </a:rPr>
              <a:t> entre les </a:t>
            </a:r>
            <a:r>
              <a:rPr lang="en-US" sz="1200" dirty="0" err="1">
                <a:solidFill>
                  <a:schemeClr val="tx2">
                    <a:lumMod val="49000"/>
                  </a:schemeClr>
                </a:solidFill>
              </a:rPr>
              <a:t>moyennes</a:t>
            </a:r>
            <a:r>
              <a:rPr lang="en-US" sz="1200" dirty="0">
                <a:solidFill>
                  <a:schemeClr val="tx2">
                    <a:lumMod val="49000"/>
                  </a:schemeClr>
                </a:solidFill>
              </a:rPr>
              <a:t> des </a:t>
            </a:r>
            <a:r>
              <a:rPr lang="en-US" sz="1200" dirty="0" err="1">
                <a:solidFill>
                  <a:schemeClr val="tx2">
                    <a:lumMod val="49000"/>
                  </a:schemeClr>
                </a:solidFill>
              </a:rPr>
              <a:t>ctitères</a:t>
            </a:r>
            <a:r>
              <a:rPr lang="en-US" sz="1200" dirty="0">
                <a:solidFill>
                  <a:schemeClr val="tx2">
                    <a:lumMod val="49000"/>
                  </a:schemeClr>
                </a:solidFill>
              </a:rPr>
              <a:t> </a:t>
            </a:r>
            <a:r>
              <a:rPr lang="en-US" sz="1200" dirty="0" err="1">
                <a:solidFill>
                  <a:schemeClr val="tx2">
                    <a:lumMod val="49000"/>
                  </a:schemeClr>
                </a:solidFill>
              </a:rPr>
              <a:t>quand</a:t>
            </a:r>
            <a:r>
              <a:rPr lang="en-US" sz="1200" dirty="0">
                <a:solidFill>
                  <a:schemeClr val="tx2">
                    <a:lumMod val="49000"/>
                  </a:schemeClr>
                </a:solidFill>
              </a:rPr>
              <a:t> la </a:t>
            </a:r>
            <a:r>
              <a:rPr lang="en-US" sz="1200" dirty="0" err="1">
                <a:solidFill>
                  <a:schemeClr val="tx2">
                    <a:lumMod val="49000"/>
                  </a:schemeClr>
                </a:solidFill>
              </a:rPr>
              <a:t>décision</a:t>
            </a:r>
            <a:r>
              <a:rPr lang="en-US" sz="1200" dirty="0">
                <a:solidFill>
                  <a:schemeClr val="tx2">
                    <a:lumMod val="49000"/>
                  </a:schemeClr>
                </a:solidFill>
              </a:rPr>
              <a:t> est OK et </a:t>
            </a:r>
            <a:r>
              <a:rPr lang="en-US" sz="1200" dirty="0" err="1">
                <a:solidFill>
                  <a:schemeClr val="tx2">
                    <a:lumMod val="49000"/>
                  </a:schemeClr>
                </a:solidFill>
              </a:rPr>
              <a:t>quand</a:t>
            </a:r>
            <a:r>
              <a:rPr lang="en-US" sz="1200" dirty="0">
                <a:solidFill>
                  <a:schemeClr val="tx2">
                    <a:lumMod val="49000"/>
                  </a:schemeClr>
                </a:solidFill>
              </a:rPr>
              <a:t> la </a:t>
            </a:r>
            <a:r>
              <a:rPr lang="en-US" sz="1200" dirty="0" err="1">
                <a:solidFill>
                  <a:schemeClr val="tx2">
                    <a:lumMod val="49000"/>
                  </a:schemeClr>
                </a:solidFill>
              </a:rPr>
              <a:t>décision</a:t>
            </a:r>
            <a:r>
              <a:rPr lang="en-US" sz="1200" dirty="0">
                <a:solidFill>
                  <a:schemeClr val="tx2">
                    <a:lumMod val="49000"/>
                  </a:schemeClr>
                </a:solidFill>
              </a:rPr>
              <a:t> est NOK.</a:t>
            </a:r>
            <a:endParaRPr lang="en-US" sz="1200" dirty="0">
              <a:solidFill>
                <a:schemeClr val="tx2">
                  <a:lumMod val="49000"/>
                </a:schemeClr>
              </a:solidFill>
              <a:ea typeface="Calibri"/>
              <a:cs typeface="Calibri"/>
            </a:endParaRPr>
          </a:p>
          <a:p>
            <a:pPr algn="l"/>
            <a:endParaRPr lang="en-US" dirty="0">
              <a:ea typeface="Calibri"/>
              <a:cs typeface="Calibri"/>
            </a:endParaRPr>
          </a:p>
          <a:p>
            <a:pPr marL="171450" indent="-171450">
              <a:buFont typeface="Arial"/>
              <a:buChar char="•"/>
            </a:pPr>
            <a:r>
              <a:rPr lang="en-US" sz="1200" dirty="0" err="1">
                <a:solidFill>
                  <a:schemeClr val="tx2">
                    <a:lumMod val="49000"/>
                  </a:schemeClr>
                </a:solidFill>
              </a:rPr>
              <a:t>Attractivité</a:t>
            </a:r>
            <a:r>
              <a:rPr lang="en-US" sz="1200" dirty="0">
                <a:solidFill>
                  <a:schemeClr val="tx2">
                    <a:lumMod val="49000"/>
                  </a:schemeClr>
                </a:solidFill>
              </a:rPr>
              <a:t>, </a:t>
            </a:r>
            <a:r>
              <a:rPr lang="en-US" sz="1200" dirty="0" err="1">
                <a:solidFill>
                  <a:schemeClr val="tx2">
                    <a:lumMod val="49000"/>
                  </a:schemeClr>
                </a:solidFill>
              </a:rPr>
              <a:t>humour</a:t>
            </a:r>
            <a:r>
              <a:rPr lang="en-US" sz="1200" dirty="0">
                <a:solidFill>
                  <a:schemeClr val="tx2">
                    <a:lumMod val="49000"/>
                  </a:schemeClr>
                </a:solidFill>
              </a:rPr>
              <a:t> et </a:t>
            </a:r>
            <a:r>
              <a:rPr lang="en-US" sz="1200" dirty="0" err="1">
                <a:solidFill>
                  <a:schemeClr val="tx2">
                    <a:lumMod val="49000"/>
                  </a:schemeClr>
                </a:solidFill>
              </a:rPr>
              <a:t>intérêts</a:t>
            </a:r>
            <a:r>
              <a:rPr lang="en-US" sz="1200" dirty="0">
                <a:solidFill>
                  <a:schemeClr val="tx2">
                    <a:lumMod val="49000"/>
                  </a:schemeClr>
                </a:solidFill>
              </a:rPr>
              <a:t> </a:t>
            </a:r>
            <a:r>
              <a:rPr lang="en-US" sz="1200" dirty="0" err="1">
                <a:solidFill>
                  <a:schemeClr val="tx2">
                    <a:lumMod val="49000"/>
                  </a:schemeClr>
                </a:solidFill>
              </a:rPr>
              <a:t>communs</a:t>
            </a:r>
            <a:r>
              <a:rPr lang="en-US" sz="1200" dirty="0">
                <a:solidFill>
                  <a:schemeClr val="tx2">
                    <a:lumMod val="49000"/>
                  </a:schemeClr>
                </a:solidFill>
              </a:rPr>
              <a:t> </a:t>
            </a:r>
            <a:r>
              <a:rPr lang="en-US" sz="1200" dirty="0" err="1">
                <a:solidFill>
                  <a:schemeClr val="tx2">
                    <a:lumMod val="49000"/>
                  </a:schemeClr>
                </a:solidFill>
              </a:rPr>
              <a:t>sont</a:t>
            </a:r>
            <a:r>
              <a:rPr lang="en-US" sz="1200" dirty="0">
                <a:solidFill>
                  <a:schemeClr val="tx2">
                    <a:lumMod val="49000"/>
                  </a:schemeClr>
                </a:solidFill>
              </a:rPr>
              <a:t> les plus </a:t>
            </a:r>
            <a:r>
              <a:rPr lang="en-US" sz="1200" dirty="0" err="1">
                <a:solidFill>
                  <a:schemeClr val="tx2">
                    <a:lumMod val="49000"/>
                  </a:schemeClr>
                </a:solidFill>
              </a:rPr>
              <a:t>impactants</a:t>
            </a:r>
            <a:r>
              <a:rPr lang="en-US" sz="1200" dirty="0">
                <a:solidFill>
                  <a:schemeClr val="tx2">
                    <a:lumMod val="49000"/>
                  </a:schemeClr>
                </a:solidFill>
              </a:rPr>
              <a:t> sur la </a:t>
            </a:r>
            <a:r>
              <a:rPr lang="en-US" sz="1200" dirty="0" err="1">
                <a:solidFill>
                  <a:schemeClr val="tx2">
                    <a:lumMod val="49000"/>
                  </a:schemeClr>
                </a:solidFill>
              </a:rPr>
              <a:t>décision</a:t>
            </a:r>
            <a:r>
              <a:rPr lang="en-US" sz="1200" dirty="0">
                <a:solidFill>
                  <a:schemeClr val="tx2">
                    <a:lumMod val="49000"/>
                  </a:schemeClr>
                </a:solidFill>
              </a:rPr>
              <a:t>.</a:t>
            </a:r>
            <a:endParaRPr lang="en-US" sz="1200" dirty="0">
              <a:solidFill>
                <a:schemeClr val="tx2">
                  <a:lumMod val="49000"/>
                </a:schemeClr>
              </a:solidFill>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378195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56032"/>
            <a:ext cx="7498080" cy="640080"/>
          </a:xfrm>
          <a:prstGeom prst="rect">
            <a:avLst/>
          </a:prstGeom>
          <a:noFill/>
          <a:ln/>
        </p:spPr>
        <p:txBody>
          <a:bodyPr wrap="square" lIns="0" tIns="0" rIns="0" bIns="0" rtlCol="0" anchor="ctr"/>
          <a:lstStyle/>
          <a:p>
            <a:pPr marL="0" indent="0" algn="l">
              <a:buNone/>
            </a:pPr>
            <a:r>
              <a:rPr lang="en-US" sz="2400" b="1" dirty="0">
                <a:solidFill>
                  <a:srgbClr val="21304A"/>
                </a:solidFill>
                <a:latin typeface="Cambria"/>
                <a:ea typeface="Cambria"/>
                <a:cs typeface="Cambria" pitchFamily="34" charset="-120"/>
              </a:rPr>
              <a:t>Les </a:t>
            </a:r>
            <a:r>
              <a:rPr lang="en-US" sz="2400" b="1" dirty="0" err="1">
                <a:solidFill>
                  <a:srgbClr val="21304A"/>
                </a:solidFill>
                <a:latin typeface="Cambria"/>
                <a:ea typeface="Cambria"/>
                <a:cs typeface="Cambria" pitchFamily="34" charset="-120"/>
              </a:rPr>
              <a:t>yeux</a:t>
            </a:r>
            <a:r>
              <a:rPr lang="en-US" sz="2400" b="1" dirty="0">
                <a:solidFill>
                  <a:srgbClr val="21304A"/>
                </a:solidFill>
                <a:latin typeface="Cambria"/>
                <a:ea typeface="Cambria"/>
                <a:cs typeface="Cambria" pitchFamily="34" charset="-120"/>
              </a:rPr>
              <a:t> </a:t>
            </a:r>
            <a:r>
              <a:rPr lang="en-US" sz="2400" b="1" dirty="0" err="1">
                <a:solidFill>
                  <a:srgbClr val="21304A"/>
                </a:solidFill>
                <a:latin typeface="Cambria"/>
                <a:ea typeface="Cambria"/>
                <a:cs typeface="Cambria" pitchFamily="34" charset="-120"/>
              </a:rPr>
              <a:t>décident</a:t>
            </a:r>
            <a:r>
              <a:rPr lang="en-US" sz="2400" b="1" dirty="0">
                <a:solidFill>
                  <a:srgbClr val="21304A"/>
                </a:solidFill>
                <a:latin typeface="Cambria"/>
                <a:ea typeface="Cambria"/>
                <a:cs typeface="Cambria" pitchFamily="34" charset="-120"/>
              </a:rPr>
              <a:t> </a:t>
            </a:r>
            <a:r>
              <a:rPr lang="en-US" sz="2400" b="1" dirty="0" err="1">
                <a:solidFill>
                  <a:srgbClr val="21304A"/>
                </a:solidFill>
                <a:latin typeface="Cambria"/>
                <a:ea typeface="Cambria"/>
                <a:cs typeface="Cambria" pitchFamily="34" charset="-120"/>
              </a:rPr>
              <a:t>en</a:t>
            </a:r>
            <a:r>
              <a:rPr lang="en-US" sz="2400" b="1" dirty="0">
                <a:solidFill>
                  <a:srgbClr val="21304A"/>
                </a:solidFill>
                <a:latin typeface="Cambria"/>
                <a:ea typeface="Cambria"/>
                <a:cs typeface="Cambria" pitchFamily="34" charset="-120"/>
              </a:rPr>
              <a:t> premier</a:t>
            </a:r>
            <a:endParaRPr lang="en-US" sz="2400">
              <a:latin typeface="Cambria"/>
              <a:ea typeface="Cambria"/>
              <a:cs typeface="Calibri"/>
            </a:endParaRPr>
          </a:p>
        </p:txBody>
      </p:sp>
      <p:pic>
        <p:nvPicPr>
          <p:cNvPr id="4" name="Image 0" descr="preencoded.png"/>
          <p:cNvPicPr>
            <a:picLocks noChangeAspect="1"/>
          </p:cNvPicPr>
          <p:nvPr/>
        </p:nvPicPr>
        <p:blipFill>
          <a:blip r:embed="rId3"/>
          <a:stretch>
            <a:fillRect/>
          </a:stretch>
        </p:blipFill>
        <p:spPr>
          <a:xfrm>
            <a:off x="8183880" y="292608"/>
            <a:ext cx="566928" cy="566928"/>
          </a:xfrm>
          <a:prstGeom prst="rect">
            <a:avLst/>
          </a:prstGeom>
        </p:spPr>
      </p:pic>
      <p:pic>
        <p:nvPicPr>
          <p:cNvPr id="38" name="Picture 37">
            <a:extLst>
              <a:ext uri="{FF2B5EF4-FFF2-40B4-BE49-F238E27FC236}">
                <a16:creationId xmlns:a16="http://schemas.microsoft.com/office/drawing/2014/main" id="{3411983E-765A-8DA0-BD8E-9FBD10E3D582}"/>
              </a:ext>
            </a:extLst>
          </p:cNvPr>
          <p:cNvPicPr>
            <a:picLocks noChangeAspect="1"/>
          </p:cNvPicPr>
          <p:nvPr/>
        </p:nvPicPr>
        <p:blipFill>
          <a:blip r:embed="rId4"/>
          <a:stretch>
            <a:fillRect/>
          </a:stretch>
        </p:blipFill>
        <p:spPr>
          <a:xfrm>
            <a:off x="560" y="858092"/>
            <a:ext cx="4570880" cy="3452531"/>
          </a:xfrm>
          <a:prstGeom prst="rect">
            <a:avLst/>
          </a:prstGeom>
        </p:spPr>
      </p:pic>
      <p:pic>
        <p:nvPicPr>
          <p:cNvPr id="39" name="Picture 38">
            <a:extLst>
              <a:ext uri="{FF2B5EF4-FFF2-40B4-BE49-F238E27FC236}">
                <a16:creationId xmlns:a16="http://schemas.microsoft.com/office/drawing/2014/main" id="{E18F1647-89BC-519A-6FC9-0C0E12E22413}"/>
              </a:ext>
            </a:extLst>
          </p:cNvPr>
          <p:cNvPicPr>
            <a:picLocks noChangeAspect="1"/>
          </p:cNvPicPr>
          <p:nvPr/>
        </p:nvPicPr>
        <p:blipFill>
          <a:blip r:embed="rId5"/>
          <a:stretch>
            <a:fillRect/>
          </a:stretch>
        </p:blipFill>
        <p:spPr>
          <a:xfrm>
            <a:off x="4575642" y="851367"/>
            <a:ext cx="4564716" cy="3440767"/>
          </a:xfrm>
          <a:prstGeom prst="rect">
            <a:avLst/>
          </a:prstGeom>
        </p:spPr>
      </p:pic>
      <p:sp>
        <p:nvSpPr>
          <p:cNvPr id="5" name="TextBox 4">
            <a:extLst>
              <a:ext uri="{FF2B5EF4-FFF2-40B4-BE49-F238E27FC236}">
                <a16:creationId xmlns:a16="http://schemas.microsoft.com/office/drawing/2014/main" id="{76C236A8-234C-B63F-BD5B-4F938C7394CC}"/>
              </a:ext>
            </a:extLst>
          </p:cNvPr>
          <p:cNvSpPr txBox="1"/>
          <p:nvPr/>
        </p:nvSpPr>
        <p:spPr>
          <a:xfrm>
            <a:off x="806823" y="4294655"/>
            <a:ext cx="7152154"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1200" dirty="0" err="1">
                <a:solidFill>
                  <a:schemeClr val="tx2">
                    <a:lumMod val="49000"/>
                  </a:schemeClr>
                </a:solidFill>
              </a:rPr>
              <a:t>L'aspect</a:t>
            </a:r>
            <a:r>
              <a:rPr lang="en-US" sz="1200" dirty="0">
                <a:solidFill>
                  <a:schemeClr val="tx2">
                    <a:lumMod val="49000"/>
                  </a:schemeClr>
                </a:solidFill>
              </a:rPr>
              <a:t> </a:t>
            </a:r>
            <a:r>
              <a:rPr lang="en-US" sz="1200" dirty="0" err="1">
                <a:solidFill>
                  <a:schemeClr val="tx2">
                    <a:lumMod val="49000"/>
                  </a:schemeClr>
                </a:solidFill>
              </a:rPr>
              <a:t>visuel</a:t>
            </a:r>
            <a:r>
              <a:rPr lang="en-US" sz="1200" dirty="0">
                <a:solidFill>
                  <a:schemeClr val="tx2">
                    <a:lumMod val="49000"/>
                  </a:schemeClr>
                </a:solidFill>
              </a:rPr>
              <a:t> </a:t>
            </a:r>
            <a:r>
              <a:rPr lang="en-US" sz="1200" dirty="0" err="1">
                <a:solidFill>
                  <a:schemeClr val="tx2">
                    <a:lumMod val="49000"/>
                  </a:schemeClr>
                </a:solidFill>
              </a:rPr>
              <a:t>reste</a:t>
            </a:r>
            <a:r>
              <a:rPr lang="en-US" sz="1200" dirty="0">
                <a:solidFill>
                  <a:schemeClr val="tx2">
                    <a:lumMod val="49000"/>
                  </a:schemeClr>
                </a:solidFill>
              </a:rPr>
              <a:t> le premier </a:t>
            </a:r>
            <a:r>
              <a:rPr lang="en-US" sz="1200" dirty="0" err="1">
                <a:solidFill>
                  <a:schemeClr val="tx2">
                    <a:lumMod val="49000"/>
                  </a:schemeClr>
                </a:solidFill>
              </a:rPr>
              <a:t>critère</a:t>
            </a:r>
            <a:r>
              <a:rPr lang="en-US" sz="1200" dirty="0">
                <a:solidFill>
                  <a:schemeClr val="tx2">
                    <a:lumMod val="49000"/>
                  </a:schemeClr>
                </a:solidFill>
              </a:rPr>
              <a:t> de </a:t>
            </a:r>
            <a:r>
              <a:rPr lang="en-US" sz="1200" dirty="0" err="1">
                <a:solidFill>
                  <a:schemeClr val="tx2">
                    <a:lumMod val="49000"/>
                  </a:schemeClr>
                </a:solidFill>
              </a:rPr>
              <a:t>sélection</a:t>
            </a:r>
            <a:r>
              <a:rPr lang="en-US" sz="1200" dirty="0">
                <a:solidFill>
                  <a:schemeClr val="tx2">
                    <a:lumMod val="49000"/>
                  </a:schemeClr>
                </a:solidFill>
              </a:rPr>
              <a:t> (</a:t>
            </a:r>
            <a:r>
              <a:rPr lang="en-US" sz="1200" dirty="0" err="1">
                <a:solidFill>
                  <a:schemeClr val="tx2">
                    <a:lumMod val="49000"/>
                  </a:schemeClr>
                </a:solidFill>
              </a:rPr>
              <a:t>décision</a:t>
            </a:r>
            <a:r>
              <a:rPr lang="en-US" sz="1200" dirty="0">
                <a:solidFill>
                  <a:schemeClr val="tx2">
                    <a:lumMod val="49000"/>
                  </a:schemeClr>
                </a:solidFill>
              </a:rPr>
              <a:t> OK) pour les femmes et pour les hommes.</a:t>
            </a:r>
            <a:endParaRPr lang="en-US" sz="1200" dirty="0">
              <a:solidFill>
                <a:schemeClr val="tx2">
                  <a:lumMod val="49000"/>
                </a:schemeClr>
              </a:solidFill>
              <a:ea typeface="Calibri"/>
              <a:cs typeface="Calibri"/>
            </a:endParaRPr>
          </a:p>
          <a:p>
            <a:pPr algn="l"/>
            <a:endParaRPr lang="en-US" sz="1200" dirty="0">
              <a:solidFill>
                <a:schemeClr val="tx2">
                  <a:lumMod val="49000"/>
                </a:schemeClr>
              </a:solidFill>
              <a:ea typeface="Calibri"/>
              <a:cs typeface="Calibri"/>
            </a:endParaRPr>
          </a:p>
          <a:p>
            <a:pPr marL="171450" indent="-171450">
              <a:buFont typeface="Arial"/>
              <a:buChar char="•"/>
            </a:pPr>
            <a:r>
              <a:rPr lang="en-US" sz="1200" dirty="0" err="1">
                <a:solidFill>
                  <a:schemeClr val="tx2">
                    <a:lumMod val="49000"/>
                  </a:schemeClr>
                </a:solidFill>
              </a:rPr>
              <a:t>L'humain</a:t>
            </a:r>
            <a:r>
              <a:rPr lang="en-US" sz="1200" dirty="0">
                <a:solidFill>
                  <a:schemeClr val="tx2">
                    <a:lumMod val="49000"/>
                  </a:schemeClr>
                </a:solidFill>
              </a:rPr>
              <a:t> </a:t>
            </a:r>
            <a:r>
              <a:rPr lang="en-US" sz="1200" dirty="0" err="1">
                <a:solidFill>
                  <a:schemeClr val="tx2">
                    <a:lumMod val="49000"/>
                  </a:schemeClr>
                </a:solidFill>
              </a:rPr>
              <a:t>simplifie</a:t>
            </a:r>
            <a:r>
              <a:rPr lang="en-US" sz="1200" dirty="0">
                <a:solidFill>
                  <a:schemeClr val="tx2">
                    <a:lumMod val="49000"/>
                  </a:schemeClr>
                </a:solidFill>
              </a:rPr>
              <a:t> </a:t>
            </a:r>
            <a:r>
              <a:rPr lang="en-US" sz="1200" dirty="0" err="1">
                <a:solidFill>
                  <a:schemeClr val="tx2">
                    <a:lumMod val="49000"/>
                  </a:schemeClr>
                </a:solidFill>
              </a:rPr>
              <a:t>ses</a:t>
            </a:r>
            <a:r>
              <a:rPr lang="en-US" sz="1200" dirty="0">
                <a:solidFill>
                  <a:schemeClr val="tx2">
                    <a:lumMod val="49000"/>
                  </a:schemeClr>
                </a:solidFill>
              </a:rPr>
              <a:t> </a:t>
            </a:r>
            <a:r>
              <a:rPr lang="en-US" sz="1200" dirty="0" err="1">
                <a:solidFill>
                  <a:schemeClr val="tx2">
                    <a:lumMod val="49000"/>
                  </a:schemeClr>
                </a:solidFill>
              </a:rPr>
              <a:t>décisions</a:t>
            </a:r>
            <a:r>
              <a:rPr lang="en-US" sz="1200" dirty="0">
                <a:solidFill>
                  <a:schemeClr val="tx2">
                    <a:lumMod val="49000"/>
                  </a:schemeClr>
                </a:solidFill>
              </a:rPr>
              <a:t> au profit du premier </a:t>
            </a:r>
            <a:r>
              <a:rPr lang="en-US" sz="1200" dirty="0" err="1">
                <a:solidFill>
                  <a:schemeClr val="tx2">
                    <a:lumMod val="49000"/>
                  </a:schemeClr>
                </a:solidFill>
              </a:rPr>
              <a:t>filtre</a:t>
            </a:r>
            <a:r>
              <a:rPr lang="en-US" sz="1200" dirty="0">
                <a:solidFill>
                  <a:schemeClr val="tx2">
                    <a:lumMod val="49000"/>
                  </a:schemeClr>
                </a:solidFill>
              </a:rPr>
              <a:t> </a:t>
            </a:r>
            <a:r>
              <a:rPr lang="en-US" sz="1200" dirty="0" err="1">
                <a:solidFill>
                  <a:schemeClr val="tx2">
                    <a:lumMod val="49000"/>
                  </a:schemeClr>
                </a:solidFill>
              </a:rPr>
              <a:t>visuel</a:t>
            </a:r>
            <a:r>
              <a:rPr lang="en-US" sz="1200" dirty="0">
                <a:solidFill>
                  <a:schemeClr val="tx2">
                    <a:lumMod val="49000"/>
                  </a:schemeClr>
                </a:solidFill>
              </a:rPr>
              <a:t>.</a:t>
            </a:r>
            <a:endParaRPr lang="en-US" sz="1200" dirty="0">
              <a:solidFill>
                <a:schemeClr val="tx2">
                  <a:lumMod val="49000"/>
                </a:schemeClr>
              </a:solidFill>
              <a:ea typeface="Calibri"/>
              <a:cs typeface="Calibri"/>
            </a:endParaRPr>
          </a:p>
          <a:p>
            <a:endParaRPr lang="en-US" sz="1200" dirty="0">
              <a:solidFill>
                <a:schemeClr val="tx2">
                  <a:lumMod val="49000"/>
                </a:schemeClr>
              </a:solidFill>
              <a:ea typeface="Calibri"/>
              <a:cs typeface="Calibri"/>
            </a:endParaRPr>
          </a:p>
          <a:p>
            <a:endParaRPr lang="en-US" dirty="0">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chemeClr val="bg1"/>
        </a:solidFill>
        <a:effectLst/>
      </p:bgPr>
    </p:bg>
    <p:spTree>
      <p:nvGrpSpPr>
        <p:cNvPr id="1" name=""/>
        <p:cNvGrpSpPr/>
        <p:nvPr/>
      </p:nvGrpSpPr>
      <p:grpSpPr>
        <a:xfrm>
          <a:off x="0" y="0"/>
          <a:ext cx="0" cy="0"/>
          <a:chOff x="0" y="0"/>
          <a:chExt cx="0" cy="0"/>
        </a:xfrm>
      </p:grpSpPr>
      <p:sp>
        <p:nvSpPr>
          <p:cNvPr id="3" name="Text 1"/>
          <p:cNvSpPr/>
          <p:nvPr/>
        </p:nvSpPr>
        <p:spPr>
          <a:xfrm>
            <a:off x="457200" y="274320"/>
            <a:ext cx="8229600" cy="640080"/>
          </a:xfrm>
          <a:prstGeom prst="rect">
            <a:avLst/>
          </a:prstGeom>
          <a:noFill/>
          <a:ln/>
        </p:spPr>
        <p:txBody>
          <a:bodyPr wrap="square" lIns="0" tIns="0" rIns="0" bIns="0" rtlCol="0" anchor="ctr"/>
          <a:lstStyle/>
          <a:p>
            <a:pPr marL="0" indent="0">
              <a:buNone/>
            </a:pPr>
            <a:r>
              <a:rPr lang="en-US" sz="2400" b="1" dirty="0">
                <a:solidFill>
                  <a:schemeClr val="tx2">
                    <a:lumMod val="49000"/>
                  </a:schemeClr>
                </a:solidFill>
                <a:latin typeface="Cambria"/>
                <a:ea typeface="Cambria"/>
                <a:cs typeface="Cambria" pitchFamily="34" charset="-120"/>
              </a:rPr>
              <a:t>Ce </a:t>
            </a:r>
            <a:r>
              <a:rPr lang="en-US" sz="2400" b="1" dirty="0" err="1">
                <a:solidFill>
                  <a:schemeClr val="tx2">
                    <a:lumMod val="49000"/>
                  </a:schemeClr>
                </a:solidFill>
                <a:latin typeface="Cambria"/>
                <a:ea typeface="Cambria"/>
                <a:cs typeface="Cambria" pitchFamily="34" charset="-120"/>
              </a:rPr>
              <a:t>que</a:t>
            </a:r>
            <a:r>
              <a:rPr lang="en-US" sz="2400" b="1" dirty="0">
                <a:solidFill>
                  <a:schemeClr val="tx2">
                    <a:lumMod val="49000"/>
                  </a:schemeClr>
                </a:solidFill>
                <a:latin typeface="Cambria"/>
                <a:ea typeface="Cambria"/>
                <a:cs typeface="Cambria" pitchFamily="34" charset="-120"/>
              </a:rPr>
              <a:t> les gens ne </a:t>
            </a:r>
            <a:r>
              <a:rPr lang="en-US" sz="2400" b="1" dirty="0" err="1">
                <a:solidFill>
                  <a:schemeClr val="tx2">
                    <a:lumMod val="49000"/>
                  </a:schemeClr>
                </a:solidFill>
                <a:latin typeface="Cambria"/>
                <a:ea typeface="Cambria"/>
                <a:cs typeface="Cambria" pitchFamily="34" charset="-120"/>
              </a:rPr>
              <a:t>savent</a:t>
            </a:r>
            <a:r>
              <a:rPr lang="en-US" sz="2400" b="1" dirty="0">
                <a:solidFill>
                  <a:schemeClr val="tx2">
                    <a:lumMod val="49000"/>
                  </a:schemeClr>
                </a:solidFill>
                <a:latin typeface="Cambria"/>
                <a:ea typeface="Cambria"/>
                <a:cs typeface="Cambria" pitchFamily="34" charset="-120"/>
              </a:rPr>
              <a:t> pas </a:t>
            </a:r>
            <a:r>
              <a:rPr lang="en-US" sz="2400" b="1" dirty="0" err="1">
                <a:solidFill>
                  <a:schemeClr val="tx2">
                    <a:lumMod val="49000"/>
                  </a:schemeClr>
                </a:solidFill>
                <a:latin typeface="Cambria"/>
                <a:ea typeface="Cambria"/>
                <a:cs typeface="Cambria" pitchFamily="34" charset="-120"/>
              </a:rPr>
              <a:t>d'eux-mêmes</a:t>
            </a:r>
            <a:endParaRPr lang="en-US" sz="2400">
              <a:solidFill>
                <a:schemeClr val="tx2">
                  <a:lumMod val="49000"/>
                </a:schemeClr>
              </a:solidFill>
              <a:latin typeface="Calibri"/>
              <a:ea typeface="Calibri"/>
              <a:cs typeface="Calibri"/>
            </a:endParaRPr>
          </a:p>
        </p:txBody>
      </p:sp>
      <p:sp>
        <p:nvSpPr>
          <p:cNvPr id="4" name="Text 2"/>
          <p:cNvSpPr/>
          <p:nvPr/>
        </p:nvSpPr>
        <p:spPr>
          <a:xfrm>
            <a:off x="457200" y="932688"/>
            <a:ext cx="8229600" cy="365760"/>
          </a:xfrm>
          <a:prstGeom prst="rect">
            <a:avLst/>
          </a:prstGeom>
          <a:noFill/>
          <a:ln/>
        </p:spPr>
        <p:txBody>
          <a:bodyPr wrap="square" lIns="0" tIns="0" rIns="0" bIns="0" rtlCol="0" anchor="ctr"/>
          <a:lstStyle/>
          <a:p>
            <a:pPr marL="0" indent="0" algn="ctr">
              <a:buNone/>
            </a:pPr>
            <a:r>
              <a:rPr lang="en-US" sz="1200" b="1" dirty="0">
                <a:solidFill>
                  <a:schemeClr val="tx2">
                    <a:lumMod val="49000"/>
                  </a:schemeClr>
                </a:solidFill>
                <a:latin typeface="Calibri"/>
                <a:ea typeface="Calibri"/>
                <a:cs typeface="Calibri"/>
              </a:rPr>
              <a:t>Auto-perception vs. </a:t>
            </a:r>
            <a:r>
              <a:rPr lang="en-US" sz="1200" b="1" dirty="0" err="1">
                <a:solidFill>
                  <a:schemeClr val="tx2">
                    <a:lumMod val="49000"/>
                  </a:schemeClr>
                </a:solidFill>
                <a:latin typeface="Calibri"/>
                <a:ea typeface="Calibri"/>
                <a:cs typeface="Calibri"/>
              </a:rPr>
              <a:t>réalité</a:t>
            </a:r>
            <a:endParaRPr lang="en-US" sz="1200" b="1" dirty="0">
              <a:solidFill>
                <a:schemeClr val="tx2">
                  <a:lumMod val="49000"/>
                </a:schemeClr>
              </a:solidFill>
              <a:latin typeface="Calibri"/>
              <a:ea typeface="Calibri"/>
              <a:cs typeface="Calibri"/>
            </a:endParaRPr>
          </a:p>
        </p:txBody>
      </p:sp>
      <p:sp>
        <p:nvSpPr>
          <p:cNvPr id="5" name="Shape 3"/>
          <p:cNvSpPr/>
          <p:nvPr/>
        </p:nvSpPr>
        <p:spPr>
          <a:xfrm>
            <a:off x="411480" y="1493520"/>
            <a:ext cx="2651760" cy="2514600"/>
          </a:xfrm>
          <a:prstGeom prst="rect">
            <a:avLst/>
          </a:prstGeom>
          <a:solidFill>
            <a:srgbClr val="1E2540"/>
          </a:solidFill>
          <a:ln w="15875">
            <a:solidFill>
              <a:srgbClr val="EF4565"/>
            </a:solidFill>
            <a:prstDash val="solid"/>
          </a:ln>
          <a:effectLst>
            <a:outerShdw blurRad="88900" dist="38100" dir="5400000" algn="bl" rotWithShape="0">
              <a:srgbClr val="000000">
                <a:alpha val="25000"/>
              </a:srgbClr>
            </a:outerShdw>
          </a:effectLst>
        </p:spPr>
        <p:txBody>
          <a:bodyPr/>
          <a:lstStyle/>
          <a:p>
            <a:endParaRPr lang="fr-FR"/>
          </a:p>
        </p:txBody>
      </p:sp>
      <p:sp>
        <p:nvSpPr>
          <p:cNvPr id="7" name="Text 4"/>
          <p:cNvSpPr/>
          <p:nvPr/>
        </p:nvSpPr>
        <p:spPr>
          <a:xfrm>
            <a:off x="411480" y="1805940"/>
            <a:ext cx="265176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a:ea typeface="Cambria"/>
                <a:cs typeface="Cambria" pitchFamily="34" charset="-120"/>
              </a:rPr>
              <a:t>Attractivité</a:t>
            </a:r>
            <a:endParaRPr lang="en-US" sz="1800">
              <a:solidFill>
                <a:srgbClr val="FFFFFF"/>
              </a:solidFill>
              <a:latin typeface="Calibri"/>
              <a:ea typeface="Calibri"/>
              <a:cs typeface="Calibri"/>
            </a:endParaRPr>
          </a:p>
        </p:txBody>
      </p:sp>
      <p:sp>
        <p:nvSpPr>
          <p:cNvPr id="8" name="Text 5"/>
          <p:cNvSpPr/>
          <p:nvPr/>
        </p:nvSpPr>
        <p:spPr>
          <a:xfrm>
            <a:off x="612648" y="2235708"/>
            <a:ext cx="2286000" cy="228600"/>
          </a:xfrm>
          <a:prstGeom prst="rect">
            <a:avLst/>
          </a:prstGeom>
          <a:noFill/>
          <a:ln/>
        </p:spPr>
        <p:txBody>
          <a:bodyPr wrap="square" lIns="0" tIns="0" rIns="0" bIns="0" rtlCol="0" anchor="ctr"/>
          <a:lstStyle/>
          <a:p>
            <a:pPr marL="0" indent="0">
              <a:buNone/>
            </a:pPr>
            <a:r>
              <a:rPr lang="en-US" sz="950" dirty="0">
                <a:solidFill>
                  <a:srgbClr val="EF4565"/>
                </a:solidFill>
                <a:latin typeface="Calibri"/>
                <a:ea typeface="Calibri"/>
                <a:cs typeface="Calibri"/>
              </a:rPr>
              <a:t>Note réelle reçue</a:t>
            </a:r>
            <a:endParaRPr lang="en-US" sz="950">
              <a:solidFill>
                <a:srgbClr val="EF4565"/>
              </a:solidFill>
              <a:latin typeface="Calibri"/>
              <a:ea typeface="Calibri"/>
              <a:cs typeface="Calibri"/>
            </a:endParaRPr>
          </a:p>
        </p:txBody>
      </p:sp>
      <p:sp>
        <p:nvSpPr>
          <p:cNvPr id="9" name="Shape 6"/>
          <p:cNvSpPr/>
          <p:nvPr/>
        </p:nvSpPr>
        <p:spPr>
          <a:xfrm>
            <a:off x="612648" y="2473452"/>
            <a:ext cx="2249424" cy="182880"/>
          </a:xfrm>
          <a:prstGeom prst="rect">
            <a:avLst/>
          </a:prstGeom>
          <a:solidFill>
            <a:srgbClr val="2B3050"/>
          </a:solidFill>
          <a:ln/>
        </p:spPr>
        <p:txBody>
          <a:bodyPr/>
          <a:lstStyle/>
          <a:p>
            <a:endParaRPr lang="fr-FR"/>
          </a:p>
        </p:txBody>
      </p:sp>
      <p:sp>
        <p:nvSpPr>
          <p:cNvPr id="10" name="Shape 7"/>
          <p:cNvSpPr/>
          <p:nvPr/>
        </p:nvSpPr>
        <p:spPr>
          <a:xfrm>
            <a:off x="612648" y="2473452"/>
            <a:ext cx="1390144" cy="182880"/>
          </a:xfrm>
          <a:prstGeom prst="rect">
            <a:avLst/>
          </a:prstGeom>
          <a:solidFill>
            <a:srgbClr val="EF4565"/>
          </a:solidFill>
          <a:ln/>
        </p:spPr>
        <p:txBody>
          <a:bodyPr/>
          <a:lstStyle/>
          <a:p>
            <a:endParaRPr lang="fr-FR"/>
          </a:p>
        </p:txBody>
      </p:sp>
      <p:sp>
        <p:nvSpPr>
          <p:cNvPr id="11" name="Text 8"/>
          <p:cNvSpPr/>
          <p:nvPr/>
        </p:nvSpPr>
        <p:spPr>
          <a:xfrm>
            <a:off x="612648" y="2674620"/>
            <a:ext cx="2249424" cy="228600"/>
          </a:xfrm>
          <a:prstGeom prst="rect">
            <a:avLst/>
          </a:prstGeom>
          <a:noFill/>
          <a:ln/>
        </p:spPr>
        <p:txBody>
          <a:bodyPr wrap="square" lIns="0" tIns="0" rIns="0" bIns="0" rtlCol="0" anchor="ctr"/>
          <a:lstStyle/>
          <a:p>
            <a:pPr marL="0" indent="0" algn="r">
              <a:buNone/>
            </a:pPr>
            <a:r>
              <a:rPr lang="en-US" sz="1000" b="1">
                <a:solidFill>
                  <a:srgbClr val="F4A6B6"/>
                </a:solidFill>
                <a:latin typeface="Calibri"/>
                <a:ea typeface="Calibri"/>
                <a:cs typeface="Calibri"/>
              </a:rPr>
              <a:t>6.19 / 10</a:t>
            </a:r>
            <a:endParaRPr lang="en-US" sz="1000">
              <a:solidFill>
                <a:srgbClr val="F4A6B6"/>
              </a:solidFill>
              <a:latin typeface="Calibri"/>
              <a:ea typeface="Calibri"/>
              <a:cs typeface="Calibri"/>
            </a:endParaRPr>
          </a:p>
        </p:txBody>
      </p:sp>
      <p:sp>
        <p:nvSpPr>
          <p:cNvPr id="12" name="Text 9"/>
          <p:cNvSpPr/>
          <p:nvPr/>
        </p:nvSpPr>
        <p:spPr>
          <a:xfrm>
            <a:off x="612648" y="2967228"/>
            <a:ext cx="2286000" cy="228600"/>
          </a:xfrm>
          <a:prstGeom prst="rect">
            <a:avLst/>
          </a:prstGeom>
          <a:noFill/>
          <a:ln/>
        </p:spPr>
        <p:txBody>
          <a:bodyPr wrap="square" lIns="0" tIns="0" rIns="0" bIns="0" rtlCol="0" anchor="ctr"/>
          <a:lstStyle/>
          <a:p>
            <a:pPr marL="0" indent="0">
              <a:buNone/>
            </a:pPr>
            <a:r>
              <a:rPr lang="en-US" sz="950" dirty="0">
                <a:solidFill>
                  <a:srgbClr val="C2C8D4"/>
                </a:solidFill>
                <a:latin typeface="Calibri"/>
                <a:ea typeface="Calibri"/>
                <a:cs typeface="Calibri"/>
              </a:rPr>
              <a:t>Auto-perception</a:t>
            </a:r>
            <a:endParaRPr lang="en-US" sz="950">
              <a:solidFill>
                <a:srgbClr val="C2C8D4"/>
              </a:solidFill>
              <a:latin typeface="Calibri"/>
              <a:ea typeface="Calibri"/>
              <a:cs typeface="Calibri"/>
            </a:endParaRPr>
          </a:p>
        </p:txBody>
      </p:sp>
      <p:sp>
        <p:nvSpPr>
          <p:cNvPr id="13" name="Shape 10"/>
          <p:cNvSpPr/>
          <p:nvPr/>
        </p:nvSpPr>
        <p:spPr>
          <a:xfrm>
            <a:off x="612648" y="3204972"/>
            <a:ext cx="2249424" cy="182880"/>
          </a:xfrm>
          <a:prstGeom prst="rect">
            <a:avLst/>
          </a:prstGeom>
          <a:solidFill>
            <a:srgbClr val="2B3050"/>
          </a:solidFill>
          <a:ln/>
        </p:spPr>
        <p:txBody>
          <a:bodyPr/>
          <a:lstStyle/>
          <a:p>
            <a:endParaRPr lang="fr-FR"/>
          </a:p>
        </p:txBody>
      </p:sp>
      <p:sp>
        <p:nvSpPr>
          <p:cNvPr id="14" name="Shape 11"/>
          <p:cNvSpPr/>
          <p:nvPr/>
        </p:nvSpPr>
        <p:spPr>
          <a:xfrm>
            <a:off x="612648" y="3204972"/>
            <a:ext cx="1592592" cy="182880"/>
          </a:xfrm>
          <a:prstGeom prst="rect">
            <a:avLst/>
          </a:prstGeom>
          <a:solidFill>
            <a:srgbClr val="F4A6B6"/>
          </a:solidFill>
          <a:ln/>
        </p:spPr>
        <p:txBody>
          <a:bodyPr/>
          <a:lstStyle/>
          <a:p>
            <a:endParaRPr lang="fr-FR"/>
          </a:p>
        </p:txBody>
      </p:sp>
      <p:sp>
        <p:nvSpPr>
          <p:cNvPr id="15" name="Text 12"/>
          <p:cNvSpPr/>
          <p:nvPr/>
        </p:nvSpPr>
        <p:spPr>
          <a:xfrm>
            <a:off x="612648" y="3406140"/>
            <a:ext cx="2249424" cy="228600"/>
          </a:xfrm>
          <a:prstGeom prst="rect">
            <a:avLst/>
          </a:prstGeom>
          <a:noFill/>
          <a:ln/>
        </p:spPr>
        <p:txBody>
          <a:bodyPr wrap="square" lIns="0" tIns="0" rIns="0" bIns="0" rtlCol="0" anchor="ctr"/>
          <a:lstStyle/>
          <a:p>
            <a:pPr marL="0" indent="0" algn="r">
              <a:buNone/>
            </a:pPr>
            <a:r>
              <a:rPr lang="en-US" sz="1000" b="1">
                <a:solidFill>
                  <a:srgbClr val="E8EBF1"/>
                </a:solidFill>
                <a:latin typeface="Calibri"/>
                <a:ea typeface="Calibri"/>
                <a:cs typeface="Calibri"/>
              </a:rPr>
              <a:t>7.09 / 10</a:t>
            </a:r>
            <a:endParaRPr lang="en-US" sz="1000">
              <a:solidFill>
                <a:srgbClr val="E8EBF1"/>
              </a:solidFill>
              <a:latin typeface="Calibri"/>
              <a:ea typeface="Calibri"/>
              <a:cs typeface="Calibri"/>
            </a:endParaRPr>
          </a:p>
        </p:txBody>
      </p:sp>
      <p:sp>
        <p:nvSpPr>
          <p:cNvPr id="16" name="Shape 13"/>
          <p:cNvSpPr/>
          <p:nvPr/>
        </p:nvSpPr>
        <p:spPr>
          <a:xfrm>
            <a:off x="685800" y="3680460"/>
            <a:ext cx="2103120" cy="310896"/>
          </a:xfrm>
          <a:prstGeom prst="roundRect">
            <a:avLst>
              <a:gd name="adj" fmla="val 14706"/>
            </a:avLst>
          </a:prstGeom>
          <a:solidFill>
            <a:srgbClr val="EF4565"/>
          </a:solidFill>
          <a:ln/>
        </p:spPr>
        <p:txBody>
          <a:bodyPr/>
          <a:lstStyle/>
          <a:p>
            <a:endParaRPr lang="fr-FR"/>
          </a:p>
        </p:txBody>
      </p:sp>
      <p:sp>
        <p:nvSpPr>
          <p:cNvPr id="17" name="Text 14"/>
          <p:cNvSpPr/>
          <p:nvPr/>
        </p:nvSpPr>
        <p:spPr>
          <a:xfrm>
            <a:off x="685800" y="3680460"/>
            <a:ext cx="210312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a:ea typeface="Calibri"/>
                <a:cs typeface="Calibri"/>
              </a:rPr>
              <a:t>Surestimation : +0.90 pt</a:t>
            </a:r>
            <a:endParaRPr lang="en-US" sz="1000">
              <a:solidFill>
                <a:srgbClr val="FFFFFF"/>
              </a:solidFill>
              <a:latin typeface="Calibri"/>
              <a:ea typeface="Calibri"/>
              <a:cs typeface="Calibri"/>
            </a:endParaRPr>
          </a:p>
        </p:txBody>
      </p:sp>
      <p:sp>
        <p:nvSpPr>
          <p:cNvPr id="18" name="Shape 15"/>
          <p:cNvSpPr/>
          <p:nvPr/>
        </p:nvSpPr>
        <p:spPr>
          <a:xfrm>
            <a:off x="3200400" y="1493520"/>
            <a:ext cx="2651760" cy="2514600"/>
          </a:xfrm>
          <a:prstGeom prst="rect">
            <a:avLst/>
          </a:prstGeom>
          <a:solidFill>
            <a:srgbClr val="1E2540"/>
          </a:solidFill>
          <a:ln w="15875">
            <a:solidFill>
              <a:srgbClr val="EF4565"/>
            </a:solidFill>
            <a:prstDash val="solid"/>
          </a:ln>
          <a:effectLst>
            <a:outerShdw blurRad="88900" dist="38100" dir="5400000" algn="bl" rotWithShape="0">
              <a:srgbClr val="000000">
                <a:alpha val="25000"/>
              </a:srgbClr>
            </a:outerShdw>
          </a:effectLst>
        </p:spPr>
        <p:txBody>
          <a:bodyPr/>
          <a:lstStyle/>
          <a:p>
            <a:endParaRPr lang="fr-FR"/>
          </a:p>
        </p:txBody>
      </p:sp>
      <p:sp>
        <p:nvSpPr>
          <p:cNvPr id="20" name="Text 16"/>
          <p:cNvSpPr/>
          <p:nvPr/>
        </p:nvSpPr>
        <p:spPr>
          <a:xfrm>
            <a:off x="3200400" y="1805940"/>
            <a:ext cx="265176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a:ea typeface="Cambria"/>
                <a:cs typeface="Cambria" pitchFamily="34" charset="-120"/>
              </a:rPr>
              <a:t>Sincérité</a:t>
            </a:r>
            <a:endParaRPr lang="en-US" sz="1800">
              <a:solidFill>
                <a:srgbClr val="FFFFFF"/>
              </a:solidFill>
              <a:latin typeface="Calibri"/>
              <a:ea typeface="Calibri"/>
              <a:cs typeface="Calibri"/>
            </a:endParaRPr>
          </a:p>
        </p:txBody>
      </p:sp>
      <p:sp>
        <p:nvSpPr>
          <p:cNvPr id="21" name="Text 17"/>
          <p:cNvSpPr/>
          <p:nvPr/>
        </p:nvSpPr>
        <p:spPr>
          <a:xfrm>
            <a:off x="3401568" y="2235708"/>
            <a:ext cx="2286000" cy="228600"/>
          </a:xfrm>
          <a:prstGeom prst="rect">
            <a:avLst/>
          </a:prstGeom>
          <a:noFill/>
          <a:ln/>
        </p:spPr>
        <p:txBody>
          <a:bodyPr wrap="square" lIns="0" tIns="0" rIns="0" bIns="0" rtlCol="0" anchor="ctr"/>
          <a:lstStyle/>
          <a:p>
            <a:pPr marL="0" indent="0">
              <a:buNone/>
            </a:pPr>
            <a:r>
              <a:rPr lang="en-US" sz="950" dirty="0">
                <a:solidFill>
                  <a:srgbClr val="EF4565"/>
                </a:solidFill>
                <a:latin typeface="Calibri"/>
                <a:ea typeface="Calibri"/>
                <a:cs typeface="Calibri"/>
              </a:rPr>
              <a:t>Note réelle reçue</a:t>
            </a:r>
            <a:endParaRPr lang="en-US" sz="950">
              <a:solidFill>
                <a:srgbClr val="EF4565"/>
              </a:solidFill>
              <a:latin typeface="Calibri"/>
              <a:ea typeface="Calibri"/>
              <a:cs typeface="Calibri"/>
            </a:endParaRPr>
          </a:p>
        </p:txBody>
      </p:sp>
      <p:sp>
        <p:nvSpPr>
          <p:cNvPr id="22" name="Shape 18"/>
          <p:cNvSpPr/>
          <p:nvPr/>
        </p:nvSpPr>
        <p:spPr>
          <a:xfrm>
            <a:off x="3401568" y="2473452"/>
            <a:ext cx="2249424" cy="182880"/>
          </a:xfrm>
          <a:prstGeom prst="rect">
            <a:avLst/>
          </a:prstGeom>
          <a:solidFill>
            <a:srgbClr val="2B3050"/>
          </a:solidFill>
          <a:ln/>
        </p:spPr>
        <p:txBody>
          <a:bodyPr/>
          <a:lstStyle/>
          <a:p>
            <a:endParaRPr lang="fr-FR"/>
          </a:p>
        </p:txBody>
      </p:sp>
      <p:sp>
        <p:nvSpPr>
          <p:cNvPr id="23" name="Shape 19"/>
          <p:cNvSpPr/>
          <p:nvPr/>
        </p:nvSpPr>
        <p:spPr>
          <a:xfrm>
            <a:off x="3401568" y="2473452"/>
            <a:ext cx="1615086" cy="182880"/>
          </a:xfrm>
          <a:prstGeom prst="rect">
            <a:avLst/>
          </a:prstGeom>
          <a:solidFill>
            <a:srgbClr val="EF4565"/>
          </a:solidFill>
          <a:ln/>
        </p:spPr>
        <p:txBody>
          <a:bodyPr/>
          <a:lstStyle/>
          <a:p>
            <a:endParaRPr lang="fr-FR"/>
          </a:p>
        </p:txBody>
      </p:sp>
      <p:sp>
        <p:nvSpPr>
          <p:cNvPr id="24" name="Text 20"/>
          <p:cNvSpPr/>
          <p:nvPr/>
        </p:nvSpPr>
        <p:spPr>
          <a:xfrm>
            <a:off x="3401568" y="2674620"/>
            <a:ext cx="2249424" cy="228600"/>
          </a:xfrm>
          <a:prstGeom prst="rect">
            <a:avLst/>
          </a:prstGeom>
          <a:noFill/>
          <a:ln/>
        </p:spPr>
        <p:txBody>
          <a:bodyPr wrap="square" lIns="0" tIns="0" rIns="0" bIns="0" rtlCol="0" anchor="ctr"/>
          <a:lstStyle/>
          <a:p>
            <a:pPr marL="0" indent="0" algn="r">
              <a:buNone/>
            </a:pPr>
            <a:r>
              <a:rPr lang="en-US" sz="1000" b="1" dirty="0">
                <a:solidFill>
                  <a:srgbClr val="F4A6B6"/>
                </a:solidFill>
                <a:latin typeface="Calibri"/>
                <a:ea typeface="Calibri"/>
                <a:cs typeface="Calibri"/>
              </a:rPr>
              <a:t>7.18 / 10</a:t>
            </a:r>
            <a:endParaRPr lang="en-US" sz="1000">
              <a:solidFill>
                <a:srgbClr val="F4A6B6"/>
              </a:solidFill>
              <a:latin typeface="Calibri"/>
              <a:ea typeface="Calibri"/>
              <a:cs typeface="Calibri"/>
            </a:endParaRPr>
          </a:p>
        </p:txBody>
      </p:sp>
      <p:sp>
        <p:nvSpPr>
          <p:cNvPr id="25" name="Text 21"/>
          <p:cNvSpPr/>
          <p:nvPr/>
        </p:nvSpPr>
        <p:spPr>
          <a:xfrm>
            <a:off x="3401568" y="2967228"/>
            <a:ext cx="2286000" cy="228600"/>
          </a:xfrm>
          <a:prstGeom prst="rect">
            <a:avLst/>
          </a:prstGeom>
          <a:noFill/>
          <a:ln/>
        </p:spPr>
        <p:txBody>
          <a:bodyPr wrap="square" lIns="0" tIns="0" rIns="0" bIns="0" rtlCol="0" anchor="ctr"/>
          <a:lstStyle/>
          <a:p>
            <a:pPr marL="0" indent="0">
              <a:buNone/>
            </a:pPr>
            <a:r>
              <a:rPr lang="en-US" sz="950" dirty="0">
                <a:solidFill>
                  <a:srgbClr val="C2C8D4"/>
                </a:solidFill>
                <a:latin typeface="Calibri"/>
                <a:ea typeface="Calibri"/>
                <a:cs typeface="Calibri"/>
              </a:rPr>
              <a:t>Auto-perception</a:t>
            </a:r>
            <a:endParaRPr lang="en-US" sz="950">
              <a:solidFill>
                <a:srgbClr val="C2C8D4"/>
              </a:solidFill>
              <a:latin typeface="Calibri"/>
              <a:ea typeface="Calibri"/>
              <a:cs typeface="Calibri"/>
            </a:endParaRPr>
          </a:p>
        </p:txBody>
      </p:sp>
      <p:sp>
        <p:nvSpPr>
          <p:cNvPr id="26" name="Shape 22"/>
          <p:cNvSpPr/>
          <p:nvPr/>
        </p:nvSpPr>
        <p:spPr>
          <a:xfrm>
            <a:off x="3401568" y="3204972"/>
            <a:ext cx="2249424" cy="182880"/>
          </a:xfrm>
          <a:prstGeom prst="rect">
            <a:avLst/>
          </a:prstGeom>
          <a:solidFill>
            <a:srgbClr val="2B3050"/>
          </a:solidFill>
          <a:ln/>
        </p:spPr>
        <p:txBody>
          <a:bodyPr/>
          <a:lstStyle/>
          <a:p>
            <a:endParaRPr lang="fr-FR"/>
          </a:p>
        </p:txBody>
      </p:sp>
      <p:sp>
        <p:nvSpPr>
          <p:cNvPr id="27" name="Shape 23"/>
          <p:cNvSpPr/>
          <p:nvPr/>
        </p:nvSpPr>
        <p:spPr>
          <a:xfrm>
            <a:off x="3401568" y="3204972"/>
            <a:ext cx="1867022" cy="182880"/>
          </a:xfrm>
          <a:prstGeom prst="rect">
            <a:avLst/>
          </a:prstGeom>
          <a:solidFill>
            <a:srgbClr val="F4A6B6"/>
          </a:solidFill>
          <a:ln/>
        </p:spPr>
        <p:txBody>
          <a:bodyPr/>
          <a:lstStyle/>
          <a:p>
            <a:endParaRPr lang="fr-FR"/>
          </a:p>
        </p:txBody>
      </p:sp>
      <p:sp>
        <p:nvSpPr>
          <p:cNvPr id="28" name="Text 24"/>
          <p:cNvSpPr/>
          <p:nvPr/>
        </p:nvSpPr>
        <p:spPr>
          <a:xfrm>
            <a:off x="3401568" y="3406140"/>
            <a:ext cx="2249424" cy="228600"/>
          </a:xfrm>
          <a:prstGeom prst="rect">
            <a:avLst/>
          </a:prstGeom>
          <a:noFill/>
          <a:ln/>
        </p:spPr>
        <p:txBody>
          <a:bodyPr wrap="square" lIns="0" tIns="0" rIns="0" bIns="0" rtlCol="0" anchor="ctr"/>
          <a:lstStyle/>
          <a:p>
            <a:pPr marL="0" indent="0" algn="r">
              <a:buNone/>
            </a:pPr>
            <a:r>
              <a:rPr lang="en-US" sz="1000" b="1">
                <a:solidFill>
                  <a:srgbClr val="E8EBF1"/>
                </a:solidFill>
                <a:latin typeface="Calibri"/>
                <a:ea typeface="Calibri"/>
                <a:cs typeface="Calibri"/>
              </a:rPr>
              <a:t>8.29 / 10</a:t>
            </a:r>
            <a:endParaRPr lang="en-US" sz="1000">
              <a:solidFill>
                <a:srgbClr val="E8EBF1"/>
              </a:solidFill>
              <a:latin typeface="Calibri"/>
              <a:ea typeface="Calibri"/>
              <a:cs typeface="Calibri"/>
            </a:endParaRPr>
          </a:p>
        </p:txBody>
      </p:sp>
      <p:sp>
        <p:nvSpPr>
          <p:cNvPr id="29" name="Shape 25"/>
          <p:cNvSpPr/>
          <p:nvPr/>
        </p:nvSpPr>
        <p:spPr>
          <a:xfrm>
            <a:off x="3474720" y="3680460"/>
            <a:ext cx="2103120" cy="310896"/>
          </a:xfrm>
          <a:prstGeom prst="roundRect">
            <a:avLst>
              <a:gd name="adj" fmla="val 14706"/>
            </a:avLst>
          </a:prstGeom>
          <a:solidFill>
            <a:srgbClr val="EF4565"/>
          </a:solidFill>
          <a:ln/>
        </p:spPr>
        <p:txBody>
          <a:bodyPr/>
          <a:lstStyle/>
          <a:p>
            <a:endParaRPr lang="fr-FR"/>
          </a:p>
        </p:txBody>
      </p:sp>
      <p:sp>
        <p:nvSpPr>
          <p:cNvPr id="30" name="Text 26"/>
          <p:cNvSpPr/>
          <p:nvPr/>
        </p:nvSpPr>
        <p:spPr>
          <a:xfrm>
            <a:off x="3474720" y="3680460"/>
            <a:ext cx="2103120" cy="310896"/>
          </a:xfrm>
          <a:prstGeom prst="rect">
            <a:avLst/>
          </a:prstGeom>
          <a:noFill/>
          <a:ln/>
        </p:spPr>
        <p:txBody>
          <a:bodyPr wrap="square" lIns="0" tIns="0" rIns="0" bIns="0" rtlCol="0" anchor="ctr"/>
          <a:lstStyle/>
          <a:p>
            <a:pPr marL="0" indent="0" algn="ctr">
              <a:buNone/>
            </a:pPr>
            <a:r>
              <a:rPr lang="en-US" sz="1000" b="1" dirty="0" err="1">
                <a:solidFill>
                  <a:srgbClr val="FFFFFF"/>
                </a:solidFill>
                <a:latin typeface="Calibri"/>
                <a:ea typeface="Calibri"/>
                <a:cs typeface="Calibri"/>
              </a:rPr>
              <a:t>Surestimation</a:t>
            </a:r>
            <a:r>
              <a:rPr lang="en-US" sz="1000" b="1" dirty="0">
                <a:solidFill>
                  <a:srgbClr val="FFFFFF"/>
                </a:solidFill>
                <a:latin typeface="Calibri"/>
                <a:ea typeface="Calibri"/>
                <a:cs typeface="Calibri"/>
              </a:rPr>
              <a:t> : +1.11 pt</a:t>
            </a:r>
            <a:endParaRPr lang="en-US" sz="1000" dirty="0">
              <a:solidFill>
                <a:srgbClr val="FFFFFF"/>
              </a:solidFill>
              <a:latin typeface="Calibri"/>
              <a:ea typeface="Calibri"/>
              <a:cs typeface="Calibri"/>
            </a:endParaRPr>
          </a:p>
        </p:txBody>
      </p:sp>
      <p:sp>
        <p:nvSpPr>
          <p:cNvPr id="31" name="Shape 27"/>
          <p:cNvSpPr/>
          <p:nvPr/>
        </p:nvSpPr>
        <p:spPr>
          <a:xfrm>
            <a:off x="5989320" y="1485900"/>
            <a:ext cx="2651760" cy="2514600"/>
          </a:xfrm>
          <a:prstGeom prst="rect">
            <a:avLst/>
          </a:prstGeom>
          <a:solidFill>
            <a:srgbClr val="1E2540"/>
          </a:solidFill>
          <a:ln w="15875">
            <a:solidFill>
              <a:srgbClr val="EF4565"/>
            </a:solidFill>
            <a:prstDash val="solid"/>
          </a:ln>
          <a:effectLst>
            <a:outerShdw blurRad="88900" dist="38100" dir="5400000" algn="bl" rotWithShape="0">
              <a:srgbClr val="000000">
                <a:alpha val="25000"/>
              </a:srgbClr>
            </a:outerShdw>
          </a:effectLst>
        </p:spPr>
        <p:txBody>
          <a:bodyPr/>
          <a:lstStyle/>
          <a:p>
            <a:endParaRPr lang="fr-FR"/>
          </a:p>
        </p:txBody>
      </p:sp>
      <p:sp>
        <p:nvSpPr>
          <p:cNvPr id="33" name="Text 28"/>
          <p:cNvSpPr/>
          <p:nvPr/>
        </p:nvSpPr>
        <p:spPr>
          <a:xfrm>
            <a:off x="5989320" y="1805940"/>
            <a:ext cx="265176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a:ea typeface="Cambria"/>
                <a:cs typeface="Cambria" pitchFamily="34" charset="-120"/>
              </a:rPr>
              <a:t>Intelligence</a:t>
            </a:r>
            <a:endParaRPr lang="en-US" sz="1800">
              <a:solidFill>
                <a:srgbClr val="FFFFFF"/>
              </a:solidFill>
              <a:latin typeface="Calibri"/>
              <a:ea typeface="Calibri"/>
              <a:cs typeface="Calibri"/>
            </a:endParaRPr>
          </a:p>
        </p:txBody>
      </p:sp>
      <p:sp>
        <p:nvSpPr>
          <p:cNvPr id="34" name="Text 29"/>
          <p:cNvSpPr/>
          <p:nvPr/>
        </p:nvSpPr>
        <p:spPr>
          <a:xfrm>
            <a:off x="6190488" y="2235708"/>
            <a:ext cx="2286000" cy="228600"/>
          </a:xfrm>
          <a:prstGeom prst="rect">
            <a:avLst/>
          </a:prstGeom>
          <a:noFill/>
          <a:ln/>
        </p:spPr>
        <p:txBody>
          <a:bodyPr wrap="square" lIns="0" tIns="0" rIns="0" bIns="0" rtlCol="0" anchor="ctr"/>
          <a:lstStyle/>
          <a:p>
            <a:pPr marL="0" indent="0">
              <a:buNone/>
            </a:pPr>
            <a:r>
              <a:rPr lang="en-US" sz="950" dirty="0">
                <a:solidFill>
                  <a:srgbClr val="EF4565"/>
                </a:solidFill>
                <a:latin typeface="Calibri"/>
                <a:ea typeface="Calibri"/>
                <a:cs typeface="Calibri"/>
              </a:rPr>
              <a:t>Note réelle reçue</a:t>
            </a:r>
            <a:endParaRPr lang="en-US" sz="950">
              <a:solidFill>
                <a:srgbClr val="EF4565"/>
              </a:solidFill>
              <a:latin typeface="Calibri"/>
              <a:ea typeface="Calibri"/>
              <a:cs typeface="Calibri"/>
            </a:endParaRPr>
          </a:p>
        </p:txBody>
      </p:sp>
      <p:sp>
        <p:nvSpPr>
          <p:cNvPr id="35" name="Shape 30"/>
          <p:cNvSpPr/>
          <p:nvPr/>
        </p:nvSpPr>
        <p:spPr>
          <a:xfrm>
            <a:off x="6190488" y="2473452"/>
            <a:ext cx="2249424" cy="182880"/>
          </a:xfrm>
          <a:prstGeom prst="rect">
            <a:avLst/>
          </a:prstGeom>
          <a:solidFill>
            <a:srgbClr val="2B3050"/>
          </a:solidFill>
          <a:ln/>
        </p:spPr>
        <p:txBody>
          <a:bodyPr/>
          <a:lstStyle/>
          <a:p>
            <a:endParaRPr lang="fr-FR"/>
          </a:p>
        </p:txBody>
      </p:sp>
      <p:sp>
        <p:nvSpPr>
          <p:cNvPr id="36" name="Shape 31"/>
          <p:cNvSpPr/>
          <p:nvPr/>
        </p:nvSpPr>
        <p:spPr>
          <a:xfrm>
            <a:off x="6190488" y="2473452"/>
            <a:ext cx="1655576" cy="182880"/>
          </a:xfrm>
          <a:prstGeom prst="rect">
            <a:avLst/>
          </a:prstGeom>
          <a:solidFill>
            <a:srgbClr val="EF4565"/>
          </a:solidFill>
          <a:ln/>
        </p:spPr>
        <p:txBody>
          <a:bodyPr/>
          <a:lstStyle/>
          <a:p>
            <a:endParaRPr lang="fr-FR"/>
          </a:p>
        </p:txBody>
      </p:sp>
      <p:sp>
        <p:nvSpPr>
          <p:cNvPr id="37" name="Text 32"/>
          <p:cNvSpPr/>
          <p:nvPr/>
        </p:nvSpPr>
        <p:spPr>
          <a:xfrm>
            <a:off x="6190488" y="2674620"/>
            <a:ext cx="2249424" cy="228600"/>
          </a:xfrm>
          <a:prstGeom prst="rect">
            <a:avLst/>
          </a:prstGeom>
          <a:noFill/>
          <a:ln/>
        </p:spPr>
        <p:txBody>
          <a:bodyPr wrap="square" lIns="0" tIns="0" rIns="0" bIns="0" rtlCol="0" anchor="ctr"/>
          <a:lstStyle/>
          <a:p>
            <a:pPr marL="0" indent="0" algn="r">
              <a:buNone/>
            </a:pPr>
            <a:r>
              <a:rPr lang="en-US" sz="1000" b="1">
                <a:solidFill>
                  <a:srgbClr val="F4A6B6"/>
                </a:solidFill>
                <a:latin typeface="Calibri"/>
                <a:ea typeface="Calibri"/>
                <a:cs typeface="Calibri"/>
              </a:rPr>
              <a:t>7.37 / 10</a:t>
            </a:r>
            <a:endParaRPr lang="en-US" sz="1000">
              <a:solidFill>
                <a:srgbClr val="F4A6B6"/>
              </a:solidFill>
              <a:latin typeface="Calibri"/>
              <a:ea typeface="Calibri"/>
              <a:cs typeface="Calibri"/>
            </a:endParaRPr>
          </a:p>
        </p:txBody>
      </p:sp>
      <p:sp>
        <p:nvSpPr>
          <p:cNvPr id="38" name="Text 33"/>
          <p:cNvSpPr/>
          <p:nvPr/>
        </p:nvSpPr>
        <p:spPr>
          <a:xfrm>
            <a:off x="6190488" y="2967228"/>
            <a:ext cx="2286000" cy="228600"/>
          </a:xfrm>
          <a:prstGeom prst="rect">
            <a:avLst/>
          </a:prstGeom>
          <a:noFill/>
          <a:ln/>
        </p:spPr>
        <p:txBody>
          <a:bodyPr wrap="square" lIns="0" tIns="0" rIns="0" bIns="0" rtlCol="0" anchor="ctr"/>
          <a:lstStyle/>
          <a:p>
            <a:pPr marL="0" indent="0">
              <a:buNone/>
            </a:pPr>
            <a:r>
              <a:rPr lang="en-US" sz="950" dirty="0">
                <a:solidFill>
                  <a:srgbClr val="C2C8D4"/>
                </a:solidFill>
                <a:latin typeface="Calibri"/>
                <a:ea typeface="Calibri"/>
                <a:cs typeface="Calibri"/>
              </a:rPr>
              <a:t>Auto-perception</a:t>
            </a:r>
            <a:endParaRPr lang="en-US" sz="950">
              <a:solidFill>
                <a:srgbClr val="C2C8D4"/>
              </a:solidFill>
              <a:latin typeface="Calibri"/>
              <a:ea typeface="Calibri"/>
              <a:cs typeface="Calibri"/>
            </a:endParaRPr>
          </a:p>
        </p:txBody>
      </p:sp>
      <p:sp>
        <p:nvSpPr>
          <p:cNvPr id="39" name="Shape 34"/>
          <p:cNvSpPr/>
          <p:nvPr/>
        </p:nvSpPr>
        <p:spPr>
          <a:xfrm>
            <a:off x="6190488" y="3204972"/>
            <a:ext cx="2249424" cy="182880"/>
          </a:xfrm>
          <a:prstGeom prst="rect">
            <a:avLst/>
          </a:prstGeom>
          <a:solidFill>
            <a:srgbClr val="2B3050"/>
          </a:solidFill>
          <a:ln/>
        </p:spPr>
        <p:txBody>
          <a:bodyPr/>
          <a:lstStyle/>
          <a:p>
            <a:endParaRPr lang="fr-FR"/>
          </a:p>
        </p:txBody>
      </p:sp>
      <p:sp>
        <p:nvSpPr>
          <p:cNvPr id="40" name="Shape 35"/>
          <p:cNvSpPr/>
          <p:nvPr/>
        </p:nvSpPr>
        <p:spPr>
          <a:xfrm>
            <a:off x="6190488" y="3204972"/>
            <a:ext cx="1891766" cy="182880"/>
          </a:xfrm>
          <a:prstGeom prst="rect">
            <a:avLst/>
          </a:prstGeom>
          <a:solidFill>
            <a:srgbClr val="F4A6B6"/>
          </a:solidFill>
          <a:ln/>
        </p:spPr>
        <p:txBody>
          <a:bodyPr/>
          <a:lstStyle/>
          <a:p>
            <a:endParaRPr lang="fr-FR"/>
          </a:p>
        </p:txBody>
      </p:sp>
      <p:sp>
        <p:nvSpPr>
          <p:cNvPr id="41" name="Text 36"/>
          <p:cNvSpPr/>
          <p:nvPr/>
        </p:nvSpPr>
        <p:spPr>
          <a:xfrm>
            <a:off x="6190488" y="3406140"/>
            <a:ext cx="2249424" cy="228600"/>
          </a:xfrm>
          <a:prstGeom prst="rect">
            <a:avLst/>
          </a:prstGeom>
          <a:noFill/>
          <a:ln/>
        </p:spPr>
        <p:txBody>
          <a:bodyPr wrap="square" lIns="0" tIns="0" rIns="0" bIns="0" rtlCol="0" anchor="ctr"/>
          <a:lstStyle/>
          <a:p>
            <a:pPr marL="0" indent="0" algn="r">
              <a:buNone/>
            </a:pPr>
            <a:r>
              <a:rPr lang="en-US" sz="1000" b="1">
                <a:solidFill>
                  <a:srgbClr val="E8EBF1"/>
                </a:solidFill>
                <a:latin typeface="Calibri"/>
                <a:ea typeface="Calibri"/>
                <a:cs typeface="Calibri"/>
              </a:rPr>
              <a:t>8.39 / 10</a:t>
            </a:r>
            <a:endParaRPr lang="en-US" sz="1000">
              <a:solidFill>
                <a:srgbClr val="E8EBF1"/>
              </a:solidFill>
              <a:latin typeface="Calibri"/>
              <a:ea typeface="Calibri"/>
              <a:cs typeface="Calibri"/>
            </a:endParaRPr>
          </a:p>
        </p:txBody>
      </p:sp>
      <p:sp>
        <p:nvSpPr>
          <p:cNvPr id="42" name="Shape 37"/>
          <p:cNvSpPr/>
          <p:nvPr/>
        </p:nvSpPr>
        <p:spPr>
          <a:xfrm>
            <a:off x="6263640" y="3680460"/>
            <a:ext cx="2103120" cy="310896"/>
          </a:xfrm>
          <a:prstGeom prst="roundRect">
            <a:avLst>
              <a:gd name="adj" fmla="val 14706"/>
            </a:avLst>
          </a:prstGeom>
          <a:solidFill>
            <a:srgbClr val="EF4565"/>
          </a:solidFill>
          <a:ln/>
        </p:spPr>
        <p:txBody>
          <a:bodyPr/>
          <a:lstStyle/>
          <a:p>
            <a:endParaRPr lang="fr-FR"/>
          </a:p>
        </p:txBody>
      </p:sp>
      <p:sp>
        <p:nvSpPr>
          <p:cNvPr id="43" name="Text 38"/>
          <p:cNvSpPr/>
          <p:nvPr/>
        </p:nvSpPr>
        <p:spPr>
          <a:xfrm>
            <a:off x="6263640" y="3680460"/>
            <a:ext cx="2103120" cy="310896"/>
          </a:xfrm>
          <a:prstGeom prst="rect">
            <a:avLst/>
          </a:prstGeom>
          <a:noFill/>
          <a:ln/>
        </p:spPr>
        <p:txBody>
          <a:bodyPr wrap="square" lIns="0" tIns="0" rIns="0" bIns="0" rtlCol="0" anchor="ctr"/>
          <a:lstStyle/>
          <a:p>
            <a:pPr marL="0" indent="0" algn="ctr">
              <a:buNone/>
            </a:pPr>
            <a:r>
              <a:rPr lang="en-US" sz="1000" b="1" dirty="0" err="1">
                <a:solidFill>
                  <a:srgbClr val="FFFFFF"/>
                </a:solidFill>
                <a:latin typeface="Calibri"/>
                <a:ea typeface="Calibri"/>
                <a:cs typeface="Calibri"/>
              </a:rPr>
              <a:t>Surestimation</a:t>
            </a:r>
            <a:r>
              <a:rPr lang="en-US" sz="1000" b="1" dirty="0">
                <a:solidFill>
                  <a:srgbClr val="FFFFFF"/>
                </a:solidFill>
                <a:latin typeface="Calibri"/>
                <a:ea typeface="Calibri"/>
                <a:cs typeface="Calibri"/>
              </a:rPr>
              <a:t> : +1.02 pt</a:t>
            </a:r>
            <a:endParaRPr lang="en-US" sz="1000" dirty="0">
              <a:solidFill>
                <a:srgbClr val="FFFFFF"/>
              </a:solidFill>
              <a:latin typeface="Calibri"/>
              <a:ea typeface="Calibri"/>
              <a:cs typeface="Calibri"/>
            </a:endParaRPr>
          </a:p>
        </p:txBody>
      </p:sp>
      <p:sp>
        <p:nvSpPr>
          <p:cNvPr id="44" name="Text 39"/>
          <p:cNvSpPr/>
          <p:nvPr/>
        </p:nvSpPr>
        <p:spPr>
          <a:xfrm>
            <a:off x="518160" y="4315273"/>
            <a:ext cx="8229600" cy="496532"/>
          </a:xfrm>
          <a:prstGeom prst="rect">
            <a:avLst/>
          </a:prstGeom>
          <a:noFill/>
          <a:ln/>
        </p:spPr>
        <p:txBody>
          <a:bodyPr wrap="square" lIns="0" tIns="0" rIns="0" bIns="0" rtlCol="0" anchor="ctr"/>
          <a:lstStyle/>
          <a:p>
            <a:pPr algn="ctr"/>
            <a:r>
              <a:rPr lang="en-US" sz="1200" dirty="0">
                <a:solidFill>
                  <a:schemeClr val="tx2">
                    <a:lumMod val="49000"/>
                  </a:schemeClr>
                </a:solidFill>
              </a:rPr>
              <a:t>On a </a:t>
            </a:r>
            <a:r>
              <a:rPr lang="en-US" sz="1200" dirty="0" err="1">
                <a:solidFill>
                  <a:schemeClr val="tx2">
                    <a:lumMod val="49000"/>
                  </a:schemeClr>
                </a:solidFill>
              </a:rPr>
              <a:t>naturellement</a:t>
            </a:r>
            <a:r>
              <a:rPr lang="en-US" sz="1200" dirty="0">
                <a:solidFill>
                  <a:schemeClr val="tx2">
                    <a:lumMod val="49000"/>
                  </a:schemeClr>
                </a:solidFill>
              </a:rPr>
              <a:t> tendance à se </a:t>
            </a:r>
            <a:r>
              <a:rPr lang="en-US" sz="1200" dirty="0" err="1">
                <a:solidFill>
                  <a:schemeClr val="tx2">
                    <a:lumMod val="49000"/>
                  </a:schemeClr>
                </a:solidFill>
              </a:rPr>
              <a:t>percevoir</a:t>
            </a:r>
            <a:r>
              <a:rPr lang="en-US" sz="1200" dirty="0">
                <a:solidFill>
                  <a:schemeClr val="tx2">
                    <a:lumMod val="49000"/>
                  </a:schemeClr>
                </a:solidFill>
              </a:rPr>
              <a:t> plus </a:t>
            </a:r>
            <a:r>
              <a:rPr lang="en-US" sz="1200" dirty="0" err="1">
                <a:solidFill>
                  <a:schemeClr val="tx2">
                    <a:lumMod val="49000"/>
                  </a:schemeClr>
                </a:solidFill>
              </a:rPr>
              <a:t>positivement</a:t>
            </a:r>
            <a:r>
              <a:rPr lang="en-US" sz="1200" dirty="0">
                <a:solidFill>
                  <a:schemeClr val="tx2">
                    <a:lumMod val="49000"/>
                  </a:schemeClr>
                </a:solidFill>
              </a:rPr>
              <a:t> </a:t>
            </a:r>
            <a:r>
              <a:rPr lang="en-US" sz="1200" dirty="0" err="1">
                <a:solidFill>
                  <a:schemeClr val="tx2">
                    <a:lumMod val="49000"/>
                  </a:schemeClr>
                </a:solidFill>
              </a:rPr>
              <a:t>que</a:t>
            </a:r>
            <a:r>
              <a:rPr lang="en-US" sz="1200" dirty="0">
                <a:solidFill>
                  <a:schemeClr val="tx2">
                    <a:lumMod val="49000"/>
                  </a:schemeClr>
                </a:solidFill>
              </a:rPr>
              <a:t> les </a:t>
            </a:r>
            <a:r>
              <a:rPr lang="en-US" sz="1200" dirty="0" err="1">
                <a:solidFill>
                  <a:schemeClr val="tx2">
                    <a:lumMod val="49000"/>
                  </a:schemeClr>
                </a:solidFill>
              </a:rPr>
              <a:t>autres</a:t>
            </a:r>
            <a:r>
              <a:rPr lang="en-US" sz="1200" dirty="0">
                <a:solidFill>
                  <a:schemeClr val="tx2">
                    <a:lumMod val="49000"/>
                  </a:schemeClr>
                </a:solidFill>
              </a:rPr>
              <a:t> ne nous </a:t>
            </a:r>
            <a:r>
              <a:rPr lang="en-US" sz="1200" dirty="0" err="1">
                <a:solidFill>
                  <a:schemeClr val="tx2">
                    <a:lumMod val="49000"/>
                  </a:schemeClr>
                </a:solidFill>
              </a:rPr>
              <a:t>voient</a:t>
            </a:r>
            <a:r>
              <a:rPr lang="en-US" sz="1200" dirty="0">
                <a:solidFill>
                  <a:schemeClr val="tx2">
                    <a:lumMod val="49000"/>
                  </a:schemeClr>
                </a:solidFill>
              </a:rPr>
              <a:t>.</a:t>
            </a:r>
            <a:endParaRPr lang="en-US" sz="1200" dirty="0">
              <a:solidFill>
                <a:schemeClr val="tx2">
                  <a:lumMod val="49000"/>
                </a:schemeClr>
              </a:solidFill>
              <a:ea typeface="Calibri"/>
              <a:cs typeface="Calibri"/>
            </a:endParaRPr>
          </a:p>
          <a:p>
            <a:pPr algn="ctr"/>
            <a:endParaRPr lang="en-US" sz="1200" dirty="0">
              <a:solidFill>
                <a:schemeClr val="tx2">
                  <a:lumMod val="49000"/>
                </a:schemeClr>
              </a:solidFill>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1196" cy="875403"/>
          </a:xfrm>
          <a:prstGeom prst="rect">
            <a:avLst/>
          </a:prstGeom>
          <a:noFill/>
          <a:ln/>
        </p:spPr>
        <p:txBody>
          <a:bodyPr wrap="square" lIns="0" tIns="0" rIns="0" bIns="0" rtlCol="0" anchor="ctr"/>
          <a:lstStyle/>
          <a:p>
            <a:r>
              <a:rPr lang="en-US" sz="2400" b="1" dirty="0">
                <a:solidFill>
                  <a:srgbClr val="21304A"/>
                </a:solidFill>
                <a:latin typeface="Calibri"/>
                <a:ea typeface="Calibri"/>
                <a:cs typeface="Calibri"/>
              </a:rPr>
              <a:t>Fatigue </a:t>
            </a:r>
            <a:r>
              <a:rPr lang="en-US" sz="2400" b="1" dirty="0" err="1">
                <a:solidFill>
                  <a:srgbClr val="21304A"/>
                </a:solidFill>
                <a:latin typeface="Calibri"/>
                <a:ea typeface="Calibri"/>
                <a:cs typeface="Calibri"/>
              </a:rPr>
              <a:t>décisionnelle</a:t>
            </a:r>
            <a:r>
              <a:rPr lang="en-US" sz="2400" b="1" dirty="0">
                <a:solidFill>
                  <a:srgbClr val="21304A"/>
                </a:solidFill>
                <a:latin typeface="Calibri"/>
                <a:ea typeface="Calibri"/>
                <a:cs typeface="Calibri"/>
              </a:rPr>
              <a:t> au fil de la soirée</a:t>
            </a:r>
            <a:endParaRPr lang="en-US" sz="2400">
              <a:solidFill>
                <a:srgbClr val="000000"/>
              </a:solidFill>
              <a:latin typeface="Calibri"/>
              <a:ea typeface="Calibri"/>
              <a:cs typeface="Calibri"/>
            </a:endParaRPr>
          </a:p>
          <a:p>
            <a:endParaRPr lang="en-US" sz="2400" b="1" dirty="0">
              <a:solidFill>
                <a:srgbClr val="21304A"/>
              </a:solidFill>
              <a:latin typeface="Cambria"/>
              <a:ea typeface="Cambria"/>
              <a:cs typeface="Calibri"/>
            </a:endParaRPr>
          </a:p>
        </p:txBody>
      </p:sp>
      <p:sp>
        <p:nvSpPr>
          <p:cNvPr id="36" name="Shape 33"/>
          <p:cNvSpPr/>
          <p:nvPr/>
        </p:nvSpPr>
        <p:spPr>
          <a:xfrm>
            <a:off x="316342" y="4232395"/>
            <a:ext cx="8362053" cy="548640"/>
          </a:xfrm>
          <a:prstGeom prst="roundRect">
            <a:avLst>
              <a:gd name="adj" fmla="val 8333"/>
            </a:avLst>
          </a:prstGeom>
          <a:solidFill>
            <a:srgbClr val="FBE3E8"/>
          </a:solidFill>
          <a:ln/>
        </p:spPr>
        <p:txBody>
          <a:bodyPr/>
          <a:lstStyle/>
          <a:p>
            <a:endParaRPr lang="fr-FR"/>
          </a:p>
        </p:txBody>
      </p:sp>
      <p:sp>
        <p:nvSpPr>
          <p:cNvPr id="37" name="Text 34"/>
          <p:cNvSpPr/>
          <p:nvPr/>
        </p:nvSpPr>
        <p:spPr>
          <a:xfrm>
            <a:off x="453502" y="4316439"/>
            <a:ext cx="7864512" cy="548640"/>
          </a:xfrm>
          <a:prstGeom prst="rect">
            <a:avLst/>
          </a:prstGeom>
          <a:noFill/>
          <a:ln/>
        </p:spPr>
        <p:txBody>
          <a:bodyPr wrap="square" lIns="0" tIns="0" rIns="0" bIns="0" rtlCol="0" anchor="ctr"/>
          <a:lstStyle/>
          <a:p>
            <a:r>
              <a:rPr lang="en-US" sz="1200" dirty="0">
                <a:solidFill>
                  <a:schemeClr val="tx2">
                    <a:lumMod val="49000"/>
                  </a:schemeClr>
                </a:solidFill>
                <a:latin typeface="Calibri"/>
                <a:ea typeface="Calibri"/>
                <a:cs typeface="Calibri"/>
              </a:rPr>
              <a:t>Tendance à la </a:t>
            </a:r>
            <a:r>
              <a:rPr lang="en-US" sz="1200" dirty="0" err="1">
                <a:solidFill>
                  <a:schemeClr val="tx2">
                    <a:lumMod val="49000"/>
                  </a:schemeClr>
                </a:solidFill>
                <a:latin typeface="Calibri"/>
                <a:ea typeface="Calibri"/>
                <a:cs typeface="Calibri"/>
              </a:rPr>
              <a:t>baisse</a:t>
            </a:r>
            <a:r>
              <a:rPr lang="en-US" sz="1200" dirty="0">
                <a:solidFill>
                  <a:schemeClr val="tx2">
                    <a:lumMod val="49000"/>
                  </a:schemeClr>
                </a:solidFill>
                <a:latin typeface="Calibri"/>
                <a:ea typeface="Calibri"/>
                <a:cs typeface="Calibri"/>
              </a:rPr>
              <a:t>,</a:t>
            </a:r>
            <a:r>
              <a:rPr lang="en-US" sz="1200" dirty="0">
                <a:solidFill>
                  <a:schemeClr val="tx2">
                    <a:lumMod val="49000"/>
                  </a:schemeClr>
                </a:solidFill>
              </a:rPr>
              <a:t> fatigue </a:t>
            </a:r>
            <a:r>
              <a:rPr lang="en-US" sz="1200" dirty="0" err="1">
                <a:solidFill>
                  <a:schemeClr val="tx2">
                    <a:lumMod val="49000"/>
                  </a:schemeClr>
                </a:solidFill>
              </a:rPr>
              <a:t>décisionnelle</a:t>
            </a:r>
            <a:r>
              <a:rPr lang="en-US" sz="1200" dirty="0">
                <a:solidFill>
                  <a:schemeClr val="tx2">
                    <a:lumMod val="49000"/>
                  </a:schemeClr>
                </a:solidFill>
              </a:rPr>
              <a:t>: au fil des rencontres </a:t>
            </a:r>
            <a:r>
              <a:rPr lang="en-US" sz="1200" dirty="0" err="1">
                <a:solidFill>
                  <a:schemeClr val="tx2">
                    <a:lumMod val="49000"/>
                  </a:schemeClr>
                </a:solidFill>
              </a:rPr>
              <a:t>répétées</a:t>
            </a:r>
            <a:r>
              <a:rPr lang="en-US" sz="1200" dirty="0">
                <a:solidFill>
                  <a:schemeClr val="tx2">
                    <a:lumMod val="49000"/>
                  </a:schemeClr>
                </a:solidFill>
              </a:rPr>
              <a:t>, la </a:t>
            </a:r>
            <a:r>
              <a:rPr lang="en-US" sz="1200" dirty="0" err="1">
                <a:solidFill>
                  <a:schemeClr val="tx2">
                    <a:lumMod val="49000"/>
                  </a:schemeClr>
                </a:solidFill>
              </a:rPr>
              <a:t>capacité</a:t>
            </a:r>
            <a:r>
              <a:rPr lang="en-US" sz="1200" dirty="0">
                <a:solidFill>
                  <a:schemeClr val="tx2">
                    <a:lumMod val="49000"/>
                  </a:schemeClr>
                </a:solidFill>
              </a:rPr>
              <a:t> </a:t>
            </a:r>
            <a:r>
              <a:rPr lang="en-US" sz="1200" dirty="0" err="1">
                <a:solidFill>
                  <a:schemeClr val="tx2">
                    <a:lumMod val="49000"/>
                  </a:schemeClr>
                </a:solidFill>
              </a:rPr>
              <a:t>d'évaluation</a:t>
            </a:r>
            <a:r>
              <a:rPr lang="en-US" sz="1200" dirty="0">
                <a:solidFill>
                  <a:schemeClr val="tx2">
                    <a:lumMod val="49000"/>
                  </a:schemeClr>
                </a:solidFill>
              </a:rPr>
              <a:t> se </a:t>
            </a:r>
            <a:r>
              <a:rPr lang="en-US" sz="1200" dirty="0" err="1">
                <a:solidFill>
                  <a:schemeClr val="tx2">
                    <a:lumMod val="49000"/>
                  </a:schemeClr>
                </a:solidFill>
              </a:rPr>
              <a:t>dégrade</a:t>
            </a:r>
            <a:r>
              <a:rPr lang="en-US" sz="1200" dirty="0">
                <a:solidFill>
                  <a:schemeClr val="tx2">
                    <a:lumMod val="49000"/>
                  </a:schemeClr>
                </a:solidFill>
              </a:rPr>
              <a:t> et les participants </a:t>
            </a:r>
            <a:r>
              <a:rPr lang="en-US" sz="1200" dirty="0" err="1">
                <a:solidFill>
                  <a:schemeClr val="tx2">
                    <a:lumMod val="49000"/>
                  </a:schemeClr>
                </a:solidFill>
              </a:rPr>
              <a:t>deviennent</a:t>
            </a:r>
            <a:r>
              <a:rPr lang="en-US" sz="1200" dirty="0">
                <a:solidFill>
                  <a:schemeClr val="tx2">
                    <a:lumMod val="49000"/>
                  </a:schemeClr>
                </a:solidFill>
              </a:rPr>
              <a:t> </a:t>
            </a:r>
            <a:r>
              <a:rPr lang="en-US" sz="1200" dirty="0" err="1">
                <a:solidFill>
                  <a:schemeClr val="tx2">
                    <a:lumMod val="49000"/>
                  </a:schemeClr>
                </a:solidFill>
              </a:rPr>
              <a:t>légèrement</a:t>
            </a:r>
            <a:r>
              <a:rPr lang="en-US" sz="1200" dirty="0">
                <a:solidFill>
                  <a:schemeClr val="tx2">
                    <a:lumMod val="49000"/>
                  </a:schemeClr>
                </a:solidFill>
              </a:rPr>
              <a:t> plus </a:t>
            </a:r>
            <a:r>
              <a:rPr lang="en-US" sz="1200" dirty="0" err="1">
                <a:solidFill>
                  <a:schemeClr val="tx2">
                    <a:lumMod val="49000"/>
                  </a:schemeClr>
                </a:solidFill>
              </a:rPr>
              <a:t>sélectifs</a:t>
            </a:r>
            <a:r>
              <a:rPr lang="en-US" sz="1200" dirty="0">
                <a:solidFill>
                  <a:schemeClr val="tx2">
                    <a:lumMod val="49000"/>
                  </a:schemeClr>
                </a:solidFill>
              </a:rPr>
              <a:t>.</a:t>
            </a:r>
            <a:endParaRPr lang="en-US" sz="1200" dirty="0">
              <a:solidFill>
                <a:schemeClr val="tx2">
                  <a:lumMod val="49000"/>
                </a:schemeClr>
              </a:solidFill>
              <a:ea typeface="Calibri"/>
              <a:cs typeface="Calibri"/>
            </a:endParaRPr>
          </a:p>
          <a:p>
            <a:endParaRPr lang="en-US" sz="1200" dirty="0">
              <a:solidFill>
                <a:schemeClr val="tx2">
                  <a:lumMod val="49000"/>
                </a:schemeClr>
              </a:solidFill>
              <a:ea typeface="Calibri"/>
              <a:cs typeface="Calibri"/>
            </a:endParaRPr>
          </a:p>
        </p:txBody>
      </p:sp>
      <p:pic>
        <p:nvPicPr>
          <p:cNvPr id="38" name="Picture 37">
            <a:extLst>
              <a:ext uri="{FF2B5EF4-FFF2-40B4-BE49-F238E27FC236}">
                <a16:creationId xmlns:a16="http://schemas.microsoft.com/office/drawing/2014/main" id="{51B63D96-AE13-9321-603E-ECBEF6C62037}"/>
              </a:ext>
            </a:extLst>
          </p:cNvPr>
          <p:cNvPicPr>
            <a:picLocks noChangeAspect="1"/>
          </p:cNvPicPr>
          <p:nvPr/>
        </p:nvPicPr>
        <p:blipFill>
          <a:blip r:embed="rId3"/>
          <a:stretch>
            <a:fillRect/>
          </a:stretch>
        </p:blipFill>
        <p:spPr>
          <a:xfrm>
            <a:off x="1478057" y="840720"/>
            <a:ext cx="5397873" cy="320992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1C1B33"/>
        </a:solidFill>
        <a:effectLst/>
      </p:bgPr>
    </p:bg>
    <p:spTree>
      <p:nvGrpSpPr>
        <p:cNvPr id="1" name=""/>
        <p:cNvGrpSpPr/>
        <p:nvPr/>
      </p:nvGrpSpPr>
      <p:grpSpPr>
        <a:xfrm>
          <a:off x="0" y="0"/>
          <a:ext cx="0" cy="0"/>
          <a:chOff x="0" y="0"/>
          <a:chExt cx="0" cy="0"/>
        </a:xfrm>
      </p:grpSpPr>
      <p:sp>
        <p:nvSpPr>
          <p:cNvPr id="2" name="Shape 0"/>
          <p:cNvSpPr/>
          <p:nvPr/>
        </p:nvSpPr>
        <p:spPr>
          <a:xfrm>
            <a:off x="5998464" y="45720"/>
            <a:ext cx="3108960" cy="3108960"/>
          </a:xfrm>
          <a:prstGeom prst="ellipse">
            <a:avLst/>
          </a:prstGeom>
          <a:solidFill>
            <a:srgbClr val="3C1E2D">
              <a:alpha val="55000"/>
            </a:srgbClr>
          </a:solidFill>
          <a:ln/>
        </p:spPr>
        <p:txBody>
          <a:bodyPr/>
          <a:lstStyle/>
          <a:p>
            <a:endParaRPr lang="fr-FR"/>
          </a:p>
        </p:txBody>
      </p:sp>
      <p:sp>
        <p:nvSpPr>
          <p:cNvPr id="3" name="Text 1"/>
          <p:cNvSpPr/>
          <p:nvPr/>
        </p:nvSpPr>
        <p:spPr>
          <a:xfrm>
            <a:off x="457200" y="256032"/>
            <a:ext cx="8229600" cy="640080"/>
          </a:xfrm>
          <a:prstGeom prst="rect">
            <a:avLst/>
          </a:prstGeom>
          <a:noFill/>
          <a:ln/>
        </p:spPr>
        <p:txBody>
          <a:bodyPr wrap="square" lIns="0" tIns="0" rIns="0" bIns="0" rtlCol="0" anchor="ctr"/>
          <a:lstStyle/>
          <a:p>
            <a:pPr marL="0" indent="0" algn="l">
              <a:buNone/>
            </a:pPr>
            <a:r>
              <a:rPr lang="en-US" sz="3200" b="1" dirty="0" err="1">
                <a:solidFill>
                  <a:srgbClr val="FFFFFF"/>
                </a:solidFill>
                <a:latin typeface="Cambria"/>
                <a:ea typeface="Cambria"/>
                <a:cs typeface="Cambria" pitchFamily="34" charset="-120"/>
              </a:rPr>
              <a:t>Recommandations</a:t>
            </a:r>
            <a:r>
              <a:rPr lang="en-US" sz="3200" b="1" dirty="0">
                <a:solidFill>
                  <a:srgbClr val="FFFFFF"/>
                </a:solidFill>
                <a:latin typeface="Cambria"/>
                <a:ea typeface="Cambria"/>
                <a:cs typeface="Cambria" pitchFamily="34" charset="-120"/>
              </a:rPr>
              <a:t> pour Tinder</a:t>
            </a:r>
            <a:endParaRPr lang="en-US" sz="3200" dirty="0">
              <a:latin typeface="Cambria"/>
              <a:ea typeface="Cambria"/>
            </a:endParaRPr>
          </a:p>
        </p:txBody>
      </p:sp>
      <p:sp>
        <p:nvSpPr>
          <p:cNvPr id="4" name="Text 2"/>
          <p:cNvSpPr/>
          <p:nvPr/>
        </p:nvSpPr>
        <p:spPr>
          <a:xfrm>
            <a:off x="457200" y="914400"/>
            <a:ext cx="8229600" cy="365760"/>
          </a:xfrm>
          <a:prstGeom prst="rect">
            <a:avLst/>
          </a:prstGeom>
          <a:noFill/>
          <a:ln/>
        </p:spPr>
        <p:txBody>
          <a:bodyPr wrap="square" lIns="0" tIns="0" rIns="0" bIns="0" rtlCol="0" anchor="ctr"/>
          <a:lstStyle/>
          <a:p>
            <a:pPr marL="0" indent="0">
              <a:buNone/>
            </a:pPr>
            <a:r>
              <a:rPr lang="en-US" sz="1250" i="1" dirty="0">
                <a:solidFill>
                  <a:srgbClr val="AEB7C4"/>
                </a:solidFill>
                <a:latin typeface="Calibri" pitchFamily="34" charset="0"/>
                <a:ea typeface="Calibri" pitchFamily="34" charset="-122"/>
                <a:cs typeface="Calibri" pitchFamily="34" charset="-120"/>
              </a:rPr>
              <a:t>Fondées sur l'analyse de 8 378 rencontres réelles</a:t>
            </a:r>
            <a:endParaRPr lang="en-US" sz="1250" dirty="0"/>
          </a:p>
        </p:txBody>
      </p:sp>
      <p:sp>
        <p:nvSpPr>
          <p:cNvPr id="5" name="Shape 3"/>
          <p:cNvSpPr/>
          <p:nvPr/>
        </p:nvSpPr>
        <p:spPr>
          <a:xfrm>
            <a:off x="457200" y="1371600"/>
            <a:ext cx="3886200" cy="1481328"/>
          </a:xfrm>
          <a:prstGeom prst="rect">
            <a:avLst/>
          </a:prstGeom>
          <a:solidFill>
            <a:srgbClr val="1E2540"/>
          </a:solidFill>
          <a:ln w="15875">
            <a:solidFill>
              <a:srgbClr val="EF4565"/>
            </a:solidFill>
            <a:prstDash val="solid"/>
          </a:ln>
          <a:effectLst>
            <a:outerShdw blurRad="88900" dist="38100" dir="5400000" algn="bl" rotWithShape="0">
              <a:srgbClr val="000000">
                <a:alpha val="25000"/>
              </a:srgbClr>
            </a:outerShdw>
          </a:effectLst>
        </p:spPr>
        <p:txBody>
          <a:bodyPr/>
          <a:lstStyle/>
          <a:p>
            <a:endParaRPr lang="fr-FR"/>
          </a:p>
        </p:txBody>
      </p:sp>
      <p:sp>
        <p:nvSpPr>
          <p:cNvPr id="6" name="Shape 4"/>
          <p:cNvSpPr/>
          <p:nvPr/>
        </p:nvSpPr>
        <p:spPr>
          <a:xfrm>
            <a:off x="457200" y="1371600"/>
            <a:ext cx="822960" cy="1481328"/>
          </a:xfrm>
          <a:prstGeom prst="rect">
            <a:avLst/>
          </a:prstGeom>
          <a:solidFill>
            <a:srgbClr val="EF4565"/>
          </a:solidFill>
          <a:ln/>
        </p:spPr>
        <p:txBody>
          <a:bodyPr/>
          <a:lstStyle/>
          <a:p>
            <a:endParaRPr lang="fr-FR"/>
          </a:p>
        </p:txBody>
      </p:sp>
      <p:sp>
        <p:nvSpPr>
          <p:cNvPr id="7" name="Text 5"/>
          <p:cNvSpPr/>
          <p:nvPr/>
        </p:nvSpPr>
        <p:spPr>
          <a:xfrm>
            <a:off x="457200" y="1371600"/>
            <a:ext cx="822960" cy="1481328"/>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01</a:t>
            </a:r>
            <a:endParaRPr lang="en-US" sz="2600" dirty="0"/>
          </a:p>
        </p:txBody>
      </p:sp>
      <p:pic>
        <p:nvPicPr>
          <p:cNvPr id="8" name="Image 0" descr="preencoded.png"/>
          <p:cNvPicPr>
            <a:picLocks noChangeAspect="1"/>
          </p:cNvPicPr>
          <p:nvPr/>
        </p:nvPicPr>
        <p:blipFill>
          <a:blip r:embed="rId3"/>
          <a:stretch>
            <a:fillRect/>
          </a:stretch>
        </p:blipFill>
        <p:spPr>
          <a:xfrm>
            <a:off x="1463040" y="1554480"/>
            <a:ext cx="384048" cy="384048"/>
          </a:xfrm>
          <a:prstGeom prst="rect">
            <a:avLst/>
          </a:prstGeom>
        </p:spPr>
      </p:pic>
      <p:sp>
        <p:nvSpPr>
          <p:cNvPr id="9" name="Text 6"/>
          <p:cNvSpPr/>
          <p:nvPr/>
        </p:nvSpPr>
        <p:spPr>
          <a:xfrm>
            <a:off x="1965960" y="1536192"/>
            <a:ext cx="228600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Valoriser la photo</a:t>
            </a:r>
            <a:endParaRPr lang="en-US" sz="1600" dirty="0"/>
          </a:p>
        </p:txBody>
      </p:sp>
      <p:sp>
        <p:nvSpPr>
          <p:cNvPr id="10" name="Text 7"/>
          <p:cNvSpPr/>
          <p:nvPr/>
        </p:nvSpPr>
        <p:spPr>
          <a:xfrm>
            <a:off x="1463040" y="1993392"/>
            <a:ext cx="2697480" cy="768096"/>
          </a:xfrm>
          <a:prstGeom prst="rect">
            <a:avLst/>
          </a:prstGeom>
          <a:noFill/>
          <a:ln/>
        </p:spPr>
        <p:txBody>
          <a:bodyPr wrap="square" lIns="0" tIns="0" rIns="0" bIns="0" rtlCol="0" anchor="t"/>
          <a:lstStyle/>
          <a:p>
            <a:r>
              <a:rPr lang="en-US" sz="1200" dirty="0" err="1">
                <a:solidFill>
                  <a:srgbClr val="C7CCD6"/>
                </a:solidFill>
                <a:latin typeface="Calibri"/>
                <a:ea typeface="Calibri"/>
                <a:cs typeface="Calibri"/>
              </a:rPr>
              <a:t>L'attractivité</a:t>
            </a:r>
            <a:r>
              <a:rPr lang="en-US" sz="1200" dirty="0">
                <a:solidFill>
                  <a:srgbClr val="C7CCD6"/>
                </a:solidFill>
                <a:latin typeface="Calibri"/>
                <a:ea typeface="Calibri"/>
                <a:cs typeface="Calibri"/>
              </a:rPr>
              <a:t> est le premier </a:t>
            </a:r>
            <a:r>
              <a:rPr lang="en-US" sz="1200" dirty="0" err="1">
                <a:solidFill>
                  <a:srgbClr val="C7CCD6"/>
                </a:solidFill>
                <a:latin typeface="Calibri"/>
                <a:ea typeface="Calibri"/>
                <a:cs typeface="Calibri"/>
              </a:rPr>
              <a:t>critère</a:t>
            </a:r>
            <a:r>
              <a:rPr lang="en-US" sz="1200" dirty="0">
                <a:solidFill>
                  <a:srgbClr val="C7CCD6"/>
                </a:solidFill>
                <a:latin typeface="Calibri"/>
                <a:ea typeface="Calibri"/>
                <a:cs typeface="Calibri"/>
              </a:rPr>
              <a:t> de </a:t>
            </a:r>
            <a:r>
              <a:rPr lang="en-US" sz="1200" dirty="0" err="1">
                <a:solidFill>
                  <a:srgbClr val="C7CCD6"/>
                </a:solidFill>
                <a:latin typeface="Calibri"/>
                <a:ea typeface="Calibri"/>
                <a:cs typeface="Calibri"/>
              </a:rPr>
              <a:t>sélection</a:t>
            </a:r>
            <a:r>
              <a:rPr lang="en-US" sz="1200" dirty="0">
                <a:solidFill>
                  <a:srgbClr val="C7CCD6"/>
                </a:solidFill>
                <a:latin typeface="Calibri"/>
                <a:ea typeface="Calibri"/>
                <a:cs typeface="Calibri"/>
              </a:rPr>
              <a:t>. Aider les </a:t>
            </a:r>
            <a:r>
              <a:rPr lang="en-US" sz="1200" dirty="0" err="1">
                <a:solidFill>
                  <a:srgbClr val="C7CCD6"/>
                </a:solidFill>
                <a:latin typeface="Calibri"/>
                <a:ea typeface="Calibri"/>
                <a:cs typeface="Calibri"/>
              </a:rPr>
              <a:t>utilisateurs</a:t>
            </a:r>
            <a:r>
              <a:rPr lang="en-US" sz="1200" dirty="0">
                <a:solidFill>
                  <a:srgbClr val="C7CCD6"/>
                </a:solidFill>
                <a:latin typeface="Calibri"/>
                <a:ea typeface="Calibri"/>
                <a:cs typeface="Calibri"/>
              </a:rPr>
              <a:t> à </a:t>
            </a:r>
            <a:r>
              <a:rPr lang="en-US" sz="1200" dirty="0" err="1">
                <a:solidFill>
                  <a:srgbClr val="C7CCD6"/>
                </a:solidFill>
                <a:latin typeface="Calibri"/>
                <a:ea typeface="Calibri"/>
                <a:cs typeface="Calibri"/>
              </a:rPr>
              <a:t>sélectionner</a:t>
            </a:r>
            <a:r>
              <a:rPr lang="en-US" sz="1200" dirty="0">
                <a:solidFill>
                  <a:srgbClr val="C7CCD6"/>
                </a:solidFill>
                <a:latin typeface="Calibri"/>
                <a:ea typeface="Calibri"/>
                <a:cs typeface="Calibri"/>
              </a:rPr>
              <a:t> la </a:t>
            </a:r>
            <a:r>
              <a:rPr lang="en-US" sz="1200" dirty="0" err="1">
                <a:solidFill>
                  <a:srgbClr val="C7CCD6"/>
                </a:solidFill>
                <a:latin typeface="Calibri"/>
                <a:ea typeface="Calibri"/>
                <a:cs typeface="Calibri"/>
              </a:rPr>
              <a:t>meilleure</a:t>
            </a:r>
            <a:r>
              <a:rPr lang="en-US" sz="1200" dirty="0">
                <a:solidFill>
                  <a:srgbClr val="C7CCD6"/>
                </a:solidFill>
                <a:latin typeface="Calibri"/>
                <a:ea typeface="Calibri"/>
                <a:cs typeface="Calibri"/>
              </a:rPr>
              <a:t> photo </a:t>
            </a:r>
            <a:r>
              <a:rPr lang="en-US" sz="1200" dirty="0" err="1">
                <a:solidFill>
                  <a:srgbClr val="C7CCD6"/>
                </a:solidFill>
                <a:latin typeface="Calibri"/>
                <a:ea typeface="Calibri"/>
                <a:cs typeface="Calibri"/>
              </a:rPr>
              <a:t>booste</a:t>
            </a:r>
            <a:r>
              <a:rPr lang="en-US" sz="1200" dirty="0">
                <a:solidFill>
                  <a:srgbClr val="C7CCD6"/>
                </a:solidFill>
                <a:latin typeface="Calibri"/>
                <a:ea typeface="Calibri"/>
                <a:cs typeface="Calibri"/>
              </a:rPr>
              <a:t> </a:t>
            </a:r>
            <a:r>
              <a:rPr lang="en-US" sz="1200" dirty="0" err="1">
                <a:solidFill>
                  <a:srgbClr val="C7CCD6"/>
                </a:solidFill>
                <a:latin typeface="Calibri"/>
                <a:ea typeface="Calibri"/>
                <a:cs typeface="Calibri"/>
              </a:rPr>
              <a:t>directement</a:t>
            </a:r>
            <a:r>
              <a:rPr lang="en-US" sz="1200" dirty="0">
                <a:solidFill>
                  <a:srgbClr val="C7CCD6"/>
                </a:solidFill>
                <a:latin typeface="Calibri"/>
                <a:ea typeface="Calibri"/>
                <a:cs typeface="Calibri"/>
              </a:rPr>
              <a:t> le </a:t>
            </a:r>
            <a:r>
              <a:rPr lang="en-US" sz="1200" dirty="0" err="1">
                <a:solidFill>
                  <a:srgbClr val="C7CCD6"/>
                </a:solidFill>
                <a:latin typeface="Calibri"/>
                <a:ea typeface="Calibri"/>
                <a:cs typeface="Calibri"/>
              </a:rPr>
              <a:t>taux </a:t>
            </a:r>
            <a:r>
              <a:rPr lang="en-US" sz="1200" dirty="0">
                <a:solidFill>
                  <a:srgbClr val="C7CCD6"/>
                </a:solidFill>
                <a:latin typeface="Calibri"/>
                <a:ea typeface="Calibri"/>
                <a:cs typeface="Calibri"/>
              </a:rPr>
              <a:t>de match.</a:t>
            </a:r>
            <a:endParaRPr lang="en-US" sz="1200">
              <a:latin typeface="Calibri"/>
              <a:ea typeface="Calibri"/>
              <a:cs typeface="Calibri"/>
            </a:endParaRPr>
          </a:p>
        </p:txBody>
      </p:sp>
      <p:sp>
        <p:nvSpPr>
          <p:cNvPr id="11" name="Shape 8"/>
          <p:cNvSpPr/>
          <p:nvPr/>
        </p:nvSpPr>
        <p:spPr>
          <a:xfrm>
            <a:off x="4800600" y="1371600"/>
            <a:ext cx="3886200" cy="1481328"/>
          </a:xfrm>
          <a:prstGeom prst="rect">
            <a:avLst/>
          </a:prstGeom>
          <a:solidFill>
            <a:srgbClr val="1E2540"/>
          </a:solidFill>
          <a:ln w="15875">
            <a:solidFill>
              <a:srgbClr val="EF4565"/>
            </a:solidFill>
            <a:prstDash val="solid"/>
          </a:ln>
          <a:effectLst>
            <a:outerShdw blurRad="88900" dist="38100" dir="5400000" algn="bl" rotWithShape="0">
              <a:srgbClr val="000000">
                <a:alpha val="25000"/>
              </a:srgbClr>
            </a:outerShdw>
          </a:effectLst>
        </p:spPr>
        <p:txBody>
          <a:bodyPr/>
          <a:lstStyle/>
          <a:p>
            <a:endParaRPr lang="fr-FR"/>
          </a:p>
        </p:txBody>
      </p:sp>
      <p:sp>
        <p:nvSpPr>
          <p:cNvPr id="12" name="Shape 9"/>
          <p:cNvSpPr/>
          <p:nvPr/>
        </p:nvSpPr>
        <p:spPr>
          <a:xfrm>
            <a:off x="4800600" y="1371600"/>
            <a:ext cx="822960" cy="1481328"/>
          </a:xfrm>
          <a:prstGeom prst="rect">
            <a:avLst/>
          </a:prstGeom>
          <a:solidFill>
            <a:srgbClr val="EF4565"/>
          </a:solidFill>
          <a:ln/>
        </p:spPr>
        <p:txBody>
          <a:bodyPr/>
          <a:lstStyle/>
          <a:p>
            <a:endParaRPr lang="fr-FR"/>
          </a:p>
        </p:txBody>
      </p:sp>
      <p:sp>
        <p:nvSpPr>
          <p:cNvPr id="13" name="Text 10"/>
          <p:cNvSpPr/>
          <p:nvPr/>
        </p:nvSpPr>
        <p:spPr>
          <a:xfrm>
            <a:off x="4800600" y="1371600"/>
            <a:ext cx="822960" cy="1481328"/>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02</a:t>
            </a:r>
            <a:endParaRPr lang="en-US" sz="2600" dirty="0"/>
          </a:p>
        </p:txBody>
      </p:sp>
      <p:pic>
        <p:nvPicPr>
          <p:cNvPr id="14" name="Image 1" descr="preencoded.png"/>
          <p:cNvPicPr>
            <a:picLocks noChangeAspect="1"/>
          </p:cNvPicPr>
          <p:nvPr/>
        </p:nvPicPr>
        <p:blipFill>
          <a:blip r:embed="rId4"/>
          <a:stretch>
            <a:fillRect/>
          </a:stretch>
        </p:blipFill>
        <p:spPr>
          <a:xfrm>
            <a:off x="5806440" y="1554480"/>
            <a:ext cx="384048" cy="384048"/>
          </a:xfrm>
          <a:prstGeom prst="rect">
            <a:avLst/>
          </a:prstGeom>
        </p:spPr>
      </p:pic>
      <p:sp>
        <p:nvSpPr>
          <p:cNvPr id="15" name="Text 11"/>
          <p:cNvSpPr/>
          <p:nvPr/>
        </p:nvSpPr>
        <p:spPr>
          <a:xfrm>
            <a:off x="6309360" y="1536192"/>
            <a:ext cx="228600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Algorithme Passions</a:t>
            </a:r>
            <a:endParaRPr lang="en-US" sz="1600" dirty="0"/>
          </a:p>
        </p:txBody>
      </p:sp>
      <p:sp>
        <p:nvSpPr>
          <p:cNvPr id="16" name="Text 12"/>
          <p:cNvSpPr/>
          <p:nvPr/>
        </p:nvSpPr>
        <p:spPr>
          <a:xfrm>
            <a:off x="5806440" y="1993392"/>
            <a:ext cx="2697480" cy="768096"/>
          </a:xfrm>
          <a:prstGeom prst="rect">
            <a:avLst/>
          </a:prstGeom>
          <a:noFill/>
          <a:ln/>
        </p:spPr>
        <p:txBody>
          <a:bodyPr wrap="square" lIns="0" tIns="0" rIns="0" bIns="0" rtlCol="0" anchor="t"/>
          <a:lstStyle/>
          <a:p>
            <a:pPr marL="0" indent="0" algn="l">
              <a:buNone/>
            </a:pPr>
            <a:r>
              <a:rPr lang="en-US" sz="1200" dirty="0">
                <a:solidFill>
                  <a:srgbClr val="C7CCD6"/>
                </a:solidFill>
                <a:latin typeface="Calibri"/>
                <a:ea typeface="Calibri"/>
                <a:cs typeface="Calibri"/>
              </a:rPr>
              <a:t>Les </a:t>
            </a:r>
            <a:r>
              <a:rPr lang="en-US" sz="1200" dirty="0" err="1">
                <a:solidFill>
                  <a:srgbClr val="C7CCD6"/>
                </a:solidFill>
                <a:latin typeface="Calibri"/>
                <a:ea typeface="Calibri"/>
                <a:cs typeface="Calibri"/>
              </a:rPr>
              <a:t>intérêts</a:t>
            </a:r>
            <a:r>
              <a:rPr lang="en-US" sz="1200" dirty="0">
                <a:solidFill>
                  <a:srgbClr val="C7CCD6"/>
                </a:solidFill>
                <a:latin typeface="Calibri"/>
                <a:ea typeface="Calibri"/>
                <a:cs typeface="Calibri"/>
              </a:rPr>
              <a:t> </a:t>
            </a:r>
            <a:r>
              <a:rPr lang="en-US" sz="1200" dirty="0" err="1">
                <a:solidFill>
                  <a:srgbClr val="C7CCD6"/>
                </a:solidFill>
                <a:latin typeface="Calibri"/>
                <a:ea typeface="Calibri"/>
                <a:cs typeface="Calibri"/>
              </a:rPr>
              <a:t>communs</a:t>
            </a:r>
            <a:r>
              <a:rPr lang="en-US" sz="1200" dirty="0">
                <a:solidFill>
                  <a:srgbClr val="C7CCD6"/>
                </a:solidFill>
                <a:latin typeface="Calibri"/>
                <a:ea typeface="Calibri"/>
                <a:cs typeface="Calibri"/>
              </a:rPr>
              <a:t> </a:t>
            </a:r>
            <a:r>
              <a:rPr lang="en-US" sz="1200" dirty="0" err="1">
                <a:solidFill>
                  <a:srgbClr val="C7CCD6"/>
                </a:solidFill>
                <a:latin typeface="Calibri"/>
                <a:ea typeface="Calibri"/>
                <a:cs typeface="Calibri"/>
              </a:rPr>
              <a:t>ont</a:t>
            </a:r>
            <a:r>
              <a:rPr lang="en-US" sz="1200" dirty="0">
                <a:solidFill>
                  <a:srgbClr val="C7CCD6"/>
                </a:solidFill>
                <a:latin typeface="Calibri"/>
                <a:ea typeface="Calibri"/>
                <a:cs typeface="Calibri"/>
              </a:rPr>
              <a:t> un impact. </a:t>
            </a:r>
            <a:r>
              <a:rPr lang="en-US" sz="1200" dirty="0" err="1">
                <a:solidFill>
                  <a:srgbClr val="C7CCD6"/>
                </a:solidFill>
                <a:latin typeface="Calibri"/>
                <a:ea typeface="Calibri"/>
                <a:cs typeface="Calibri"/>
              </a:rPr>
              <a:t>Pondérer</a:t>
            </a:r>
            <a:r>
              <a:rPr lang="en-US" sz="1200" dirty="0">
                <a:solidFill>
                  <a:srgbClr val="C7CCD6"/>
                </a:solidFill>
                <a:latin typeface="Calibri"/>
                <a:ea typeface="Calibri"/>
                <a:cs typeface="Calibri"/>
              </a:rPr>
              <a:t> les Tags </a:t>
            </a:r>
            <a:r>
              <a:rPr lang="en-US" sz="1200" dirty="0" err="1">
                <a:solidFill>
                  <a:srgbClr val="C7CCD6"/>
                </a:solidFill>
                <a:latin typeface="Calibri"/>
                <a:ea typeface="Calibri"/>
                <a:cs typeface="Calibri"/>
              </a:rPr>
              <a:t>d'intérêts</a:t>
            </a:r>
            <a:r>
              <a:rPr lang="en-US" sz="1200" dirty="0">
                <a:solidFill>
                  <a:srgbClr val="C7CCD6"/>
                </a:solidFill>
                <a:latin typeface="Calibri"/>
                <a:ea typeface="Calibri"/>
                <a:cs typeface="Calibri"/>
              </a:rPr>
              <a:t> dans le matching </a:t>
            </a:r>
            <a:r>
              <a:rPr lang="en-US" sz="1200" dirty="0" err="1">
                <a:solidFill>
                  <a:srgbClr val="C7CCD6"/>
                </a:solidFill>
                <a:latin typeface="Calibri"/>
                <a:ea typeface="Calibri"/>
                <a:cs typeface="Calibri"/>
              </a:rPr>
              <a:t>améliore</a:t>
            </a:r>
            <a:r>
              <a:rPr lang="en-US" sz="1200" dirty="0">
                <a:solidFill>
                  <a:srgbClr val="C7CCD6"/>
                </a:solidFill>
                <a:latin typeface="Calibri"/>
                <a:ea typeface="Calibri"/>
                <a:cs typeface="Calibri"/>
              </a:rPr>
              <a:t> </a:t>
            </a:r>
            <a:r>
              <a:rPr lang="en-US" sz="1200" dirty="0" err="1">
                <a:solidFill>
                  <a:srgbClr val="C7CCD6"/>
                </a:solidFill>
                <a:latin typeface="Calibri"/>
                <a:ea typeface="Calibri"/>
                <a:cs typeface="Calibri"/>
              </a:rPr>
              <a:t>significativement</a:t>
            </a:r>
            <a:r>
              <a:rPr lang="en-US" sz="1200" dirty="0">
                <a:solidFill>
                  <a:srgbClr val="C7CCD6"/>
                </a:solidFill>
                <a:latin typeface="Calibri"/>
                <a:ea typeface="Calibri"/>
                <a:cs typeface="Calibri"/>
              </a:rPr>
              <a:t> les chances.</a:t>
            </a:r>
            <a:endParaRPr lang="en-US" sz="1200">
              <a:latin typeface="Calibri"/>
              <a:ea typeface="Calibri"/>
              <a:cs typeface="Calibri"/>
            </a:endParaRPr>
          </a:p>
        </p:txBody>
      </p:sp>
      <p:sp>
        <p:nvSpPr>
          <p:cNvPr id="17" name="Shape 13"/>
          <p:cNvSpPr/>
          <p:nvPr/>
        </p:nvSpPr>
        <p:spPr>
          <a:xfrm>
            <a:off x="457200" y="2971800"/>
            <a:ext cx="3886200" cy="1481328"/>
          </a:xfrm>
          <a:prstGeom prst="rect">
            <a:avLst/>
          </a:prstGeom>
          <a:solidFill>
            <a:srgbClr val="1E2540"/>
          </a:solidFill>
          <a:ln w="15875">
            <a:solidFill>
              <a:srgbClr val="EF4565"/>
            </a:solidFill>
            <a:prstDash val="solid"/>
          </a:ln>
          <a:effectLst>
            <a:outerShdw blurRad="88900" dist="38100" dir="5400000" algn="bl" rotWithShape="0">
              <a:srgbClr val="000000">
                <a:alpha val="25000"/>
              </a:srgbClr>
            </a:outerShdw>
          </a:effectLst>
        </p:spPr>
        <p:txBody>
          <a:bodyPr/>
          <a:lstStyle/>
          <a:p>
            <a:endParaRPr lang="fr-FR"/>
          </a:p>
        </p:txBody>
      </p:sp>
      <p:sp>
        <p:nvSpPr>
          <p:cNvPr id="18" name="Shape 14"/>
          <p:cNvSpPr/>
          <p:nvPr/>
        </p:nvSpPr>
        <p:spPr>
          <a:xfrm>
            <a:off x="457200" y="2971800"/>
            <a:ext cx="822960" cy="1481328"/>
          </a:xfrm>
          <a:prstGeom prst="rect">
            <a:avLst/>
          </a:prstGeom>
          <a:solidFill>
            <a:srgbClr val="EF4565"/>
          </a:solidFill>
          <a:ln/>
        </p:spPr>
        <p:txBody>
          <a:bodyPr/>
          <a:lstStyle/>
          <a:p>
            <a:endParaRPr lang="fr-FR"/>
          </a:p>
        </p:txBody>
      </p:sp>
      <p:sp>
        <p:nvSpPr>
          <p:cNvPr id="19" name="Text 15"/>
          <p:cNvSpPr/>
          <p:nvPr/>
        </p:nvSpPr>
        <p:spPr>
          <a:xfrm>
            <a:off x="457200" y="2971800"/>
            <a:ext cx="822960" cy="1481328"/>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03</a:t>
            </a:r>
            <a:endParaRPr lang="en-US" sz="2600" dirty="0"/>
          </a:p>
        </p:txBody>
      </p:sp>
      <p:pic>
        <p:nvPicPr>
          <p:cNvPr id="20" name="Image 2" descr="preencoded.png"/>
          <p:cNvPicPr>
            <a:picLocks noChangeAspect="1"/>
          </p:cNvPicPr>
          <p:nvPr/>
        </p:nvPicPr>
        <p:blipFill>
          <a:blip r:embed="rId5"/>
          <a:stretch>
            <a:fillRect/>
          </a:stretch>
        </p:blipFill>
        <p:spPr>
          <a:xfrm>
            <a:off x="1463040" y="3154680"/>
            <a:ext cx="384048" cy="384048"/>
          </a:xfrm>
          <a:prstGeom prst="rect">
            <a:avLst/>
          </a:prstGeom>
        </p:spPr>
      </p:pic>
      <p:sp>
        <p:nvSpPr>
          <p:cNvPr id="21" name="Text 16"/>
          <p:cNvSpPr/>
          <p:nvPr/>
        </p:nvSpPr>
        <p:spPr>
          <a:xfrm>
            <a:off x="1965960" y="3136392"/>
            <a:ext cx="228600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Limiter le swipe/session</a:t>
            </a:r>
            <a:endParaRPr lang="en-US" sz="1600" dirty="0"/>
          </a:p>
        </p:txBody>
      </p:sp>
      <p:sp>
        <p:nvSpPr>
          <p:cNvPr id="22" name="Text 17"/>
          <p:cNvSpPr/>
          <p:nvPr/>
        </p:nvSpPr>
        <p:spPr>
          <a:xfrm>
            <a:off x="1463040" y="3593592"/>
            <a:ext cx="2697480" cy="768096"/>
          </a:xfrm>
          <a:prstGeom prst="rect">
            <a:avLst/>
          </a:prstGeom>
          <a:noFill/>
          <a:ln/>
        </p:spPr>
        <p:txBody>
          <a:bodyPr wrap="square" lIns="0" tIns="0" rIns="0" bIns="0" rtlCol="0" anchor="t"/>
          <a:lstStyle/>
          <a:p>
            <a:pPr marL="0" indent="0" algn="l">
              <a:buNone/>
            </a:pPr>
            <a:r>
              <a:rPr lang="en-US" sz="1200" dirty="0">
                <a:solidFill>
                  <a:srgbClr val="C7CCD6"/>
                </a:solidFill>
                <a:latin typeface="Calibri"/>
                <a:ea typeface="Calibri"/>
                <a:cs typeface="Calibri"/>
              </a:rPr>
              <a:t>La fatigue </a:t>
            </a:r>
            <a:r>
              <a:rPr lang="en-US" sz="1200" dirty="0" err="1">
                <a:solidFill>
                  <a:srgbClr val="C7CCD6"/>
                </a:solidFill>
                <a:latin typeface="Calibri"/>
                <a:ea typeface="Calibri"/>
                <a:cs typeface="Calibri"/>
              </a:rPr>
              <a:t>décisionnelle</a:t>
            </a:r>
            <a:r>
              <a:rPr lang="en-US" sz="1200" dirty="0">
                <a:solidFill>
                  <a:srgbClr val="C7CCD6"/>
                </a:solidFill>
                <a:latin typeface="Calibri"/>
                <a:ea typeface="Calibri"/>
                <a:cs typeface="Calibri"/>
              </a:rPr>
              <a:t> </a:t>
            </a:r>
            <a:r>
              <a:rPr lang="en-US" sz="1200" dirty="0" err="1">
                <a:solidFill>
                  <a:srgbClr val="C7CCD6"/>
                </a:solidFill>
                <a:latin typeface="Calibri"/>
                <a:ea typeface="Calibri"/>
                <a:cs typeface="Calibri"/>
              </a:rPr>
              <a:t>réduit</a:t>
            </a:r>
            <a:r>
              <a:rPr lang="en-US" sz="1200" dirty="0">
                <a:solidFill>
                  <a:srgbClr val="C7CCD6"/>
                </a:solidFill>
                <a:latin typeface="Calibri"/>
                <a:ea typeface="Calibri"/>
                <a:cs typeface="Calibri"/>
              </a:rPr>
              <a:t> le </a:t>
            </a:r>
            <a:r>
              <a:rPr lang="en-US" sz="1200" dirty="0" err="1">
                <a:solidFill>
                  <a:srgbClr val="C7CCD6"/>
                </a:solidFill>
                <a:latin typeface="Calibri"/>
                <a:ea typeface="Calibri"/>
                <a:cs typeface="Calibri"/>
              </a:rPr>
              <a:t>taux</a:t>
            </a:r>
            <a:r>
              <a:rPr lang="en-US" sz="1200" dirty="0">
                <a:solidFill>
                  <a:srgbClr val="C7CCD6"/>
                </a:solidFill>
                <a:latin typeface="Calibri"/>
                <a:ea typeface="Calibri"/>
                <a:cs typeface="Calibri"/>
              </a:rPr>
              <a:t> de 'Oui'. Une </a:t>
            </a:r>
            <a:r>
              <a:rPr lang="en-US" sz="1200" dirty="0" err="1">
                <a:solidFill>
                  <a:srgbClr val="C7CCD6"/>
                </a:solidFill>
                <a:latin typeface="Calibri"/>
                <a:ea typeface="Calibri"/>
                <a:cs typeface="Calibri"/>
              </a:rPr>
              <a:t>limite</a:t>
            </a:r>
            <a:r>
              <a:rPr lang="en-US" sz="1200" dirty="0">
                <a:solidFill>
                  <a:srgbClr val="C7CCD6"/>
                </a:solidFill>
                <a:latin typeface="Calibri"/>
                <a:ea typeface="Calibri"/>
                <a:cs typeface="Calibri"/>
              </a:rPr>
              <a:t> </a:t>
            </a:r>
            <a:r>
              <a:rPr lang="en-US" sz="1200" dirty="0" err="1">
                <a:solidFill>
                  <a:srgbClr val="C7CCD6"/>
                </a:solidFill>
                <a:latin typeface="Calibri"/>
                <a:ea typeface="Calibri"/>
                <a:cs typeface="Calibri"/>
              </a:rPr>
              <a:t>quotidienne</a:t>
            </a:r>
            <a:r>
              <a:rPr lang="en-US" sz="1200" dirty="0">
                <a:solidFill>
                  <a:srgbClr val="C7CCD6"/>
                </a:solidFill>
                <a:latin typeface="Calibri"/>
                <a:ea typeface="Calibri"/>
                <a:cs typeface="Calibri"/>
              </a:rPr>
              <a:t> de swipes </a:t>
            </a:r>
            <a:r>
              <a:rPr lang="en-US" sz="1200" dirty="0" err="1">
                <a:solidFill>
                  <a:srgbClr val="C7CCD6"/>
                </a:solidFill>
                <a:latin typeface="Calibri"/>
                <a:ea typeface="Calibri"/>
                <a:cs typeface="Calibri"/>
              </a:rPr>
              <a:t>préserve</a:t>
            </a:r>
            <a:r>
              <a:rPr lang="en-US" sz="1200" dirty="0">
                <a:solidFill>
                  <a:srgbClr val="C7CCD6"/>
                </a:solidFill>
                <a:latin typeface="Calibri"/>
                <a:ea typeface="Calibri"/>
                <a:cs typeface="Calibri"/>
              </a:rPr>
              <a:t> la </a:t>
            </a:r>
            <a:r>
              <a:rPr lang="en-US" sz="1200" dirty="0" err="1">
                <a:solidFill>
                  <a:srgbClr val="C7CCD6"/>
                </a:solidFill>
                <a:latin typeface="Calibri"/>
                <a:ea typeface="Calibri"/>
                <a:cs typeface="Calibri"/>
              </a:rPr>
              <a:t>qualité</a:t>
            </a:r>
            <a:r>
              <a:rPr lang="en-US" sz="1200" dirty="0">
                <a:solidFill>
                  <a:srgbClr val="C7CCD6"/>
                </a:solidFill>
                <a:latin typeface="Calibri"/>
                <a:ea typeface="Calibri"/>
                <a:cs typeface="Calibri"/>
              </a:rPr>
              <a:t> des </a:t>
            </a:r>
            <a:r>
              <a:rPr lang="en-US" sz="1200" dirty="0" err="1">
                <a:solidFill>
                  <a:srgbClr val="C7CCD6"/>
                </a:solidFill>
                <a:latin typeface="Calibri"/>
                <a:ea typeface="Calibri"/>
                <a:cs typeface="Calibri"/>
              </a:rPr>
              <a:t>décisions</a:t>
            </a:r>
            <a:r>
              <a:rPr lang="en-US" sz="1200" dirty="0">
                <a:solidFill>
                  <a:srgbClr val="C7CCD6"/>
                </a:solidFill>
                <a:latin typeface="Calibri"/>
                <a:ea typeface="Calibri"/>
                <a:cs typeface="Calibri"/>
              </a:rPr>
              <a:t>.</a:t>
            </a:r>
            <a:endParaRPr lang="en-US" sz="1200">
              <a:latin typeface="Calibri"/>
              <a:ea typeface="Calibri"/>
              <a:cs typeface="Calibri"/>
            </a:endParaRPr>
          </a:p>
        </p:txBody>
      </p:sp>
      <p:sp>
        <p:nvSpPr>
          <p:cNvPr id="23" name="Shape 18"/>
          <p:cNvSpPr/>
          <p:nvPr/>
        </p:nvSpPr>
        <p:spPr>
          <a:xfrm>
            <a:off x="4800600" y="2971800"/>
            <a:ext cx="3886200" cy="1481328"/>
          </a:xfrm>
          <a:prstGeom prst="rect">
            <a:avLst/>
          </a:prstGeom>
          <a:solidFill>
            <a:srgbClr val="1E2540"/>
          </a:solidFill>
          <a:ln w="15875">
            <a:solidFill>
              <a:srgbClr val="EF4565"/>
            </a:solidFill>
            <a:prstDash val="solid"/>
          </a:ln>
          <a:effectLst>
            <a:outerShdw blurRad="88900" dist="38100" dir="5400000" algn="bl" rotWithShape="0">
              <a:srgbClr val="000000">
                <a:alpha val="25000"/>
              </a:srgbClr>
            </a:outerShdw>
          </a:effectLst>
        </p:spPr>
        <p:txBody>
          <a:bodyPr/>
          <a:lstStyle/>
          <a:p>
            <a:endParaRPr lang="fr-FR"/>
          </a:p>
        </p:txBody>
      </p:sp>
      <p:sp>
        <p:nvSpPr>
          <p:cNvPr id="24" name="Shape 19"/>
          <p:cNvSpPr/>
          <p:nvPr/>
        </p:nvSpPr>
        <p:spPr>
          <a:xfrm>
            <a:off x="4800600" y="2971800"/>
            <a:ext cx="822960" cy="1481328"/>
          </a:xfrm>
          <a:prstGeom prst="rect">
            <a:avLst/>
          </a:prstGeom>
          <a:solidFill>
            <a:srgbClr val="EF4565"/>
          </a:solidFill>
          <a:ln/>
        </p:spPr>
        <p:txBody>
          <a:bodyPr/>
          <a:lstStyle/>
          <a:p>
            <a:endParaRPr lang="fr-FR"/>
          </a:p>
        </p:txBody>
      </p:sp>
      <p:sp>
        <p:nvSpPr>
          <p:cNvPr id="25" name="Text 20"/>
          <p:cNvSpPr/>
          <p:nvPr/>
        </p:nvSpPr>
        <p:spPr>
          <a:xfrm>
            <a:off x="4800600" y="2971800"/>
            <a:ext cx="822960" cy="1481328"/>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04</a:t>
            </a:r>
            <a:endParaRPr lang="en-US" sz="2600" dirty="0"/>
          </a:p>
        </p:txBody>
      </p:sp>
      <p:pic>
        <p:nvPicPr>
          <p:cNvPr id="26" name="Image 3" descr="preencoded.png"/>
          <p:cNvPicPr>
            <a:picLocks noChangeAspect="1"/>
          </p:cNvPicPr>
          <p:nvPr/>
        </p:nvPicPr>
        <p:blipFill>
          <a:blip r:embed="rId6"/>
          <a:stretch>
            <a:fillRect/>
          </a:stretch>
        </p:blipFill>
        <p:spPr>
          <a:xfrm>
            <a:off x="5806440" y="3154680"/>
            <a:ext cx="384048" cy="384048"/>
          </a:xfrm>
          <a:prstGeom prst="rect">
            <a:avLst/>
          </a:prstGeom>
        </p:spPr>
      </p:pic>
      <p:sp>
        <p:nvSpPr>
          <p:cNvPr id="27" name="Text 21"/>
          <p:cNvSpPr/>
          <p:nvPr/>
        </p:nvSpPr>
        <p:spPr>
          <a:xfrm>
            <a:off x="6309360" y="3136392"/>
            <a:ext cx="228600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Calibration de profil</a:t>
            </a:r>
            <a:endParaRPr lang="en-US" sz="1600" dirty="0"/>
          </a:p>
        </p:txBody>
      </p:sp>
      <p:sp>
        <p:nvSpPr>
          <p:cNvPr id="28" name="Text 22"/>
          <p:cNvSpPr/>
          <p:nvPr/>
        </p:nvSpPr>
        <p:spPr>
          <a:xfrm>
            <a:off x="5806440" y="3593592"/>
            <a:ext cx="2697480" cy="768096"/>
          </a:xfrm>
          <a:prstGeom prst="rect">
            <a:avLst/>
          </a:prstGeom>
          <a:noFill/>
          <a:ln/>
        </p:spPr>
        <p:txBody>
          <a:bodyPr wrap="square" lIns="0" tIns="0" rIns="0" bIns="0" rtlCol="0" anchor="t"/>
          <a:lstStyle/>
          <a:p>
            <a:r>
              <a:rPr lang="en-US" sz="1200" dirty="0">
                <a:solidFill>
                  <a:srgbClr val="C7CCD6"/>
                </a:solidFill>
                <a:latin typeface="Calibri"/>
                <a:ea typeface="Calibri"/>
                <a:cs typeface="Calibri"/>
              </a:rPr>
              <a:t>Les </a:t>
            </a:r>
            <a:r>
              <a:rPr lang="en-US" sz="1200" dirty="0" err="1">
                <a:solidFill>
                  <a:srgbClr val="C7CCD6"/>
                </a:solidFill>
                <a:latin typeface="Calibri"/>
                <a:ea typeface="Calibri"/>
                <a:cs typeface="Calibri"/>
              </a:rPr>
              <a:t>utilisateurs</a:t>
            </a:r>
            <a:r>
              <a:rPr lang="en-US" sz="1200" dirty="0">
                <a:solidFill>
                  <a:srgbClr val="C7CCD6"/>
                </a:solidFill>
                <a:latin typeface="Calibri"/>
                <a:ea typeface="Calibri"/>
                <a:cs typeface="Calibri"/>
              </a:rPr>
              <a:t> se </a:t>
            </a:r>
            <a:r>
              <a:rPr lang="en-US" sz="1200" dirty="0" err="1">
                <a:solidFill>
                  <a:srgbClr val="C7CCD6"/>
                </a:solidFill>
                <a:latin typeface="Calibri"/>
                <a:ea typeface="Calibri"/>
                <a:cs typeface="Calibri"/>
              </a:rPr>
              <a:t>surestiment</a:t>
            </a:r>
            <a:r>
              <a:rPr lang="en-US" sz="1200" dirty="0">
                <a:solidFill>
                  <a:srgbClr val="C7CCD6"/>
                </a:solidFill>
                <a:latin typeface="Calibri"/>
                <a:ea typeface="Calibri"/>
                <a:cs typeface="Calibri"/>
              </a:rPr>
              <a:t> </a:t>
            </a:r>
            <a:r>
              <a:rPr lang="en-US" sz="1200" dirty="0" err="1">
                <a:solidFill>
                  <a:srgbClr val="C7CCD6"/>
                </a:solidFill>
                <a:latin typeface="Calibri"/>
                <a:ea typeface="Calibri"/>
                <a:cs typeface="Calibri"/>
              </a:rPr>
              <a:t>naturellement</a:t>
            </a:r>
            <a:r>
              <a:rPr lang="en-US" sz="1200" dirty="0">
                <a:solidFill>
                  <a:srgbClr val="C7CCD6"/>
                </a:solidFill>
                <a:latin typeface="Calibri"/>
                <a:ea typeface="Calibri"/>
                <a:cs typeface="Calibri"/>
              </a:rPr>
              <a:t>. Un feedback </a:t>
            </a:r>
            <a:r>
              <a:rPr lang="en-US" sz="1200" dirty="0" err="1">
                <a:solidFill>
                  <a:srgbClr val="C7CCD6"/>
                </a:solidFill>
                <a:latin typeface="Calibri"/>
                <a:ea typeface="Calibri"/>
                <a:cs typeface="Calibri"/>
              </a:rPr>
              <a:t>anonymisé</a:t>
            </a:r>
            <a:r>
              <a:rPr lang="en-US" sz="1200" dirty="0">
                <a:solidFill>
                  <a:srgbClr val="C7CCD6"/>
                </a:solidFill>
                <a:latin typeface="Calibri"/>
                <a:ea typeface="Calibri"/>
                <a:cs typeface="Calibri"/>
              </a:rPr>
              <a:t> aide à aligner les </a:t>
            </a:r>
            <a:r>
              <a:rPr lang="en-US" sz="1200" dirty="0" err="1">
                <a:solidFill>
                  <a:srgbClr val="C7CCD6"/>
                </a:solidFill>
                <a:latin typeface="Calibri"/>
                <a:ea typeface="Calibri"/>
                <a:cs typeface="Calibri"/>
              </a:rPr>
              <a:t>attentes</a:t>
            </a:r>
            <a:r>
              <a:rPr lang="en-US" sz="1200" dirty="0">
                <a:solidFill>
                  <a:srgbClr val="C7CCD6"/>
                </a:solidFill>
                <a:latin typeface="Calibri"/>
                <a:ea typeface="Calibri"/>
                <a:cs typeface="Calibri"/>
              </a:rPr>
              <a:t> sur la </a:t>
            </a:r>
            <a:r>
              <a:rPr lang="en-US" sz="1200" dirty="0" err="1">
                <a:solidFill>
                  <a:srgbClr val="C7CCD6"/>
                </a:solidFill>
                <a:latin typeface="Calibri"/>
                <a:ea typeface="Calibri"/>
                <a:cs typeface="Calibri"/>
              </a:rPr>
              <a:t>réalité</a:t>
            </a:r>
            <a:r>
              <a:rPr lang="en-US" sz="1200" dirty="0">
                <a:solidFill>
                  <a:srgbClr val="C7CCD6"/>
                </a:solidFill>
                <a:latin typeface="Calibri"/>
                <a:ea typeface="Calibri"/>
                <a:cs typeface="Calibri"/>
              </a:rPr>
              <a:t> du </a:t>
            </a:r>
            <a:r>
              <a:rPr lang="en-US" sz="1200" dirty="0" err="1">
                <a:solidFill>
                  <a:srgbClr val="C7CCD6"/>
                </a:solidFill>
                <a:latin typeface="Calibri"/>
                <a:ea typeface="Calibri"/>
                <a:cs typeface="Calibri"/>
              </a:rPr>
              <a:t>marché</a:t>
            </a:r>
            <a:r>
              <a:rPr lang="en-US" sz="1200" dirty="0">
                <a:solidFill>
                  <a:srgbClr val="C7CCD6"/>
                </a:solidFill>
                <a:latin typeface="Calibri"/>
                <a:ea typeface="Calibri"/>
                <a:cs typeface="Calibri"/>
              </a:rPr>
              <a:t>.</a:t>
            </a:r>
            <a:endParaRPr lang="en-US" sz="1200">
              <a:latin typeface="Calibri"/>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91942"/>
        </a:solidFill>
        <a:effectLst/>
      </p:bgPr>
    </p:bg>
    <p:spTree>
      <p:nvGrpSpPr>
        <p:cNvPr id="1" name="">
          <a:extLst>
            <a:ext uri="{FF2B5EF4-FFF2-40B4-BE49-F238E27FC236}">
              <a16:creationId xmlns:a16="http://schemas.microsoft.com/office/drawing/2014/main" id="{ED40F566-DA33-AA0F-1A11-36B24D46CF2B}"/>
            </a:ext>
          </a:extLst>
        </p:cNvPr>
        <p:cNvGrpSpPr/>
        <p:nvPr/>
      </p:nvGrpSpPr>
      <p:grpSpPr>
        <a:xfrm>
          <a:off x="0" y="0"/>
          <a:ext cx="0" cy="0"/>
          <a:chOff x="0" y="0"/>
          <a:chExt cx="0" cy="0"/>
        </a:xfrm>
      </p:grpSpPr>
      <p:sp>
        <p:nvSpPr>
          <p:cNvPr id="12" name="Text 9">
            <a:extLst>
              <a:ext uri="{FF2B5EF4-FFF2-40B4-BE49-F238E27FC236}">
                <a16:creationId xmlns:a16="http://schemas.microsoft.com/office/drawing/2014/main" id="{602BB7FA-73DE-026D-2D1A-6B340C876417}"/>
              </a:ext>
            </a:extLst>
          </p:cNvPr>
          <p:cNvSpPr/>
          <p:nvPr/>
        </p:nvSpPr>
        <p:spPr>
          <a:xfrm>
            <a:off x="4972050" y="1920240"/>
            <a:ext cx="480060" cy="4800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endParaRPr lang="fr-FR" sz="2250" noProof="0" dirty="0"/>
          </a:p>
        </p:txBody>
      </p:sp>
      <p:sp>
        <p:nvSpPr>
          <p:cNvPr id="20" name="Text 17">
            <a:extLst>
              <a:ext uri="{FF2B5EF4-FFF2-40B4-BE49-F238E27FC236}">
                <a16:creationId xmlns:a16="http://schemas.microsoft.com/office/drawing/2014/main" id="{526AA76A-A2AF-DFEC-FE76-9247A56B2D91}"/>
              </a:ext>
            </a:extLst>
          </p:cNvPr>
          <p:cNvSpPr/>
          <p:nvPr/>
        </p:nvSpPr>
        <p:spPr>
          <a:xfrm>
            <a:off x="4972050" y="2948940"/>
            <a:ext cx="480060" cy="4800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endParaRPr lang="fr-FR" sz="2250" noProof="0" dirty="0"/>
          </a:p>
        </p:txBody>
      </p:sp>
      <p:sp>
        <p:nvSpPr>
          <p:cNvPr id="25" name="Slide Number Placeholder 0">
            <a:extLst>
              <a:ext uri="{FF2B5EF4-FFF2-40B4-BE49-F238E27FC236}">
                <a16:creationId xmlns:a16="http://schemas.microsoft.com/office/drawing/2014/main" id="{D2B8AEEA-B098-2027-1478-095929815361}"/>
              </a:ext>
            </a:extLst>
          </p:cNvPr>
          <p:cNvSpPr>
            <a:spLocks noGrp="1"/>
          </p:cNvSpPr>
          <p:nvPr>
            <p:ph type="sldNum" sz="quarter" idx="4294967295"/>
          </p:nvPr>
        </p:nvSpPr>
        <p:spPr>
          <a:xfrm>
            <a:off x="8572500" y="4841748"/>
            <a:ext cx="480060" cy="205740"/>
          </a:xfrm>
          <a:prstGeom prst="rect">
            <a:avLst/>
          </a:prstGeom>
          <a:extLst>
            <a:ext uri="{C572A759-6A51-4108-AA02-DFA0A04FC94B}">
              <ma14:wrappingTextBoxFlag xmlns="" xmlns:ma14="http://schemas.microsoft.com/office/mac/drawingml/2011/main" val="0"/>
            </a:ext>
          </a:extLst>
        </p:spPr>
        <p:txBody>
          <a:bodyPr/>
          <a:lstStyle>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algn="r"/>
            <a:fld id="{F7021451-1387-4CA6-816F-3879F97B5CBC}" type="slidenum">
              <a:rPr lang="fr-FR" b="0" noProof="0" smtClean="0"/>
              <a:t>9</a:t>
            </a:fld>
            <a:endParaRPr lang="fr-FR" noProof="0" dirty="0"/>
          </a:p>
        </p:txBody>
      </p:sp>
      <p:sp>
        <p:nvSpPr>
          <p:cNvPr id="24" name="ZoneTexte 23">
            <a:extLst>
              <a:ext uri="{FF2B5EF4-FFF2-40B4-BE49-F238E27FC236}">
                <a16:creationId xmlns:a16="http://schemas.microsoft.com/office/drawing/2014/main" id="{A543C3DC-317E-7A34-D33C-DD831E8BCDF6}"/>
              </a:ext>
            </a:extLst>
          </p:cNvPr>
          <p:cNvSpPr txBox="1"/>
          <p:nvPr/>
        </p:nvSpPr>
        <p:spPr>
          <a:xfrm>
            <a:off x="1565028" y="1799274"/>
            <a:ext cx="5104682" cy="1038746"/>
          </a:xfrm>
          <a:prstGeom prst="rect">
            <a:avLst/>
          </a:prstGeom>
          <a:noFill/>
        </p:spPr>
        <p:txBody>
          <a:bodyPr wrap="square" lIns="68580" tIns="34290" rIns="68580" bIns="34290" rtlCol="0" anchor="t">
            <a:sp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fr-FR" sz="2100">
                <a:solidFill>
                  <a:schemeClr val="bg1"/>
                </a:solidFill>
                <a:latin typeface="Cambria"/>
                <a:ea typeface="Cambria"/>
              </a:rPr>
              <a:t>Merci</a:t>
            </a:r>
            <a:r>
              <a:rPr lang="fr-FR" sz="2100" noProof="0">
                <a:solidFill>
                  <a:schemeClr val="bg1"/>
                </a:solidFill>
                <a:latin typeface="Cambria"/>
                <a:ea typeface="Cambria"/>
              </a:rPr>
              <a:t> de votre attention !</a:t>
            </a:r>
            <a:endParaRPr lang="fr-FR" sz="1013">
              <a:solidFill>
                <a:schemeClr val="bg1"/>
              </a:solidFill>
              <a:latin typeface="Cambria"/>
              <a:ea typeface="Cambria"/>
            </a:endParaRPr>
          </a:p>
          <a:p>
            <a:pPr algn="ctr"/>
            <a:endParaRPr lang="fr-FR" sz="2100" dirty="0">
              <a:solidFill>
                <a:schemeClr val="bg1"/>
              </a:solidFill>
              <a:latin typeface="Cambria"/>
              <a:ea typeface="Cambria"/>
            </a:endParaRPr>
          </a:p>
          <a:p>
            <a:pPr algn="ctr"/>
            <a:r>
              <a:rPr lang="fr-FR" sz="2100">
                <a:solidFill>
                  <a:schemeClr val="bg1"/>
                </a:solidFill>
                <a:latin typeface="Cambria"/>
                <a:ea typeface="Cambria"/>
              </a:rPr>
              <a:t>Des questions?</a:t>
            </a:r>
            <a:r>
              <a:rPr lang="fr-FR" sz="1000" noProof="0" dirty="0"/>
              <a:t> </a:t>
            </a:r>
            <a:endParaRPr lang="fr-FR" sz="1000" noProof="0" dirty="0">
              <a:ea typeface="Calibri"/>
              <a:cs typeface="Calibri"/>
            </a:endParaRPr>
          </a:p>
        </p:txBody>
      </p:sp>
      <p:sp>
        <p:nvSpPr>
          <p:cNvPr id="2" name="Shape 0">
            <a:extLst>
              <a:ext uri="{FF2B5EF4-FFF2-40B4-BE49-F238E27FC236}">
                <a16:creationId xmlns:a16="http://schemas.microsoft.com/office/drawing/2014/main" id="{AB2DBBB2-0054-B161-A744-D06F2F1E22AC}"/>
              </a:ext>
            </a:extLst>
          </p:cNvPr>
          <p:cNvSpPr/>
          <p:nvPr/>
        </p:nvSpPr>
        <p:spPr>
          <a:xfrm>
            <a:off x="2309076" y="526444"/>
            <a:ext cx="3566160" cy="3566160"/>
          </a:xfrm>
          <a:prstGeom prst="ellipse">
            <a:avLst/>
          </a:prstGeom>
          <a:solidFill>
            <a:srgbClr val="1FA8B8">
              <a:alpha val="13725"/>
            </a:srgbClr>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fr-FR" sz="1013" noProof="0" dirty="0"/>
          </a:p>
        </p:txBody>
      </p:sp>
    </p:spTree>
    <p:extLst>
      <p:ext uri="{BB962C8B-B14F-4D97-AF65-F5344CB8AC3E}">
        <p14:creationId xmlns:p14="http://schemas.microsoft.com/office/powerpoint/2010/main" val="2653280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551</Words>
  <Application>Microsoft Office PowerPoint</Application>
  <PresentationFormat>On-screen Show (16:9)</PresentationFormat>
  <Paragraphs>121</Paragraphs>
  <Slides>9</Slides>
  <Notes>6</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Speed Dating - Qu'est-ce qui declenche l'etincelle ?</dc:title>
  <dc:subject>PptxGenJS Presentation</dc:subject>
  <dc:creator>Analyse Speed Dating</dc:creator>
  <cp:lastModifiedBy>Aicha FATHELLAH</cp:lastModifiedBy>
  <cp:revision>368</cp:revision>
  <dcterms:created xsi:type="dcterms:W3CDTF">2026-06-28T21:46:55Z</dcterms:created>
  <dcterms:modified xsi:type="dcterms:W3CDTF">2026-10-25T14:45:42Z</dcterms:modified>
</cp:coreProperties>
</file>