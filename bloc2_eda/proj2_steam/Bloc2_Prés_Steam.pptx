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6" r:id="rId6"/>
    <p:sldId id="260" r:id="rId7"/>
    <p:sldId id="261" r:id="rId8"/>
    <p:sldId id="262" r:id="rId9"/>
    <p:sldId id="263" r:id="rId10"/>
    <p:sldId id="269"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05C72D-AF15-D45A-F0E2-96C493F76B09}" v="579" dt="2026-10-25T09:39:47.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D98191E-CDF0-490A-BB54-41FD3EF0C7D1}" type="datetimeFigureOut">
              <a:t>10/25/2026</a:t>
            </a:fld>
            <a:endParaRPr lang="fr-FR"/>
          </a:p>
        </p:txBody>
      </p:sp>
      <p:sp>
        <p:nvSpPr>
          <p:cNvPr id="4" name="Espace réservé de l'image des diapositives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3B8399A-7651-4ADD-A5BC-FF96A31AC8BF}" type="slidenum">
              <a:t>‹#›</a:t>
            </a:fld>
            <a:endParaRPr lang="fr-FR"/>
          </a:p>
        </p:txBody>
      </p:sp>
    </p:spTree>
    <p:extLst>
      <p:ext uri="{BB962C8B-B14F-4D97-AF65-F5344CB8AC3E}">
        <p14:creationId xmlns:p14="http://schemas.microsoft.com/office/powerpoint/2010/main" val="1285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62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F3E5C"/>
          </a:solidFill>
          <a:ln/>
        </p:spPr>
        <p:txBody>
          <a:bodyPr/>
          <a:lstStyle/>
          <a:p>
            <a:endParaRPr/>
          </a:p>
        </p:txBody>
      </p:sp>
      <p:sp>
        <p:nvSpPr>
          <p:cNvPr id="3" name="Text 1"/>
          <p:cNvSpPr/>
          <p:nvPr/>
        </p:nvSpPr>
        <p:spPr>
          <a:xfrm>
            <a:off x="457200" y="777240"/>
            <a:ext cx="5486400" cy="274320"/>
          </a:xfrm>
          <a:prstGeom prst="rect">
            <a:avLst/>
          </a:prstGeom>
          <a:noFill/>
          <a:ln/>
        </p:spPr>
        <p:txBody>
          <a:bodyPr wrap="square" lIns="0" tIns="0" rIns="0" bIns="0" rtlCol="0" anchor="ctr"/>
          <a:lstStyle/>
          <a:p>
            <a:pPr marL="0" indent="0">
              <a:buNone/>
            </a:pPr>
            <a:r>
              <a:rPr lang="en-US" sz="1200" b="1" kern="0" spc="400" dirty="0">
                <a:solidFill>
                  <a:srgbClr val="29A9E0"/>
                </a:solidFill>
                <a:latin typeface="Arial" pitchFamily="34" charset="0"/>
                <a:ea typeface="Arial" pitchFamily="34" charset="-122"/>
                <a:cs typeface="Arial" pitchFamily="34" charset="-120"/>
              </a:rPr>
              <a:t>A N A L Y S E   D U   M A R C H É</a:t>
            </a:r>
            <a:endParaRPr lang="en-US" sz="1200" dirty="0"/>
          </a:p>
        </p:txBody>
      </p:sp>
      <p:sp>
        <p:nvSpPr>
          <p:cNvPr id="4" name="Text 2"/>
          <p:cNvSpPr/>
          <p:nvPr/>
        </p:nvSpPr>
        <p:spPr>
          <a:xfrm>
            <a:off x="411480" y="1143000"/>
            <a:ext cx="6400800" cy="1097280"/>
          </a:xfrm>
          <a:prstGeom prst="rect">
            <a:avLst/>
          </a:prstGeom>
          <a:noFill/>
          <a:ln/>
        </p:spPr>
        <p:txBody>
          <a:bodyPr wrap="square" lIns="0" tIns="0" rIns="0" bIns="0" rtlCol="0" anchor="ctr"/>
          <a:lstStyle/>
          <a:p>
            <a:pPr marL="0" indent="0">
              <a:buNone/>
            </a:pPr>
            <a:r>
              <a:rPr lang="en-US" sz="5400" b="1" dirty="0">
                <a:solidFill>
                  <a:srgbClr val="FFFFFF"/>
                </a:solidFill>
                <a:latin typeface="Arial Black" pitchFamily="34" charset="0"/>
                <a:ea typeface="Arial Black" pitchFamily="34" charset="-122"/>
                <a:cs typeface="Arial Black" pitchFamily="34" charset="-120"/>
              </a:rPr>
              <a:t>Projet Steam</a:t>
            </a:r>
            <a:endParaRPr lang="en-US" sz="5400" dirty="0"/>
          </a:p>
        </p:txBody>
      </p:sp>
      <p:sp>
        <p:nvSpPr>
          <p:cNvPr id="5" name="Text 3"/>
          <p:cNvSpPr/>
          <p:nvPr/>
        </p:nvSpPr>
        <p:spPr>
          <a:xfrm>
            <a:off x="457200" y="2542032"/>
            <a:ext cx="5486400" cy="4114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Plateforme de jeux vidéo</a:t>
            </a:r>
            <a:endParaRPr lang="en-US" sz="2000" dirty="0"/>
          </a:p>
        </p:txBody>
      </p:sp>
      <p:sp>
        <p:nvSpPr>
          <p:cNvPr id="6" name="Shape 4"/>
          <p:cNvSpPr/>
          <p:nvPr/>
        </p:nvSpPr>
        <p:spPr>
          <a:xfrm>
            <a:off x="457200" y="3054096"/>
            <a:ext cx="3017520" cy="45720"/>
          </a:xfrm>
          <a:prstGeom prst="rect">
            <a:avLst/>
          </a:prstGeom>
          <a:solidFill>
            <a:srgbClr val="EF3E5C"/>
          </a:solidFill>
          <a:ln/>
        </p:spPr>
        <p:txBody>
          <a:bodyPr/>
          <a:lstStyle/>
          <a:p>
            <a:endParaRPr/>
          </a:p>
        </p:txBody>
      </p:sp>
      <p:sp>
        <p:nvSpPr>
          <p:cNvPr id="7" name="Text 5"/>
          <p:cNvSpPr/>
          <p:nvPr/>
        </p:nvSpPr>
        <p:spPr>
          <a:xfrm>
            <a:off x="457200" y="3310128"/>
            <a:ext cx="5486400" cy="320040"/>
          </a:xfrm>
          <a:prstGeom prst="rect">
            <a:avLst/>
          </a:prstGeom>
          <a:noFill/>
          <a:ln/>
        </p:spPr>
        <p:txBody>
          <a:bodyPr wrap="square" lIns="0" tIns="0" rIns="0" bIns="0" rtlCol="0" anchor="ctr"/>
          <a:lstStyle/>
          <a:p>
            <a:pPr marL="0" indent="0">
              <a:buNone/>
            </a:pPr>
            <a:r>
              <a:rPr lang="en-US" sz="1300" i="1" dirty="0" err="1">
                <a:solidFill>
                  <a:srgbClr val="9AA3B2"/>
                </a:solidFill>
                <a:latin typeface="Arial"/>
                <a:ea typeface="Arial" pitchFamily="34" charset="-122"/>
                <a:cs typeface="Arial"/>
              </a:rPr>
              <a:t>Analyse</a:t>
            </a:r>
            <a:r>
              <a:rPr lang="en-US" sz="1300" i="1" dirty="0">
                <a:solidFill>
                  <a:srgbClr val="9AA3B2"/>
                </a:solidFill>
                <a:latin typeface="Arial"/>
                <a:ea typeface="Arial" pitchFamily="34" charset="-122"/>
                <a:cs typeface="Arial"/>
              </a:rPr>
              <a:t> </a:t>
            </a:r>
            <a:r>
              <a:rPr lang="en-US" sz="1300" i="1" dirty="0" err="1">
                <a:solidFill>
                  <a:srgbClr val="9AA3B2"/>
                </a:solidFill>
                <a:latin typeface="Arial"/>
                <a:ea typeface="Arial" pitchFamily="34" charset="-122"/>
                <a:cs typeface="Arial"/>
              </a:rPr>
              <a:t>exploratoire</a:t>
            </a:r>
            <a:r>
              <a:rPr lang="en-US" sz="1300" i="1" dirty="0">
                <a:solidFill>
                  <a:srgbClr val="9AA3B2"/>
                </a:solidFill>
                <a:latin typeface="Arial"/>
                <a:ea typeface="Arial" pitchFamily="34" charset="-122"/>
                <a:cs typeface="Arial"/>
              </a:rPr>
              <a:t> pour Ubisoft</a:t>
            </a:r>
            <a:endParaRPr lang="en-US" sz="1300" dirty="0">
              <a:latin typeface="Arial"/>
              <a:cs typeface="Arial"/>
            </a:endParaRPr>
          </a:p>
        </p:txBody>
      </p:sp>
      <p:sp>
        <p:nvSpPr>
          <p:cNvPr id="8" name="Shape 6"/>
          <p:cNvSpPr/>
          <p:nvPr/>
        </p:nvSpPr>
        <p:spPr>
          <a:xfrm>
            <a:off x="5955175" y="2617615"/>
            <a:ext cx="2468880" cy="868680"/>
          </a:xfrm>
          <a:prstGeom prst="rect">
            <a:avLst/>
          </a:prstGeom>
          <a:solidFill>
            <a:srgbClr val="14243C"/>
          </a:solidFill>
          <a:ln w="15875">
            <a:solidFill>
              <a:srgbClr val="29A9E0"/>
            </a:solidFill>
            <a:prstDash val="solid"/>
          </a:ln>
        </p:spPr>
        <p:txBody>
          <a:bodyPr/>
          <a:lstStyle/>
          <a:p>
            <a:endParaRPr/>
          </a:p>
        </p:txBody>
      </p:sp>
      <p:sp>
        <p:nvSpPr>
          <p:cNvPr id="9" name="Text 7"/>
          <p:cNvSpPr/>
          <p:nvPr/>
        </p:nvSpPr>
        <p:spPr>
          <a:xfrm>
            <a:off x="5955175" y="2727343"/>
            <a:ext cx="2468880" cy="411480"/>
          </a:xfrm>
          <a:prstGeom prst="rect">
            <a:avLst/>
          </a:prstGeom>
          <a:noFill/>
          <a:ln/>
        </p:spPr>
        <p:txBody>
          <a:bodyPr wrap="square" lIns="0" tIns="0" rIns="0" bIns="0" rtlCol="0" anchor="ctr"/>
          <a:lstStyle/>
          <a:p>
            <a:pPr marL="0" indent="0" algn="ctr">
              <a:buNone/>
            </a:pPr>
            <a:r>
              <a:rPr lang="en-US" sz="2100" b="1" dirty="0">
                <a:solidFill>
                  <a:srgbClr val="29A9E0"/>
                </a:solidFill>
                <a:latin typeface="Arial Black" pitchFamily="34" charset="0"/>
                <a:ea typeface="Arial Black" pitchFamily="34" charset="-122"/>
                <a:cs typeface="Arial Black" pitchFamily="34" charset="-120"/>
              </a:rPr>
              <a:t>55 690</a:t>
            </a:r>
            <a:endParaRPr lang="en-US" sz="2100" dirty="0"/>
          </a:p>
        </p:txBody>
      </p:sp>
      <p:sp>
        <p:nvSpPr>
          <p:cNvPr id="10" name="Text 8"/>
          <p:cNvSpPr/>
          <p:nvPr/>
        </p:nvSpPr>
        <p:spPr>
          <a:xfrm>
            <a:off x="5955175" y="3138823"/>
            <a:ext cx="2468880" cy="274320"/>
          </a:xfrm>
          <a:prstGeom prst="rect">
            <a:avLst/>
          </a:prstGeom>
          <a:noFill/>
          <a:ln/>
        </p:spPr>
        <p:txBody>
          <a:bodyPr wrap="square" lIns="0" tIns="0" rIns="0" bIns="0" rtlCol="0" anchor="ctr"/>
          <a:lstStyle/>
          <a:p>
            <a:pPr marL="0" indent="0" algn="ctr">
              <a:buNone/>
            </a:pPr>
            <a:r>
              <a:rPr lang="en-US" sz="1000" dirty="0">
                <a:solidFill>
                  <a:srgbClr val="9AA3B2"/>
                </a:solidFill>
                <a:latin typeface="Arial" pitchFamily="34" charset="0"/>
                <a:ea typeface="Arial" pitchFamily="34" charset="-122"/>
                <a:cs typeface="Arial" pitchFamily="34" charset="-120"/>
              </a:rPr>
              <a:t>Jeux analysés</a:t>
            </a:r>
            <a:endParaRPr lang="en-US" sz="1000" dirty="0"/>
          </a:p>
        </p:txBody>
      </p:sp>
      <p:sp>
        <p:nvSpPr>
          <p:cNvPr id="11" name="Shape 9"/>
          <p:cNvSpPr/>
          <p:nvPr/>
        </p:nvSpPr>
        <p:spPr>
          <a:xfrm>
            <a:off x="5966460" y="3782318"/>
            <a:ext cx="2468880" cy="868680"/>
          </a:xfrm>
          <a:prstGeom prst="rect">
            <a:avLst/>
          </a:prstGeom>
          <a:solidFill>
            <a:srgbClr val="14243C"/>
          </a:solidFill>
          <a:ln w="15875">
            <a:solidFill>
              <a:srgbClr val="29A9E0"/>
            </a:solidFill>
            <a:prstDash val="solid"/>
          </a:ln>
        </p:spPr>
        <p:txBody>
          <a:bodyPr/>
          <a:lstStyle/>
          <a:p>
            <a:endParaRPr/>
          </a:p>
        </p:txBody>
      </p:sp>
      <p:sp>
        <p:nvSpPr>
          <p:cNvPr id="12" name="Text 10"/>
          <p:cNvSpPr/>
          <p:nvPr/>
        </p:nvSpPr>
        <p:spPr>
          <a:xfrm>
            <a:off x="5966460" y="3892046"/>
            <a:ext cx="2468880" cy="411480"/>
          </a:xfrm>
          <a:prstGeom prst="rect">
            <a:avLst/>
          </a:prstGeom>
          <a:noFill/>
          <a:ln/>
        </p:spPr>
        <p:txBody>
          <a:bodyPr wrap="square" lIns="0" tIns="0" rIns="0" bIns="0" rtlCol="0" anchor="ctr"/>
          <a:lstStyle/>
          <a:p>
            <a:pPr marL="0" indent="0" algn="ctr">
              <a:buNone/>
            </a:pPr>
            <a:r>
              <a:rPr lang="en-US" sz="2100" b="1" dirty="0" err="1">
                <a:solidFill>
                  <a:srgbClr val="29A9E0"/>
                </a:solidFill>
                <a:latin typeface="Arial Black"/>
                <a:ea typeface="Arial Black" pitchFamily="34" charset="-122"/>
                <a:cs typeface="Arial Black" pitchFamily="34" charset="-120"/>
              </a:rPr>
              <a:t>PySpark</a:t>
            </a:r>
            <a:r>
              <a:rPr lang="en-US" sz="2100" b="1" dirty="0">
                <a:solidFill>
                  <a:srgbClr val="29A9E0"/>
                </a:solidFill>
                <a:latin typeface="Arial Black"/>
                <a:ea typeface="Arial Black" pitchFamily="34" charset="-122"/>
                <a:cs typeface="Arial Black" pitchFamily="34" charset="-120"/>
              </a:rPr>
              <a:t> 4.2</a:t>
            </a:r>
            <a:endParaRPr lang="en-US" sz="2100" dirty="0"/>
          </a:p>
        </p:txBody>
      </p:sp>
      <p:sp>
        <p:nvSpPr>
          <p:cNvPr id="13" name="Text 11"/>
          <p:cNvSpPr/>
          <p:nvPr/>
        </p:nvSpPr>
        <p:spPr>
          <a:xfrm>
            <a:off x="5966460" y="4303526"/>
            <a:ext cx="2468880" cy="274320"/>
          </a:xfrm>
          <a:prstGeom prst="rect">
            <a:avLst/>
          </a:prstGeom>
          <a:noFill/>
          <a:ln/>
        </p:spPr>
        <p:txBody>
          <a:bodyPr wrap="square" lIns="0" tIns="0" rIns="0" bIns="0" rtlCol="0" anchor="ctr"/>
          <a:lstStyle/>
          <a:p>
            <a:pPr marL="0" indent="0" algn="ctr">
              <a:buNone/>
            </a:pPr>
            <a:r>
              <a:rPr lang="en-US" sz="1000" dirty="0">
                <a:solidFill>
                  <a:srgbClr val="9AA3B2"/>
                </a:solidFill>
                <a:latin typeface="Arial" pitchFamily="34" charset="0"/>
                <a:ea typeface="Arial" pitchFamily="34" charset="-122"/>
                <a:cs typeface="Arial" pitchFamily="34" charset="-120"/>
              </a:rPr>
              <a:t>Technologie</a:t>
            </a:r>
            <a:endParaRPr lang="en-US" sz="1000" dirty="0"/>
          </a:p>
        </p:txBody>
      </p:sp>
      <p:sp>
        <p:nvSpPr>
          <p:cNvPr id="17" name="Shape 15"/>
          <p:cNvSpPr/>
          <p:nvPr/>
        </p:nvSpPr>
        <p:spPr>
          <a:xfrm>
            <a:off x="6903720" y="320040"/>
            <a:ext cx="1783080" cy="1783080"/>
          </a:xfrm>
          <a:prstGeom prst="line">
            <a:avLst/>
          </a:prstGeom>
          <a:solidFill>
            <a:srgbClr val="14243C"/>
          </a:solidFill>
          <a:ln w="25400">
            <a:solidFill>
              <a:srgbClr val="29A9E0"/>
            </a:solidFill>
            <a:prstDash val="solid"/>
          </a:ln>
        </p:spPr>
        <p:txBody>
          <a:bodyPr/>
          <a:lstStyle/>
          <a:p>
            <a:endParaRPr/>
          </a:p>
        </p:txBody>
      </p:sp>
      <p:pic>
        <p:nvPicPr>
          <p:cNvPr id="18" name="Image 0" descr="preencoded.png"/>
          <p:cNvPicPr>
            <a:picLocks noChangeAspect="1"/>
          </p:cNvPicPr>
          <p:nvPr/>
        </p:nvPicPr>
        <p:blipFill>
          <a:blip r:embed="rId3"/>
          <a:stretch>
            <a:fillRect/>
          </a:stretch>
        </p:blipFill>
        <p:spPr>
          <a:xfrm>
            <a:off x="7479792" y="896112"/>
            <a:ext cx="640080" cy="640080"/>
          </a:xfrm>
          <a:prstGeom prst="rect">
            <a:avLst/>
          </a:prstGeom>
        </p:spPr>
      </p:pic>
      <p:sp>
        <p:nvSpPr>
          <p:cNvPr id="19" name="TextBox 18">
            <a:extLst>
              <a:ext uri="{FF2B5EF4-FFF2-40B4-BE49-F238E27FC236}">
                <a16:creationId xmlns:a16="http://schemas.microsoft.com/office/drawing/2014/main" id="{B0D0BE6D-1B98-6384-BC91-8BA157FD9EBA}"/>
              </a:ext>
            </a:extLst>
          </p:cNvPr>
          <p:cNvSpPr txBox="1"/>
          <p:nvPr/>
        </p:nvSpPr>
        <p:spPr>
          <a:xfrm>
            <a:off x="588308" y="4345080"/>
            <a:ext cx="21683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ea typeface="Calibri"/>
                <a:cs typeface="Calibri"/>
              </a:rPr>
              <a:t>Samer MECHHOUD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56032"/>
            <a:ext cx="7772400" cy="274320"/>
          </a:xfrm>
          <a:prstGeom prst="rect">
            <a:avLst/>
          </a:prstGeom>
          <a:noFill/>
          <a:ln/>
        </p:spPr>
        <p:txBody>
          <a:bodyPr wrap="square" lIns="0" tIns="0" rIns="0" bIns="0" rtlCol="0" anchor="ctr"/>
          <a:lstStyle/>
          <a:p>
            <a:pPr marL="0" indent="0">
              <a:buNone/>
            </a:pPr>
            <a:r>
              <a:rPr lang="en-US" sz="1100" b="1" kern="0" spc="300" dirty="0">
                <a:solidFill>
                  <a:srgbClr val="29A9E0"/>
                </a:solidFill>
                <a:latin typeface="Arial" pitchFamily="34" charset="0"/>
                <a:ea typeface="Arial" pitchFamily="34" charset="-122"/>
                <a:cs typeface="Arial" pitchFamily="34" charset="-120"/>
              </a:rPr>
              <a:t>C O N T E X T E   D U   P R O J E T</a:t>
            </a:r>
            <a:endParaRPr lang="en-US" sz="1100" dirty="0"/>
          </a:p>
        </p:txBody>
      </p:sp>
      <p:sp>
        <p:nvSpPr>
          <p:cNvPr id="3" name="Text 1"/>
          <p:cNvSpPr/>
          <p:nvPr/>
        </p:nvSpPr>
        <p:spPr>
          <a:xfrm>
            <a:off x="420624" y="502920"/>
            <a:ext cx="822960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Arial Black" pitchFamily="34" charset="0"/>
                <a:ea typeface="Arial Black" pitchFamily="34" charset="-122"/>
                <a:cs typeface="Arial Black" pitchFamily="34" charset="-120"/>
              </a:rPr>
              <a:t>Mission Ubisoft</a:t>
            </a:r>
            <a:endParaRPr lang="en-US" sz="3400" dirty="0"/>
          </a:p>
        </p:txBody>
      </p:sp>
      <p:sp>
        <p:nvSpPr>
          <p:cNvPr id="4" name="Shape 2"/>
          <p:cNvSpPr/>
          <p:nvPr/>
        </p:nvSpPr>
        <p:spPr>
          <a:xfrm>
            <a:off x="457200" y="1371600"/>
            <a:ext cx="3840480" cy="3154680"/>
          </a:xfrm>
          <a:prstGeom prst="rect">
            <a:avLst/>
          </a:prstGeom>
          <a:solidFill>
            <a:srgbClr val="16263F"/>
          </a:solidFill>
          <a:ln w="12700">
            <a:solidFill>
              <a:srgbClr val="2A4060"/>
            </a:solidFill>
            <a:prstDash val="solid"/>
          </a:ln>
        </p:spPr>
      </p:sp>
      <p:sp>
        <p:nvSpPr>
          <p:cNvPr id="5" name="Shape 3"/>
          <p:cNvSpPr/>
          <p:nvPr/>
        </p:nvSpPr>
        <p:spPr>
          <a:xfrm>
            <a:off x="457200" y="1371600"/>
            <a:ext cx="3840480" cy="64008"/>
          </a:xfrm>
          <a:prstGeom prst="rect">
            <a:avLst/>
          </a:prstGeom>
          <a:solidFill>
            <a:srgbClr val="EF3E5C"/>
          </a:solidFill>
          <a:ln/>
        </p:spPr>
      </p:sp>
      <p:sp>
        <p:nvSpPr>
          <p:cNvPr id="6" name="Text 4"/>
          <p:cNvSpPr/>
          <p:nvPr/>
        </p:nvSpPr>
        <p:spPr>
          <a:xfrm>
            <a:off x="640080" y="1481328"/>
            <a:ext cx="3474720" cy="274320"/>
          </a:xfrm>
          <a:prstGeom prst="rect">
            <a:avLst/>
          </a:prstGeom>
          <a:noFill/>
          <a:ln/>
        </p:spPr>
        <p:txBody>
          <a:bodyPr wrap="square" lIns="0" tIns="0" rIns="0" bIns="0" rtlCol="0" anchor="ctr"/>
          <a:lstStyle/>
          <a:p>
            <a:pPr marL="0" indent="0">
              <a:buNone/>
            </a:pPr>
            <a:r>
              <a:rPr lang="en-US" sz="1300" b="1" dirty="0">
                <a:solidFill>
                  <a:srgbClr val="29A9E0"/>
                </a:solidFill>
                <a:latin typeface="Arial" pitchFamily="34" charset="0"/>
                <a:ea typeface="Arial" pitchFamily="34" charset="-122"/>
                <a:cs typeface="Arial" pitchFamily="34" charset="-120"/>
              </a:rPr>
              <a:t>LA MISSION</a:t>
            </a:r>
            <a:endParaRPr lang="en-US" sz="1300" dirty="0"/>
          </a:p>
        </p:txBody>
      </p:sp>
      <p:sp>
        <p:nvSpPr>
          <p:cNvPr id="7" name="Text 5"/>
          <p:cNvSpPr/>
          <p:nvPr/>
        </p:nvSpPr>
        <p:spPr>
          <a:xfrm>
            <a:off x="640080" y="2148840"/>
            <a:ext cx="3474720" cy="640080"/>
          </a:xfrm>
          <a:prstGeom prst="rect">
            <a:avLst/>
          </a:prstGeom>
          <a:noFill/>
          <a:ln/>
        </p:spPr>
        <p:txBody>
          <a:bodyPr wrap="square" lIns="0" tIns="0" rIns="0" bIns="0" rtlCol="0" anchor="ctr"/>
          <a:lstStyle/>
          <a:p>
            <a:pPr marL="0" indent="0">
              <a:buNone/>
            </a:pPr>
            <a:r>
              <a:rPr lang="en-US" sz="1200" dirty="0">
                <a:solidFill>
                  <a:srgbClr val="D7DCE6"/>
                </a:solidFill>
                <a:latin typeface="Arial" pitchFamily="34" charset="0"/>
                <a:ea typeface="Arial" pitchFamily="34" charset="-122"/>
                <a:cs typeface="Arial" pitchFamily="34" charset="-120"/>
              </a:rPr>
              <a:t>Ubisoft lance un nouveau jeu. Ils ont besoin d'une analyse du marché Steam pour :</a:t>
            </a:r>
            <a:endParaRPr lang="en-US" sz="1200" dirty="0"/>
          </a:p>
        </p:txBody>
      </p:sp>
      <p:sp>
        <p:nvSpPr>
          <p:cNvPr id="8" name="Text 6"/>
          <p:cNvSpPr/>
          <p:nvPr/>
        </p:nvSpPr>
        <p:spPr>
          <a:xfrm>
            <a:off x="777240" y="2880360"/>
            <a:ext cx="3383280" cy="1371600"/>
          </a:xfrm>
          <a:prstGeom prst="rect">
            <a:avLst/>
          </a:prstGeom>
          <a:noFill/>
          <a:ln/>
        </p:spPr>
        <p:txBody>
          <a:bodyPr wrap="square" lIns="0" tIns="0" rIns="0" bIns="0" rtlCol="0" anchor="ctr"/>
          <a:lstStyle/>
          <a:p>
            <a:pPr marL="342900" indent="-342900">
              <a:lnSpc>
                <a:spcPct val="130000"/>
              </a:lnSpc>
              <a:buSzPct val="100000"/>
              <a:buChar char="•"/>
            </a:pPr>
            <a:r>
              <a:rPr lang="en-US" sz="1200" dirty="0">
                <a:solidFill>
                  <a:srgbClr val="D7DCE6"/>
                </a:solidFill>
                <a:latin typeface="Arial" pitchFamily="34" charset="0"/>
                <a:ea typeface="Arial" pitchFamily="34" charset="-122"/>
                <a:cs typeface="Arial" pitchFamily="34" charset="-120"/>
              </a:rPr>
              <a:t>Comprendre les tendances actuelles</a:t>
            </a:r>
            <a:endParaRPr lang="en-US" sz="1200" dirty="0"/>
          </a:p>
          <a:p>
            <a:pPr marL="342900" indent="-342900">
              <a:lnSpc>
                <a:spcPct val="130000"/>
              </a:lnSpc>
              <a:buSzPct val="100000"/>
              <a:buChar char="•"/>
            </a:pPr>
            <a:r>
              <a:rPr lang="en-US" sz="1200" dirty="0">
                <a:solidFill>
                  <a:srgbClr val="D7DCE6"/>
                </a:solidFill>
                <a:latin typeface="Arial" pitchFamily="34" charset="0"/>
                <a:ea typeface="Arial" pitchFamily="34" charset="-122"/>
                <a:cs typeface="Arial" pitchFamily="34" charset="-120"/>
              </a:rPr>
              <a:t>Identifier les facteurs de succès</a:t>
            </a:r>
            <a:endParaRPr lang="en-US" sz="1200" dirty="0"/>
          </a:p>
          <a:p>
            <a:pPr marL="342900" indent="-342900">
              <a:lnSpc>
                <a:spcPct val="130000"/>
              </a:lnSpc>
              <a:buSzPct val="100000"/>
              <a:buChar char="•"/>
            </a:pPr>
            <a:r>
              <a:rPr lang="en-US" sz="1200" dirty="0">
                <a:solidFill>
                  <a:srgbClr val="D7DCE6"/>
                </a:solidFill>
                <a:latin typeface="Arial" pitchFamily="34" charset="0"/>
                <a:ea typeface="Arial" pitchFamily="34" charset="-122"/>
                <a:cs typeface="Arial" pitchFamily="34" charset="-120"/>
              </a:rPr>
              <a:t>Analyser la concurrence par genre</a:t>
            </a:r>
            <a:endParaRPr lang="en-US" sz="1200" dirty="0"/>
          </a:p>
          <a:p>
            <a:pPr marL="342900" indent="-342900">
              <a:lnSpc>
                <a:spcPct val="130000"/>
              </a:lnSpc>
              <a:buSzPct val="100000"/>
              <a:buChar char="•"/>
            </a:pPr>
            <a:r>
              <a:rPr lang="en-US" sz="1200" dirty="0">
                <a:solidFill>
                  <a:srgbClr val="D7DCE6"/>
                </a:solidFill>
                <a:latin typeface="Arial" pitchFamily="34" charset="0"/>
                <a:ea typeface="Arial" pitchFamily="34" charset="-122"/>
                <a:cs typeface="Arial" pitchFamily="34" charset="-120"/>
              </a:rPr>
              <a:t>Choisir la stratégie de lancement</a:t>
            </a:r>
            <a:endParaRPr lang="en-US" sz="1200" dirty="0"/>
          </a:p>
        </p:txBody>
      </p:sp>
      <p:sp>
        <p:nvSpPr>
          <p:cNvPr id="9" name="Shape 7"/>
          <p:cNvSpPr/>
          <p:nvPr/>
        </p:nvSpPr>
        <p:spPr>
          <a:xfrm>
            <a:off x="4663440" y="1371600"/>
            <a:ext cx="4023360" cy="3154680"/>
          </a:xfrm>
          <a:prstGeom prst="rect">
            <a:avLst/>
          </a:prstGeom>
          <a:solidFill>
            <a:srgbClr val="16263F"/>
          </a:solidFill>
          <a:ln w="12700">
            <a:solidFill>
              <a:srgbClr val="2A4060"/>
            </a:solidFill>
            <a:prstDash val="solid"/>
          </a:ln>
        </p:spPr>
      </p:sp>
      <p:sp>
        <p:nvSpPr>
          <p:cNvPr id="10" name="Shape 8"/>
          <p:cNvSpPr/>
          <p:nvPr/>
        </p:nvSpPr>
        <p:spPr>
          <a:xfrm>
            <a:off x="4663440" y="1371600"/>
            <a:ext cx="4023360" cy="64008"/>
          </a:xfrm>
          <a:prstGeom prst="rect">
            <a:avLst/>
          </a:prstGeom>
          <a:solidFill>
            <a:srgbClr val="F2C719"/>
          </a:solidFill>
          <a:ln/>
        </p:spPr>
      </p:sp>
      <p:sp>
        <p:nvSpPr>
          <p:cNvPr id="11" name="Text 9"/>
          <p:cNvSpPr/>
          <p:nvPr/>
        </p:nvSpPr>
        <p:spPr>
          <a:xfrm>
            <a:off x="4846320" y="1481328"/>
            <a:ext cx="3657600" cy="274320"/>
          </a:xfrm>
          <a:prstGeom prst="rect">
            <a:avLst/>
          </a:prstGeom>
          <a:noFill/>
          <a:ln/>
        </p:spPr>
        <p:txBody>
          <a:bodyPr wrap="square" lIns="0" tIns="0" rIns="0" bIns="0" rtlCol="0" anchor="ctr"/>
          <a:lstStyle/>
          <a:p>
            <a:pPr marL="0" indent="0">
              <a:buNone/>
            </a:pPr>
            <a:r>
              <a:rPr lang="en-US" sz="1300" b="1" dirty="0">
                <a:solidFill>
                  <a:srgbClr val="F2C719"/>
                </a:solidFill>
                <a:latin typeface="Arial" pitchFamily="34" charset="0"/>
                <a:ea typeface="Arial" pitchFamily="34" charset="-122"/>
                <a:cs typeface="Arial" pitchFamily="34" charset="-120"/>
              </a:rPr>
              <a:t>STACK TECHNIQUE</a:t>
            </a:r>
            <a:endParaRPr lang="en-US" sz="1300" dirty="0"/>
          </a:p>
        </p:txBody>
      </p:sp>
      <p:sp>
        <p:nvSpPr>
          <p:cNvPr id="12" name="Text 10"/>
          <p:cNvSpPr/>
          <p:nvPr/>
        </p:nvSpPr>
        <p:spPr>
          <a:xfrm>
            <a:off x="4892040" y="2057400"/>
            <a:ext cx="3657600" cy="274320"/>
          </a:xfrm>
          <a:prstGeom prst="rect">
            <a:avLst/>
          </a:prstGeom>
          <a:noFill/>
          <a:ln/>
        </p:spPr>
        <p:txBody>
          <a:bodyPr wrap="square" lIns="0" tIns="0" rIns="0" bIns="0" rtlCol="0" anchor="ctr"/>
          <a:lstStyle/>
          <a:p>
            <a:pPr marL="0" indent="0">
              <a:buNone/>
            </a:pPr>
            <a:r>
              <a:rPr lang="en-US" sz="1300" b="1">
                <a:solidFill>
                  <a:srgbClr val="FFFFFF"/>
                </a:solidFill>
                <a:latin typeface="Arial"/>
                <a:ea typeface="Arial" pitchFamily="34" charset="-122"/>
                <a:cs typeface="Arial"/>
              </a:rPr>
              <a:t>Spark 4.2.0</a:t>
            </a:r>
            <a:endParaRPr lang="en-US" sz="1300" dirty="0"/>
          </a:p>
        </p:txBody>
      </p:sp>
      <p:sp>
        <p:nvSpPr>
          <p:cNvPr id="13" name="Text 11"/>
          <p:cNvSpPr/>
          <p:nvPr/>
        </p:nvSpPr>
        <p:spPr>
          <a:xfrm>
            <a:off x="4892040" y="2313432"/>
            <a:ext cx="3657600" cy="256032"/>
          </a:xfrm>
          <a:prstGeom prst="rect">
            <a:avLst/>
          </a:prstGeom>
          <a:noFill/>
          <a:ln/>
        </p:spPr>
        <p:txBody>
          <a:bodyPr wrap="square" lIns="0" tIns="0" rIns="0" bIns="0" rtlCol="0" anchor="ctr"/>
          <a:lstStyle/>
          <a:p>
            <a:pPr marL="0" indent="0">
              <a:buNone/>
            </a:pPr>
            <a:r>
              <a:rPr lang="en-US" sz="1050" dirty="0">
                <a:solidFill>
                  <a:srgbClr val="9AA3B2"/>
                </a:solidFill>
                <a:latin typeface="Arial" pitchFamily="34" charset="0"/>
                <a:ea typeface="Arial" pitchFamily="34" charset="-122"/>
                <a:cs typeface="Arial" pitchFamily="34" charset="-120"/>
              </a:rPr>
              <a:t>Traitement distribué</a:t>
            </a:r>
            <a:endParaRPr lang="en-US" sz="1050" dirty="0"/>
          </a:p>
        </p:txBody>
      </p:sp>
      <p:sp>
        <p:nvSpPr>
          <p:cNvPr id="14" name="Text 12"/>
          <p:cNvSpPr/>
          <p:nvPr/>
        </p:nvSpPr>
        <p:spPr>
          <a:xfrm>
            <a:off x="4892040" y="2660904"/>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PySpark</a:t>
            </a:r>
            <a:endParaRPr lang="en-US" sz="1300" dirty="0"/>
          </a:p>
        </p:txBody>
      </p:sp>
      <p:sp>
        <p:nvSpPr>
          <p:cNvPr id="15" name="Text 13"/>
          <p:cNvSpPr/>
          <p:nvPr/>
        </p:nvSpPr>
        <p:spPr>
          <a:xfrm>
            <a:off x="4892040" y="2916936"/>
            <a:ext cx="3657600" cy="256032"/>
          </a:xfrm>
          <a:prstGeom prst="rect">
            <a:avLst/>
          </a:prstGeom>
          <a:noFill/>
          <a:ln/>
        </p:spPr>
        <p:txBody>
          <a:bodyPr wrap="square" lIns="0" tIns="0" rIns="0" bIns="0" rtlCol="0" anchor="ctr"/>
          <a:lstStyle/>
          <a:p>
            <a:pPr marL="0" indent="0">
              <a:buNone/>
            </a:pPr>
            <a:r>
              <a:rPr lang="en-US" sz="1050" dirty="0">
                <a:solidFill>
                  <a:srgbClr val="9AA3B2"/>
                </a:solidFill>
                <a:latin typeface="Arial" pitchFamily="34" charset="0"/>
                <a:ea typeface="Arial" pitchFamily="34" charset="-122"/>
                <a:cs typeface="Arial" pitchFamily="34" charset="-120"/>
              </a:rPr>
              <a:t>API Python pour Spark</a:t>
            </a:r>
            <a:endParaRPr lang="en-US" sz="1050" dirty="0"/>
          </a:p>
        </p:txBody>
      </p:sp>
      <p:sp>
        <p:nvSpPr>
          <p:cNvPr id="18" name="Text 16"/>
          <p:cNvSpPr/>
          <p:nvPr/>
        </p:nvSpPr>
        <p:spPr>
          <a:xfrm>
            <a:off x="4892040" y="3288008"/>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Databricks</a:t>
            </a:r>
            <a:endParaRPr lang="en-US" sz="1300" dirty="0"/>
          </a:p>
        </p:txBody>
      </p:sp>
      <p:sp>
        <p:nvSpPr>
          <p:cNvPr id="19" name="Text 17"/>
          <p:cNvSpPr/>
          <p:nvPr/>
        </p:nvSpPr>
        <p:spPr>
          <a:xfrm>
            <a:off x="4892040" y="3569253"/>
            <a:ext cx="3657600" cy="256032"/>
          </a:xfrm>
          <a:prstGeom prst="rect">
            <a:avLst/>
          </a:prstGeom>
          <a:noFill/>
          <a:ln/>
        </p:spPr>
        <p:txBody>
          <a:bodyPr wrap="square" lIns="0" tIns="0" rIns="0" bIns="0" rtlCol="0" anchor="ctr"/>
          <a:lstStyle/>
          <a:p>
            <a:r>
              <a:rPr lang="en-US" sz="1050" dirty="0">
                <a:solidFill>
                  <a:srgbClr val="9AA3B2"/>
                </a:solidFill>
                <a:latin typeface="Arial"/>
                <a:ea typeface="Arial" pitchFamily="34" charset="-122"/>
                <a:cs typeface="Arial"/>
              </a:rPr>
              <a:t>Notebooks et </a:t>
            </a:r>
            <a:r>
              <a:rPr lang="en-US" sz="1050" dirty="0" err="1">
                <a:solidFill>
                  <a:srgbClr val="9AA3B2"/>
                </a:solidFill>
                <a:latin typeface="Arial"/>
                <a:ea typeface="Arial" pitchFamily="34" charset="-122"/>
                <a:cs typeface="Arial"/>
              </a:rPr>
              <a:t>Visualisations</a:t>
            </a:r>
            <a:endParaRPr lang="en-US" sz="1050" dirty="0" err="1">
              <a:latin typeface="Arial"/>
              <a:cs typeface="Arial"/>
            </a:endParaRPr>
          </a:p>
        </p:txBody>
      </p:sp>
      <p:sp>
        <p:nvSpPr>
          <p:cNvPr id="20" name="Text 18"/>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900" dirty="0">
                <a:solidFill>
                  <a:srgbClr val="9AA3B2"/>
                </a:solidFill>
                <a:latin typeface="Arial" pitchFamily="34" charset="0"/>
                <a:ea typeface="Arial" pitchFamily="34" charset="-122"/>
                <a:cs typeface="Arial" pitchFamily="34" charset="-120"/>
              </a:rPr>
              <a:t>Dataset : s3://full-stack-bigdata-datasets/Big_Data/Project_Steam/steam_game_output.json  |  55 690 jeux  |  JSON imbriqué</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56032"/>
            <a:ext cx="7772400" cy="274320"/>
          </a:xfrm>
          <a:prstGeom prst="rect">
            <a:avLst/>
          </a:prstGeom>
          <a:noFill/>
          <a:ln/>
        </p:spPr>
        <p:txBody>
          <a:bodyPr wrap="square" lIns="0" tIns="0" rIns="0" bIns="0" rtlCol="0" anchor="ctr"/>
          <a:lstStyle/>
          <a:p>
            <a:r>
              <a:rPr lang="en-US" sz="1100" b="1" kern="0" spc="300">
                <a:solidFill>
                  <a:srgbClr val="EF3E5C"/>
                </a:solidFill>
                <a:latin typeface="Arial"/>
                <a:ea typeface="Arial" pitchFamily="34" charset="-122"/>
                <a:cs typeface="Arial"/>
              </a:rPr>
              <a:t>A N A L Y S E   MARCHÉ</a:t>
            </a:r>
            <a:endParaRPr lang="en-US" sz="1100">
              <a:latin typeface="Arial"/>
              <a:ea typeface="Calibri"/>
              <a:cs typeface="Arial"/>
            </a:endParaRPr>
          </a:p>
        </p:txBody>
      </p:sp>
      <p:sp>
        <p:nvSpPr>
          <p:cNvPr id="3" name="Text 1"/>
          <p:cNvSpPr/>
          <p:nvPr/>
        </p:nvSpPr>
        <p:spPr>
          <a:xfrm>
            <a:off x="420624" y="502920"/>
            <a:ext cx="822960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Arial Black" pitchFamily="34" charset="0"/>
                <a:ea typeface="Arial Black" pitchFamily="34" charset="-122"/>
                <a:cs typeface="Arial Black" pitchFamily="34" charset="-120"/>
              </a:rPr>
              <a:t>Qui domine le marché ?</a:t>
            </a:r>
            <a:endParaRPr lang="en-US" sz="3400" dirty="0"/>
          </a:p>
        </p:txBody>
      </p:sp>
      <p:sp>
        <p:nvSpPr>
          <p:cNvPr id="4" name="Shape 2"/>
          <p:cNvSpPr/>
          <p:nvPr/>
        </p:nvSpPr>
        <p:spPr>
          <a:xfrm>
            <a:off x="493371" y="1219682"/>
            <a:ext cx="5120640" cy="3154680"/>
          </a:xfrm>
          <a:prstGeom prst="roundRect">
            <a:avLst>
              <a:gd name="adj" fmla="val 1739"/>
            </a:avLst>
          </a:prstGeom>
          <a:solidFill>
            <a:srgbClr val="16263F"/>
          </a:solidFill>
          <a:ln w="12700">
            <a:solidFill>
              <a:srgbClr val="24344F"/>
            </a:solidFill>
            <a:prstDash val="solid"/>
          </a:ln>
        </p:spPr>
      </p:sp>
      <p:sp>
        <p:nvSpPr>
          <p:cNvPr id="5" name="Shape 3"/>
          <p:cNvSpPr/>
          <p:nvPr/>
        </p:nvSpPr>
        <p:spPr>
          <a:xfrm>
            <a:off x="1965960" y="1554480"/>
            <a:ext cx="0" cy="2468880"/>
          </a:xfrm>
          <a:prstGeom prst="line">
            <a:avLst/>
          </a:prstGeom>
          <a:noFill/>
          <a:ln w="6350">
            <a:solidFill>
              <a:srgbClr val="2A3A55"/>
            </a:solidFill>
            <a:prstDash val="solid"/>
          </a:ln>
        </p:spPr>
      </p:sp>
      <p:sp>
        <p:nvSpPr>
          <p:cNvPr id="6" name="Text 4"/>
          <p:cNvSpPr/>
          <p:nvPr/>
        </p:nvSpPr>
        <p:spPr>
          <a:xfrm>
            <a:off x="160020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0</a:t>
            </a:r>
            <a:endParaRPr lang="en-US" sz="800" dirty="0"/>
          </a:p>
        </p:txBody>
      </p:sp>
      <p:sp>
        <p:nvSpPr>
          <p:cNvPr id="7" name="Shape 5"/>
          <p:cNvSpPr/>
          <p:nvPr/>
        </p:nvSpPr>
        <p:spPr>
          <a:xfrm>
            <a:off x="2587752" y="1554480"/>
            <a:ext cx="0" cy="2468880"/>
          </a:xfrm>
          <a:prstGeom prst="line">
            <a:avLst/>
          </a:prstGeom>
          <a:noFill/>
          <a:ln w="6350">
            <a:solidFill>
              <a:srgbClr val="2A3A55"/>
            </a:solidFill>
            <a:prstDash val="solid"/>
          </a:ln>
        </p:spPr>
      </p:sp>
      <p:sp>
        <p:nvSpPr>
          <p:cNvPr id="8" name="Text 6"/>
          <p:cNvSpPr/>
          <p:nvPr/>
        </p:nvSpPr>
        <p:spPr>
          <a:xfrm>
            <a:off x="2221992"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100</a:t>
            </a:r>
            <a:endParaRPr lang="en-US" sz="800" dirty="0"/>
          </a:p>
        </p:txBody>
      </p:sp>
      <p:sp>
        <p:nvSpPr>
          <p:cNvPr id="9" name="Shape 7"/>
          <p:cNvSpPr/>
          <p:nvPr/>
        </p:nvSpPr>
        <p:spPr>
          <a:xfrm>
            <a:off x="3209544" y="1554480"/>
            <a:ext cx="0" cy="2468880"/>
          </a:xfrm>
          <a:prstGeom prst="line">
            <a:avLst/>
          </a:prstGeom>
          <a:noFill/>
          <a:ln w="6350">
            <a:solidFill>
              <a:srgbClr val="2A3A55"/>
            </a:solidFill>
            <a:prstDash val="solid"/>
          </a:ln>
        </p:spPr>
      </p:sp>
      <p:sp>
        <p:nvSpPr>
          <p:cNvPr id="10" name="Text 8"/>
          <p:cNvSpPr/>
          <p:nvPr/>
        </p:nvSpPr>
        <p:spPr>
          <a:xfrm>
            <a:off x="2843784"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200</a:t>
            </a:r>
            <a:endParaRPr lang="en-US" sz="800" dirty="0"/>
          </a:p>
        </p:txBody>
      </p:sp>
      <p:sp>
        <p:nvSpPr>
          <p:cNvPr id="11" name="Shape 9"/>
          <p:cNvSpPr/>
          <p:nvPr/>
        </p:nvSpPr>
        <p:spPr>
          <a:xfrm>
            <a:off x="3831336" y="1554480"/>
            <a:ext cx="0" cy="2468880"/>
          </a:xfrm>
          <a:prstGeom prst="line">
            <a:avLst/>
          </a:prstGeom>
          <a:noFill/>
          <a:ln w="6350">
            <a:solidFill>
              <a:srgbClr val="2A3A55"/>
            </a:solidFill>
            <a:prstDash val="solid"/>
          </a:ln>
        </p:spPr>
      </p:sp>
      <p:sp>
        <p:nvSpPr>
          <p:cNvPr id="12" name="Text 10"/>
          <p:cNvSpPr/>
          <p:nvPr/>
        </p:nvSpPr>
        <p:spPr>
          <a:xfrm>
            <a:off x="3465576"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300</a:t>
            </a:r>
            <a:endParaRPr lang="en-US" sz="800" dirty="0"/>
          </a:p>
        </p:txBody>
      </p:sp>
      <p:sp>
        <p:nvSpPr>
          <p:cNvPr id="13" name="Shape 11"/>
          <p:cNvSpPr/>
          <p:nvPr/>
        </p:nvSpPr>
        <p:spPr>
          <a:xfrm>
            <a:off x="4453128" y="1554480"/>
            <a:ext cx="0" cy="2468880"/>
          </a:xfrm>
          <a:prstGeom prst="line">
            <a:avLst/>
          </a:prstGeom>
          <a:noFill/>
          <a:ln w="6350">
            <a:solidFill>
              <a:srgbClr val="2A3A55"/>
            </a:solidFill>
            <a:prstDash val="solid"/>
          </a:ln>
        </p:spPr>
      </p:sp>
      <p:sp>
        <p:nvSpPr>
          <p:cNvPr id="14" name="Text 12"/>
          <p:cNvSpPr/>
          <p:nvPr/>
        </p:nvSpPr>
        <p:spPr>
          <a:xfrm>
            <a:off x="4087368"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400</a:t>
            </a:r>
            <a:endParaRPr lang="en-US" sz="800" dirty="0"/>
          </a:p>
        </p:txBody>
      </p:sp>
      <p:sp>
        <p:nvSpPr>
          <p:cNvPr id="15" name="Shape 13"/>
          <p:cNvSpPr/>
          <p:nvPr/>
        </p:nvSpPr>
        <p:spPr>
          <a:xfrm>
            <a:off x="5074920" y="1554480"/>
            <a:ext cx="0" cy="2468880"/>
          </a:xfrm>
          <a:prstGeom prst="line">
            <a:avLst/>
          </a:prstGeom>
          <a:noFill/>
          <a:ln w="6350">
            <a:solidFill>
              <a:srgbClr val="2A3A55"/>
            </a:solidFill>
            <a:prstDash val="solid"/>
          </a:ln>
        </p:spPr>
      </p:sp>
      <p:sp>
        <p:nvSpPr>
          <p:cNvPr id="16" name="Text 14"/>
          <p:cNvSpPr/>
          <p:nvPr/>
        </p:nvSpPr>
        <p:spPr>
          <a:xfrm>
            <a:off x="470916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500</a:t>
            </a:r>
            <a:endParaRPr lang="en-US" sz="800" dirty="0"/>
          </a:p>
        </p:txBody>
      </p:sp>
      <p:sp>
        <p:nvSpPr>
          <p:cNvPr id="17" name="Text 15"/>
          <p:cNvSpPr/>
          <p:nvPr/>
        </p:nvSpPr>
        <p:spPr>
          <a:xfrm>
            <a:off x="548640" y="1614145"/>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Laush Studio</a:t>
            </a:r>
            <a:endParaRPr lang="en-US" sz="1050" dirty="0"/>
          </a:p>
        </p:txBody>
      </p:sp>
      <p:sp>
        <p:nvSpPr>
          <p:cNvPr id="18" name="Shape 16"/>
          <p:cNvSpPr/>
          <p:nvPr/>
        </p:nvSpPr>
        <p:spPr>
          <a:xfrm>
            <a:off x="1965960" y="1659865"/>
            <a:ext cx="783458" cy="145847"/>
          </a:xfrm>
          <a:prstGeom prst="rect">
            <a:avLst/>
          </a:prstGeom>
          <a:solidFill>
            <a:srgbClr val="29A9E0"/>
          </a:solidFill>
          <a:ln/>
        </p:spPr>
      </p:sp>
      <p:sp>
        <p:nvSpPr>
          <p:cNvPr id="19" name="Text 17"/>
          <p:cNvSpPr/>
          <p:nvPr/>
        </p:nvSpPr>
        <p:spPr>
          <a:xfrm>
            <a:off x="2813426" y="1614145"/>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126</a:t>
            </a:r>
            <a:endParaRPr lang="en-US" sz="950" dirty="0"/>
          </a:p>
        </p:txBody>
      </p:sp>
      <p:sp>
        <p:nvSpPr>
          <p:cNvPr id="20" name="Text 18"/>
          <p:cNvSpPr/>
          <p:nvPr/>
        </p:nvSpPr>
        <p:spPr>
          <a:xfrm>
            <a:off x="548640" y="1879321"/>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Ubisoft</a:t>
            </a:r>
            <a:endParaRPr lang="en-US" sz="1050" dirty="0"/>
          </a:p>
        </p:txBody>
      </p:sp>
      <p:sp>
        <p:nvSpPr>
          <p:cNvPr id="21" name="Shape 19"/>
          <p:cNvSpPr/>
          <p:nvPr/>
        </p:nvSpPr>
        <p:spPr>
          <a:xfrm>
            <a:off x="1965960" y="1925041"/>
            <a:ext cx="789676" cy="145847"/>
          </a:xfrm>
          <a:prstGeom prst="rect">
            <a:avLst/>
          </a:prstGeom>
          <a:solidFill>
            <a:srgbClr val="F2C719"/>
          </a:solidFill>
          <a:ln/>
        </p:spPr>
      </p:sp>
      <p:sp>
        <p:nvSpPr>
          <p:cNvPr id="22" name="Text 20"/>
          <p:cNvSpPr/>
          <p:nvPr/>
        </p:nvSpPr>
        <p:spPr>
          <a:xfrm>
            <a:off x="2819644" y="1879321"/>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127</a:t>
            </a:r>
            <a:endParaRPr lang="en-US" sz="950" dirty="0"/>
          </a:p>
        </p:txBody>
      </p:sp>
      <p:sp>
        <p:nvSpPr>
          <p:cNvPr id="23" name="Text 21"/>
          <p:cNvSpPr/>
          <p:nvPr/>
        </p:nvSpPr>
        <p:spPr>
          <a:xfrm>
            <a:off x="548640" y="2144497"/>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Sekai Project</a:t>
            </a:r>
            <a:endParaRPr lang="en-US" sz="1050" dirty="0"/>
          </a:p>
        </p:txBody>
      </p:sp>
      <p:sp>
        <p:nvSpPr>
          <p:cNvPr id="24" name="Shape 22"/>
          <p:cNvSpPr/>
          <p:nvPr/>
        </p:nvSpPr>
        <p:spPr>
          <a:xfrm>
            <a:off x="1965960" y="2190217"/>
            <a:ext cx="820765" cy="145847"/>
          </a:xfrm>
          <a:prstGeom prst="rect">
            <a:avLst/>
          </a:prstGeom>
          <a:solidFill>
            <a:srgbClr val="29A9E0"/>
          </a:solidFill>
          <a:ln/>
        </p:spPr>
      </p:sp>
      <p:sp>
        <p:nvSpPr>
          <p:cNvPr id="25" name="Text 23"/>
          <p:cNvSpPr/>
          <p:nvPr/>
        </p:nvSpPr>
        <p:spPr>
          <a:xfrm>
            <a:off x="2850733" y="2144497"/>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132</a:t>
            </a:r>
            <a:endParaRPr lang="en-US" sz="950" dirty="0"/>
          </a:p>
        </p:txBody>
      </p:sp>
      <p:sp>
        <p:nvSpPr>
          <p:cNvPr id="26" name="Text 24"/>
          <p:cNvSpPr/>
          <p:nvPr/>
        </p:nvSpPr>
        <p:spPr>
          <a:xfrm>
            <a:off x="548640" y="2409673"/>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HH-Games</a:t>
            </a:r>
            <a:endParaRPr lang="en-US" sz="1050" dirty="0"/>
          </a:p>
        </p:txBody>
      </p:sp>
      <p:sp>
        <p:nvSpPr>
          <p:cNvPr id="27" name="Shape 25"/>
          <p:cNvSpPr/>
          <p:nvPr/>
        </p:nvSpPr>
        <p:spPr>
          <a:xfrm>
            <a:off x="1965960" y="2455393"/>
            <a:ext cx="820765" cy="145847"/>
          </a:xfrm>
          <a:prstGeom prst="rect">
            <a:avLst/>
          </a:prstGeom>
          <a:solidFill>
            <a:srgbClr val="29A9E0"/>
          </a:solidFill>
          <a:ln/>
        </p:spPr>
      </p:sp>
      <p:sp>
        <p:nvSpPr>
          <p:cNvPr id="28" name="Text 26"/>
          <p:cNvSpPr/>
          <p:nvPr/>
        </p:nvSpPr>
        <p:spPr>
          <a:xfrm>
            <a:off x="2850733" y="2409673"/>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132</a:t>
            </a:r>
            <a:endParaRPr lang="en-US" sz="950" dirty="0"/>
          </a:p>
        </p:txBody>
      </p:sp>
      <p:sp>
        <p:nvSpPr>
          <p:cNvPr id="29" name="Text 27"/>
          <p:cNvSpPr/>
          <p:nvPr/>
        </p:nvSpPr>
        <p:spPr>
          <a:xfrm>
            <a:off x="548640" y="2674849"/>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Choice of Games</a:t>
            </a:r>
            <a:endParaRPr lang="en-US" sz="1050" dirty="0"/>
          </a:p>
        </p:txBody>
      </p:sp>
      <p:sp>
        <p:nvSpPr>
          <p:cNvPr id="30" name="Shape 28"/>
          <p:cNvSpPr/>
          <p:nvPr/>
        </p:nvSpPr>
        <p:spPr>
          <a:xfrm>
            <a:off x="1965960" y="2720569"/>
            <a:ext cx="870509" cy="145847"/>
          </a:xfrm>
          <a:prstGeom prst="rect">
            <a:avLst/>
          </a:prstGeom>
          <a:solidFill>
            <a:srgbClr val="29A9E0"/>
          </a:solidFill>
          <a:ln/>
        </p:spPr>
      </p:sp>
      <p:sp>
        <p:nvSpPr>
          <p:cNvPr id="31" name="Text 29"/>
          <p:cNvSpPr/>
          <p:nvPr/>
        </p:nvSpPr>
        <p:spPr>
          <a:xfrm>
            <a:off x="2900477" y="2674849"/>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140</a:t>
            </a:r>
            <a:endParaRPr lang="en-US" sz="950" dirty="0"/>
          </a:p>
        </p:txBody>
      </p:sp>
      <p:sp>
        <p:nvSpPr>
          <p:cNvPr id="32" name="Text 30"/>
          <p:cNvSpPr/>
          <p:nvPr/>
        </p:nvSpPr>
        <p:spPr>
          <a:xfrm>
            <a:off x="548640" y="2940025"/>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Square Enix</a:t>
            </a:r>
            <a:endParaRPr lang="en-US" sz="1050" dirty="0"/>
          </a:p>
        </p:txBody>
      </p:sp>
      <p:sp>
        <p:nvSpPr>
          <p:cNvPr id="33" name="Shape 31"/>
          <p:cNvSpPr/>
          <p:nvPr/>
        </p:nvSpPr>
        <p:spPr>
          <a:xfrm>
            <a:off x="1965960" y="2985745"/>
            <a:ext cx="876727" cy="145847"/>
          </a:xfrm>
          <a:prstGeom prst="rect">
            <a:avLst/>
          </a:prstGeom>
          <a:solidFill>
            <a:srgbClr val="29A9E0"/>
          </a:solidFill>
          <a:ln/>
        </p:spPr>
      </p:sp>
      <p:sp>
        <p:nvSpPr>
          <p:cNvPr id="34" name="Text 32"/>
          <p:cNvSpPr/>
          <p:nvPr/>
        </p:nvSpPr>
        <p:spPr>
          <a:xfrm>
            <a:off x="2906695" y="2940025"/>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141</a:t>
            </a:r>
            <a:endParaRPr lang="en-US" sz="950" dirty="0"/>
          </a:p>
        </p:txBody>
      </p:sp>
      <p:sp>
        <p:nvSpPr>
          <p:cNvPr id="35" name="Text 33"/>
          <p:cNvSpPr/>
          <p:nvPr/>
        </p:nvSpPr>
        <p:spPr>
          <a:xfrm>
            <a:off x="548640" y="3205201"/>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Strategy First</a:t>
            </a:r>
            <a:endParaRPr lang="en-US" sz="1050" dirty="0"/>
          </a:p>
        </p:txBody>
      </p:sp>
      <p:sp>
        <p:nvSpPr>
          <p:cNvPr id="36" name="Shape 34"/>
          <p:cNvSpPr/>
          <p:nvPr/>
        </p:nvSpPr>
        <p:spPr>
          <a:xfrm>
            <a:off x="1965960" y="3250921"/>
            <a:ext cx="938906" cy="145847"/>
          </a:xfrm>
          <a:prstGeom prst="rect">
            <a:avLst/>
          </a:prstGeom>
          <a:solidFill>
            <a:srgbClr val="29A9E0"/>
          </a:solidFill>
          <a:ln/>
        </p:spPr>
      </p:sp>
      <p:sp>
        <p:nvSpPr>
          <p:cNvPr id="37" name="Text 35"/>
          <p:cNvSpPr/>
          <p:nvPr/>
        </p:nvSpPr>
        <p:spPr>
          <a:xfrm>
            <a:off x="2968874" y="3205201"/>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151</a:t>
            </a:r>
            <a:endParaRPr lang="en-US" sz="950" dirty="0"/>
          </a:p>
        </p:txBody>
      </p:sp>
      <p:sp>
        <p:nvSpPr>
          <p:cNvPr id="38" name="Text 36"/>
          <p:cNvSpPr/>
          <p:nvPr/>
        </p:nvSpPr>
        <p:spPr>
          <a:xfrm>
            <a:off x="548640" y="3470377"/>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SEGA</a:t>
            </a:r>
            <a:endParaRPr lang="en-US" sz="1050" dirty="0"/>
          </a:p>
        </p:txBody>
      </p:sp>
      <p:sp>
        <p:nvSpPr>
          <p:cNvPr id="39" name="Shape 37"/>
          <p:cNvSpPr/>
          <p:nvPr/>
        </p:nvSpPr>
        <p:spPr>
          <a:xfrm>
            <a:off x="1965960" y="3516097"/>
            <a:ext cx="1025957" cy="145847"/>
          </a:xfrm>
          <a:prstGeom prst="rect">
            <a:avLst/>
          </a:prstGeom>
          <a:solidFill>
            <a:srgbClr val="29A9E0"/>
          </a:solidFill>
          <a:ln/>
        </p:spPr>
      </p:sp>
      <p:sp>
        <p:nvSpPr>
          <p:cNvPr id="40" name="Text 38"/>
          <p:cNvSpPr/>
          <p:nvPr/>
        </p:nvSpPr>
        <p:spPr>
          <a:xfrm>
            <a:off x="3055925" y="3470377"/>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165</a:t>
            </a:r>
            <a:endParaRPr lang="en-US" sz="950" dirty="0"/>
          </a:p>
        </p:txBody>
      </p:sp>
      <p:sp>
        <p:nvSpPr>
          <p:cNvPr id="41" name="Text 39"/>
          <p:cNvSpPr/>
          <p:nvPr/>
        </p:nvSpPr>
        <p:spPr>
          <a:xfrm>
            <a:off x="548640" y="3735553"/>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8floor</a:t>
            </a:r>
            <a:endParaRPr lang="en-US" sz="1050" dirty="0"/>
          </a:p>
        </p:txBody>
      </p:sp>
      <p:sp>
        <p:nvSpPr>
          <p:cNvPr id="42" name="Shape 40"/>
          <p:cNvSpPr/>
          <p:nvPr/>
        </p:nvSpPr>
        <p:spPr>
          <a:xfrm>
            <a:off x="1965960" y="3781273"/>
            <a:ext cx="1256020" cy="145847"/>
          </a:xfrm>
          <a:prstGeom prst="rect">
            <a:avLst/>
          </a:prstGeom>
          <a:solidFill>
            <a:srgbClr val="29A9E0"/>
          </a:solidFill>
          <a:ln/>
        </p:spPr>
      </p:sp>
      <p:sp>
        <p:nvSpPr>
          <p:cNvPr id="43" name="Text 41"/>
          <p:cNvSpPr/>
          <p:nvPr/>
        </p:nvSpPr>
        <p:spPr>
          <a:xfrm>
            <a:off x="3285988" y="3735553"/>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202</a:t>
            </a:r>
            <a:endParaRPr lang="en-US" sz="950" dirty="0"/>
          </a:p>
        </p:txBody>
      </p:sp>
      <p:sp>
        <p:nvSpPr>
          <p:cNvPr id="44" name="Text 42"/>
          <p:cNvSpPr/>
          <p:nvPr/>
        </p:nvSpPr>
        <p:spPr>
          <a:xfrm>
            <a:off x="548640" y="4000729"/>
            <a:ext cx="1371600" cy="237287"/>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Big Fish Games</a:t>
            </a:r>
            <a:endParaRPr lang="en-US" sz="1050" dirty="0"/>
          </a:p>
        </p:txBody>
      </p:sp>
      <p:sp>
        <p:nvSpPr>
          <p:cNvPr id="45" name="Shape 43"/>
          <p:cNvSpPr/>
          <p:nvPr/>
        </p:nvSpPr>
        <p:spPr>
          <a:xfrm>
            <a:off x="1965960" y="4046449"/>
            <a:ext cx="2623962" cy="145847"/>
          </a:xfrm>
          <a:prstGeom prst="rect">
            <a:avLst/>
          </a:prstGeom>
          <a:solidFill>
            <a:srgbClr val="EF3E5C"/>
          </a:solidFill>
          <a:ln/>
        </p:spPr>
      </p:sp>
      <p:sp>
        <p:nvSpPr>
          <p:cNvPr id="46" name="Text 44"/>
          <p:cNvSpPr/>
          <p:nvPr/>
        </p:nvSpPr>
        <p:spPr>
          <a:xfrm>
            <a:off x="4653930" y="4000729"/>
            <a:ext cx="914400" cy="237287"/>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422</a:t>
            </a:r>
            <a:endParaRPr lang="en-US" sz="950" dirty="0"/>
          </a:p>
        </p:txBody>
      </p:sp>
      <p:sp>
        <p:nvSpPr>
          <p:cNvPr id="47" name="Shape 45"/>
          <p:cNvSpPr/>
          <p:nvPr/>
        </p:nvSpPr>
        <p:spPr>
          <a:xfrm>
            <a:off x="5813674" y="1241385"/>
            <a:ext cx="2880360" cy="1371600"/>
          </a:xfrm>
          <a:prstGeom prst="roundRect">
            <a:avLst>
              <a:gd name="adj" fmla="val 3333"/>
            </a:avLst>
          </a:prstGeom>
          <a:solidFill>
            <a:srgbClr val="14243C"/>
          </a:solidFill>
          <a:ln w="19050">
            <a:solidFill>
              <a:srgbClr val="EF3E5C"/>
            </a:solidFill>
            <a:prstDash val="solid"/>
          </a:ln>
        </p:spPr>
      </p:sp>
      <p:sp>
        <p:nvSpPr>
          <p:cNvPr id="48" name="Text 46"/>
          <p:cNvSpPr/>
          <p:nvPr/>
        </p:nvSpPr>
        <p:spPr>
          <a:xfrm>
            <a:off x="5971032" y="1490472"/>
            <a:ext cx="2551176" cy="256032"/>
          </a:xfrm>
          <a:prstGeom prst="rect">
            <a:avLst/>
          </a:prstGeom>
          <a:noFill/>
          <a:ln/>
        </p:spPr>
        <p:txBody>
          <a:bodyPr wrap="square" lIns="0" tIns="0" rIns="0" bIns="0" rtlCol="0" anchor="ctr"/>
          <a:lstStyle/>
          <a:p>
            <a:pPr marL="0" indent="0">
              <a:buNone/>
            </a:pPr>
            <a:r>
              <a:rPr lang="en-US" sz="1200" b="1" dirty="0">
                <a:solidFill>
                  <a:srgbClr val="EF3E5C"/>
                </a:solidFill>
                <a:latin typeface="Arial" pitchFamily="34" charset="0"/>
                <a:ea typeface="Arial" pitchFamily="34" charset="-122"/>
                <a:cs typeface="Arial" pitchFamily="34" charset="-120"/>
              </a:rPr>
              <a:t>Numéro 1</a:t>
            </a:r>
            <a:endParaRPr lang="en-US" sz="1200" dirty="0"/>
          </a:p>
        </p:txBody>
      </p:sp>
      <p:sp>
        <p:nvSpPr>
          <p:cNvPr id="49" name="Text 47"/>
          <p:cNvSpPr/>
          <p:nvPr/>
        </p:nvSpPr>
        <p:spPr>
          <a:xfrm>
            <a:off x="5971032" y="1773936"/>
            <a:ext cx="2551176"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Big Fish Games</a:t>
            </a:r>
            <a:endParaRPr lang="en-US" sz="1600" dirty="0"/>
          </a:p>
        </p:txBody>
      </p:sp>
      <p:sp>
        <p:nvSpPr>
          <p:cNvPr id="50" name="Text 48"/>
          <p:cNvSpPr/>
          <p:nvPr/>
        </p:nvSpPr>
        <p:spPr>
          <a:xfrm>
            <a:off x="5971032" y="2139696"/>
            <a:ext cx="255117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422 jeux</a:t>
            </a:r>
            <a:endParaRPr lang="en-US" sz="900" dirty="0"/>
          </a:p>
        </p:txBody>
      </p:sp>
      <p:sp>
        <p:nvSpPr>
          <p:cNvPr id="51" name="Shape 49"/>
          <p:cNvSpPr/>
          <p:nvPr/>
        </p:nvSpPr>
        <p:spPr>
          <a:xfrm>
            <a:off x="5813674" y="2745226"/>
            <a:ext cx="2880360" cy="1371600"/>
          </a:xfrm>
          <a:prstGeom prst="roundRect">
            <a:avLst>
              <a:gd name="adj" fmla="val 3333"/>
            </a:avLst>
          </a:prstGeom>
          <a:solidFill>
            <a:srgbClr val="14243C"/>
          </a:solidFill>
          <a:ln w="19050">
            <a:solidFill>
              <a:srgbClr val="F2C719"/>
            </a:solidFill>
            <a:prstDash val="solid"/>
          </a:ln>
        </p:spPr>
      </p:sp>
      <p:sp>
        <p:nvSpPr>
          <p:cNvPr id="52" name="Text 50"/>
          <p:cNvSpPr/>
          <p:nvPr/>
        </p:nvSpPr>
        <p:spPr>
          <a:xfrm>
            <a:off x="5971032" y="3044952"/>
            <a:ext cx="2551176" cy="256032"/>
          </a:xfrm>
          <a:prstGeom prst="rect">
            <a:avLst/>
          </a:prstGeom>
          <a:noFill/>
          <a:ln/>
        </p:spPr>
        <p:txBody>
          <a:bodyPr wrap="square" lIns="0" tIns="0" rIns="0" bIns="0" rtlCol="0" anchor="ctr"/>
          <a:lstStyle/>
          <a:p>
            <a:pPr marL="0" indent="0">
              <a:buNone/>
            </a:pPr>
            <a:r>
              <a:rPr lang="en-US" sz="1200" b="1" dirty="0">
                <a:solidFill>
                  <a:srgbClr val="F2C719"/>
                </a:solidFill>
                <a:latin typeface="Arial" pitchFamily="34" charset="0"/>
                <a:ea typeface="Arial" pitchFamily="34" charset="-122"/>
                <a:cs typeface="Arial" pitchFamily="34" charset="-120"/>
              </a:rPr>
              <a:t>Ubisoft</a:t>
            </a:r>
            <a:endParaRPr lang="en-US" sz="1200" dirty="0"/>
          </a:p>
        </p:txBody>
      </p:sp>
      <p:sp>
        <p:nvSpPr>
          <p:cNvPr id="53" name="Text 51"/>
          <p:cNvSpPr/>
          <p:nvPr/>
        </p:nvSpPr>
        <p:spPr>
          <a:xfrm>
            <a:off x="5971032" y="3328416"/>
            <a:ext cx="2551176"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9ème éditeur</a:t>
            </a:r>
            <a:endParaRPr lang="en-US" sz="1600" dirty="0"/>
          </a:p>
        </p:txBody>
      </p:sp>
      <p:sp>
        <p:nvSpPr>
          <p:cNvPr id="54" name="Text 52"/>
          <p:cNvSpPr/>
          <p:nvPr/>
        </p:nvSpPr>
        <p:spPr>
          <a:xfrm>
            <a:off x="5971032" y="3694176"/>
            <a:ext cx="255117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127 jeux</a:t>
            </a:r>
            <a:endParaRPr lang="en-US" sz="900" dirty="0"/>
          </a:p>
        </p:txBody>
      </p:sp>
      <p:sp>
        <p:nvSpPr>
          <p:cNvPr id="55" name="Text 53"/>
          <p:cNvSpPr/>
          <p:nvPr/>
        </p:nvSpPr>
        <p:spPr>
          <a:xfrm>
            <a:off x="471668" y="4599143"/>
            <a:ext cx="8229600" cy="320040"/>
          </a:xfrm>
          <a:prstGeom prst="rect">
            <a:avLst/>
          </a:prstGeom>
          <a:noFill/>
          <a:ln/>
        </p:spPr>
        <p:txBody>
          <a:bodyPr wrap="square" lIns="0" tIns="0" rIns="0" bIns="0" rtlCol="0" anchor="ctr"/>
          <a:lstStyle/>
          <a:p>
            <a:pPr marL="0" indent="0" algn="l">
              <a:buNone/>
            </a:pPr>
            <a:r>
              <a:rPr lang="en-US" sz="1200" i="1" dirty="0">
                <a:solidFill>
                  <a:srgbClr val="29A9E0"/>
                </a:solidFill>
                <a:latin typeface="Arial"/>
                <a:ea typeface="Arial" pitchFamily="34" charset="-122"/>
                <a:cs typeface="Arial"/>
              </a:rPr>
              <a:t>Insight : </a:t>
            </a:r>
            <a:r>
              <a:rPr lang="en-US" sz="1200" i="1" dirty="0" err="1">
                <a:solidFill>
                  <a:srgbClr val="29A9E0"/>
                </a:solidFill>
                <a:latin typeface="Arial"/>
                <a:ea typeface="Arial" pitchFamily="34" charset="-122"/>
                <a:cs typeface="Arial"/>
              </a:rPr>
              <a:t>marché</a:t>
            </a:r>
            <a:r>
              <a:rPr lang="en-US" sz="1200" i="1" dirty="0">
                <a:solidFill>
                  <a:srgbClr val="29A9E0"/>
                </a:solidFill>
                <a:latin typeface="Arial"/>
                <a:ea typeface="Arial" pitchFamily="34" charset="-122"/>
                <a:cs typeface="Arial"/>
              </a:rPr>
              <a:t> très </a:t>
            </a:r>
            <a:r>
              <a:rPr lang="en-US" sz="1200" i="1" dirty="0" err="1">
                <a:solidFill>
                  <a:srgbClr val="29A9E0"/>
                </a:solidFill>
                <a:latin typeface="Arial"/>
                <a:ea typeface="Arial" pitchFamily="34" charset="-122"/>
                <a:cs typeface="Arial"/>
              </a:rPr>
              <a:t>fragmenté</a:t>
            </a:r>
            <a:r>
              <a:rPr lang="en-US" sz="1200" i="1" dirty="0">
                <a:solidFill>
                  <a:srgbClr val="29A9E0"/>
                </a:solidFill>
                <a:latin typeface="Arial"/>
                <a:ea typeface="Arial" pitchFamily="34" charset="-122"/>
                <a:cs typeface="Arial"/>
              </a:rPr>
              <a:t>. </a:t>
            </a:r>
            <a:r>
              <a:rPr lang="en-US" sz="1200" i="1" dirty="0" err="1">
                <a:solidFill>
                  <a:srgbClr val="29A9E0"/>
                </a:solidFill>
                <a:latin typeface="Arial"/>
                <a:ea typeface="Arial" pitchFamily="34" charset="-122"/>
                <a:cs typeface="Arial"/>
              </a:rPr>
              <a:t>Aucun</a:t>
            </a:r>
            <a:r>
              <a:rPr lang="en-US" sz="1200" i="1" dirty="0">
                <a:solidFill>
                  <a:srgbClr val="29A9E0"/>
                </a:solidFill>
                <a:latin typeface="Arial"/>
                <a:ea typeface="Arial" pitchFamily="34" charset="-122"/>
                <a:cs typeface="Arial"/>
              </a:rPr>
              <a:t> </a:t>
            </a:r>
            <a:r>
              <a:rPr lang="en-US" sz="1200" i="1" dirty="0" err="1">
                <a:solidFill>
                  <a:srgbClr val="29A9E0"/>
                </a:solidFill>
                <a:latin typeface="Arial"/>
                <a:ea typeface="Arial" pitchFamily="34" charset="-122"/>
                <a:cs typeface="Arial"/>
              </a:rPr>
              <a:t>éditeur</a:t>
            </a:r>
            <a:r>
              <a:rPr lang="en-US" sz="1200" i="1" dirty="0">
                <a:solidFill>
                  <a:srgbClr val="29A9E0"/>
                </a:solidFill>
                <a:latin typeface="Arial"/>
                <a:ea typeface="Arial" pitchFamily="34" charset="-122"/>
                <a:cs typeface="Arial"/>
              </a:rPr>
              <a:t> ne domine </a:t>
            </a:r>
            <a:r>
              <a:rPr lang="en-US" sz="1200" i="1" dirty="0" err="1">
                <a:solidFill>
                  <a:srgbClr val="29A9E0"/>
                </a:solidFill>
                <a:latin typeface="Arial"/>
                <a:ea typeface="Arial" pitchFamily="34" charset="-122"/>
                <a:cs typeface="Arial"/>
              </a:rPr>
              <a:t>massivement</a:t>
            </a:r>
            <a:r>
              <a:rPr lang="en-US" sz="1200" i="1" dirty="0">
                <a:solidFill>
                  <a:srgbClr val="29A9E0"/>
                </a:solidFill>
                <a:latin typeface="Arial"/>
                <a:ea typeface="Arial" pitchFamily="34" charset="-122"/>
                <a:cs typeface="Arial"/>
              </a:rPr>
              <a:t>. </a:t>
            </a:r>
            <a:r>
              <a:rPr lang="en-US" sz="1200" i="1" dirty="0" err="1">
                <a:solidFill>
                  <a:srgbClr val="29A9E0"/>
                </a:solidFill>
                <a:latin typeface="Arial"/>
                <a:ea typeface="Arial" pitchFamily="34" charset="-122"/>
                <a:cs typeface="Arial"/>
              </a:rPr>
              <a:t>Opportunité</a:t>
            </a:r>
            <a:r>
              <a:rPr lang="en-US" sz="1200" i="1" dirty="0">
                <a:solidFill>
                  <a:srgbClr val="29A9E0"/>
                </a:solidFill>
                <a:latin typeface="Arial"/>
                <a:ea typeface="Arial" pitchFamily="34" charset="-122"/>
                <a:cs typeface="Arial"/>
              </a:rPr>
              <a:t> pour Ubisoft.</a:t>
            </a:r>
            <a:endParaRPr lang="en-US" sz="1200">
              <a:latin typeface="Arial"/>
              <a:ea typeface="Calibri"/>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56032"/>
            <a:ext cx="7772400" cy="274320"/>
          </a:xfrm>
          <a:prstGeom prst="rect">
            <a:avLst/>
          </a:prstGeom>
          <a:noFill/>
          <a:ln/>
        </p:spPr>
        <p:txBody>
          <a:bodyPr wrap="square" lIns="0" tIns="0" rIns="0" bIns="0" rtlCol="0" anchor="ctr"/>
          <a:lstStyle/>
          <a:p>
            <a:r>
              <a:rPr lang="en-US" sz="1100" b="1" kern="0" spc="300">
                <a:solidFill>
                  <a:srgbClr val="EF3E5C"/>
                </a:solidFill>
                <a:latin typeface="Arial"/>
                <a:ea typeface="Arial" pitchFamily="34" charset="-122"/>
                <a:cs typeface="Arial"/>
              </a:rPr>
              <a:t>A N A L Y S E   MARCHÉ   </a:t>
            </a:r>
            <a:endParaRPr lang="en-US" sz="1100">
              <a:latin typeface="Arial"/>
              <a:cs typeface="Arial"/>
            </a:endParaRPr>
          </a:p>
        </p:txBody>
      </p:sp>
      <p:sp>
        <p:nvSpPr>
          <p:cNvPr id="3" name="Text 1"/>
          <p:cNvSpPr/>
          <p:nvPr/>
        </p:nvSpPr>
        <p:spPr>
          <a:xfrm>
            <a:off x="420624" y="502920"/>
            <a:ext cx="822960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Arial Black" pitchFamily="34" charset="0"/>
                <a:ea typeface="Arial Black" pitchFamily="34" charset="-122"/>
                <a:cs typeface="Arial Black" pitchFamily="34" charset="-120"/>
              </a:rPr>
              <a:t>L'explosion du marché gaming</a:t>
            </a:r>
            <a:endParaRPr lang="en-US" sz="3400" dirty="0"/>
          </a:p>
        </p:txBody>
      </p:sp>
      <p:sp>
        <p:nvSpPr>
          <p:cNvPr id="58" name="Shape 56"/>
          <p:cNvSpPr/>
          <p:nvPr/>
        </p:nvSpPr>
        <p:spPr>
          <a:xfrm>
            <a:off x="6126480" y="1371600"/>
            <a:ext cx="2560320" cy="960120"/>
          </a:xfrm>
          <a:prstGeom prst="roundRect">
            <a:avLst>
              <a:gd name="adj" fmla="val 4762"/>
            </a:avLst>
          </a:prstGeom>
          <a:solidFill>
            <a:srgbClr val="14243C"/>
          </a:solidFill>
          <a:ln w="19050">
            <a:solidFill>
              <a:srgbClr val="29A9E0"/>
            </a:solidFill>
            <a:prstDash val="solid"/>
          </a:ln>
        </p:spPr>
      </p:sp>
      <p:sp>
        <p:nvSpPr>
          <p:cNvPr id="59" name="Text 57"/>
          <p:cNvSpPr/>
          <p:nvPr/>
        </p:nvSpPr>
        <p:spPr>
          <a:xfrm>
            <a:off x="6291072" y="1554480"/>
            <a:ext cx="2231136" cy="347472"/>
          </a:xfrm>
          <a:prstGeom prst="rect">
            <a:avLst/>
          </a:prstGeom>
          <a:noFill/>
          <a:ln/>
        </p:spPr>
        <p:txBody>
          <a:bodyPr wrap="square" lIns="0" tIns="0" rIns="0" bIns="0" rtlCol="0" anchor="ctr"/>
          <a:lstStyle/>
          <a:p>
            <a:pPr marL="0" indent="0">
              <a:buNone/>
            </a:pPr>
            <a:r>
              <a:rPr lang="en-US" sz="2000" b="1" dirty="0">
                <a:solidFill>
                  <a:srgbClr val="29A9E0"/>
                </a:solidFill>
                <a:latin typeface="Arial" pitchFamily="34" charset="0"/>
                <a:ea typeface="Arial" pitchFamily="34" charset="-122"/>
                <a:cs typeface="Arial" pitchFamily="34" charset="-120"/>
              </a:rPr>
              <a:t>2015</a:t>
            </a:r>
            <a:endParaRPr lang="en-US" sz="2000" dirty="0"/>
          </a:p>
        </p:txBody>
      </p:sp>
      <p:sp>
        <p:nvSpPr>
          <p:cNvPr id="60" name="Text 58"/>
          <p:cNvSpPr/>
          <p:nvPr/>
        </p:nvSpPr>
        <p:spPr>
          <a:xfrm>
            <a:off x="6291072" y="1920240"/>
            <a:ext cx="2231136" cy="310896"/>
          </a:xfrm>
          <a:prstGeom prst="rect">
            <a:avLst/>
          </a:prstGeom>
          <a:noFill/>
          <a:ln/>
        </p:spPr>
        <p:txBody>
          <a:bodyPr wrap="square" lIns="0" tIns="0" rIns="0" bIns="0" rtlCol="0" anchor="t"/>
          <a:lstStyle/>
          <a:p>
            <a:pPr marL="0" indent="0">
              <a:buNone/>
            </a:pPr>
            <a:r>
              <a:rPr lang="en-US" sz="900">
                <a:solidFill>
                  <a:srgbClr val="9AA3B2"/>
                </a:solidFill>
                <a:latin typeface="Arial"/>
                <a:ea typeface="Arial" pitchFamily="34" charset="-122"/>
                <a:cs typeface="Arial"/>
              </a:rPr>
              <a:t>2 575 jeux</a:t>
            </a:r>
            <a:endParaRPr lang="en-US" sz="900">
              <a:latin typeface="Arial"/>
              <a:cs typeface="Arial"/>
            </a:endParaRPr>
          </a:p>
        </p:txBody>
      </p:sp>
      <p:sp>
        <p:nvSpPr>
          <p:cNvPr id="61" name="Shape 59"/>
          <p:cNvSpPr/>
          <p:nvPr/>
        </p:nvSpPr>
        <p:spPr>
          <a:xfrm>
            <a:off x="6126480" y="2450592"/>
            <a:ext cx="2560320" cy="960120"/>
          </a:xfrm>
          <a:prstGeom prst="roundRect">
            <a:avLst>
              <a:gd name="adj" fmla="val 4762"/>
            </a:avLst>
          </a:prstGeom>
          <a:solidFill>
            <a:srgbClr val="14243C"/>
          </a:solidFill>
          <a:ln w="19050">
            <a:solidFill>
              <a:srgbClr val="F2C719"/>
            </a:solidFill>
            <a:prstDash val="solid"/>
          </a:ln>
        </p:spPr>
      </p:sp>
      <p:sp>
        <p:nvSpPr>
          <p:cNvPr id="62" name="Text 60"/>
          <p:cNvSpPr/>
          <p:nvPr/>
        </p:nvSpPr>
        <p:spPr>
          <a:xfrm>
            <a:off x="6291072" y="2633472"/>
            <a:ext cx="2231136" cy="347472"/>
          </a:xfrm>
          <a:prstGeom prst="rect">
            <a:avLst/>
          </a:prstGeom>
          <a:noFill/>
          <a:ln/>
        </p:spPr>
        <p:txBody>
          <a:bodyPr wrap="square" lIns="0" tIns="0" rIns="0" bIns="0" rtlCol="0" anchor="ctr"/>
          <a:lstStyle/>
          <a:p>
            <a:pPr marL="0" indent="0">
              <a:buNone/>
            </a:pPr>
            <a:r>
              <a:rPr lang="en-US" sz="2000" b="1" dirty="0">
                <a:solidFill>
                  <a:srgbClr val="F2C719"/>
                </a:solidFill>
                <a:latin typeface="Arial" pitchFamily="34" charset="0"/>
                <a:ea typeface="Arial" pitchFamily="34" charset="-122"/>
                <a:cs typeface="Arial" pitchFamily="34" charset="-120"/>
              </a:rPr>
              <a:t>2020</a:t>
            </a:r>
            <a:endParaRPr lang="en-US" sz="2000" dirty="0"/>
          </a:p>
        </p:txBody>
      </p:sp>
      <p:sp>
        <p:nvSpPr>
          <p:cNvPr id="63" name="Text 61"/>
          <p:cNvSpPr/>
          <p:nvPr/>
        </p:nvSpPr>
        <p:spPr>
          <a:xfrm>
            <a:off x="6291072" y="2999232"/>
            <a:ext cx="223113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8 305 jeux - COVID = boom</a:t>
            </a:r>
            <a:endParaRPr lang="en-US" sz="900" dirty="0"/>
          </a:p>
        </p:txBody>
      </p:sp>
      <p:sp>
        <p:nvSpPr>
          <p:cNvPr id="64" name="Shape 62"/>
          <p:cNvSpPr/>
          <p:nvPr/>
        </p:nvSpPr>
        <p:spPr>
          <a:xfrm>
            <a:off x="6126480" y="3529584"/>
            <a:ext cx="2560320" cy="960120"/>
          </a:xfrm>
          <a:prstGeom prst="roundRect">
            <a:avLst>
              <a:gd name="adj" fmla="val 4762"/>
            </a:avLst>
          </a:prstGeom>
          <a:solidFill>
            <a:srgbClr val="14243C"/>
          </a:solidFill>
          <a:ln w="19050">
            <a:solidFill>
              <a:srgbClr val="EF3E5C"/>
            </a:solidFill>
            <a:prstDash val="solid"/>
          </a:ln>
        </p:spPr>
      </p:sp>
      <p:sp>
        <p:nvSpPr>
          <p:cNvPr id="65" name="Text 63"/>
          <p:cNvSpPr/>
          <p:nvPr/>
        </p:nvSpPr>
        <p:spPr>
          <a:xfrm>
            <a:off x="6291072" y="3712464"/>
            <a:ext cx="2231136" cy="347472"/>
          </a:xfrm>
          <a:prstGeom prst="rect">
            <a:avLst/>
          </a:prstGeom>
          <a:noFill/>
          <a:ln/>
        </p:spPr>
        <p:txBody>
          <a:bodyPr wrap="square" lIns="0" tIns="0" rIns="0" bIns="0" rtlCol="0" anchor="ctr"/>
          <a:lstStyle/>
          <a:p>
            <a:pPr marL="0" indent="0">
              <a:buNone/>
            </a:pPr>
            <a:r>
              <a:rPr lang="en-US" sz="2000" b="1" dirty="0">
                <a:solidFill>
                  <a:srgbClr val="EF3E5C"/>
                </a:solidFill>
                <a:latin typeface="Arial" pitchFamily="34" charset="0"/>
                <a:ea typeface="Arial" pitchFamily="34" charset="-122"/>
                <a:cs typeface="Arial" pitchFamily="34" charset="-120"/>
              </a:rPr>
              <a:t>2021</a:t>
            </a:r>
            <a:endParaRPr lang="en-US" sz="2000" dirty="0"/>
          </a:p>
        </p:txBody>
      </p:sp>
      <p:sp>
        <p:nvSpPr>
          <p:cNvPr id="66" name="Text 64"/>
          <p:cNvSpPr/>
          <p:nvPr/>
        </p:nvSpPr>
        <p:spPr>
          <a:xfrm>
            <a:off x="6291072" y="4078224"/>
            <a:ext cx="223113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8 823 jeux - Record historique</a:t>
            </a:r>
            <a:endParaRPr lang="en-US" sz="900" dirty="0"/>
          </a:p>
        </p:txBody>
      </p:sp>
      <p:sp>
        <p:nvSpPr>
          <p:cNvPr id="67" name="Text 65"/>
          <p:cNvSpPr/>
          <p:nvPr/>
        </p:nvSpPr>
        <p:spPr>
          <a:xfrm>
            <a:off x="457200" y="4736592"/>
            <a:ext cx="8229600" cy="320040"/>
          </a:xfrm>
          <a:prstGeom prst="rect">
            <a:avLst/>
          </a:prstGeom>
          <a:noFill/>
          <a:ln/>
        </p:spPr>
        <p:txBody>
          <a:bodyPr wrap="square" lIns="0" tIns="0" rIns="0" bIns="0" rtlCol="0" anchor="ctr"/>
          <a:lstStyle/>
          <a:p>
            <a:pPr marL="0" indent="0" algn="l">
              <a:buNone/>
            </a:pPr>
            <a:r>
              <a:rPr lang="en-US" sz="1200" i="1" dirty="0">
                <a:solidFill>
                  <a:srgbClr val="29A9E0"/>
                </a:solidFill>
                <a:latin typeface="Arial"/>
                <a:ea typeface="Arial" pitchFamily="34" charset="-122"/>
                <a:cs typeface="Arial"/>
              </a:rPr>
              <a:t>Insight : la COVID </a:t>
            </a:r>
            <a:r>
              <a:rPr lang="en-US" sz="1200" i="1" dirty="0" err="1">
                <a:solidFill>
                  <a:srgbClr val="29A9E0"/>
                </a:solidFill>
                <a:latin typeface="Arial"/>
                <a:ea typeface="Arial" pitchFamily="34" charset="-122"/>
                <a:cs typeface="Arial"/>
              </a:rPr>
              <a:t>en</a:t>
            </a:r>
            <a:r>
              <a:rPr lang="en-US" sz="1200" i="1" dirty="0">
                <a:solidFill>
                  <a:srgbClr val="29A9E0"/>
                </a:solidFill>
                <a:latin typeface="Arial"/>
                <a:ea typeface="Arial" pitchFamily="34" charset="-122"/>
                <a:cs typeface="Arial"/>
              </a:rPr>
              <a:t> 2020 </a:t>
            </a:r>
            <a:r>
              <a:rPr lang="en-US" sz="1200" i="1" dirty="0" err="1">
                <a:solidFill>
                  <a:srgbClr val="29A9E0"/>
                </a:solidFill>
                <a:latin typeface="Arial"/>
                <a:ea typeface="Arial" pitchFamily="34" charset="-122"/>
                <a:cs typeface="Arial"/>
              </a:rPr>
              <a:t>n'a</a:t>
            </a:r>
            <a:r>
              <a:rPr lang="en-US" sz="1200" i="1" dirty="0">
                <a:solidFill>
                  <a:srgbClr val="29A9E0"/>
                </a:solidFill>
                <a:latin typeface="Arial"/>
                <a:ea typeface="Arial" pitchFamily="34" charset="-122"/>
                <a:cs typeface="Arial"/>
              </a:rPr>
              <a:t> pas </a:t>
            </a:r>
            <a:r>
              <a:rPr lang="en-US" sz="1200" i="1" dirty="0" err="1">
                <a:solidFill>
                  <a:srgbClr val="29A9E0"/>
                </a:solidFill>
                <a:latin typeface="Arial"/>
                <a:ea typeface="Arial" pitchFamily="34" charset="-122"/>
                <a:cs typeface="Arial"/>
              </a:rPr>
              <a:t>freiné</a:t>
            </a:r>
            <a:r>
              <a:rPr lang="en-US" sz="1200" i="1" dirty="0">
                <a:solidFill>
                  <a:srgbClr val="29A9E0"/>
                </a:solidFill>
                <a:latin typeface="Arial"/>
                <a:ea typeface="Arial" pitchFamily="34" charset="-122"/>
                <a:cs typeface="Arial"/>
              </a:rPr>
              <a:t> les sorties, au contraire +19% vs 2019. Le </a:t>
            </a:r>
            <a:r>
              <a:rPr lang="en-US" sz="1200" i="1" dirty="0" err="1">
                <a:solidFill>
                  <a:srgbClr val="29A9E0"/>
                </a:solidFill>
                <a:latin typeface="Arial"/>
                <a:ea typeface="Arial" pitchFamily="34" charset="-122"/>
                <a:cs typeface="Arial"/>
              </a:rPr>
              <a:t>marché</a:t>
            </a:r>
            <a:r>
              <a:rPr lang="en-US" sz="1200" i="1" dirty="0">
                <a:solidFill>
                  <a:srgbClr val="29A9E0"/>
                </a:solidFill>
                <a:latin typeface="Arial"/>
                <a:ea typeface="Arial" pitchFamily="34" charset="-122"/>
                <a:cs typeface="Arial"/>
              </a:rPr>
              <a:t> est </a:t>
            </a:r>
            <a:r>
              <a:rPr lang="en-US" sz="1200" i="1" dirty="0" err="1">
                <a:solidFill>
                  <a:srgbClr val="29A9E0"/>
                </a:solidFill>
                <a:latin typeface="Arial"/>
                <a:ea typeface="Arial" pitchFamily="34" charset="-122"/>
                <a:cs typeface="Arial"/>
              </a:rPr>
              <a:t>en</a:t>
            </a:r>
            <a:r>
              <a:rPr lang="en-US" sz="1200" i="1" dirty="0">
                <a:solidFill>
                  <a:srgbClr val="29A9E0"/>
                </a:solidFill>
                <a:latin typeface="Arial"/>
                <a:ea typeface="Arial" pitchFamily="34" charset="-122"/>
                <a:cs typeface="Arial"/>
              </a:rPr>
              <a:t> </a:t>
            </a:r>
            <a:r>
              <a:rPr lang="en-US" sz="1200" i="1" dirty="0" err="1">
                <a:solidFill>
                  <a:srgbClr val="29A9E0"/>
                </a:solidFill>
                <a:latin typeface="Arial"/>
                <a:ea typeface="Arial" pitchFamily="34" charset="-122"/>
                <a:cs typeface="Arial"/>
              </a:rPr>
              <a:t>croissance</a:t>
            </a:r>
            <a:r>
              <a:rPr lang="en-US" sz="1200" i="1" dirty="0">
                <a:solidFill>
                  <a:srgbClr val="29A9E0"/>
                </a:solidFill>
                <a:latin typeface="Arial"/>
                <a:ea typeface="Arial" pitchFamily="34" charset="-122"/>
                <a:cs typeface="Arial"/>
              </a:rPr>
              <a:t>.</a:t>
            </a:r>
            <a:endParaRPr lang="en-US" sz="1200">
              <a:latin typeface="Arial"/>
              <a:cs typeface="Arial"/>
            </a:endParaRPr>
          </a:p>
        </p:txBody>
      </p:sp>
      <p:pic>
        <p:nvPicPr>
          <p:cNvPr id="69" name="Picture 68" descr="A graph with a line going up&#10;&#10;Le contenu généré par l’IA peut être incorrect.">
            <a:extLst>
              <a:ext uri="{FF2B5EF4-FFF2-40B4-BE49-F238E27FC236}">
                <a16:creationId xmlns:a16="http://schemas.microsoft.com/office/drawing/2014/main" id="{2B6F848A-D13F-D679-A236-449DF6E177ED}"/>
              </a:ext>
            </a:extLst>
          </p:cNvPr>
          <p:cNvPicPr>
            <a:picLocks noChangeAspect="1"/>
          </p:cNvPicPr>
          <p:nvPr/>
        </p:nvPicPr>
        <p:blipFill>
          <a:blip r:embed="rId3"/>
          <a:stretch>
            <a:fillRect/>
          </a:stretch>
        </p:blipFill>
        <p:spPr>
          <a:xfrm>
            <a:off x="184897" y="1369363"/>
            <a:ext cx="5807449" cy="31191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0624" y="502920"/>
            <a:ext cx="8229600" cy="777240"/>
          </a:xfrm>
          <a:prstGeom prst="rect">
            <a:avLst/>
          </a:prstGeom>
          <a:noFill/>
        </p:spPr>
        <p:txBody>
          <a:bodyPr wrap="square" lIns="0" tIns="0" rIns="0" bIns="0" anchor="t">
            <a:spAutoFit/>
          </a:bodyPr>
          <a:lstStyle/>
          <a:p>
            <a:pPr algn="l"/>
            <a:r>
              <a:rPr sz="3400" b="1" i="0">
                <a:solidFill>
                  <a:srgbClr val="FFFFFF"/>
                </a:solidFill>
                <a:latin typeface="Arial Black"/>
              </a:rPr>
              <a:t>La distribution des prix</a:t>
            </a:r>
          </a:p>
        </p:txBody>
      </p:sp>
      <p:sp>
        <p:nvSpPr>
          <p:cNvPr id="4" name="TextBox 3"/>
          <p:cNvSpPr txBox="1"/>
          <p:nvPr/>
        </p:nvSpPr>
        <p:spPr>
          <a:xfrm>
            <a:off x="457200" y="1325880"/>
            <a:ext cx="4572000" cy="200055"/>
          </a:xfrm>
          <a:prstGeom prst="rect">
            <a:avLst/>
          </a:prstGeom>
          <a:noFill/>
        </p:spPr>
        <p:txBody>
          <a:bodyPr wrap="square" lIns="0" tIns="0" rIns="0" bIns="0" anchor="t">
            <a:spAutoFit/>
          </a:bodyPr>
          <a:lstStyle/>
          <a:p>
            <a:pPr algn="l"/>
            <a:r>
              <a:rPr sz="1300" b="1" i="0" dirty="0">
                <a:solidFill>
                  <a:srgbClr val="29A9E0"/>
                </a:solidFill>
                <a:latin typeface="Arial"/>
              </a:rPr>
              <a:t>Jeux </a:t>
            </a:r>
            <a:r>
              <a:rPr lang="en-US" sz="1300" b="1">
                <a:solidFill>
                  <a:srgbClr val="29A9E0"/>
                </a:solidFill>
                <a:latin typeface="Arial"/>
              </a:rPr>
              <a:t>par</a:t>
            </a:r>
            <a:r>
              <a:rPr sz="1300" b="1" i="0" dirty="0">
                <a:solidFill>
                  <a:srgbClr val="29A9E0"/>
                </a:solidFill>
                <a:latin typeface="Arial"/>
              </a:rPr>
              <a:t> tranche de prix</a:t>
            </a:r>
          </a:p>
        </p:txBody>
      </p:sp>
      <p:sp>
        <p:nvSpPr>
          <p:cNvPr id="5" name="Rounded Rectangle 4"/>
          <p:cNvSpPr/>
          <p:nvPr/>
        </p:nvSpPr>
        <p:spPr>
          <a:xfrm>
            <a:off x="457200" y="1645920"/>
            <a:ext cx="4754880" cy="2880360"/>
          </a:xfrm>
          <a:prstGeom prst="roundRect">
            <a:avLst>
              <a:gd name="adj" fmla="val 5000"/>
            </a:avLst>
          </a:prstGeom>
          <a:solidFill>
            <a:srgbClr val="16263F"/>
          </a:solidFill>
          <a:ln w="12700">
            <a:solidFill>
              <a:srgbClr val="243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947672"/>
            <a:ext cx="1234440" cy="274320"/>
          </a:xfrm>
          <a:prstGeom prst="rect">
            <a:avLst/>
          </a:prstGeom>
          <a:noFill/>
        </p:spPr>
        <p:txBody>
          <a:bodyPr wrap="square" lIns="0" tIns="0" rIns="0" bIns="0" anchor="t">
            <a:spAutoFit/>
          </a:bodyPr>
          <a:lstStyle/>
          <a:p>
            <a:pPr algn="l"/>
            <a:r>
              <a:rPr sz="1000" b="0" i="0">
                <a:solidFill>
                  <a:srgbClr val="FFFFFF"/>
                </a:solidFill>
                <a:latin typeface="Arial"/>
              </a:rPr>
              <a:t>Moins de 5 €</a:t>
            </a:r>
          </a:p>
        </p:txBody>
      </p:sp>
      <p:sp>
        <p:nvSpPr>
          <p:cNvPr id="7" name="Rectangle 6"/>
          <p:cNvSpPr/>
          <p:nvPr/>
        </p:nvSpPr>
        <p:spPr>
          <a:xfrm>
            <a:off x="1874519" y="1984248"/>
            <a:ext cx="2240280" cy="201168"/>
          </a:xfrm>
          <a:prstGeom prst="rect">
            <a:avLst/>
          </a:prstGeom>
          <a:solidFill>
            <a:srgbClr val="EF3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87952" y="1947672"/>
            <a:ext cx="868680" cy="153888"/>
          </a:xfrm>
          <a:prstGeom prst="rect">
            <a:avLst/>
          </a:prstGeom>
          <a:noFill/>
        </p:spPr>
        <p:txBody>
          <a:bodyPr wrap="square" lIns="0" tIns="0" rIns="0" bIns="0" anchor="t">
            <a:spAutoFit/>
          </a:bodyPr>
          <a:lstStyle/>
          <a:p>
            <a:pPr algn="l"/>
            <a:r>
              <a:rPr lang="en-US" sz="1000" b="1">
                <a:solidFill>
                  <a:srgbClr val="D7DCE6"/>
                </a:solidFill>
                <a:latin typeface="Arial"/>
              </a:rPr>
              <a:t>56.1</a:t>
            </a:r>
            <a:r>
              <a:rPr sz="1000" b="1" i="0" dirty="0">
                <a:solidFill>
                  <a:srgbClr val="D7DCE6"/>
                </a:solidFill>
                <a:latin typeface="Arial"/>
              </a:rPr>
              <a:t>%</a:t>
            </a:r>
          </a:p>
        </p:txBody>
      </p:sp>
      <p:sp>
        <p:nvSpPr>
          <p:cNvPr id="9" name="TextBox 8"/>
          <p:cNvSpPr txBox="1"/>
          <p:nvPr/>
        </p:nvSpPr>
        <p:spPr>
          <a:xfrm>
            <a:off x="566928" y="2459736"/>
            <a:ext cx="1234440" cy="274320"/>
          </a:xfrm>
          <a:prstGeom prst="rect">
            <a:avLst/>
          </a:prstGeom>
          <a:noFill/>
        </p:spPr>
        <p:txBody>
          <a:bodyPr wrap="square" lIns="0" tIns="0" rIns="0" bIns="0" anchor="t">
            <a:spAutoFit/>
          </a:bodyPr>
          <a:lstStyle/>
          <a:p>
            <a:pPr algn="l"/>
            <a:r>
              <a:rPr sz="1000" b="0" i="0">
                <a:solidFill>
                  <a:srgbClr val="FFFFFF"/>
                </a:solidFill>
                <a:latin typeface="Arial"/>
              </a:rPr>
              <a:t>5 à 10 €</a:t>
            </a:r>
          </a:p>
        </p:txBody>
      </p:sp>
      <p:sp>
        <p:nvSpPr>
          <p:cNvPr id="10" name="Rectangle 9"/>
          <p:cNvSpPr/>
          <p:nvPr/>
        </p:nvSpPr>
        <p:spPr>
          <a:xfrm>
            <a:off x="1874519" y="2496312"/>
            <a:ext cx="1134083" cy="201168"/>
          </a:xfrm>
          <a:prstGeom prst="rect">
            <a:avLst/>
          </a:prstGeom>
          <a:solidFill>
            <a:srgbClr val="29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81755" y="2459736"/>
            <a:ext cx="868680" cy="153888"/>
          </a:xfrm>
          <a:prstGeom prst="rect">
            <a:avLst/>
          </a:prstGeom>
          <a:noFill/>
        </p:spPr>
        <p:txBody>
          <a:bodyPr wrap="square" lIns="0" tIns="0" rIns="0" bIns="0" anchor="t">
            <a:spAutoFit/>
          </a:bodyPr>
          <a:lstStyle/>
          <a:p>
            <a:pPr algn="l"/>
            <a:r>
              <a:rPr lang="en-US" sz="1000" b="1">
                <a:solidFill>
                  <a:srgbClr val="D7DCE6"/>
                </a:solidFill>
                <a:latin typeface="Arial"/>
              </a:rPr>
              <a:t>22,4</a:t>
            </a:r>
            <a:r>
              <a:rPr sz="1000" b="1" i="0">
                <a:solidFill>
                  <a:srgbClr val="D7DCE6"/>
                </a:solidFill>
                <a:latin typeface="Arial"/>
              </a:rPr>
              <a:t> %</a:t>
            </a:r>
          </a:p>
        </p:txBody>
      </p:sp>
      <p:sp>
        <p:nvSpPr>
          <p:cNvPr id="12" name="TextBox 11"/>
          <p:cNvSpPr txBox="1"/>
          <p:nvPr/>
        </p:nvSpPr>
        <p:spPr>
          <a:xfrm>
            <a:off x="566928" y="2971800"/>
            <a:ext cx="1234440" cy="274320"/>
          </a:xfrm>
          <a:prstGeom prst="rect">
            <a:avLst/>
          </a:prstGeom>
          <a:noFill/>
        </p:spPr>
        <p:txBody>
          <a:bodyPr wrap="square" lIns="0" tIns="0" rIns="0" bIns="0" anchor="t">
            <a:spAutoFit/>
          </a:bodyPr>
          <a:lstStyle/>
          <a:p>
            <a:pPr algn="l"/>
            <a:r>
              <a:rPr sz="1000" b="0" i="0">
                <a:solidFill>
                  <a:srgbClr val="FFFFFF"/>
                </a:solidFill>
                <a:latin typeface="Arial"/>
              </a:rPr>
              <a:t>10 à 20 €</a:t>
            </a:r>
          </a:p>
        </p:txBody>
      </p:sp>
      <p:sp>
        <p:nvSpPr>
          <p:cNvPr id="13" name="Rectangle 12"/>
          <p:cNvSpPr/>
          <p:nvPr/>
        </p:nvSpPr>
        <p:spPr>
          <a:xfrm>
            <a:off x="1874519" y="3008376"/>
            <a:ext cx="966759" cy="201168"/>
          </a:xfrm>
          <a:prstGeom prst="rect">
            <a:avLst/>
          </a:prstGeom>
          <a:solidFill>
            <a:srgbClr val="29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14431" y="2971800"/>
            <a:ext cx="868680" cy="153888"/>
          </a:xfrm>
          <a:prstGeom prst="rect">
            <a:avLst/>
          </a:prstGeom>
          <a:noFill/>
        </p:spPr>
        <p:txBody>
          <a:bodyPr wrap="square" lIns="0" tIns="0" rIns="0" bIns="0" anchor="t">
            <a:spAutoFit/>
          </a:bodyPr>
          <a:lstStyle/>
          <a:p>
            <a:pPr algn="l"/>
            <a:r>
              <a:rPr lang="en-US" sz="1000" b="1">
                <a:solidFill>
                  <a:srgbClr val="D7DCE6"/>
                </a:solidFill>
                <a:latin typeface="Arial"/>
              </a:rPr>
              <a:t>16,2</a:t>
            </a:r>
            <a:r>
              <a:rPr sz="1000" b="1" i="0" dirty="0">
                <a:solidFill>
                  <a:srgbClr val="D7DCE6"/>
                </a:solidFill>
                <a:latin typeface="Arial"/>
              </a:rPr>
              <a:t> %</a:t>
            </a:r>
          </a:p>
        </p:txBody>
      </p:sp>
      <p:sp>
        <p:nvSpPr>
          <p:cNvPr id="15" name="TextBox 14"/>
          <p:cNvSpPr txBox="1"/>
          <p:nvPr/>
        </p:nvSpPr>
        <p:spPr>
          <a:xfrm>
            <a:off x="566928" y="3483864"/>
            <a:ext cx="1234440" cy="274320"/>
          </a:xfrm>
          <a:prstGeom prst="rect">
            <a:avLst/>
          </a:prstGeom>
          <a:noFill/>
        </p:spPr>
        <p:txBody>
          <a:bodyPr wrap="square" lIns="0" tIns="0" rIns="0" bIns="0" anchor="t">
            <a:spAutoFit/>
          </a:bodyPr>
          <a:lstStyle/>
          <a:p>
            <a:pPr algn="l"/>
            <a:r>
              <a:rPr sz="1000" b="0" i="0">
                <a:solidFill>
                  <a:srgbClr val="FFFFFF"/>
                </a:solidFill>
                <a:latin typeface="Arial"/>
              </a:rPr>
              <a:t>20 à 50 €</a:t>
            </a:r>
          </a:p>
        </p:txBody>
      </p:sp>
      <p:sp>
        <p:nvSpPr>
          <p:cNvPr id="16" name="Rectangle 15"/>
          <p:cNvSpPr/>
          <p:nvPr/>
        </p:nvSpPr>
        <p:spPr>
          <a:xfrm>
            <a:off x="1874519" y="3520440"/>
            <a:ext cx="264929" cy="201168"/>
          </a:xfrm>
          <a:prstGeom prst="rect">
            <a:avLst/>
          </a:prstGeom>
          <a:solidFill>
            <a:srgbClr val="29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04197" y="3567908"/>
            <a:ext cx="868680" cy="153888"/>
          </a:xfrm>
          <a:prstGeom prst="rect">
            <a:avLst/>
          </a:prstGeom>
          <a:noFill/>
        </p:spPr>
        <p:txBody>
          <a:bodyPr wrap="square" lIns="0" tIns="0" rIns="0" bIns="0" anchor="t">
            <a:spAutoFit/>
          </a:bodyPr>
          <a:lstStyle/>
          <a:p>
            <a:pPr algn="l"/>
            <a:r>
              <a:rPr lang="en-US" sz="1000" b="1">
                <a:solidFill>
                  <a:srgbClr val="D7DCE6"/>
                </a:solidFill>
                <a:latin typeface="Arial"/>
              </a:rPr>
              <a:t>4,7</a:t>
            </a:r>
            <a:r>
              <a:rPr sz="1000" b="1" i="0">
                <a:solidFill>
                  <a:srgbClr val="D7DCE6"/>
                </a:solidFill>
                <a:latin typeface="Arial"/>
              </a:rPr>
              <a:t> %</a:t>
            </a:r>
          </a:p>
        </p:txBody>
      </p:sp>
      <p:sp>
        <p:nvSpPr>
          <p:cNvPr id="18" name="TextBox 17"/>
          <p:cNvSpPr txBox="1"/>
          <p:nvPr/>
        </p:nvSpPr>
        <p:spPr>
          <a:xfrm>
            <a:off x="566928" y="3995928"/>
            <a:ext cx="1234440" cy="274320"/>
          </a:xfrm>
          <a:prstGeom prst="rect">
            <a:avLst/>
          </a:prstGeom>
          <a:noFill/>
        </p:spPr>
        <p:txBody>
          <a:bodyPr wrap="square" lIns="0" tIns="0" rIns="0" bIns="0" anchor="t">
            <a:spAutoFit/>
          </a:bodyPr>
          <a:lstStyle/>
          <a:p>
            <a:pPr algn="l"/>
            <a:r>
              <a:rPr sz="1000" b="0" i="0">
                <a:solidFill>
                  <a:srgbClr val="FFFFFF"/>
                </a:solidFill>
                <a:latin typeface="Arial"/>
              </a:rPr>
              <a:t>50 € et plus</a:t>
            </a:r>
          </a:p>
        </p:txBody>
      </p:sp>
      <p:sp>
        <p:nvSpPr>
          <p:cNvPr id="19" name="Rectangle 18"/>
          <p:cNvSpPr/>
          <p:nvPr/>
        </p:nvSpPr>
        <p:spPr>
          <a:xfrm>
            <a:off x="1874519" y="4032504"/>
            <a:ext cx="41830" cy="201168"/>
          </a:xfrm>
          <a:prstGeom prst="rect">
            <a:avLst/>
          </a:prstGeom>
          <a:solidFill>
            <a:srgbClr val="29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89502" y="3995928"/>
            <a:ext cx="868680" cy="153888"/>
          </a:xfrm>
          <a:prstGeom prst="rect">
            <a:avLst/>
          </a:prstGeom>
          <a:noFill/>
        </p:spPr>
        <p:txBody>
          <a:bodyPr wrap="square" lIns="0" tIns="0" rIns="0" bIns="0" anchor="t">
            <a:spAutoFit/>
          </a:bodyPr>
          <a:lstStyle/>
          <a:p>
            <a:pPr algn="l"/>
            <a:r>
              <a:rPr lang="en-US" sz="1000" b="1">
                <a:solidFill>
                  <a:srgbClr val="D7DCE6"/>
                </a:solidFill>
                <a:latin typeface="Arial"/>
              </a:rPr>
              <a:t>0,6</a:t>
            </a:r>
            <a:r>
              <a:rPr sz="1000" b="1" i="0">
                <a:solidFill>
                  <a:srgbClr val="D7DCE6"/>
                </a:solidFill>
                <a:latin typeface="Arial"/>
              </a:rPr>
              <a:t> %</a:t>
            </a:r>
          </a:p>
        </p:txBody>
      </p:sp>
      <p:sp>
        <p:nvSpPr>
          <p:cNvPr id="21" name="Rounded Rectangle 20"/>
          <p:cNvSpPr/>
          <p:nvPr/>
        </p:nvSpPr>
        <p:spPr>
          <a:xfrm>
            <a:off x="5440680" y="1645920"/>
            <a:ext cx="3246120" cy="640080"/>
          </a:xfrm>
          <a:prstGeom prst="roundRect">
            <a:avLst>
              <a:gd name="adj" fmla="val 10000"/>
            </a:avLst>
          </a:prstGeom>
          <a:solidFill>
            <a:srgbClr val="14243C"/>
          </a:solidFill>
          <a:ln w="15240">
            <a:solidFill>
              <a:srgbClr val="29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77840" y="1677924"/>
            <a:ext cx="1691639" cy="256032"/>
          </a:xfrm>
          <a:prstGeom prst="rect">
            <a:avLst/>
          </a:prstGeom>
          <a:noFill/>
        </p:spPr>
        <p:txBody>
          <a:bodyPr wrap="square" lIns="0" tIns="0" rIns="0" bIns="0" anchor="t">
            <a:spAutoFit/>
          </a:bodyPr>
          <a:lstStyle/>
          <a:p>
            <a:pPr algn="l"/>
            <a:r>
              <a:rPr sz="1050" b="1" i="0">
                <a:solidFill>
                  <a:srgbClr val="29A9E0"/>
                </a:solidFill>
                <a:latin typeface="Arial"/>
              </a:rPr>
              <a:t>Prix médian</a:t>
            </a:r>
          </a:p>
        </p:txBody>
      </p:sp>
      <p:sp>
        <p:nvSpPr>
          <p:cNvPr id="23" name="TextBox 22"/>
          <p:cNvSpPr txBox="1"/>
          <p:nvPr/>
        </p:nvSpPr>
        <p:spPr>
          <a:xfrm>
            <a:off x="5577840" y="1933956"/>
            <a:ext cx="1691639" cy="237744"/>
          </a:xfrm>
          <a:prstGeom prst="rect">
            <a:avLst/>
          </a:prstGeom>
          <a:noFill/>
        </p:spPr>
        <p:txBody>
          <a:bodyPr wrap="square" lIns="0" tIns="0" rIns="0" bIns="0" anchor="t">
            <a:spAutoFit/>
          </a:bodyPr>
          <a:lstStyle/>
          <a:p>
            <a:pPr algn="l"/>
            <a:r>
              <a:rPr sz="900" b="0" i="0">
                <a:solidFill>
                  <a:srgbClr val="9AA3B2"/>
                </a:solidFill>
                <a:latin typeface="Arial"/>
              </a:rPr>
              <a:t>Moitié des jeux en dessous</a:t>
            </a:r>
          </a:p>
        </p:txBody>
      </p:sp>
      <p:sp>
        <p:nvSpPr>
          <p:cNvPr id="24" name="TextBox 23"/>
          <p:cNvSpPr txBox="1"/>
          <p:nvPr/>
        </p:nvSpPr>
        <p:spPr>
          <a:xfrm>
            <a:off x="7132320" y="1714500"/>
            <a:ext cx="1417320" cy="261610"/>
          </a:xfrm>
          <a:prstGeom prst="rect">
            <a:avLst/>
          </a:prstGeom>
          <a:noFill/>
        </p:spPr>
        <p:txBody>
          <a:bodyPr wrap="square" lIns="0" tIns="0" rIns="0" bIns="0" anchor="t">
            <a:spAutoFit/>
          </a:bodyPr>
          <a:lstStyle/>
          <a:p>
            <a:pPr algn="r"/>
            <a:r>
              <a:rPr lang="en-US" sz="1700" b="1">
                <a:solidFill>
                  <a:srgbClr val="29A9E0"/>
                </a:solidFill>
                <a:latin typeface="Arial Black"/>
              </a:rPr>
              <a:t>4,99</a:t>
            </a:r>
            <a:r>
              <a:rPr sz="1700" b="1" i="0">
                <a:solidFill>
                  <a:srgbClr val="29A9E0"/>
                </a:solidFill>
                <a:latin typeface="Arial Black"/>
              </a:rPr>
              <a:t> €</a:t>
            </a:r>
          </a:p>
        </p:txBody>
      </p:sp>
      <p:sp>
        <p:nvSpPr>
          <p:cNvPr id="25" name="Rounded Rectangle 24"/>
          <p:cNvSpPr/>
          <p:nvPr/>
        </p:nvSpPr>
        <p:spPr>
          <a:xfrm>
            <a:off x="5440680" y="2386584"/>
            <a:ext cx="3246120" cy="640080"/>
          </a:xfrm>
          <a:prstGeom prst="roundRect">
            <a:avLst>
              <a:gd name="adj" fmla="val 10000"/>
            </a:avLst>
          </a:prstGeom>
          <a:solidFill>
            <a:srgbClr val="14243C"/>
          </a:solidFill>
          <a:ln w="15240">
            <a:solidFill>
              <a:srgbClr val="29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77840" y="2418588"/>
            <a:ext cx="1691639" cy="256032"/>
          </a:xfrm>
          <a:prstGeom prst="rect">
            <a:avLst/>
          </a:prstGeom>
          <a:noFill/>
        </p:spPr>
        <p:txBody>
          <a:bodyPr wrap="square" lIns="0" tIns="0" rIns="0" bIns="0" anchor="t">
            <a:spAutoFit/>
          </a:bodyPr>
          <a:lstStyle/>
          <a:p>
            <a:pPr algn="l"/>
            <a:r>
              <a:rPr sz="1050" b="1" i="0">
                <a:solidFill>
                  <a:srgbClr val="29A9E0"/>
                </a:solidFill>
                <a:latin typeface="Arial"/>
              </a:rPr>
              <a:t>Prix moyen</a:t>
            </a:r>
          </a:p>
        </p:txBody>
      </p:sp>
      <p:sp>
        <p:nvSpPr>
          <p:cNvPr id="27" name="TextBox 26"/>
          <p:cNvSpPr txBox="1"/>
          <p:nvPr/>
        </p:nvSpPr>
        <p:spPr>
          <a:xfrm>
            <a:off x="5577840" y="2674620"/>
            <a:ext cx="1691639" cy="237744"/>
          </a:xfrm>
          <a:prstGeom prst="rect">
            <a:avLst/>
          </a:prstGeom>
          <a:noFill/>
        </p:spPr>
        <p:txBody>
          <a:bodyPr wrap="square" lIns="0" tIns="0" rIns="0" bIns="0" anchor="t">
            <a:spAutoFit/>
          </a:bodyPr>
          <a:lstStyle/>
          <a:p>
            <a:pPr algn="l"/>
            <a:r>
              <a:rPr sz="900" b="0" i="0">
                <a:solidFill>
                  <a:srgbClr val="9AA3B2"/>
                </a:solidFill>
                <a:latin typeface="Arial"/>
              </a:rPr>
              <a:t>Tiré par de rares gros prix</a:t>
            </a:r>
          </a:p>
        </p:txBody>
      </p:sp>
      <p:sp>
        <p:nvSpPr>
          <p:cNvPr id="28" name="TextBox 27"/>
          <p:cNvSpPr txBox="1"/>
          <p:nvPr/>
        </p:nvSpPr>
        <p:spPr>
          <a:xfrm>
            <a:off x="7132320" y="2455164"/>
            <a:ext cx="1417320" cy="261610"/>
          </a:xfrm>
          <a:prstGeom prst="rect">
            <a:avLst/>
          </a:prstGeom>
          <a:noFill/>
        </p:spPr>
        <p:txBody>
          <a:bodyPr wrap="square" lIns="0" tIns="0" rIns="0" bIns="0" anchor="t">
            <a:spAutoFit/>
          </a:bodyPr>
          <a:lstStyle/>
          <a:p>
            <a:pPr algn="r"/>
            <a:r>
              <a:rPr lang="en-US" sz="1700" b="1">
                <a:solidFill>
                  <a:srgbClr val="29A9E0"/>
                </a:solidFill>
                <a:latin typeface="Arial Black"/>
              </a:rPr>
              <a:t>7,74</a:t>
            </a:r>
            <a:r>
              <a:rPr sz="1700" b="1" i="0" dirty="0">
                <a:solidFill>
                  <a:srgbClr val="29A9E0"/>
                </a:solidFill>
                <a:latin typeface="Arial Black"/>
              </a:rPr>
              <a:t> €</a:t>
            </a:r>
          </a:p>
        </p:txBody>
      </p:sp>
      <p:sp>
        <p:nvSpPr>
          <p:cNvPr id="29" name="Rounded Rectangle 28"/>
          <p:cNvSpPr/>
          <p:nvPr/>
        </p:nvSpPr>
        <p:spPr>
          <a:xfrm>
            <a:off x="5440680" y="3127248"/>
            <a:ext cx="3246120" cy="640080"/>
          </a:xfrm>
          <a:prstGeom prst="roundRect">
            <a:avLst>
              <a:gd name="adj" fmla="val 10000"/>
            </a:avLst>
          </a:prstGeom>
          <a:solidFill>
            <a:srgbClr val="14243C"/>
          </a:solidFill>
          <a:ln w="15240">
            <a:solidFill>
              <a:srgbClr val="F2C7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77840" y="3159252"/>
            <a:ext cx="1691639" cy="256032"/>
          </a:xfrm>
          <a:prstGeom prst="rect">
            <a:avLst/>
          </a:prstGeom>
          <a:noFill/>
        </p:spPr>
        <p:txBody>
          <a:bodyPr wrap="square" lIns="0" tIns="0" rIns="0" bIns="0" anchor="t">
            <a:spAutoFit/>
          </a:bodyPr>
          <a:lstStyle/>
          <a:p>
            <a:pPr algn="l"/>
            <a:r>
              <a:rPr sz="1050" b="1" i="0">
                <a:solidFill>
                  <a:srgbClr val="F2C719"/>
                </a:solidFill>
                <a:latin typeface="Arial"/>
              </a:rPr>
              <a:t>Sous 10 €</a:t>
            </a:r>
          </a:p>
        </p:txBody>
      </p:sp>
      <p:sp>
        <p:nvSpPr>
          <p:cNvPr id="31" name="TextBox 30"/>
          <p:cNvSpPr txBox="1"/>
          <p:nvPr/>
        </p:nvSpPr>
        <p:spPr>
          <a:xfrm>
            <a:off x="5577840" y="3415284"/>
            <a:ext cx="1691639" cy="237744"/>
          </a:xfrm>
          <a:prstGeom prst="rect">
            <a:avLst/>
          </a:prstGeom>
          <a:noFill/>
        </p:spPr>
        <p:txBody>
          <a:bodyPr wrap="square" lIns="0" tIns="0" rIns="0" bIns="0" anchor="t">
            <a:spAutoFit/>
          </a:bodyPr>
          <a:lstStyle/>
          <a:p>
            <a:pPr algn="l"/>
            <a:r>
              <a:rPr sz="900" b="0" i="0">
                <a:solidFill>
                  <a:srgbClr val="9AA3B2"/>
                </a:solidFill>
                <a:latin typeface="Arial"/>
              </a:rPr>
              <a:t>La majorité du marché</a:t>
            </a:r>
          </a:p>
        </p:txBody>
      </p:sp>
      <p:sp>
        <p:nvSpPr>
          <p:cNvPr id="32" name="TextBox 31"/>
          <p:cNvSpPr txBox="1"/>
          <p:nvPr/>
        </p:nvSpPr>
        <p:spPr>
          <a:xfrm>
            <a:off x="7132320" y="3195828"/>
            <a:ext cx="1417320" cy="261610"/>
          </a:xfrm>
          <a:prstGeom prst="rect">
            <a:avLst/>
          </a:prstGeom>
          <a:noFill/>
        </p:spPr>
        <p:txBody>
          <a:bodyPr wrap="square" lIns="0" tIns="0" rIns="0" bIns="0" anchor="t">
            <a:spAutoFit/>
          </a:bodyPr>
          <a:lstStyle/>
          <a:p>
            <a:pPr algn="r"/>
            <a:r>
              <a:rPr lang="en-US" sz="1700" b="1">
                <a:solidFill>
                  <a:srgbClr val="F2C719"/>
                </a:solidFill>
                <a:latin typeface="Arial Black"/>
              </a:rPr>
              <a:t>78,5</a:t>
            </a:r>
            <a:r>
              <a:rPr sz="1700" b="1" i="0" dirty="0">
                <a:solidFill>
                  <a:srgbClr val="F2C719"/>
                </a:solidFill>
                <a:latin typeface="Arial Black"/>
              </a:rPr>
              <a:t> %</a:t>
            </a:r>
          </a:p>
        </p:txBody>
      </p:sp>
      <p:sp>
        <p:nvSpPr>
          <p:cNvPr id="33" name="Rounded Rectangle 32"/>
          <p:cNvSpPr/>
          <p:nvPr/>
        </p:nvSpPr>
        <p:spPr>
          <a:xfrm>
            <a:off x="5440680" y="3867912"/>
            <a:ext cx="3246120" cy="640080"/>
          </a:xfrm>
          <a:prstGeom prst="roundRect">
            <a:avLst>
              <a:gd name="adj" fmla="val 10000"/>
            </a:avLst>
          </a:prstGeom>
          <a:solidFill>
            <a:srgbClr val="14243C"/>
          </a:solidFill>
          <a:ln w="15240">
            <a:solidFill>
              <a:srgbClr val="47B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77840" y="3899916"/>
            <a:ext cx="1691639" cy="256032"/>
          </a:xfrm>
          <a:prstGeom prst="rect">
            <a:avLst/>
          </a:prstGeom>
          <a:noFill/>
        </p:spPr>
        <p:txBody>
          <a:bodyPr wrap="square" lIns="0" tIns="0" rIns="0" bIns="0" anchor="t">
            <a:spAutoFit/>
          </a:bodyPr>
          <a:lstStyle/>
          <a:p>
            <a:pPr algn="l"/>
            <a:r>
              <a:rPr sz="1050" b="1" i="0">
                <a:solidFill>
                  <a:srgbClr val="47B25B"/>
                </a:solidFill>
                <a:latin typeface="Arial"/>
              </a:rPr>
              <a:t>Sous 20 €</a:t>
            </a:r>
          </a:p>
        </p:txBody>
      </p:sp>
      <p:sp>
        <p:nvSpPr>
          <p:cNvPr id="35" name="TextBox 34"/>
          <p:cNvSpPr txBox="1"/>
          <p:nvPr/>
        </p:nvSpPr>
        <p:spPr>
          <a:xfrm>
            <a:off x="5577840" y="4155948"/>
            <a:ext cx="1691639" cy="237744"/>
          </a:xfrm>
          <a:prstGeom prst="rect">
            <a:avLst/>
          </a:prstGeom>
          <a:noFill/>
        </p:spPr>
        <p:txBody>
          <a:bodyPr wrap="square" lIns="0" tIns="0" rIns="0" bIns="0" anchor="t">
            <a:spAutoFit/>
          </a:bodyPr>
          <a:lstStyle/>
          <a:p>
            <a:pPr algn="l"/>
            <a:r>
              <a:rPr sz="900" b="0" i="0">
                <a:solidFill>
                  <a:srgbClr val="9AA3B2"/>
                </a:solidFill>
                <a:latin typeface="Arial"/>
              </a:rPr>
              <a:t>Quasi tout le catalogue</a:t>
            </a:r>
          </a:p>
        </p:txBody>
      </p:sp>
      <p:sp>
        <p:nvSpPr>
          <p:cNvPr id="36" name="TextBox 35"/>
          <p:cNvSpPr txBox="1"/>
          <p:nvPr/>
        </p:nvSpPr>
        <p:spPr>
          <a:xfrm>
            <a:off x="7132320" y="3936492"/>
            <a:ext cx="1417320" cy="261610"/>
          </a:xfrm>
          <a:prstGeom prst="rect">
            <a:avLst/>
          </a:prstGeom>
          <a:noFill/>
        </p:spPr>
        <p:txBody>
          <a:bodyPr wrap="square" lIns="0" tIns="0" rIns="0" bIns="0" anchor="t">
            <a:spAutoFit/>
          </a:bodyPr>
          <a:lstStyle/>
          <a:p>
            <a:pPr algn="r"/>
            <a:r>
              <a:rPr lang="en-US" sz="1700" b="1">
                <a:solidFill>
                  <a:srgbClr val="47B25B"/>
                </a:solidFill>
                <a:latin typeface="Arial Black"/>
              </a:rPr>
              <a:t>94,7</a:t>
            </a:r>
            <a:r>
              <a:rPr sz="1700" b="1" i="0" dirty="0">
                <a:solidFill>
                  <a:srgbClr val="47B25B"/>
                </a:solidFill>
                <a:latin typeface="Arial Black"/>
              </a:rPr>
              <a:t> %</a:t>
            </a:r>
          </a:p>
        </p:txBody>
      </p:sp>
      <p:sp>
        <p:nvSpPr>
          <p:cNvPr id="37" name="TextBox 36"/>
          <p:cNvSpPr txBox="1"/>
          <p:nvPr/>
        </p:nvSpPr>
        <p:spPr>
          <a:xfrm>
            <a:off x="457200" y="4736592"/>
            <a:ext cx="8229600" cy="369332"/>
          </a:xfrm>
          <a:prstGeom prst="rect">
            <a:avLst/>
          </a:prstGeom>
          <a:noFill/>
        </p:spPr>
        <p:txBody>
          <a:bodyPr wrap="square" lIns="0" tIns="0" rIns="0" bIns="0" anchor="t">
            <a:spAutoFit/>
          </a:bodyPr>
          <a:lstStyle/>
          <a:p>
            <a:r>
              <a:rPr sz="1200" b="0" i="1" dirty="0">
                <a:solidFill>
                  <a:srgbClr val="00B0F0"/>
                </a:solidFill>
                <a:latin typeface="Arial"/>
              </a:rPr>
              <a:t>Insight : le </a:t>
            </a:r>
            <a:r>
              <a:rPr sz="1200" b="0" i="1" dirty="0" err="1">
                <a:solidFill>
                  <a:srgbClr val="00B0F0"/>
                </a:solidFill>
                <a:latin typeface="Arial"/>
              </a:rPr>
              <a:t>marché</a:t>
            </a:r>
            <a:r>
              <a:rPr sz="1200" b="0" i="1" dirty="0">
                <a:solidFill>
                  <a:srgbClr val="00B0F0"/>
                </a:solidFill>
                <a:latin typeface="Arial"/>
              </a:rPr>
              <a:t> se </a:t>
            </a:r>
            <a:r>
              <a:rPr sz="1200" b="0" i="1" dirty="0" err="1">
                <a:solidFill>
                  <a:srgbClr val="00B0F0"/>
                </a:solidFill>
                <a:latin typeface="Arial"/>
              </a:rPr>
              <a:t>concentre</a:t>
            </a:r>
            <a:r>
              <a:rPr sz="1200" b="0" i="1" dirty="0">
                <a:solidFill>
                  <a:srgbClr val="00B0F0"/>
                </a:solidFill>
                <a:latin typeface="Arial"/>
              </a:rPr>
              <a:t> sous 10 euros</a:t>
            </a:r>
            <a:r>
              <a:rPr lang="en-US" sz="1200" i="1" dirty="0">
                <a:solidFill>
                  <a:srgbClr val="00B0F0"/>
                </a:solidFill>
                <a:latin typeface="Arial"/>
              </a:rPr>
              <a:t>.</a:t>
            </a:r>
            <a:r>
              <a:rPr sz="1200" b="0" i="1" dirty="0">
                <a:solidFill>
                  <a:srgbClr val="00B0F0"/>
                </a:solidFill>
                <a:latin typeface="Arial"/>
              </a:rPr>
              <a:t> Un </a:t>
            </a:r>
            <a:r>
              <a:rPr sz="1200" b="0" i="1" dirty="0" err="1">
                <a:solidFill>
                  <a:srgbClr val="00B0F0"/>
                </a:solidFill>
                <a:latin typeface="Arial"/>
              </a:rPr>
              <a:t>positionnement</a:t>
            </a:r>
            <a:r>
              <a:rPr sz="1200" b="0" i="1" dirty="0">
                <a:solidFill>
                  <a:srgbClr val="00B0F0"/>
                </a:solidFill>
                <a:latin typeface="Arial"/>
              </a:rPr>
              <a:t> 10-20 € </a:t>
            </a:r>
            <a:r>
              <a:rPr sz="1200" b="0" i="1" dirty="0" err="1">
                <a:solidFill>
                  <a:srgbClr val="00B0F0"/>
                </a:solidFill>
                <a:latin typeface="Arial"/>
              </a:rPr>
              <a:t>situe</a:t>
            </a:r>
            <a:r>
              <a:rPr sz="1200" b="0" i="1" dirty="0">
                <a:solidFill>
                  <a:srgbClr val="00B0F0"/>
                </a:solidFill>
                <a:latin typeface="Arial"/>
              </a:rPr>
              <a:t> </a:t>
            </a:r>
            <a:r>
              <a:rPr sz="1200" b="0" i="1" dirty="0" err="1">
                <a:solidFill>
                  <a:srgbClr val="00B0F0"/>
                </a:solidFill>
                <a:latin typeface="Arial"/>
              </a:rPr>
              <a:t>une</a:t>
            </a:r>
            <a:r>
              <a:rPr lang="en-US" sz="1200" i="1" dirty="0">
                <a:solidFill>
                  <a:srgbClr val="00B0F0"/>
                </a:solidFill>
                <a:latin typeface="Arial"/>
              </a:rPr>
              <a:t> grande </a:t>
            </a:r>
            <a:r>
              <a:rPr lang="en-US" sz="1200" i="1" dirty="0" err="1">
                <a:solidFill>
                  <a:srgbClr val="00B0F0"/>
                </a:solidFill>
                <a:latin typeface="Arial"/>
              </a:rPr>
              <a:t>licnece</a:t>
            </a:r>
            <a:r>
              <a:rPr sz="1200" b="0" i="1" dirty="0">
                <a:solidFill>
                  <a:srgbClr val="00B0F0"/>
                </a:solidFill>
                <a:latin typeface="Arial"/>
              </a:rPr>
              <a:t> </a:t>
            </a:r>
            <a:r>
              <a:rPr lang="en-US" sz="1200" i="1" dirty="0" err="1">
                <a:solidFill>
                  <a:srgbClr val="00B0F0"/>
                </a:solidFill>
                <a:latin typeface="Arial"/>
              </a:rPr>
              <a:t>connue</a:t>
            </a:r>
            <a:r>
              <a:rPr sz="1200" b="0" i="1" dirty="0">
                <a:solidFill>
                  <a:srgbClr val="00B0F0"/>
                </a:solidFill>
                <a:latin typeface="Arial"/>
              </a:rPr>
              <a:t> au-dessus du segment </a:t>
            </a:r>
            <a:r>
              <a:rPr sz="1200" b="0" i="1" dirty="0" err="1">
                <a:solidFill>
                  <a:srgbClr val="00B0F0"/>
                </a:solidFill>
                <a:latin typeface="Arial"/>
              </a:rPr>
              <a:t>saturé</a:t>
            </a:r>
            <a:r>
              <a:rPr sz="1200" b="0" i="1" dirty="0">
                <a:solidFill>
                  <a:srgbClr val="00B0F0"/>
                </a:solidFill>
                <a:latin typeface="Arial"/>
              </a:rPr>
              <a:t>, sans quitter les </a:t>
            </a:r>
            <a:r>
              <a:rPr lang="en-US" sz="1200" i="1" dirty="0">
                <a:solidFill>
                  <a:srgbClr val="00B0F0"/>
                </a:solidFill>
                <a:latin typeface="Arial"/>
              </a:rPr>
              <a:t>94</a:t>
            </a:r>
            <a:r>
              <a:rPr sz="1200" b="0" i="1" dirty="0">
                <a:solidFill>
                  <a:srgbClr val="00B0F0"/>
                </a:solidFill>
                <a:latin typeface="Arial"/>
              </a:rPr>
              <a:t> % du </a:t>
            </a:r>
            <a:r>
              <a:rPr sz="1200" b="0" i="1" dirty="0" err="1">
                <a:solidFill>
                  <a:srgbClr val="00B0F0"/>
                </a:solidFill>
                <a:latin typeface="Arial"/>
              </a:rPr>
              <a:t>marché</a:t>
            </a:r>
            <a:r>
              <a:rPr sz="1200" b="0" i="1" dirty="0">
                <a:solidFill>
                  <a:srgbClr val="00B0F0"/>
                </a:solidFill>
                <a:latin typeface="Arial"/>
              </a:rPr>
              <a:t>.</a:t>
            </a:r>
            <a:endParaRPr lang="en-US" sz="1200" b="0" i="1">
              <a:solidFill>
                <a:srgbClr val="00B0F0"/>
              </a:solidFill>
              <a:latin typeface="Arial"/>
              <a:cs typeface="Arial"/>
            </a:endParaRPr>
          </a:p>
        </p:txBody>
      </p:sp>
      <p:sp>
        <p:nvSpPr>
          <p:cNvPr id="39" name="Text 0">
            <a:extLst>
              <a:ext uri="{FF2B5EF4-FFF2-40B4-BE49-F238E27FC236}">
                <a16:creationId xmlns:a16="http://schemas.microsoft.com/office/drawing/2014/main" id="{4894BD86-B483-A33D-69E9-483EE9D14426}"/>
              </a:ext>
            </a:extLst>
          </p:cNvPr>
          <p:cNvSpPr/>
          <p:nvPr/>
        </p:nvSpPr>
        <p:spPr>
          <a:xfrm>
            <a:off x="457200" y="256032"/>
            <a:ext cx="7772400" cy="274320"/>
          </a:xfrm>
          <a:prstGeom prst="rect">
            <a:avLst/>
          </a:prstGeom>
          <a:noFill/>
          <a:ln/>
        </p:spPr>
        <p:txBody>
          <a:bodyPr wrap="square" lIns="0" tIns="0" rIns="0" bIns="0" rtlCol="0" anchor="ctr"/>
          <a:lstStyle/>
          <a:p>
            <a:r>
              <a:rPr lang="en-US" sz="1100" b="1" kern="0" spc="300">
                <a:solidFill>
                  <a:srgbClr val="EF3E5C"/>
                </a:solidFill>
                <a:latin typeface="Arial"/>
                <a:ea typeface="Arial" pitchFamily="34" charset="-122"/>
                <a:cs typeface="Arial"/>
              </a:rPr>
              <a:t>A N A L Y S E   MARCHÉ</a:t>
            </a:r>
            <a:endParaRPr lang="en-US" sz="1100">
              <a:latin typeface="Arial"/>
              <a:ea typeface="Calibri"/>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56032"/>
            <a:ext cx="7772400" cy="274320"/>
          </a:xfrm>
          <a:prstGeom prst="rect">
            <a:avLst/>
          </a:prstGeom>
          <a:noFill/>
          <a:ln/>
        </p:spPr>
        <p:txBody>
          <a:bodyPr wrap="square" lIns="0" tIns="0" rIns="0" bIns="0" rtlCol="0" anchor="ctr"/>
          <a:lstStyle/>
          <a:p>
            <a:pPr marL="0" indent="0">
              <a:buNone/>
            </a:pPr>
            <a:r>
              <a:rPr lang="en-US" sz="1100" b="1" kern="0" spc="300">
                <a:solidFill>
                  <a:srgbClr val="EF3E5C"/>
                </a:solidFill>
                <a:latin typeface="Arial"/>
                <a:ea typeface="Arial" pitchFamily="34" charset="-122"/>
                <a:cs typeface="Arial"/>
              </a:rPr>
              <a:t>ANALYSE   MARCHÉ</a:t>
            </a:r>
            <a:endParaRPr lang="en-US" sz="1100">
              <a:latin typeface="Arial"/>
              <a:cs typeface="Arial"/>
            </a:endParaRPr>
          </a:p>
        </p:txBody>
      </p:sp>
      <p:sp>
        <p:nvSpPr>
          <p:cNvPr id="3" name="Text 1"/>
          <p:cNvSpPr/>
          <p:nvPr/>
        </p:nvSpPr>
        <p:spPr>
          <a:xfrm>
            <a:off x="420624" y="502920"/>
            <a:ext cx="822960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Arial Black" pitchFamily="34" charset="0"/>
                <a:ea typeface="Arial Black" pitchFamily="34" charset="-122"/>
                <a:cs typeface="Arial Black" pitchFamily="34" charset="-120"/>
              </a:rPr>
              <a:t>Langues et Âge</a:t>
            </a:r>
            <a:endParaRPr lang="en-US" sz="3400" dirty="0"/>
          </a:p>
        </p:txBody>
      </p:sp>
      <p:sp>
        <p:nvSpPr>
          <p:cNvPr id="4" name="Text 2"/>
          <p:cNvSpPr/>
          <p:nvPr/>
        </p:nvSpPr>
        <p:spPr>
          <a:xfrm>
            <a:off x="457200" y="1325880"/>
            <a:ext cx="4572000" cy="274320"/>
          </a:xfrm>
          <a:prstGeom prst="rect">
            <a:avLst/>
          </a:prstGeom>
          <a:noFill/>
          <a:ln/>
        </p:spPr>
        <p:txBody>
          <a:bodyPr wrap="square" lIns="0" tIns="0" rIns="0" bIns="0" rtlCol="0" anchor="ctr"/>
          <a:lstStyle/>
          <a:p>
            <a:pPr marL="0" indent="0">
              <a:buNone/>
            </a:pPr>
            <a:r>
              <a:rPr lang="en-US" sz="1300" b="1" dirty="0">
                <a:solidFill>
                  <a:srgbClr val="29A9E0"/>
                </a:solidFill>
                <a:latin typeface="Arial"/>
                <a:ea typeface="Arial" pitchFamily="34" charset="-122"/>
                <a:cs typeface="Arial"/>
              </a:rPr>
              <a:t>Top </a:t>
            </a:r>
            <a:r>
              <a:rPr lang="en-US" sz="1300" b="1" dirty="0" err="1">
                <a:solidFill>
                  <a:srgbClr val="29A9E0"/>
                </a:solidFill>
                <a:latin typeface="Arial"/>
                <a:ea typeface="Arial" pitchFamily="34" charset="-122"/>
                <a:cs typeface="Arial"/>
              </a:rPr>
              <a:t>langues</a:t>
            </a:r>
            <a:endParaRPr lang="en-US" sz="1300" b="1" dirty="0" err="1">
              <a:solidFill>
                <a:srgbClr val="29A9E0"/>
              </a:solidFill>
              <a:latin typeface="Arial"/>
              <a:cs typeface="Arial"/>
            </a:endParaRPr>
          </a:p>
        </p:txBody>
      </p:sp>
      <p:sp>
        <p:nvSpPr>
          <p:cNvPr id="5" name="Shape 3"/>
          <p:cNvSpPr/>
          <p:nvPr/>
        </p:nvSpPr>
        <p:spPr>
          <a:xfrm>
            <a:off x="457200" y="1645920"/>
            <a:ext cx="4754880" cy="2880360"/>
          </a:xfrm>
          <a:prstGeom prst="roundRect">
            <a:avLst>
              <a:gd name="adj" fmla="val 1905"/>
            </a:avLst>
          </a:prstGeom>
          <a:solidFill>
            <a:srgbClr val="16263F"/>
          </a:solidFill>
          <a:ln w="12700">
            <a:solidFill>
              <a:srgbClr val="24344F"/>
            </a:solidFill>
            <a:prstDash val="solid"/>
          </a:ln>
        </p:spPr>
      </p:sp>
      <p:sp>
        <p:nvSpPr>
          <p:cNvPr id="6" name="Shape 4"/>
          <p:cNvSpPr/>
          <p:nvPr/>
        </p:nvSpPr>
        <p:spPr>
          <a:xfrm>
            <a:off x="2148840" y="1828800"/>
            <a:ext cx="0" cy="2194560"/>
          </a:xfrm>
          <a:prstGeom prst="line">
            <a:avLst/>
          </a:prstGeom>
          <a:noFill/>
          <a:ln w="6350">
            <a:solidFill>
              <a:srgbClr val="2A3A55"/>
            </a:solidFill>
            <a:prstDash val="solid"/>
          </a:ln>
        </p:spPr>
      </p:sp>
      <p:sp>
        <p:nvSpPr>
          <p:cNvPr id="7" name="Text 5"/>
          <p:cNvSpPr/>
          <p:nvPr/>
        </p:nvSpPr>
        <p:spPr>
          <a:xfrm>
            <a:off x="178308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0</a:t>
            </a:r>
            <a:endParaRPr lang="en-US" sz="800" dirty="0"/>
          </a:p>
        </p:txBody>
      </p:sp>
      <p:sp>
        <p:nvSpPr>
          <p:cNvPr id="8" name="Shape 6"/>
          <p:cNvSpPr/>
          <p:nvPr/>
        </p:nvSpPr>
        <p:spPr>
          <a:xfrm>
            <a:off x="3002280" y="1828800"/>
            <a:ext cx="0" cy="2194560"/>
          </a:xfrm>
          <a:prstGeom prst="line">
            <a:avLst/>
          </a:prstGeom>
          <a:noFill/>
          <a:ln w="6350">
            <a:solidFill>
              <a:srgbClr val="2A3A55"/>
            </a:solidFill>
            <a:prstDash val="solid"/>
          </a:ln>
        </p:spPr>
      </p:sp>
      <p:sp>
        <p:nvSpPr>
          <p:cNvPr id="9" name="Text 7"/>
          <p:cNvSpPr/>
          <p:nvPr/>
        </p:nvSpPr>
        <p:spPr>
          <a:xfrm>
            <a:off x="263652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20 000</a:t>
            </a:r>
            <a:endParaRPr lang="en-US" sz="800" dirty="0"/>
          </a:p>
        </p:txBody>
      </p:sp>
      <p:sp>
        <p:nvSpPr>
          <p:cNvPr id="10" name="Shape 8"/>
          <p:cNvSpPr/>
          <p:nvPr/>
        </p:nvSpPr>
        <p:spPr>
          <a:xfrm>
            <a:off x="3855720" y="1828800"/>
            <a:ext cx="0" cy="2194560"/>
          </a:xfrm>
          <a:prstGeom prst="line">
            <a:avLst/>
          </a:prstGeom>
          <a:noFill/>
          <a:ln w="6350">
            <a:solidFill>
              <a:srgbClr val="2A3A55"/>
            </a:solidFill>
            <a:prstDash val="solid"/>
          </a:ln>
        </p:spPr>
      </p:sp>
      <p:sp>
        <p:nvSpPr>
          <p:cNvPr id="11" name="Text 9"/>
          <p:cNvSpPr/>
          <p:nvPr/>
        </p:nvSpPr>
        <p:spPr>
          <a:xfrm>
            <a:off x="348996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40 000</a:t>
            </a:r>
            <a:endParaRPr lang="en-US" sz="800" dirty="0"/>
          </a:p>
        </p:txBody>
      </p:sp>
      <p:sp>
        <p:nvSpPr>
          <p:cNvPr id="12" name="Shape 10"/>
          <p:cNvSpPr/>
          <p:nvPr/>
        </p:nvSpPr>
        <p:spPr>
          <a:xfrm>
            <a:off x="4709160" y="1828800"/>
            <a:ext cx="0" cy="2194560"/>
          </a:xfrm>
          <a:prstGeom prst="line">
            <a:avLst/>
          </a:prstGeom>
          <a:noFill/>
          <a:ln w="6350">
            <a:solidFill>
              <a:srgbClr val="2A3A55"/>
            </a:solidFill>
            <a:prstDash val="solid"/>
          </a:ln>
        </p:spPr>
      </p:sp>
      <p:sp>
        <p:nvSpPr>
          <p:cNvPr id="13" name="Text 11"/>
          <p:cNvSpPr/>
          <p:nvPr/>
        </p:nvSpPr>
        <p:spPr>
          <a:xfrm>
            <a:off x="434340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60 000</a:t>
            </a:r>
            <a:endParaRPr lang="en-US" sz="800" dirty="0"/>
          </a:p>
        </p:txBody>
      </p:sp>
      <p:sp>
        <p:nvSpPr>
          <p:cNvPr id="14" name="Text 12"/>
          <p:cNvSpPr/>
          <p:nvPr/>
        </p:nvSpPr>
        <p:spPr>
          <a:xfrm>
            <a:off x="548640" y="1905218"/>
            <a:ext cx="1554480" cy="278239"/>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Japanese</a:t>
            </a:r>
            <a:endParaRPr lang="en-US" sz="1050" dirty="0"/>
          </a:p>
        </p:txBody>
      </p:sp>
      <p:sp>
        <p:nvSpPr>
          <p:cNvPr id="15" name="Shape 13"/>
          <p:cNvSpPr/>
          <p:nvPr/>
        </p:nvSpPr>
        <p:spPr>
          <a:xfrm>
            <a:off x="2148840" y="1950938"/>
            <a:ext cx="442423" cy="186799"/>
          </a:xfrm>
          <a:prstGeom prst="rect">
            <a:avLst/>
          </a:prstGeom>
          <a:solidFill>
            <a:srgbClr val="29A9E0"/>
          </a:solidFill>
          <a:ln/>
        </p:spPr>
      </p:sp>
      <p:sp>
        <p:nvSpPr>
          <p:cNvPr id="16" name="Text 14"/>
          <p:cNvSpPr/>
          <p:nvPr/>
        </p:nvSpPr>
        <p:spPr>
          <a:xfrm>
            <a:off x="2655271" y="1905218"/>
            <a:ext cx="914400" cy="278239"/>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10 368</a:t>
            </a:r>
            <a:endParaRPr lang="en-US" sz="950" dirty="0"/>
          </a:p>
        </p:txBody>
      </p:sp>
      <p:sp>
        <p:nvSpPr>
          <p:cNvPr id="17" name="Text 15"/>
          <p:cNvSpPr/>
          <p:nvPr/>
        </p:nvSpPr>
        <p:spPr>
          <a:xfrm>
            <a:off x="548640" y="2244852"/>
            <a:ext cx="1554480" cy="278239"/>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Spanish - Spain</a:t>
            </a:r>
            <a:endParaRPr lang="en-US" sz="1050" dirty="0"/>
          </a:p>
        </p:txBody>
      </p:sp>
      <p:sp>
        <p:nvSpPr>
          <p:cNvPr id="18" name="Shape 16"/>
          <p:cNvSpPr/>
          <p:nvPr/>
        </p:nvSpPr>
        <p:spPr>
          <a:xfrm>
            <a:off x="2148840" y="2290572"/>
            <a:ext cx="522007" cy="186799"/>
          </a:xfrm>
          <a:prstGeom prst="rect">
            <a:avLst/>
          </a:prstGeom>
          <a:solidFill>
            <a:srgbClr val="29A9E0"/>
          </a:solidFill>
          <a:ln/>
        </p:spPr>
      </p:sp>
      <p:sp>
        <p:nvSpPr>
          <p:cNvPr id="19" name="Text 17"/>
          <p:cNvSpPr/>
          <p:nvPr/>
        </p:nvSpPr>
        <p:spPr>
          <a:xfrm>
            <a:off x="2734855" y="2244852"/>
            <a:ext cx="914400" cy="278239"/>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12 233</a:t>
            </a:r>
            <a:endParaRPr lang="en-US" sz="950" dirty="0"/>
          </a:p>
        </p:txBody>
      </p:sp>
      <p:sp>
        <p:nvSpPr>
          <p:cNvPr id="20" name="Text 18"/>
          <p:cNvSpPr/>
          <p:nvPr/>
        </p:nvSpPr>
        <p:spPr>
          <a:xfrm>
            <a:off x="548640" y="2584486"/>
            <a:ext cx="1554480" cy="278239"/>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Simplified Chinese</a:t>
            </a:r>
            <a:endParaRPr lang="en-US" sz="1050" dirty="0"/>
          </a:p>
        </p:txBody>
      </p:sp>
      <p:sp>
        <p:nvSpPr>
          <p:cNvPr id="21" name="Shape 19"/>
          <p:cNvSpPr/>
          <p:nvPr/>
        </p:nvSpPr>
        <p:spPr>
          <a:xfrm>
            <a:off x="2148840" y="2630206"/>
            <a:ext cx="545434" cy="186799"/>
          </a:xfrm>
          <a:prstGeom prst="rect">
            <a:avLst/>
          </a:prstGeom>
          <a:solidFill>
            <a:srgbClr val="29A9E0"/>
          </a:solidFill>
          <a:ln/>
        </p:spPr>
      </p:sp>
      <p:sp>
        <p:nvSpPr>
          <p:cNvPr id="22" name="Text 20"/>
          <p:cNvSpPr/>
          <p:nvPr/>
        </p:nvSpPr>
        <p:spPr>
          <a:xfrm>
            <a:off x="2758282" y="2584486"/>
            <a:ext cx="914400" cy="278239"/>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12 782</a:t>
            </a:r>
            <a:endParaRPr lang="en-US" sz="950" dirty="0"/>
          </a:p>
        </p:txBody>
      </p:sp>
      <p:sp>
        <p:nvSpPr>
          <p:cNvPr id="23" name="Text 21"/>
          <p:cNvSpPr/>
          <p:nvPr/>
        </p:nvSpPr>
        <p:spPr>
          <a:xfrm>
            <a:off x="548640" y="2924121"/>
            <a:ext cx="1554480" cy="278239"/>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Russian</a:t>
            </a:r>
            <a:endParaRPr lang="en-US" sz="1050" dirty="0"/>
          </a:p>
        </p:txBody>
      </p:sp>
      <p:sp>
        <p:nvSpPr>
          <p:cNvPr id="24" name="Shape 22"/>
          <p:cNvSpPr/>
          <p:nvPr/>
        </p:nvSpPr>
        <p:spPr>
          <a:xfrm>
            <a:off x="2148840" y="2969841"/>
            <a:ext cx="551408" cy="186799"/>
          </a:xfrm>
          <a:prstGeom prst="rect">
            <a:avLst/>
          </a:prstGeom>
          <a:solidFill>
            <a:srgbClr val="29A9E0"/>
          </a:solidFill>
          <a:ln/>
        </p:spPr>
      </p:sp>
      <p:sp>
        <p:nvSpPr>
          <p:cNvPr id="25" name="Text 23"/>
          <p:cNvSpPr/>
          <p:nvPr/>
        </p:nvSpPr>
        <p:spPr>
          <a:xfrm>
            <a:off x="2764256" y="2924121"/>
            <a:ext cx="914400" cy="278239"/>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12 922</a:t>
            </a:r>
            <a:endParaRPr lang="en-US" sz="950" dirty="0"/>
          </a:p>
        </p:txBody>
      </p:sp>
      <p:sp>
        <p:nvSpPr>
          <p:cNvPr id="26" name="Text 24"/>
          <p:cNvSpPr/>
          <p:nvPr/>
        </p:nvSpPr>
        <p:spPr>
          <a:xfrm>
            <a:off x="548640" y="3263755"/>
            <a:ext cx="1554480" cy="278239"/>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French</a:t>
            </a:r>
            <a:endParaRPr lang="en-US" sz="1050" dirty="0"/>
          </a:p>
        </p:txBody>
      </p:sp>
      <p:sp>
        <p:nvSpPr>
          <p:cNvPr id="27" name="Shape 25"/>
          <p:cNvSpPr/>
          <p:nvPr/>
        </p:nvSpPr>
        <p:spPr>
          <a:xfrm>
            <a:off x="2148840" y="3309475"/>
            <a:ext cx="572914" cy="186799"/>
          </a:xfrm>
          <a:prstGeom prst="rect">
            <a:avLst/>
          </a:prstGeom>
          <a:solidFill>
            <a:srgbClr val="47B25B"/>
          </a:solidFill>
          <a:ln/>
        </p:spPr>
      </p:sp>
      <p:sp>
        <p:nvSpPr>
          <p:cNvPr id="28" name="Text 26"/>
          <p:cNvSpPr/>
          <p:nvPr/>
        </p:nvSpPr>
        <p:spPr>
          <a:xfrm>
            <a:off x="2785762" y="3263755"/>
            <a:ext cx="914400" cy="278239"/>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13 426</a:t>
            </a:r>
            <a:endParaRPr lang="en-US" sz="950" dirty="0"/>
          </a:p>
        </p:txBody>
      </p:sp>
      <p:sp>
        <p:nvSpPr>
          <p:cNvPr id="29" name="Text 27"/>
          <p:cNvSpPr/>
          <p:nvPr/>
        </p:nvSpPr>
        <p:spPr>
          <a:xfrm>
            <a:off x="548640" y="3603389"/>
            <a:ext cx="1554480" cy="278239"/>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German</a:t>
            </a:r>
            <a:endParaRPr lang="en-US" sz="1050" dirty="0"/>
          </a:p>
        </p:txBody>
      </p:sp>
      <p:sp>
        <p:nvSpPr>
          <p:cNvPr id="30" name="Shape 28"/>
          <p:cNvSpPr/>
          <p:nvPr/>
        </p:nvSpPr>
        <p:spPr>
          <a:xfrm>
            <a:off x="2148840" y="3649109"/>
            <a:ext cx="598219" cy="186799"/>
          </a:xfrm>
          <a:prstGeom prst="rect">
            <a:avLst/>
          </a:prstGeom>
          <a:solidFill>
            <a:srgbClr val="29A9E0"/>
          </a:solidFill>
          <a:ln/>
        </p:spPr>
      </p:sp>
      <p:sp>
        <p:nvSpPr>
          <p:cNvPr id="31" name="Text 29"/>
          <p:cNvSpPr/>
          <p:nvPr/>
        </p:nvSpPr>
        <p:spPr>
          <a:xfrm>
            <a:off x="2811067" y="3603389"/>
            <a:ext cx="914400" cy="278239"/>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14 019</a:t>
            </a:r>
            <a:endParaRPr lang="en-US" sz="950" dirty="0"/>
          </a:p>
        </p:txBody>
      </p:sp>
      <p:sp>
        <p:nvSpPr>
          <p:cNvPr id="32" name="Text 30"/>
          <p:cNvSpPr/>
          <p:nvPr/>
        </p:nvSpPr>
        <p:spPr>
          <a:xfrm>
            <a:off x="548640" y="3943023"/>
            <a:ext cx="1554480" cy="278239"/>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English</a:t>
            </a:r>
            <a:endParaRPr lang="en-US" sz="1050" dirty="0"/>
          </a:p>
        </p:txBody>
      </p:sp>
      <p:sp>
        <p:nvSpPr>
          <p:cNvPr id="33" name="Shape 31"/>
          <p:cNvSpPr/>
          <p:nvPr/>
        </p:nvSpPr>
        <p:spPr>
          <a:xfrm>
            <a:off x="2148840" y="3988743"/>
            <a:ext cx="2351910" cy="186799"/>
          </a:xfrm>
          <a:prstGeom prst="rect">
            <a:avLst/>
          </a:prstGeom>
          <a:solidFill>
            <a:srgbClr val="EF3E5C"/>
          </a:solidFill>
          <a:ln/>
        </p:spPr>
      </p:sp>
      <p:sp>
        <p:nvSpPr>
          <p:cNvPr id="34" name="Text 32"/>
          <p:cNvSpPr/>
          <p:nvPr/>
        </p:nvSpPr>
        <p:spPr>
          <a:xfrm>
            <a:off x="4564758" y="3943023"/>
            <a:ext cx="914400" cy="278239"/>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55 116</a:t>
            </a:r>
            <a:endParaRPr lang="en-US" sz="950" dirty="0"/>
          </a:p>
        </p:txBody>
      </p:sp>
      <p:sp>
        <p:nvSpPr>
          <p:cNvPr id="35" name="Text 33"/>
          <p:cNvSpPr/>
          <p:nvPr/>
        </p:nvSpPr>
        <p:spPr>
          <a:xfrm>
            <a:off x="5440680" y="1325880"/>
            <a:ext cx="3200400" cy="274320"/>
          </a:xfrm>
          <a:prstGeom prst="rect">
            <a:avLst/>
          </a:prstGeom>
          <a:noFill/>
          <a:ln/>
        </p:spPr>
        <p:txBody>
          <a:bodyPr wrap="square" lIns="0" tIns="0" rIns="0" bIns="0" rtlCol="0" anchor="ctr"/>
          <a:lstStyle/>
          <a:p>
            <a:pPr marL="0" indent="0">
              <a:buNone/>
            </a:pPr>
            <a:r>
              <a:rPr lang="en-US" sz="1300" b="1" dirty="0">
                <a:solidFill>
                  <a:srgbClr val="29A9E0"/>
                </a:solidFill>
                <a:latin typeface="Arial" pitchFamily="34" charset="0"/>
                <a:ea typeface="Arial" pitchFamily="34" charset="-122"/>
                <a:cs typeface="Arial" pitchFamily="34" charset="-120"/>
              </a:rPr>
              <a:t>Restrictions d'âge</a:t>
            </a:r>
            <a:endParaRPr lang="en-US" sz="1300" dirty="0"/>
          </a:p>
        </p:txBody>
      </p:sp>
      <p:sp>
        <p:nvSpPr>
          <p:cNvPr id="36" name="Shape 34"/>
          <p:cNvSpPr/>
          <p:nvPr/>
        </p:nvSpPr>
        <p:spPr>
          <a:xfrm>
            <a:off x="5440680" y="1645920"/>
            <a:ext cx="3246120" cy="640080"/>
          </a:xfrm>
          <a:prstGeom prst="roundRect">
            <a:avLst>
              <a:gd name="adj" fmla="val 5714"/>
            </a:avLst>
          </a:prstGeom>
          <a:solidFill>
            <a:srgbClr val="14243C"/>
          </a:solidFill>
          <a:ln w="15240">
            <a:solidFill>
              <a:srgbClr val="29A9E0"/>
            </a:solidFill>
            <a:prstDash val="solid"/>
          </a:ln>
        </p:spPr>
      </p:sp>
      <p:sp>
        <p:nvSpPr>
          <p:cNvPr id="37" name="Text 35"/>
          <p:cNvSpPr/>
          <p:nvPr/>
        </p:nvSpPr>
        <p:spPr>
          <a:xfrm>
            <a:off x="5577840" y="1719072"/>
            <a:ext cx="1828800" cy="256032"/>
          </a:xfrm>
          <a:prstGeom prst="rect">
            <a:avLst/>
          </a:prstGeom>
          <a:noFill/>
          <a:ln/>
        </p:spPr>
        <p:txBody>
          <a:bodyPr wrap="square" lIns="0" tIns="0" rIns="0" bIns="0" rtlCol="0" anchor="ctr"/>
          <a:lstStyle/>
          <a:p>
            <a:pPr marL="0" indent="0">
              <a:buNone/>
            </a:pPr>
            <a:r>
              <a:rPr lang="en-US" sz="1050" b="1" dirty="0">
                <a:solidFill>
                  <a:srgbClr val="29A9E0"/>
                </a:solidFill>
                <a:latin typeface="Arial" pitchFamily="34" charset="0"/>
                <a:ea typeface="Arial" pitchFamily="34" charset="-122"/>
                <a:cs typeface="Arial" pitchFamily="34" charset="-120"/>
              </a:rPr>
              <a:t>Tous publics (âge 0)</a:t>
            </a:r>
            <a:endParaRPr lang="en-US" sz="1050" dirty="0"/>
          </a:p>
        </p:txBody>
      </p:sp>
      <p:sp>
        <p:nvSpPr>
          <p:cNvPr id="38" name="Text 36"/>
          <p:cNvSpPr/>
          <p:nvPr/>
        </p:nvSpPr>
        <p:spPr>
          <a:xfrm>
            <a:off x="5577840" y="1975104"/>
            <a:ext cx="1828800" cy="237744"/>
          </a:xfrm>
          <a:prstGeom prst="rect">
            <a:avLst/>
          </a:prstGeom>
          <a:noFill/>
          <a:ln/>
        </p:spPr>
        <p:txBody>
          <a:bodyPr wrap="square" lIns="0" tIns="0" rIns="0" bIns="0" rtlCol="0" anchor="ctr"/>
          <a:lstStyle/>
          <a:p>
            <a:pPr marL="0" indent="0">
              <a:buNone/>
            </a:pPr>
            <a:r>
              <a:rPr lang="en-US" sz="900" dirty="0">
                <a:solidFill>
                  <a:srgbClr val="9AA3B2"/>
                </a:solidFill>
                <a:latin typeface="Arial" pitchFamily="34" charset="0"/>
                <a:ea typeface="Arial" pitchFamily="34" charset="-122"/>
                <a:cs typeface="Arial" pitchFamily="34" charset="-120"/>
              </a:rPr>
              <a:t>55 029 jeux</a:t>
            </a:r>
            <a:endParaRPr lang="en-US" sz="900" dirty="0"/>
          </a:p>
        </p:txBody>
      </p:sp>
      <p:sp>
        <p:nvSpPr>
          <p:cNvPr id="39" name="Text 37"/>
          <p:cNvSpPr/>
          <p:nvPr/>
        </p:nvSpPr>
        <p:spPr>
          <a:xfrm>
            <a:off x="7132320" y="1755648"/>
            <a:ext cx="1417320" cy="411480"/>
          </a:xfrm>
          <a:prstGeom prst="rect">
            <a:avLst/>
          </a:prstGeom>
          <a:noFill/>
          <a:ln/>
        </p:spPr>
        <p:txBody>
          <a:bodyPr wrap="square" lIns="0" tIns="0" rIns="0" bIns="0" rtlCol="0" anchor="ctr"/>
          <a:lstStyle/>
          <a:p>
            <a:pPr marL="0" indent="0" algn="r">
              <a:buNone/>
            </a:pPr>
            <a:r>
              <a:rPr lang="en-US" sz="1700" b="1" dirty="0">
                <a:solidFill>
                  <a:srgbClr val="29A9E0"/>
                </a:solidFill>
                <a:latin typeface="Arial Black" pitchFamily="34" charset="0"/>
                <a:ea typeface="Arial Black" pitchFamily="34" charset="-122"/>
                <a:cs typeface="Arial Black" pitchFamily="34" charset="-120"/>
              </a:rPr>
              <a:t>98.8%</a:t>
            </a:r>
            <a:endParaRPr lang="en-US" sz="1700" dirty="0"/>
          </a:p>
        </p:txBody>
      </p:sp>
      <p:sp>
        <p:nvSpPr>
          <p:cNvPr id="40" name="Shape 38"/>
          <p:cNvSpPr/>
          <p:nvPr/>
        </p:nvSpPr>
        <p:spPr>
          <a:xfrm>
            <a:off x="5440680" y="2386584"/>
            <a:ext cx="3246120" cy="640080"/>
          </a:xfrm>
          <a:prstGeom prst="roundRect">
            <a:avLst>
              <a:gd name="adj" fmla="val 5714"/>
            </a:avLst>
          </a:prstGeom>
          <a:solidFill>
            <a:srgbClr val="14243C"/>
          </a:solidFill>
          <a:ln w="15240">
            <a:solidFill>
              <a:srgbClr val="F2C719"/>
            </a:solidFill>
            <a:prstDash val="solid"/>
          </a:ln>
        </p:spPr>
      </p:sp>
      <p:sp>
        <p:nvSpPr>
          <p:cNvPr id="41" name="Text 39"/>
          <p:cNvSpPr/>
          <p:nvPr/>
        </p:nvSpPr>
        <p:spPr>
          <a:xfrm>
            <a:off x="5577840" y="2459736"/>
            <a:ext cx="1828800" cy="256032"/>
          </a:xfrm>
          <a:prstGeom prst="rect">
            <a:avLst/>
          </a:prstGeom>
          <a:noFill/>
          <a:ln/>
        </p:spPr>
        <p:txBody>
          <a:bodyPr wrap="square" lIns="0" tIns="0" rIns="0" bIns="0" rtlCol="0" anchor="ctr"/>
          <a:lstStyle/>
          <a:p>
            <a:pPr marL="0" indent="0">
              <a:buNone/>
            </a:pPr>
            <a:r>
              <a:rPr lang="en-US" sz="1050" b="1" dirty="0" err="1">
                <a:solidFill>
                  <a:srgbClr val="F2C719"/>
                </a:solidFill>
                <a:latin typeface="Arial"/>
                <a:ea typeface="Arial" pitchFamily="34" charset="-122"/>
                <a:cs typeface="Arial"/>
              </a:rPr>
              <a:t>Âge</a:t>
            </a:r>
            <a:r>
              <a:rPr lang="en-US" sz="1050" b="1" dirty="0">
                <a:solidFill>
                  <a:srgbClr val="F2C719"/>
                </a:solidFill>
                <a:latin typeface="Arial"/>
                <a:ea typeface="Arial" pitchFamily="34" charset="-122"/>
                <a:cs typeface="Arial"/>
              </a:rPr>
              <a:t> 16+</a:t>
            </a:r>
            <a:endParaRPr lang="en-US" sz="1050" dirty="0">
              <a:latin typeface="Arial"/>
              <a:cs typeface="Arial"/>
            </a:endParaRPr>
          </a:p>
        </p:txBody>
      </p:sp>
      <p:sp>
        <p:nvSpPr>
          <p:cNvPr id="42" name="Text 40"/>
          <p:cNvSpPr/>
          <p:nvPr/>
        </p:nvSpPr>
        <p:spPr>
          <a:xfrm>
            <a:off x="5577840" y="2715768"/>
            <a:ext cx="1828800" cy="237744"/>
          </a:xfrm>
          <a:prstGeom prst="rect">
            <a:avLst/>
          </a:prstGeom>
          <a:noFill/>
          <a:ln/>
        </p:spPr>
        <p:txBody>
          <a:bodyPr wrap="square" lIns="0" tIns="0" rIns="0" bIns="0" rtlCol="0" anchor="ctr"/>
          <a:lstStyle/>
          <a:p>
            <a:r>
              <a:rPr lang="en-US" sz="900">
                <a:solidFill>
                  <a:srgbClr val="9AA3B2"/>
                </a:solidFill>
                <a:latin typeface="Arial"/>
                <a:cs typeface="Arial"/>
              </a:rPr>
              <a:t>333 jeux</a:t>
            </a:r>
            <a:endParaRPr lang="en-US" sz="900">
              <a:latin typeface="Arial"/>
              <a:cs typeface="Arial"/>
            </a:endParaRPr>
          </a:p>
        </p:txBody>
      </p:sp>
      <p:sp>
        <p:nvSpPr>
          <p:cNvPr id="43" name="Text 41"/>
          <p:cNvSpPr/>
          <p:nvPr/>
        </p:nvSpPr>
        <p:spPr>
          <a:xfrm>
            <a:off x="7132320" y="2496312"/>
            <a:ext cx="1417320" cy="411480"/>
          </a:xfrm>
          <a:prstGeom prst="rect">
            <a:avLst/>
          </a:prstGeom>
          <a:noFill/>
          <a:ln/>
        </p:spPr>
        <p:txBody>
          <a:bodyPr wrap="square" lIns="0" tIns="0" rIns="0" bIns="0" rtlCol="0" anchor="ctr"/>
          <a:lstStyle/>
          <a:p>
            <a:pPr marL="0" indent="0" algn="r">
              <a:buNone/>
            </a:pPr>
            <a:r>
              <a:rPr lang="en-US" sz="1700" b="1">
                <a:solidFill>
                  <a:srgbClr val="F2C719"/>
                </a:solidFill>
                <a:latin typeface="Arial Black"/>
              </a:rPr>
              <a:t>0.6%</a:t>
            </a:r>
            <a:endParaRPr lang="en-US" sz="1700" dirty="0"/>
          </a:p>
        </p:txBody>
      </p:sp>
      <p:sp>
        <p:nvSpPr>
          <p:cNvPr id="44" name="Shape 42"/>
          <p:cNvSpPr/>
          <p:nvPr/>
        </p:nvSpPr>
        <p:spPr>
          <a:xfrm>
            <a:off x="5440680" y="3127248"/>
            <a:ext cx="3246120" cy="640080"/>
          </a:xfrm>
          <a:prstGeom prst="roundRect">
            <a:avLst>
              <a:gd name="adj" fmla="val 5714"/>
            </a:avLst>
          </a:prstGeom>
          <a:solidFill>
            <a:srgbClr val="14243C"/>
          </a:solidFill>
          <a:ln w="15240">
            <a:solidFill>
              <a:srgbClr val="EF3E5C"/>
            </a:solidFill>
            <a:prstDash val="solid"/>
          </a:ln>
        </p:spPr>
      </p:sp>
      <p:sp>
        <p:nvSpPr>
          <p:cNvPr id="45" name="Text 43"/>
          <p:cNvSpPr/>
          <p:nvPr/>
        </p:nvSpPr>
        <p:spPr>
          <a:xfrm>
            <a:off x="5577840" y="3200400"/>
            <a:ext cx="1828800" cy="256032"/>
          </a:xfrm>
          <a:prstGeom prst="rect">
            <a:avLst/>
          </a:prstGeom>
          <a:noFill/>
          <a:ln/>
        </p:spPr>
        <p:txBody>
          <a:bodyPr wrap="square" lIns="0" tIns="0" rIns="0" bIns="0" rtlCol="0" anchor="ctr"/>
          <a:lstStyle/>
          <a:p>
            <a:pPr marL="0" indent="0">
              <a:buNone/>
            </a:pPr>
            <a:r>
              <a:rPr lang="en-US" sz="1050" b="1" dirty="0" err="1">
                <a:solidFill>
                  <a:srgbClr val="EF3E5C"/>
                </a:solidFill>
                <a:latin typeface="Arial"/>
                <a:ea typeface="Arial" pitchFamily="34" charset="-122"/>
                <a:cs typeface="Arial"/>
              </a:rPr>
              <a:t>Âge</a:t>
            </a:r>
            <a:r>
              <a:rPr lang="en-US" sz="1050" b="1" dirty="0">
                <a:solidFill>
                  <a:srgbClr val="EF3E5C"/>
                </a:solidFill>
                <a:latin typeface="Arial"/>
                <a:ea typeface="Arial" pitchFamily="34" charset="-122"/>
                <a:cs typeface="Arial"/>
              </a:rPr>
              <a:t> 18+</a:t>
            </a:r>
            <a:endParaRPr lang="en-US" sz="1050" dirty="0">
              <a:latin typeface="Arial"/>
              <a:cs typeface="Arial"/>
            </a:endParaRPr>
          </a:p>
        </p:txBody>
      </p:sp>
      <p:sp>
        <p:nvSpPr>
          <p:cNvPr id="46" name="Text 44"/>
          <p:cNvSpPr/>
          <p:nvPr/>
        </p:nvSpPr>
        <p:spPr>
          <a:xfrm>
            <a:off x="5577840" y="3456432"/>
            <a:ext cx="1828800" cy="237744"/>
          </a:xfrm>
          <a:prstGeom prst="rect">
            <a:avLst/>
          </a:prstGeom>
          <a:noFill/>
          <a:ln/>
        </p:spPr>
        <p:txBody>
          <a:bodyPr wrap="square" lIns="0" tIns="0" rIns="0" bIns="0" rtlCol="0" anchor="ctr"/>
          <a:lstStyle/>
          <a:p>
            <a:r>
              <a:rPr lang="en-US" sz="900">
                <a:solidFill>
                  <a:srgbClr val="9AA3B2"/>
                </a:solidFill>
                <a:latin typeface="Arial"/>
                <a:cs typeface="Arial"/>
              </a:rPr>
              <a:t>306 jeux</a:t>
            </a:r>
            <a:endParaRPr lang="en-US" sz="900">
              <a:latin typeface="Arial"/>
              <a:cs typeface="Arial"/>
            </a:endParaRPr>
          </a:p>
        </p:txBody>
      </p:sp>
      <p:sp>
        <p:nvSpPr>
          <p:cNvPr id="47" name="Text 45"/>
          <p:cNvSpPr/>
          <p:nvPr/>
        </p:nvSpPr>
        <p:spPr>
          <a:xfrm>
            <a:off x="7132320" y="3236976"/>
            <a:ext cx="1417320" cy="411480"/>
          </a:xfrm>
          <a:prstGeom prst="rect">
            <a:avLst/>
          </a:prstGeom>
          <a:noFill/>
          <a:ln/>
        </p:spPr>
        <p:txBody>
          <a:bodyPr wrap="square" lIns="0" tIns="0" rIns="0" bIns="0" rtlCol="0" anchor="ctr"/>
          <a:lstStyle/>
          <a:p>
            <a:pPr marL="0" indent="0" algn="r">
              <a:buNone/>
            </a:pPr>
            <a:r>
              <a:rPr lang="en-US" sz="1700" b="1">
                <a:solidFill>
                  <a:srgbClr val="EF3E5C"/>
                </a:solidFill>
                <a:latin typeface="Arial Black"/>
              </a:rPr>
              <a:t>0.6%</a:t>
            </a:r>
            <a:endParaRPr lang="en-US" sz="1700">
              <a:latin typeface="Arial Black"/>
            </a:endParaRPr>
          </a:p>
        </p:txBody>
      </p:sp>
      <p:sp>
        <p:nvSpPr>
          <p:cNvPr id="52" name="Text 50"/>
          <p:cNvSpPr/>
          <p:nvPr/>
        </p:nvSpPr>
        <p:spPr>
          <a:xfrm>
            <a:off x="457200" y="4736592"/>
            <a:ext cx="8229600" cy="320040"/>
          </a:xfrm>
          <a:prstGeom prst="rect">
            <a:avLst/>
          </a:prstGeom>
          <a:noFill/>
          <a:ln/>
        </p:spPr>
        <p:txBody>
          <a:bodyPr wrap="square" lIns="0" tIns="0" rIns="0" bIns="0" rtlCol="0" anchor="ctr"/>
          <a:lstStyle/>
          <a:p>
            <a:pPr marL="0" indent="0" algn="l">
              <a:buNone/>
            </a:pPr>
            <a:r>
              <a:rPr lang="en-US" sz="1200" i="1" dirty="0">
                <a:solidFill>
                  <a:srgbClr val="29A9E0"/>
                </a:solidFill>
                <a:latin typeface="Arial"/>
                <a:ea typeface="Arial" pitchFamily="34" charset="-122"/>
                <a:cs typeface="Arial"/>
              </a:rPr>
              <a:t>Insight : 98.8% des jeux </a:t>
            </a:r>
            <a:r>
              <a:rPr lang="en-US" sz="1200" i="1" dirty="0" err="1">
                <a:solidFill>
                  <a:srgbClr val="29A9E0"/>
                </a:solidFill>
                <a:latin typeface="Arial"/>
                <a:ea typeface="Arial" pitchFamily="34" charset="-122"/>
                <a:cs typeface="Arial"/>
              </a:rPr>
              <a:t>sont</a:t>
            </a:r>
            <a:r>
              <a:rPr lang="en-US" sz="1200" i="1" dirty="0">
                <a:solidFill>
                  <a:srgbClr val="29A9E0"/>
                </a:solidFill>
                <a:latin typeface="Arial"/>
                <a:ea typeface="Arial" pitchFamily="34" charset="-122"/>
                <a:cs typeface="Arial"/>
              </a:rPr>
              <a:t> </a:t>
            </a:r>
            <a:r>
              <a:rPr lang="en-US" sz="1200" i="1" dirty="0" err="1">
                <a:solidFill>
                  <a:srgbClr val="29A9E0"/>
                </a:solidFill>
                <a:latin typeface="Arial"/>
                <a:ea typeface="Arial" pitchFamily="34" charset="-122"/>
                <a:cs typeface="Arial"/>
              </a:rPr>
              <a:t>accessibles</a:t>
            </a:r>
            <a:r>
              <a:rPr lang="en-US" sz="1200" i="1" dirty="0">
                <a:solidFill>
                  <a:srgbClr val="29A9E0"/>
                </a:solidFill>
                <a:latin typeface="Arial"/>
                <a:ea typeface="Arial" pitchFamily="34" charset="-122"/>
                <a:cs typeface="Arial"/>
              </a:rPr>
              <a:t> à </a:t>
            </a:r>
            <a:r>
              <a:rPr lang="en-US" sz="1200" i="1" dirty="0" err="1">
                <a:solidFill>
                  <a:srgbClr val="29A9E0"/>
                </a:solidFill>
                <a:latin typeface="Arial"/>
                <a:ea typeface="Arial" pitchFamily="34" charset="-122"/>
                <a:cs typeface="Arial"/>
              </a:rPr>
              <a:t>tous</a:t>
            </a:r>
            <a:r>
              <a:rPr lang="en-US" sz="1200" i="1" dirty="0">
                <a:solidFill>
                  <a:srgbClr val="29A9E0"/>
                </a:solidFill>
                <a:latin typeface="Arial"/>
                <a:ea typeface="Arial" pitchFamily="34" charset="-122"/>
                <a:cs typeface="Arial"/>
              </a:rPr>
              <a:t>.</a:t>
            </a:r>
            <a:endParaRPr lang="en-US" sz="1200">
              <a:latin typeface="Arial"/>
              <a:ea typeface="Calibri"/>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56032"/>
            <a:ext cx="7772400" cy="274320"/>
          </a:xfrm>
          <a:prstGeom prst="rect">
            <a:avLst/>
          </a:prstGeom>
          <a:noFill/>
          <a:ln/>
        </p:spPr>
        <p:txBody>
          <a:bodyPr wrap="square" lIns="0" tIns="0" rIns="0" bIns="0" rtlCol="0" anchor="ctr"/>
          <a:lstStyle/>
          <a:p>
            <a:pPr marL="0" indent="0">
              <a:buNone/>
            </a:pPr>
            <a:r>
              <a:rPr lang="en-US" sz="1100" b="1" kern="0" spc="300" dirty="0">
                <a:solidFill>
                  <a:srgbClr val="F2C719"/>
                </a:solidFill>
                <a:latin typeface="Arial" pitchFamily="34" charset="0"/>
                <a:ea typeface="Arial" pitchFamily="34" charset="-122"/>
                <a:cs typeface="Arial" pitchFamily="34" charset="-120"/>
              </a:rPr>
              <a:t>A N A L Y S E   D E S   G E N R E S</a:t>
            </a:r>
            <a:endParaRPr lang="en-US" sz="1100" dirty="0"/>
          </a:p>
        </p:txBody>
      </p:sp>
      <p:sp>
        <p:nvSpPr>
          <p:cNvPr id="3" name="Text 1"/>
          <p:cNvSpPr/>
          <p:nvPr/>
        </p:nvSpPr>
        <p:spPr>
          <a:xfrm>
            <a:off x="420624" y="502920"/>
            <a:ext cx="822960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Arial Black" pitchFamily="34" charset="0"/>
                <a:ea typeface="Arial Black" pitchFamily="34" charset="-122"/>
                <a:cs typeface="Arial Black" pitchFamily="34" charset="-120"/>
              </a:rPr>
              <a:t>Quels genres dominent ?</a:t>
            </a:r>
            <a:endParaRPr lang="en-US" sz="3400" dirty="0"/>
          </a:p>
        </p:txBody>
      </p:sp>
      <p:sp>
        <p:nvSpPr>
          <p:cNvPr id="4" name="Shape 2"/>
          <p:cNvSpPr/>
          <p:nvPr/>
        </p:nvSpPr>
        <p:spPr>
          <a:xfrm>
            <a:off x="457200" y="1371600"/>
            <a:ext cx="5120640" cy="3154680"/>
          </a:xfrm>
          <a:prstGeom prst="roundRect">
            <a:avLst>
              <a:gd name="adj" fmla="val 1739"/>
            </a:avLst>
          </a:prstGeom>
          <a:solidFill>
            <a:srgbClr val="16263F"/>
          </a:solidFill>
          <a:ln w="12700">
            <a:solidFill>
              <a:srgbClr val="24344F"/>
            </a:solidFill>
            <a:prstDash val="solid"/>
          </a:ln>
        </p:spPr>
        <p:txBody>
          <a:bodyPr/>
          <a:lstStyle/>
          <a:p>
            <a:endParaRPr/>
          </a:p>
        </p:txBody>
      </p:sp>
      <p:sp>
        <p:nvSpPr>
          <p:cNvPr id="5" name="Shape 3"/>
          <p:cNvSpPr/>
          <p:nvPr/>
        </p:nvSpPr>
        <p:spPr>
          <a:xfrm>
            <a:off x="1965960" y="1554480"/>
            <a:ext cx="0" cy="2468880"/>
          </a:xfrm>
          <a:prstGeom prst="line">
            <a:avLst/>
          </a:prstGeom>
          <a:noFill/>
          <a:ln w="6350">
            <a:solidFill>
              <a:srgbClr val="2A3A55"/>
            </a:solidFill>
            <a:prstDash val="solid"/>
          </a:ln>
        </p:spPr>
        <p:txBody>
          <a:bodyPr/>
          <a:lstStyle/>
          <a:p>
            <a:endParaRPr/>
          </a:p>
        </p:txBody>
      </p:sp>
      <p:sp>
        <p:nvSpPr>
          <p:cNvPr id="6" name="Text 4"/>
          <p:cNvSpPr/>
          <p:nvPr/>
        </p:nvSpPr>
        <p:spPr>
          <a:xfrm>
            <a:off x="160020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0</a:t>
            </a:r>
            <a:endParaRPr lang="en-US" sz="800" dirty="0"/>
          </a:p>
        </p:txBody>
      </p:sp>
      <p:sp>
        <p:nvSpPr>
          <p:cNvPr id="7" name="Shape 5"/>
          <p:cNvSpPr/>
          <p:nvPr/>
        </p:nvSpPr>
        <p:spPr>
          <a:xfrm>
            <a:off x="2743200" y="1554480"/>
            <a:ext cx="0" cy="2468880"/>
          </a:xfrm>
          <a:prstGeom prst="line">
            <a:avLst/>
          </a:prstGeom>
          <a:noFill/>
          <a:ln w="6350">
            <a:solidFill>
              <a:srgbClr val="2A3A55"/>
            </a:solidFill>
            <a:prstDash val="solid"/>
          </a:ln>
        </p:spPr>
        <p:txBody>
          <a:bodyPr/>
          <a:lstStyle/>
          <a:p>
            <a:endParaRPr/>
          </a:p>
        </p:txBody>
      </p:sp>
      <p:sp>
        <p:nvSpPr>
          <p:cNvPr id="8" name="Text 6"/>
          <p:cNvSpPr/>
          <p:nvPr/>
        </p:nvSpPr>
        <p:spPr>
          <a:xfrm>
            <a:off x="237744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10 000</a:t>
            </a:r>
            <a:endParaRPr lang="en-US" sz="800" dirty="0"/>
          </a:p>
        </p:txBody>
      </p:sp>
      <p:sp>
        <p:nvSpPr>
          <p:cNvPr id="9" name="Shape 7"/>
          <p:cNvSpPr/>
          <p:nvPr/>
        </p:nvSpPr>
        <p:spPr>
          <a:xfrm>
            <a:off x="3520440" y="1554480"/>
            <a:ext cx="0" cy="2468880"/>
          </a:xfrm>
          <a:prstGeom prst="line">
            <a:avLst/>
          </a:prstGeom>
          <a:noFill/>
          <a:ln w="6350">
            <a:solidFill>
              <a:srgbClr val="2A3A55"/>
            </a:solidFill>
            <a:prstDash val="solid"/>
          </a:ln>
        </p:spPr>
        <p:txBody>
          <a:bodyPr/>
          <a:lstStyle/>
          <a:p>
            <a:endParaRPr/>
          </a:p>
        </p:txBody>
      </p:sp>
      <p:sp>
        <p:nvSpPr>
          <p:cNvPr id="10" name="Text 8"/>
          <p:cNvSpPr/>
          <p:nvPr/>
        </p:nvSpPr>
        <p:spPr>
          <a:xfrm>
            <a:off x="315468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20 000</a:t>
            </a:r>
            <a:endParaRPr lang="en-US" sz="800" dirty="0"/>
          </a:p>
        </p:txBody>
      </p:sp>
      <p:sp>
        <p:nvSpPr>
          <p:cNvPr id="11" name="Shape 9"/>
          <p:cNvSpPr/>
          <p:nvPr/>
        </p:nvSpPr>
        <p:spPr>
          <a:xfrm>
            <a:off x="4297680" y="1554480"/>
            <a:ext cx="0" cy="2468880"/>
          </a:xfrm>
          <a:prstGeom prst="line">
            <a:avLst/>
          </a:prstGeom>
          <a:noFill/>
          <a:ln w="6350">
            <a:solidFill>
              <a:srgbClr val="2A3A55"/>
            </a:solidFill>
            <a:prstDash val="solid"/>
          </a:ln>
        </p:spPr>
        <p:txBody>
          <a:bodyPr/>
          <a:lstStyle/>
          <a:p>
            <a:endParaRPr/>
          </a:p>
        </p:txBody>
      </p:sp>
      <p:sp>
        <p:nvSpPr>
          <p:cNvPr id="12" name="Text 10"/>
          <p:cNvSpPr/>
          <p:nvPr/>
        </p:nvSpPr>
        <p:spPr>
          <a:xfrm>
            <a:off x="393192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30 000</a:t>
            </a:r>
            <a:endParaRPr lang="en-US" sz="800" dirty="0"/>
          </a:p>
        </p:txBody>
      </p:sp>
      <p:sp>
        <p:nvSpPr>
          <p:cNvPr id="13" name="Shape 11"/>
          <p:cNvSpPr/>
          <p:nvPr/>
        </p:nvSpPr>
        <p:spPr>
          <a:xfrm>
            <a:off x="5074920" y="1554480"/>
            <a:ext cx="0" cy="2468880"/>
          </a:xfrm>
          <a:prstGeom prst="line">
            <a:avLst/>
          </a:prstGeom>
          <a:noFill/>
          <a:ln w="6350">
            <a:solidFill>
              <a:srgbClr val="2A3A55"/>
            </a:solidFill>
            <a:prstDash val="solid"/>
          </a:ln>
        </p:spPr>
        <p:txBody>
          <a:bodyPr/>
          <a:lstStyle/>
          <a:p>
            <a:endParaRPr/>
          </a:p>
        </p:txBody>
      </p:sp>
      <p:sp>
        <p:nvSpPr>
          <p:cNvPr id="14" name="Text 12"/>
          <p:cNvSpPr/>
          <p:nvPr/>
        </p:nvSpPr>
        <p:spPr>
          <a:xfrm>
            <a:off x="4709160" y="4233672"/>
            <a:ext cx="731520" cy="201168"/>
          </a:xfrm>
          <a:prstGeom prst="rect">
            <a:avLst/>
          </a:prstGeom>
          <a:noFill/>
          <a:ln/>
        </p:spPr>
        <p:txBody>
          <a:bodyPr wrap="square" lIns="0" tIns="0" rIns="0" bIns="0" rtlCol="0" anchor="ctr"/>
          <a:lstStyle/>
          <a:p>
            <a:pPr marL="0" indent="0" algn="ctr">
              <a:buNone/>
            </a:pPr>
            <a:r>
              <a:rPr lang="en-US" sz="800" dirty="0">
                <a:solidFill>
                  <a:srgbClr val="9AA3B2"/>
                </a:solidFill>
                <a:latin typeface="Arial" pitchFamily="34" charset="0"/>
                <a:ea typeface="Arial" pitchFamily="34" charset="-122"/>
                <a:cs typeface="Arial" pitchFamily="34" charset="-120"/>
              </a:rPr>
              <a:t>40 000</a:t>
            </a:r>
            <a:endParaRPr lang="en-US" sz="800" dirty="0"/>
          </a:p>
        </p:txBody>
      </p:sp>
      <p:sp>
        <p:nvSpPr>
          <p:cNvPr id="15" name="Text 13"/>
          <p:cNvSpPr/>
          <p:nvPr/>
        </p:nvSpPr>
        <p:spPr>
          <a:xfrm>
            <a:off x="548640" y="1639715"/>
            <a:ext cx="1371600" cy="299793"/>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RPG</a:t>
            </a:r>
            <a:endParaRPr lang="en-US" sz="1050" dirty="0"/>
          </a:p>
        </p:txBody>
      </p:sp>
      <p:sp>
        <p:nvSpPr>
          <p:cNvPr id="16" name="Shape 14"/>
          <p:cNvSpPr/>
          <p:nvPr/>
        </p:nvSpPr>
        <p:spPr>
          <a:xfrm>
            <a:off x="1965960" y="1685435"/>
            <a:ext cx="741021" cy="208353"/>
          </a:xfrm>
          <a:prstGeom prst="rect">
            <a:avLst/>
          </a:prstGeom>
          <a:solidFill>
            <a:srgbClr val="29A9E0"/>
          </a:solidFill>
          <a:ln/>
        </p:spPr>
        <p:txBody>
          <a:bodyPr/>
          <a:lstStyle/>
          <a:p>
            <a:endParaRPr/>
          </a:p>
        </p:txBody>
      </p:sp>
      <p:sp>
        <p:nvSpPr>
          <p:cNvPr id="17" name="Text 15"/>
          <p:cNvSpPr/>
          <p:nvPr/>
        </p:nvSpPr>
        <p:spPr>
          <a:xfrm>
            <a:off x="2770989" y="1639715"/>
            <a:ext cx="914400" cy="299793"/>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9 534</a:t>
            </a:r>
            <a:endParaRPr lang="en-US" sz="950" dirty="0"/>
          </a:p>
        </p:txBody>
      </p:sp>
      <p:sp>
        <p:nvSpPr>
          <p:cNvPr id="18" name="Text 16"/>
          <p:cNvSpPr/>
          <p:nvPr/>
        </p:nvSpPr>
        <p:spPr>
          <a:xfrm>
            <a:off x="548640" y="2018538"/>
            <a:ext cx="1371600" cy="299793"/>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Simulation</a:t>
            </a:r>
            <a:endParaRPr lang="en-US" sz="1050" dirty="0"/>
          </a:p>
        </p:txBody>
      </p:sp>
      <p:sp>
        <p:nvSpPr>
          <p:cNvPr id="19" name="Shape 17"/>
          <p:cNvSpPr/>
          <p:nvPr/>
        </p:nvSpPr>
        <p:spPr>
          <a:xfrm>
            <a:off x="1965960" y="2064258"/>
            <a:ext cx="842217" cy="208353"/>
          </a:xfrm>
          <a:prstGeom prst="rect">
            <a:avLst/>
          </a:prstGeom>
          <a:solidFill>
            <a:srgbClr val="29A9E0"/>
          </a:solidFill>
          <a:ln/>
        </p:spPr>
        <p:txBody>
          <a:bodyPr/>
          <a:lstStyle/>
          <a:p>
            <a:endParaRPr/>
          </a:p>
        </p:txBody>
      </p:sp>
      <p:sp>
        <p:nvSpPr>
          <p:cNvPr id="20" name="Text 18"/>
          <p:cNvSpPr/>
          <p:nvPr/>
        </p:nvSpPr>
        <p:spPr>
          <a:xfrm>
            <a:off x="2872185" y="2018538"/>
            <a:ext cx="914400" cy="299793"/>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10 836</a:t>
            </a:r>
            <a:endParaRPr lang="en-US" sz="950" dirty="0"/>
          </a:p>
        </p:txBody>
      </p:sp>
      <p:sp>
        <p:nvSpPr>
          <p:cNvPr id="21" name="Text 19"/>
          <p:cNvSpPr/>
          <p:nvPr/>
        </p:nvSpPr>
        <p:spPr>
          <a:xfrm>
            <a:off x="548640" y="2397361"/>
            <a:ext cx="1371600" cy="299793"/>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Strategy</a:t>
            </a:r>
            <a:endParaRPr lang="en-US" sz="1050" dirty="0"/>
          </a:p>
        </p:txBody>
      </p:sp>
      <p:sp>
        <p:nvSpPr>
          <p:cNvPr id="22" name="Shape 20"/>
          <p:cNvSpPr/>
          <p:nvPr/>
        </p:nvSpPr>
        <p:spPr>
          <a:xfrm>
            <a:off x="1965960" y="2443081"/>
            <a:ext cx="846803" cy="208353"/>
          </a:xfrm>
          <a:prstGeom prst="rect">
            <a:avLst/>
          </a:prstGeom>
          <a:solidFill>
            <a:srgbClr val="29A9E0"/>
          </a:solidFill>
          <a:ln/>
        </p:spPr>
        <p:txBody>
          <a:bodyPr/>
          <a:lstStyle/>
          <a:p>
            <a:endParaRPr/>
          </a:p>
        </p:txBody>
      </p:sp>
      <p:sp>
        <p:nvSpPr>
          <p:cNvPr id="23" name="Text 21"/>
          <p:cNvSpPr/>
          <p:nvPr/>
        </p:nvSpPr>
        <p:spPr>
          <a:xfrm>
            <a:off x="2876771" y="2397361"/>
            <a:ext cx="914400" cy="299793"/>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10 895</a:t>
            </a:r>
            <a:endParaRPr lang="en-US" sz="950" dirty="0"/>
          </a:p>
        </p:txBody>
      </p:sp>
      <p:sp>
        <p:nvSpPr>
          <p:cNvPr id="24" name="Text 22"/>
          <p:cNvSpPr/>
          <p:nvPr/>
        </p:nvSpPr>
        <p:spPr>
          <a:xfrm>
            <a:off x="548640" y="2776184"/>
            <a:ext cx="1371600" cy="299793"/>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Adventure</a:t>
            </a:r>
            <a:endParaRPr lang="en-US" sz="1050" dirty="0"/>
          </a:p>
        </p:txBody>
      </p:sp>
      <p:sp>
        <p:nvSpPr>
          <p:cNvPr id="25" name="Shape 23"/>
          <p:cNvSpPr/>
          <p:nvPr/>
        </p:nvSpPr>
        <p:spPr>
          <a:xfrm>
            <a:off x="1965960" y="2821904"/>
            <a:ext cx="1665703" cy="208353"/>
          </a:xfrm>
          <a:prstGeom prst="rect">
            <a:avLst/>
          </a:prstGeom>
          <a:solidFill>
            <a:srgbClr val="29A9E0"/>
          </a:solidFill>
          <a:ln/>
        </p:spPr>
        <p:txBody>
          <a:bodyPr/>
          <a:lstStyle/>
          <a:p>
            <a:endParaRPr/>
          </a:p>
        </p:txBody>
      </p:sp>
      <p:sp>
        <p:nvSpPr>
          <p:cNvPr id="26" name="Text 24"/>
          <p:cNvSpPr/>
          <p:nvPr/>
        </p:nvSpPr>
        <p:spPr>
          <a:xfrm>
            <a:off x="3695671" y="2776184"/>
            <a:ext cx="914400" cy="299793"/>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21 431</a:t>
            </a:r>
            <a:endParaRPr lang="en-US" sz="950" dirty="0"/>
          </a:p>
        </p:txBody>
      </p:sp>
      <p:sp>
        <p:nvSpPr>
          <p:cNvPr id="27" name="Text 25"/>
          <p:cNvSpPr/>
          <p:nvPr/>
        </p:nvSpPr>
        <p:spPr>
          <a:xfrm>
            <a:off x="548640" y="3155007"/>
            <a:ext cx="1371600" cy="299793"/>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Casual</a:t>
            </a:r>
            <a:endParaRPr lang="en-US" sz="1050" dirty="0"/>
          </a:p>
        </p:txBody>
      </p:sp>
      <p:sp>
        <p:nvSpPr>
          <p:cNvPr id="28" name="Shape 26"/>
          <p:cNvSpPr/>
          <p:nvPr/>
        </p:nvSpPr>
        <p:spPr>
          <a:xfrm>
            <a:off x="1965960" y="3200727"/>
            <a:ext cx="1716612" cy="208353"/>
          </a:xfrm>
          <a:prstGeom prst="rect">
            <a:avLst/>
          </a:prstGeom>
          <a:solidFill>
            <a:srgbClr val="29A9E0"/>
          </a:solidFill>
          <a:ln/>
        </p:spPr>
        <p:txBody>
          <a:bodyPr/>
          <a:lstStyle/>
          <a:p>
            <a:endParaRPr/>
          </a:p>
        </p:txBody>
      </p:sp>
      <p:sp>
        <p:nvSpPr>
          <p:cNvPr id="29" name="Text 27"/>
          <p:cNvSpPr/>
          <p:nvPr/>
        </p:nvSpPr>
        <p:spPr>
          <a:xfrm>
            <a:off x="3746580" y="3155007"/>
            <a:ext cx="914400" cy="299793"/>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22 086</a:t>
            </a:r>
            <a:endParaRPr lang="en-US" sz="950" dirty="0"/>
          </a:p>
        </p:txBody>
      </p:sp>
      <p:sp>
        <p:nvSpPr>
          <p:cNvPr id="30" name="Text 28"/>
          <p:cNvSpPr/>
          <p:nvPr/>
        </p:nvSpPr>
        <p:spPr>
          <a:xfrm>
            <a:off x="548640" y="3533829"/>
            <a:ext cx="1371600" cy="299793"/>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Action</a:t>
            </a:r>
            <a:endParaRPr lang="en-US" sz="1050" dirty="0"/>
          </a:p>
        </p:txBody>
      </p:sp>
      <p:sp>
        <p:nvSpPr>
          <p:cNvPr id="31" name="Shape 29"/>
          <p:cNvSpPr/>
          <p:nvPr/>
        </p:nvSpPr>
        <p:spPr>
          <a:xfrm>
            <a:off x="1965960" y="3579549"/>
            <a:ext cx="1846645" cy="208353"/>
          </a:xfrm>
          <a:prstGeom prst="rect">
            <a:avLst/>
          </a:prstGeom>
          <a:solidFill>
            <a:srgbClr val="29A9E0"/>
          </a:solidFill>
          <a:ln/>
        </p:spPr>
        <p:txBody>
          <a:bodyPr/>
          <a:lstStyle/>
          <a:p>
            <a:endParaRPr/>
          </a:p>
        </p:txBody>
      </p:sp>
      <p:sp>
        <p:nvSpPr>
          <p:cNvPr id="32" name="Text 30"/>
          <p:cNvSpPr/>
          <p:nvPr/>
        </p:nvSpPr>
        <p:spPr>
          <a:xfrm>
            <a:off x="3876613" y="3533829"/>
            <a:ext cx="914400" cy="299793"/>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23 759</a:t>
            </a:r>
            <a:endParaRPr lang="en-US" sz="950" dirty="0"/>
          </a:p>
        </p:txBody>
      </p:sp>
      <p:sp>
        <p:nvSpPr>
          <p:cNvPr id="33" name="Text 31"/>
          <p:cNvSpPr/>
          <p:nvPr/>
        </p:nvSpPr>
        <p:spPr>
          <a:xfrm>
            <a:off x="548640" y="3912652"/>
            <a:ext cx="1371600" cy="299793"/>
          </a:xfrm>
          <a:prstGeom prst="rect">
            <a:avLst/>
          </a:prstGeom>
          <a:noFill/>
          <a:ln/>
        </p:spPr>
        <p:txBody>
          <a:bodyPr wrap="square" lIns="0" tIns="0" rIns="0" bIns="0" rtlCol="0" anchor="ctr"/>
          <a:lstStyle/>
          <a:p>
            <a:pPr marL="0" indent="0" algn="r">
              <a:buNone/>
            </a:pPr>
            <a:r>
              <a:rPr lang="en-US" sz="1050" dirty="0">
                <a:solidFill>
                  <a:srgbClr val="FFFFFF"/>
                </a:solidFill>
                <a:latin typeface="Arial" pitchFamily="34" charset="0"/>
                <a:ea typeface="Arial" pitchFamily="34" charset="-122"/>
                <a:cs typeface="Arial" pitchFamily="34" charset="-120"/>
              </a:rPr>
              <a:t>Indie</a:t>
            </a:r>
            <a:endParaRPr lang="en-US" sz="1050" dirty="0"/>
          </a:p>
        </p:txBody>
      </p:sp>
      <p:sp>
        <p:nvSpPr>
          <p:cNvPr id="34" name="Shape 32"/>
          <p:cNvSpPr/>
          <p:nvPr/>
        </p:nvSpPr>
        <p:spPr>
          <a:xfrm>
            <a:off x="1965960" y="3958372"/>
            <a:ext cx="3084166" cy="208353"/>
          </a:xfrm>
          <a:prstGeom prst="rect">
            <a:avLst/>
          </a:prstGeom>
          <a:solidFill>
            <a:srgbClr val="EF3E5C"/>
          </a:solidFill>
          <a:ln/>
        </p:spPr>
        <p:txBody>
          <a:bodyPr/>
          <a:lstStyle/>
          <a:p>
            <a:endParaRPr/>
          </a:p>
        </p:txBody>
      </p:sp>
      <p:sp>
        <p:nvSpPr>
          <p:cNvPr id="35" name="Text 33"/>
          <p:cNvSpPr/>
          <p:nvPr/>
        </p:nvSpPr>
        <p:spPr>
          <a:xfrm>
            <a:off x="5114134" y="3912652"/>
            <a:ext cx="914400" cy="299793"/>
          </a:xfrm>
          <a:prstGeom prst="rect">
            <a:avLst/>
          </a:prstGeom>
          <a:noFill/>
          <a:ln/>
        </p:spPr>
        <p:txBody>
          <a:bodyPr wrap="square" lIns="0" tIns="0" rIns="0" bIns="0" rtlCol="0" anchor="ctr"/>
          <a:lstStyle/>
          <a:p>
            <a:pPr marL="0" indent="0" algn="l">
              <a:buNone/>
            </a:pPr>
            <a:r>
              <a:rPr lang="en-US" sz="950" dirty="0">
                <a:solidFill>
                  <a:srgbClr val="FFFFFF"/>
                </a:solidFill>
                <a:latin typeface="Arial" pitchFamily="34" charset="0"/>
                <a:ea typeface="Arial" pitchFamily="34" charset="-122"/>
                <a:cs typeface="Arial" pitchFamily="34" charset="-120"/>
              </a:rPr>
              <a:t>39 681</a:t>
            </a:r>
            <a:endParaRPr lang="en-US" sz="950" dirty="0"/>
          </a:p>
        </p:txBody>
      </p:sp>
      <p:sp>
        <p:nvSpPr>
          <p:cNvPr id="36" name="Shape 34"/>
          <p:cNvSpPr/>
          <p:nvPr/>
        </p:nvSpPr>
        <p:spPr>
          <a:xfrm>
            <a:off x="5806440" y="1371600"/>
            <a:ext cx="2880360" cy="1051560"/>
          </a:xfrm>
          <a:prstGeom prst="roundRect">
            <a:avLst>
              <a:gd name="adj" fmla="val 4348"/>
            </a:avLst>
          </a:prstGeom>
          <a:solidFill>
            <a:srgbClr val="14243C"/>
          </a:solidFill>
          <a:ln w="19050">
            <a:solidFill>
              <a:srgbClr val="EF3E5C"/>
            </a:solidFill>
            <a:prstDash val="solid"/>
          </a:ln>
        </p:spPr>
        <p:txBody>
          <a:bodyPr/>
          <a:lstStyle/>
          <a:p>
            <a:endParaRPr/>
          </a:p>
        </p:txBody>
      </p:sp>
      <p:sp>
        <p:nvSpPr>
          <p:cNvPr id="37" name="Text 35"/>
          <p:cNvSpPr/>
          <p:nvPr/>
        </p:nvSpPr>
        <p:spPr>
          <a:xfrm>
            <a:off x="5971032" y="1490472"/>
            <a:ext cx="2551176" cy="256032"/>
          </a:xfrm>
          <a:prstGeom prst="rect">
            <a:avLst/>
          </a:prstGeom>
          <a:noFill/>
          <a:ln/>
        </p:spPr>
        <p:txBody>
          <a:bodyPr wrap="square" lIns="0" tIns="0" rIns="0" bIns="0" rtlCol="0" anchor="ctr"/>
          <a:lstStyle/>
          <a:p>
            <a:pPr marL="0" indent="0">
              <a:buNone/>
            </a:pPr>
            <a:r>
              <a:rPr lang="en-US" sz="1200" b="1">
                <a:solidFill>
                  <a:srgbClr val="EF3E5C"/>
                </a:solidFill>
                <a:latin typeface="Arial"/>
                <a:cs typeface="Arial"/>
              </a:rPr>
              <a:t>Indie</a:t>
            </a:r>
            <a:endParaRPr lang="en-US"/>
          </a:p>
        </p:txBody>
      </p:sp>
      <p:sp>
        <p:nvSpPr>
          <p:cNvPr id="38" name="Text 36"/>
          <p:cNvSpPr/>
          <p:nvPr/>
        </p:nvSpPr>
        <p:spPr>
          <a:xfrm>
            <a:off x="5971032" y="1773936"/>
            <a:ext cx="2551176"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39 681 jeux</a:t>
            </a:r>
            <a:endParaRPr lang="en-US" sz="1600" dirty="0"/>
          </a:p>
        </p:txBody>
      </p:sp>
      <p:sp>
        <p:nvSpPr>
          <p:cNvPr id="39" name="Text 37"/>
          <p:cNvSpPr/>
          <p:nvPr/>
        </p:nvSpPr>
        <p:spPr>
          <a:xfrm>
            <a:off x="5971032" y="2139696"/>
            <a:ext cx="255117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Marché très concurrentiel</a:t>
            </a:r>
            <a:endParaRPr lang="en-US" sz="900" dirty="0"/>
          </a:p>
        </p:txBody>
      </p:sp>
      <p:sp>
        <p:nvSpPr>
          <p:cNvPr id="40" name="Shape 38"/>
          <p:cNvSpPr/>
          <p:nvPr/>
        </p:nvSpPr>
        <p:spPr>
          <a:xfrm>
            <a:off x="5806440" y="2478024"/>
            <a:ext cx="2880360" cy="1051560"/>
          </a:xfrm>
          <a:prstGeom prst="roundRect">
            <a:avLst>
              <a:gd name="adj" fmla="val 4348"/>
            </a:avLst>
          </a:prstGeom>
          <a:solidFill>
            <a:srgbClr val="14243C"/>
          </a:solidFill>
          <a:ln w="19050">
            <a:solidFill>
              <a:srgbClr val="F2C719"/>
            </a:solidFill>
            <a:prstDash val="solid"/>
          </a:ln>
        </p:spPr>
        <p:txBody>
          <a:bodyPr/>
          <a:lstStyle/>
          <a:p>
            <a:endParaRPr/>
          </a:p>
        </p:txBody>
      </p:sp>
      <p:sp>
        <p:nvSpPr>
          <p:cNvPr id="41" name="Text 39"/>
          <p:cNvSpPr/>
          <p:nvPr/>
        </p:nvSpPr>
        <p:spPr>
          <a:xfrm>
            <a:off x="5971032" y="2596896"/>
            <a:ext cx="2551176" cy="256032"/>
          </a:xfrm>
          <a:prstGeom prst="rect">
            <a:avLst/>
          </a:prstGeom>
          <a:noFill/>
          <a:ln/>
        </p:spPr>
        <p:txBody>
          <a:bodyPr wrap="square" lIns="0" tIns="0" rIns="0" bIns="0" rtlCol="0" anchor="ctr"/>
          <a:lstStyle/>
          <a:p>
            <a:r>
              <a:rPr lang="en-US" sz="1200" b="1" dirty="0">
                <a:solidFill>
                  <a:srgbClr val="F2C719"/>
                </a:solidFill>
                <a:latin typeface="Arial"/>
                <a:ea typeface="Arial" pitchFamily="34" charset="-122"/>
                <a:cs typeface="Arial"/>
              </a:rPr>
              <a:t>Action &amp; Adventure: </a:t>
            </a:r>
            <a:r>
              <a:rPr lang="en-US" sz="1200" b="1" dirty="0" err="1">
                <a:solidFill>
                  <a:srgbClr val="F2C719"/>
                </a:solidFill>
                <a:latin typeface="Arial"/>
                <a:ea typeface="Arial" pitchFamily="34" charset="-122"/>
                <a:cs typeface="Arial"/>
              </a:rPr>
              <a:t>lucratif</a:t>
            </a:r>
            <a:endParaRPr lang="en-US" sz="1200" dirty="0" err="1">
              <a:latin typeface="Arial"/>
              <a:cs typeface="Arial"/>
            </a:endParaRPr>
          </a:p>
        </p:txBody>
      </p:sp>
      <p:sp>
        <p:nvSpPr>
          <p:cNvPr id="42" name="Text 40"/>
          <p:cNvSpPr/>
          <p:nvPr/>
        </p:nvSpPr>
        <p:spPr>
          <a:xfrm>
            <a:off x="5971032" y="2880360"/>
            <a:ext cx="2551176" cy="347472"/>
          </a:xfrm>
          <a:prstGeom prst="rect">
            <a:avLst/>
          </a:prstGeom>
          <a:noFill/>
          <a:ln/>
        </p:spPr>
        <p:txBody>
          <a:bodyPr wrap="square" lIns="0" tIns="0" rIns="0" bIns="0" rtlCol="0" anchor="ctr"/>
          <a:lstStyle/>
          <a:p>
            <a:r>
              <a:rPr lang="en-US" sz="1600" b="1">
                <a:solidFill>
                  <a:srgbClr val="FFFFFF"/>
                </a:solidFill>
                <a:latin typeface="Arial"/>
                <a:ea typeface="Arial" pitchFamily="34" charset="-122"/>
                <a:cs typeface="Arial"/>
              </a:rPr>
              <a:t>5,9 milliards / 3.8 milliards</a:t>
            </a:r>
            <a:endParaRPr lang="en-US" sz="1600">
              <a:latin typeface="Arial"/>
              <a:cs typeface="Arial"/>
            </a:endParaRPr>
          </a:p>
        </p:txBody>
      </p:sp>
      <p:sp>
        <p:nvSpPr>
          <p:cNvPr id="44" name="Shape 42"/>
          <p:cNvSpPr/>
          <p:nvPr/>
        </p:nvSpPr>
        <p:spPr>
          <a:xfrm>
            <a:off x="5806440" y="3584448"/>
            <a:ext cx="2880360" cy="1051560"/>
          </a:xfrm>
          <a:prstGeom prst="roundRect">
            <a:avLst>
              <a:gd name="adj" fmla="val 4348"/>
            </a:avLst>
          </a:prstGeom>
          <a:solidFill>
            <a:srgbClr val="14243C"/>
          </a:solidFill>
          <a:ln w="19050">
            <a:solidFill>
              <a:srgbClr val="47B25B"/>
            </a:solidFill>
            <a:prstDash val="solid"/>
          </a:ln>
        </p:spPr>
      </p:sp>
      <p:sp>
        <p:nvSpPr>
          <p:cNvPr id="45" name="Text 43"/>
          <p:cNvSpPr/>
          <p:nvPr/>
        </p:nvSpPr>
        <p:spPr>
          <a:xfrm>
            <a:off x="5971032" y="3703320"/>
            <a:ext cx="2551176" cy="256032"/>
          </a:xfrm>
          <a:prstGeom prst="rect">
            <a:avLst/>
          </a:prstGeom>
          <a:noFill/>
          <a:ln/>
        </p:spPr>
        <p:txBody>
          <a:bodyPr wrap="square" lIns="0" tIns="0" rIns="0" bIns="0" rtlCol="0" anchor="ctr"/>
          <a:lstStyle/>
          <a:p>
            <a:pPr marL="0" indent="0">
              <a:buNone/>
            </a:pPr>
            <a:r>
              <a:rPr lang="en-US" sz="1200" b="1" dirty="0">
                <a:solidFill>
                  <a:srgbClr val="47B25B"/>
                </a:solidFill>
                <a:latin typeface="Arial" pitchFamily="34" charset="0"/>
                <a:ea typeface="Arial" pitchFamily="34" charset="-122"/>
                <a:cs typeface="Arial" pitchFamily="34" charset="-120"/>
              </a:rPr>
              <a:t>Meilleur ratio</a:t>
            </a:r>
            <a:endParaRPr lang="en-US" sz="1200" dirty="0"/>
          </a:p>
        </p:txBody>
      </p:sp>
      <p:sp>
        <p:nvSpPr>
          <p:cNvPr id="46" name="Text 44"/>
          <p:cNvSpPr/>
          <p:nvPr/>
        </p:nvSpPr>
        <p:spPr>
          <a:xfrm>
            <a:off x="5971032" y="3986784"/>
            <a:ext cx="2551176" cy="347472"/>
          </a:xfrm>
          <a:prstGeom prst="rect">
            <a:avLst/>
          </a:prstGeom>
          <a:noFill/>
          <a:ln/>
        </p:spPr>
        <p:txBody>
          <a:bodyPr wrap="square" lIns="0" tIns="0" rIns="0" bIns="0" rtlCol="0" anchor="ctr"/>
          <a:lstStyle/>
          <a:p>
            <a:pPr marL="0" indent="0">
              <a:buNone/>
            </a:pPr>
            <a:r>
              <a:rPr lang="en-US" sz="1600" b="1">
                <a:solidFill>
                  <a:srgbClr val="FFFFFF"/>
                </a:solidFill>
                <a:latin typeface="Arial"/>
                <a:ea typeface="Arial" pitchFamily="34" charset="-122"/>
                <a:cs typeface="Arial"/>
              </a:rPr>
              <a:t>environ 74%</a:t>
            </a:r>
            <a:endParaRPr lang="en-US" sz="1600">
              <a:latin typeface="Arial"/>
              <a:cs typeface="Arial"/>
            </a:endParaRPr>
          </a:p>
        </p:txBody>
      </p:sp>
      <p:sp>
        <p:nvSpPr>
          <p:cNvPr id="47" name="Text 45"/>
          <p:cNvSpPr/>
          <p:nvPr/>
        </p:nvSpPr>
        <p:spPr>
          <a:xfrm>
            <a:off x="5971032" y="4352544"/>
            <a:ext cx="2551176" cy="310896"/>
          </a:xfrm>
          <a:prstGeom prst="rect">
            <a:avLst/>
          </a:prstGeom>
          <a:noFill/>
          <a:ln/>
        </p:spPr>
        <p:txBody>
          <a:bodyPr wrap="square" lIns="0" tIns="0" rIns="0" bIns="0" rtlCol="0" anchor="t"/>
          <a:lstStyle/>
          <a:p>
            <a:r>
              <a:rPr lang="en-US" sz="900">
                <a:solidFill>
                  <a:srgbClr val="9AA3B2"/>
                </a:solidFill>
                <a:latin typeface="Arial"/>
                <a:cs typeface="Arial"/>
              </a:rPr>
              <a:t>Adventure, RPG, Action</a:t>
            </a:r>
            <a:endParaRPr lang="en-US" sz="900">
              <a:latin typeface="Arial"/>
              <a:cs typeface="Arial"/>
            </a:endParaRPr>
          </a:p>
        </p:txBody>
      </p:sp>
      <p:sp>
        <p:nvSpPr>
          <p:cNvPr id="48" name="Text 46"/>
          <p:cNvSpPr/>
          <p:nvPr/>
        </p:nvSpPr>
        <p:spPr>
          <a:xfrm>
            <a:off x="457200" y="4736592"/>
            <a:ext cx="8229600" cy="320040"/>
          </a:xfrm>
          <a:prstGeom prst="rect">
            <a:avLst/>
          </a:prstGeom>
          <a:noFill/>
          <a:ln/>
        </p:spPr>
        <p:txBody>
          <a:bodyPr wrap="square" lIns="0" tIns="0" rIns="0" bIns="0" rtlCol="0" anchor="ctr"/>
          <a:lstStyle/>
          <a:p>
            <a:pPr marL="0" indent="0" algn="l">
              <a:buNone/>
            </a:pPr>
            <a:r>
              <a:rPr lang="en-US" sz="1200" i="1" dirty="0" err="1">
                <a:solidFill>
                  <a:srgbClr val="00B0F0"/>
                </a:solidFill>
                <a:latin typeface="Arial"/>
                <a:ea typeface="Arial" pitchFamily="34" charset="-122"/>
                <a:cs typeface="Arial"/>
              </a:rPr>
              <a:t>Recommandation</a:t>
            </a:r>
            <a:r>
              <a:rPr lang="en-US" sz="1200" i="1" dirty="0">
                <a:solidFill>
                  <a:srgbClr val="00B0F0"/>
                </a:solidFill>
                <a:latin typeface="Arial"/>
                <a:ea typeface="Arial" pitchFamily="34" charset="-122"/>
                <a:cs typeface="Arial"/>
              </a:rPr>
              <a:t> : miser sur Action/Adventure - genre </a:t>
            </a:r>
            <a:r>
              <a:rPr lang="en-US" sz="1200" i="1" dirty="0" err="1">
                <a:solidFill>
                  <a:srgbClr val="00B0F0"/>
                </a:solidFill>
                <a:latin typeface="Arial"/>
                <a:ea typeface="Arial" pitchFamily="34" charset="-122"/>
                <a:cs typeface="Arial"/>
              </a:rPr>
              <a:t>porteur</a:t>
            </a:r>
            <a:r>
              <a:rPr lang="en-US" sz="1200" i="1" dirty="0">
                <a:solidFill>
                  <a:srgbClr val="00B0F0"/>
                </a:solidFill>
                <a:latin typeface="Arial"/>
                <a:ea typeface="Arial" pitchFamily="34" charset="-122"/>
                <a:cs typeface="Arial"/>
              </a:rPr>
              <a:t> avec fort </a:t>
            </a:r>
            <a:r>
              <a:rPr lang="en-US" sz="1200" i="1" dirty="0" err="1">
                <a:solidFill>
                  <a:srgbClr val="00B0F0"/>
                </a:solidFill>
                <a:latin typeface="Arial"/>
                <a:ea typeface="Arial" pitchFamily="34" charset="-122"/>
                <a:cs typeface="Arial"/>
              </a:rPr>
              <a:t>potentiel</a:t>
            </a:r>
            <a:r>
              <a:rPr lang="en-US" sz="1200" i="1" dirty="0">
                <a:solidFill>
                  <a:srgbClr val="00B0F0"/>
                </a:solidFill>
                <a:latin typeface="Arial"/>
                <a:ea typeface="Arial" pitchFamily="34" charset="-122"/>
                <a:cs typeface="Arial"/>
              </a:rPr>
              <a:t> de ventes et bon ratio </a:t>
            </a:r>
            <a:r>
              <a:rPr lang="en-US" sz="1200" i="1" dirty="0" err="1">
                <a:solidFill>
                  <a:srgbClr val="00B0F0"/>
                </a:solidFill>
                <a:latin typeface="Arial"/>
                <a:ea typeface="Arial" pitchFamily="34" charset="-122"/>
                <a:cs typeface="Arial"/>
              </a:rPr>
              <a:t>d'avis</a:t>
            </a:r>
            <a:r>
              <a:rPr lang="en-US" sz="1200" i="1" dirty="0">
                <a:solidFill>
                  <a:srgbClr val="00B0F0"/>
                </a:solidFill>
                <a:latin typeface="Arial"/>
                <a:ea typeface="Arial" pitchFamily="34" charset="-122"/>
                <a:cs typeface="Arial"/>
              </a:rPr>
              <a:t>.</a:t>
            </a:r>
            <a:endParaRPr lang="en-US" sz="1200">
              <a:solidFill>
                <a:srgbClr val="00B0F0"/>
              </a:solidFill>
              <a:latin typeface="Arial"/>
              <a:ea typeface="Calibri"/>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56032"/>
            <a:ext cx="7772400" cy="274320"/>
          </a:xfrm>
          <a:prstGeom prst="rect">
            <a:avLst/>
          </a:prstGeom>
          <a:noFill/>
          <a:ln/>
        </p:spPr>
        <p:txBody>
          <a:bodyPr wrap="square" lIns="0" tIns="0" rIns="0" bIns="0" rtlCol="0" anchor="ctr"/>
          <a:lstStyle/>
          <a:p>
            <a:pPr marL="0" indent="0">
              <a:buNone/>
            </a:pPr>
            <a:r>
              <a:rPr lang="en-US" sz="1100" b="1" kern="0" spc="300">
                <a:solidFill>
                  <a:srgbClr val="29A9E0"/>
                </a:solidFill>
                <a:latin typeface="Arial"/>
                <a:ea typeface="Arial" pitchFamily="34" charset="-122"/>
                <a:cs typeface="Arial"/>
              </a:rPr>
              <a:t>A N A L Y S E   D E S   P L A T E F O R M E S</a:t>
            </a:r>
            <a:endParaRPr lang="en-US" sz="1100">
              <a:latin typeface="Arial"/>
              <a:cs typeface="Arial"/>
            </a:endParaRPr>
          </a:p>
        </p:txBody>
      </p:sp>
      <p:sp>
        <p:nvSpPr>
          <p:cNvPr id="3" name="Text 1"/>
          <p:cNvSpPr/>
          <p:nvPr/>
        </p:nvSpPr>
        <p:spPr>
          <a:xfrm>
            <a:off x="420624" y="502920"/>
            <a:ext cx="822960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Arial Black" pitchFamily="34" charset="0"/>
                <a:ea typeface="Arial Black" pitchFamily="34" charset="-122"/>
                <a:cs typeface="Arial Black" pitchFamily="34" charset="-120"/>
              </a:rPr>
              <a:t>Windows règne en maître</a:t>
            </a:r>
            <a:endParaRPr lang="en-US" sz="3400" dirty="0"/>
          </a:p>
        </p:txBody>
      </p:sp>
      <p:sp>
        <p:nvSpPr>
          <p:cNvPr id="4" name="Shape 2"/>
          <p:cNvSpPr/>
          <p:nvPr/>
        </p:nvSpPr>
        <p:spPr>
          <a:xfrm>
            <a:off x="457200" y="1371600"/>
            <a:ext cx="4937760" cy="3154680"/>
          </a:xfrm>
          <a:prstGeom prst="roundRect">
            <a:avLst>
              <a:gd name="adj" fmla="val 1739"/>
            </a:avLst>
          </a:prstGeom>
          <a:solidFill>
            <a:srgbClr val="16263F"/>
          </a:solidFill>
          <a:ln w="12700">
            <a:solidFill>
              <a:srgbClr val="24344F"/>
            </a:solidFill>
            <a:prstDash val="solid"/>
          </a:ln>
        </p:spPr>
      </p:sp>
      <p:sp>
        <p:nvSpPr>
          <p:cNvPr id="5" name="Shape 3"/>
          <p:cNvSpPr/>
          <p:nvPr/>
        </p:nvSpPr>
        <p:spPr>
          <a:xfrm>
            <a:off x="960120" y="4160520"/>
            <a:ext cx="4297680" cy="0"/>
          </a:xfrm>
          <a:prstGeom prst="line">
            <a:avLst/>
          </a:prstGeom>
          <a:noFill/>
          <a:ln w="6350">
            <a:solidFill>
              <a:srgbClr val="233650"/>
            </a:solidFill>
            <a:prstDash val="solid"/>
          </a:ln>
        </p:spPr>
      </p:sp>
      <p:sp>
        <p:nvSpPr>
          <p:cNvPr id="6" name="Text 4"/>
          <p:cNvSpPr/>
          <p:nvPr/>
        </p:nvSpPr>
        <p:spPr>
          <a:xfrm>
            <a:off x="182880" y="4059936"/>
            <a:ext cx="685800" cy="201168"/>
          </a:xfrm>
          <a:prstGeom prst="rect">
            <a:avLst/>
          </a:prstGeom>
          <a:noFill/>
          <a:ln/>
        </p:spPr>
        <p:txBody>
          <a:bodyPr wrap="square" lIns="0" tIns="0" rIns="0" bIns="0" rtlCol="0" anchor="ctr"/>
          <a:lstStyle/>
          <a:p>
            <a:pPr marL="0" indent="0" algn="r">
              <a:buNone/>
            </a:pPr>
            <a:r>
              <a:rPr lang="en-US" sz="800" dirty="0">
                <a:solidFill>
                  <a:srgbClr val="9AA3B2"/>
                </a:solidFill>
                <a:latin typeface="Arial" pitchFamily="34" charset="0"/>
                <a:ea typeface="Arial" pitchFamily="34" charset="-122"/>
                <a:cs typeface="Arial" pitchFamily="34" charset="-120"/>
              </a:rPr>
              <a:t>0</a:t>
            </a:r>
            <a:endParaRPr lang="en-US" sz="800" dirty="0"/>
          </a:p>
        </p:txBody>
      </p:sp>
      <p:sp>
        <p:nvSpPr>
          <p:cNvPr id="7" name="Shape 5"/>
          <p:cNvSpPr/>
          <p:nvPr/>
        </p:nvSpPr>
        <p:spPr>
          <a:xfrm>
            <a:off x="960120" y="3726180"/>
            <a:ext cx="4297680" cy="0"/>
          </a:xfrm>
          <a:prstGeom prst="line">
            <a:avLst/>
          </a:prstGeom>
          <a:noFill/>
          <a:ln w="6350">
            <a:solidFill>
              <a:srgbClr val="233650"/>
            </a:solidFill>
            <a:prstDash val="solid"/>
          </a:ln>
        </p:spPr>
      </p:sp>
      <p:sp>
        <p:nvSpPr>
          <p:cNvPr id="8" name="Text 6"/>
          <p:cNvSpPr/>
          <p:nvPr/>
        </p:nvSpPr>
        <p:spPr>
          <a:xfrm>
            <a:off x="182880" y="3625596"/>
            <a:ext cx="685800" cy="201168"/>
          </a:xfrm>
          <a:prstGeom prst="rect">
            <a:avLst/>
          </a:prstGeom>
          <a:noFill/>
          <a:ln/>
        </p:spPr>
        <p:txBody>
          <a:bodyPr wrap="square" lIns="0" tIns="0" rIns="0" bIns="0"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10 000</a:t>
            </a:r>
            <a:endParaRPr lang="en-US" sz="800" dirty="0"/>
          </a:p>
        </p:txBody>
      </p:sp>
      <p:sp>
        <p:nvSpPr>
          <p:cNvPr id="9" name="Shape 7"/>
          <p:cNvSpPr/>
          <p:nvPr/>
        </p:nvSpPr>
        <p:spPr>
          <a:xfrm>
            <a:off x="960120" y="3291840"/>
            <a:ext cx="4297680" cy="0"/>
          </a:xfrm>
          <a:prstGeom prst="line">
            <a:avLst/>
          </a:prstGeom>
          <a:noFill/>
          <a:ln w="6350">
            <a:solidFill>
              <a:srgbClr val="233650"/>
            </a:solidFill>
            <a:prstDash val="solid"/>
          </a:ln>
        </p:spPr>
      </p:sp>
      <p:sp>
        <p:nvSpPr>
          <p:cNvPr id="10" name="Text 8"/>
          <p:cNvSpPr/>
          <p:nvPr/>
        </p:nvSpPr>
        <p:spPr>
          <a:xfrm>
            <a:off x="182880" y="3191256"/>
            <a:ext cx="685800" cy="201168"/>
          </a:xfrm>
          <a:prstGeom prst="rect">
            <a:avLst/>
          </a:prstGeom>
          <a:noFill/>
          <a:ln/>
        </p:spPr>
        <p:txBody>
          <a:bodyPr wrap="square" lIns="0" tIns="0" rIns="0" bIns="0" rtlCol="0" anchor="ctr"/>
          <a:lstStyle/>
          <a:p>
            <a:pPr marL="0" indent="0" algn="r">
              <a:buNone/>
            </a:pPr>
            <a:r>
              <a:rPr lang="en-US" sz="800" dirty="0">
                <a:solidFill>
                  <a:srgbClr val="9AA3B2"/>
                </a:solidFill>
                <a:latin typeface="Arial" pitchFamily="34" charset="0"/>
                <a:ea typeface="Arial" pitchFamily="34" charset="-122"/>
                <a:cs typeface="Arial" pitchFamily="34" charset="-120"/>
              </a:rPr>
              <a:t>20 000</a:t>
            </a:r>
            <a:endParaRPr lang="en-US" sz="800" dirty="0"/>
          </a:p>
        </p:txBody>
      </p:sp>
      <p:sp>
        <p:nvSpPr>
          <p:cNvPr id="11" name="Shape 9"/>
          <p:cNvSpPr/>
          <p:nvPr/>
        </p:nvSpPr>
        <p:spPr>
          <a:xfrm>
            <a:off x="960120" y="2857500"/>
            <a:ext cx="4297680" cy="0"/>
          </a:xfrm>
          <a:prstGeom prst="line">
            <a:avLst/>
          </a:prstGeom>
          <a:noFill/>
          <a:ln w="6350">
            <a:solidFill>
              <a:srgbClr val="233650"/>
            </a:solidFill>
            <a:prstDash val="solid"/>
          </a:ln>
        </p:spPr>
      </p:sp>
      <p:sp>
        <p:nvSpPr>
          <p:cNvPr id="12" name="Text 10"/>
          <p:cNvSpPr/>
          <p:nvPr/>
        </p:nvSpPr>
        <p:spPr>
          <a:xfrm>
            <a:off x="182880" y="2756916"/>
            <a:ext cx="685800" cy="201168"/>
          </a:xfrm>
          <a:prstGeom prst="rect">
            <a:avLst/>
          </a:prstGeom>
          <a:noFill/>
          <a:ln/>
        </p:spPr>
        <p:txBody>
          <a:bodyPr wrap="square" lIns="0" tIns="0" rIns="0" bIns="0" rtlCol="0" anchor="ctr"/>
          <a:lstStyle/>
          <a:p>
            <a:pPr marL="0" indent="0" algn="r">
              <a:buNone/>
            </a:pPr>
            <a:r>
              <a:rPr lang="en-US" sz="800" dirty="0">
                <a:solidFill>
                  <a:srgbClr val="9AA3B2"/>
                </a:solidFill>
                <a:latin typeface="Arial" pitchFamily="34" charset="0"/>
                <a:ea typeface="Arial" pitchFamily="34" charset="-122"/>
                <a:cs typeface="Arial" pitchFamily="34" charset="-120"/>
              </a:rPr>
              <a:t>30 000</a:t>
            </a:r>
            <a:endParaRPr lang="en-US" sz="800" dirty="0"/>
          </a:p>
        </p:txBody>
      </p:sp>
      <p:sp>
        <p:nvSpPr>
          <p:cNvPr id="13" name="Shape 11"/>
          <p:cNvSpPr/>
          <p:nvPr/>
        </p:nvSpPr>
        <p:spPr>
          <a:xfrm>
            <a:off x="960120" y="2423160"/>
            <a:ext cx="4297680" cy="0"/>
          </a:xfrm>
          <a:prstGeom prst="line">
            <a:avLst/>
          </a:prstGeom>
          <a:noFill/>
          <a:ln w="6350">
            <a:solidFill>
              <a:srgbClr val="233650"/>
            </a:solidFill>
            <a:prstDash val="solid"/>
          </a:ln>
        </p:spPr>
      </p:sp>
      <p:sp>
        <p:nvSpPr>
          <p:cNvPr id="14" name="Text 12"/>
          <p:cNvSpPr/>
          <p:nvPr/>
        </p:nvSpPr>
        <p:spPr>
          <a:xfrm>
            <a:off x="182880" y="2322576"/>
            <a:ext cx="685800" cy="201168"/>
          </a:xfrm>
          <a:prstGeom prst="rect">
            <a:avLst/>
          </a:prstGeom>
          <a:noFill/>
          <a:ln/>
        </p:spPr>
        <p:txBody>
          <a:bodyPr wrap="square" lIns="0" tIns="0" rIns="0" bIns="0" rtlCol="0" anchor="ctr"/>
          <a:lstStyle/>
          <a:p>
            <a:pPr marL="0" indent="0" algn="r">
              <a:buNone/>
            </a:pPr>
            <a:r>
              <a:rPr lang="en-US" sz="800" dirty="0">
                <a:solidFill>
                  <a:srgbClr val="9AA3B2"/>
                </a:solidFill>
                <a:latin typeface="Arial" pitchFamily="34" charset="0"/>
                <a:ea typeface="Arial" pitchFamily="34" charset="-122"/>
                <a:cs typeface="Arial" pitchFamily="34" charset="-120"/>
              </a:rPr>
              <a:t>40 000</a:t>
            </a:r>
            <a:endParaRPr lang="en-US" sz="800" dirty="0"/>
          </a:p>
        </p:txBody>
      </p:sp>
      <p:sp>
        <p:nvSpPr>
          <p:cNvPr id="15" name="Shape 13"/>
          <p:cNvSpPr/>
          <p:nvPr/>
        </p:nvSpPr>
        <p:spPr>
          <a:xfrm>
            <a:off x="960120" y="1988820"/>
            <a:ext cx="4297680" cy="0"/>
          </a:xfrm>
          <a:prstGeom prst="line">
            <a:avLst/>
          </a:prstGeom>
          <a:noFill/>
          <a:ln w="6350">
            <a:solidFill>
              <a:srgbClr val="233650"/>
            </a:solidFill>
            <a:prstDash val="solid"/>
          </a:ln>
        </p:spPr>
      </p:sp>
      <p:sp>
        <p:nvSpPr>
          <p:cNvPr id="16" name="Text 14"/>
          <p:cNvSpPr/>
          <p:nvPr/>
        </p:nvSpPr>
        <p:spPr>
          <a:xfrm>
            <a:off x="182880" y="1888236"/>
            <a:ext cx="685800" cy="201168"/>
          </a:xfrm>
          <a:prstGeom prst="rect">
            <a:avLst/>
          </a:prstGeom>
          <a:noFill/>
          <a:ln/>
        </p:spPr>
        <p:txBody>
          <a:bodyPr wrap="square" lIns="0" tIns="0" rIns="0" bIns="0" rtlCol="0" anchor="ctr"/>
          <a:lstStyle/>
          <a:p>
            <a:pPr marL="0" indent="0" algn="r">
              <a:buNone/>
            </a:pPr>
            <a:r>
              <a:rPr lang="en-US" sz="800" dirty="0">
                <a:solidFill>
                  <a:srgbClr val="9AA3B2"/>
                </a:solidFill>
                <a:latin typeface="Arial" pitchFamily="34" charset="0"/>
                <a:ea typeface="Arial" pitchFamily="34" charset="-122"/>
                <a:cs typeface="Arial" pitchFamily="34" charset="-120"/>
              </a:rPr>
              <a:t>50 000</a:t>
            </a:r>
            <a:endParaRPr lang="en-US" sz="800" dirty="0"/>
          </a:p>
        </p:txBody>
      </p:sp>
      <p:sp>
        <p:nvSpPr>
          <p:cNvPr id="17" name="Shape 15"/>
          <p:cNvSpPr/>
          <p:nvPr/>
        </p:nvSpPr>
        <p:spPr>
          <a:xfrm>
            <a:off x="960120" y="1554480"/>
            <a:ext cx="4297680" cy="0"/>
          </a:xfrm>
          <a:prstGeom prst="line">
            <a:avLst/>
          </a:prstGeom>
          <a:noFill/>
          <a:ln w="6350">
            <a:solidFill>
              <a:srgbClr val="233650"/>
            </a:solidFill>
            <a:prstDash val="solid"/>
          </a:ln>
        </p:spPr>
      </p:sp>
      <p:sp>
        <p:nvSpPr>
          <p:cNvPr id="18" name="Text 16"/>
          <p:cNvSpPr/>
          <p:nvPr/>
        </p:nvSpPr>
        <p:spPr>
          <a:xfrm>
            <a:off x="182880" y="1453896"/>
            <a:ext cx="685800" cy="201168"/>
          </a:xfrm>
          <a:prstGeom prst="rect">
            <a:avLst/>
          </a:prstGeom>
          <a:noFill/>
          <a:ln/>
        </p:spPr>
        <p:txBody>
          <a:bodyPr wrap="square" lIns="0" tIns="0" rIns="0" bIns="0" rtlCol="0" anchor="ctr"/>
          <a:lstStyle/>
          <a:p>
            <a:pPr marL="0" indent="0" algn="r">
              <a:buNone/>
            </a:pPr>
            <a:r>
              <a:rPr lang="en-US" sz="800" dirty="0">
                <a:solidFill>
                  <a:srgbClr val="9AA3B2"/>
                </a:solidFill>
                <a:latin typeface="Arial" pitchFamily="34" charset="0"/>
                <a:ea typeface="Arial" pitchFamily="34" charset="-122"/>
                <a:cs typeface="Arial" pitchFamily="34" charset="-120"/>
              </a:rPr>
              <a:t>60 000</a:t>
            </a:r>
            <a:endParaRPr lang="en-US" sz="800" dirty="0"/>
          </a:p>
        </p:txBody>
      </p:sp>
      <p:sp>
        <p:nvSpPr>
          <p:cNvPr id="19" name="Shape 17"/>
          <p:cNvSpPr/>
          <p:nvPr/>
        </p:nvSpPr>
        <p:spPr>
          <a:xfrm>
            <a:off x="1383030" y="1742332"/>
            <a:ext cx="868680" cy="2418188"/>
          </a:xfrm>
          <a:prstGeom prst="rect">
            <a:avLst/>
          </a:prstGeom>
          <a:solidFill>
            <a:srgbClr val="29A9E0"/>
          </a:solidFill>
          <a:ln/>
        </p:spPr>
      </p:sp>
      <p:sp>
        <p:nvSpPr>
          <p:cNvPr id="20" name="Text 18"/>
          <p:cNvSpPr/>
          <p:nvPr/>
        </p:nvSpPr>
        <p:spPr>
          <a:xfrm>
            <a:off x="1154430" y="1449724"/>
            <a:ext cx="13258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55 675</a:t>
            </a:r>
            <a:endParaRPr lang="en-US" sz="1100" dirty="0"/>
          </a:p>
        </p:txBody>
      </p:sp>
      <p:sp>
        <p:nvSpPr>
          <p:cNvPr id="21" name="Text 19"/>
          <p:cNvSpPr/>
          <p:nvPr/>
        </p:nvSpPr>
        <p:spPr>
          <a:xfrm>
            <a:off x="1154430" y="4215384"/>
            <a:ext cx="132588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Windows</a:t>
            </a:r>
            <a:endParaRPr lang="en-US" sz="1100" dirty="0"/>
          </a:p>
        </p:txBody>
      </p:sp>
      <p:sp>
        <p:nvSpPr>
          <p:cNvPr id="22" name="Shape 20"/>
          <p:cNvSpPr/>
          <p:nvPr/>
        </p:nvSpPr>
        <p:spPr>
          <a:xfrm>
            <a:off x="2674620" y="3605911"/>
            <a:ext cx="868680" cy="554609"/>
          </a:xfrm>
          <a:prstGeom prst="rect">
            <a:avLst/>
          </a:prstGeom>
          <a:solidFill>
            <a:srgbClr val="C2C7CE"/>
          </a:solidFill>
          <a:ln/>
        </p:spPr>
      </p:sp>
      <p:sp>
        <p:nvSpPr>
          <p:cNvPr id="23" name="Text 21"/>
          <p:cNvSpPr/>
          <p:nvPr/>
        </p:nvSpPr>
        <p:spPr>
          <a:xfrm>
            <a:off x="2446020" y="3313303"/>
            <a:ext cx="13258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12 769</a:t>
            </a:r>
            <a:endParaRPr lang="en-US" sz="1100" dirty="0"/>
          </a:p>
        </p:txBody>
      </p:sp>
      <p:sp>
        <p:nvSpPr>
          <p:cNvPr id="24" name="Text 22"/>
          <p:cNvSpPr/>
          <p:nvPr/>
        </p:nvSpPr>
        <p:spPr>
          <a:xfrm>
            <a:off x="2446020" y="4215384"/>
            <a:ext cx="132588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Mac</a:t>
            </a:r>
            <a:endParaRPr lang="en-US" sz="1100" dirty="0"/>
          </a:p>
        </p:txBody>
      </p:sp>
      <p:sp>
        <p:nvSpPr>
          <p:cNvPr id="25" name="Shape 23"/>
          <p:cNvSpPr/>
          <p:nvPr/>
        </p:nvSpPr>
        <p:spPr>
          <a:xfrm>
            <a:off x="3966210" y="3793199"/>
            <a:ext cx="868680" cy="367321"/>
          </a:xfrm>
          <a:prstGeom prst="rect">
            <a:avLst/>
          </a:prstGeom>
          <a:solidFill>
            <a:srgbClr val="717987"/>
          </a:solidFill>
          <a:ln/>
        </p:spPr>
      </p:sp>
      <p:sp>
        <p:nvSpPr>
          <p:cNvPr id="26" name="Text 24"/>
          <p:cNvSpPr/>
          <p:nvPr/>
        </p:nvSpPr>
        <p:spPr>
          <a:xfrm>
            <a:off x="3737610" y="3500591"/>
            <a:ext cx="13258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8 457</a:t>
            </a:r>
            <a:endParaRPr lang="en-US" sz="1100" dirty="0"/>
          </a:p>
        </p:txBody>
      </p:sp>
      <p:sp>
        <p:nvSpPr>
          <p:cNvPr id="27" name="Text 25"/>
          <p:cNvSpPr/>
          <p:nvPr/>
        </p:nvSpPr>
        <p:spPr>
          <a:xfrm>
            <a:off x="3737610" y="4215384"/>
            <a:ext cx="132588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Linux</a:t>
            </a:r>
            <a:endParaRPr lang="en-US" sz="1100" dirty="0"/>
          </a:p>
        </p:txBody>
      </p:sp>
      <p:sp>
        <p:nvSpPr>
          <p:cNvPr id="28" name="Shape 26"/>
          <p:cNvSpPr/>
          <p:nvPr/>
        </p:nvSpPr>
        <p:spPr>
          <a:xfrm>
            <a:off x="5623560" y="1371600"/>
            <a:ext cx="3063240" cy="1051560"/>
          </a:xfrm>
          <a:prstGeom prst="roundRect">
            <a:avLst>
              <a:gd name="adj" fmla="val 4348"/>
            </a:avLst>
          </a:prstGeom>
          <a:solidFill>
            <a:srgbClr val="14243C"/>
          </a:solidFill>
          <a:ln w="19050">
            <a:solidFill>
              <a:srgbClr val="29A9E0"/>
            </a:solidFill>
            <a:prstDash val="solid"/>
          </a:ln>
        </p:spPr>
      </p:sp>
      <p:sp>
        <p:nvSpPr>
          <p:cNvPr id="29" name="Text 27"/>
          <p:cNvSpPr/>
          <p:nvPr/>
        </p:nvSpPr>
        <p:spPr>
          <a:xfrm>
            <a:off x="5788152" y="1490472"/>
            <a:ext cx="2734056" cy="256032"/>
          </a:xfrm>
          <a:prstGeom prst="rect">
            <a:avLst/>
          </a:prstGeom>
          <a:noFill/>
          <a:ln/>
        </p:spPr>
        <p:txBody>
          <a:bodyPr wrap="square" lIns="0" tIns="0" rIns="0" bIns="0" rtlCol="0" anchor="ctr"/>
          <a:lstStyle/>
          <a:p>
            <a:pPr marL="0" indent="0">
              <a:buNone/>
            </a:pPr>
            <a:r>
              <a:rPr lang="en-US" sz="1200" b="1" dirty="0">
                <a:solidFill>
                  <a:srgbClr val="29A9E0"/>
                </a:solidFill>
                <a:latin typeface="Arial" pitchFamily="34" charset="0"/>
                <a:ea typeface="Arial" pitchFamily="34" charset="-122"/>
                <a:cs typeface="Arial" pitchFamily="34" charset="-120"/>
              </a:rPr>
              <a:t>Windows</a:t>
            </a:r>
            <a:endParaRPr lang="en-US" sz="1200" dirty="0"/>
          </a:p>
        </p:txBody>
      </p:sp>
      <p:sp>
        <p:nvSpPr>
          <p:cNvPr id="30" name="Text 28"/>
          <p:cNvSpPr/>
          <p:nvPr/>
        </p:nvSpPr>
        <p:spPr>
          <a:xfrm>
            <a:off x="5788152" y="1773936"/>
            <a:ext cx="2734056" cy="347472"/>
          </a:xfrm>
          <a:prstGeom prst="rect">
            <a:avLst/>
          </a:prstGeom>
          <a:noFill/>
          <a:ln/>
        </p:spPr>
        <p:txBody>
          <a:bodyPr wrap="square" lIns="0" tIns="0" rIns="0" bIns="0" rtlCol="0" anchor="ctr"/>
          <a:lstStyle/>
          <a:p>
            <a:pPr marL="0" indent="0">
              <a:buNone/>
            </a:pPr>
            <a:r>
              <a:rPr lang="en-US" sz="2000" b="1" dirty="0">
                <a:solidFill>
                  <a:srgbClr val="29A9E0"/>
                </a:solidFill>
                <a:latin typeface="Arial" pitchFamily="34" charset="0"/>
                <a:ea typeface="Arial" pitchFamily="34" charset="-122"/>
                <a:cs typeface="Arial" pitchFamily="34" charset="-120"/>
              </a:rPr>
              <a:t>environ 100%</a:t>
            </a:r>
            <a:endParaRPr lang="en-US" sz="2000" dirty="0"/>
          </a:p>
        </p:txBody>
      </p:sp>
      <p:sp>
        <p:nvSpPr>
          <p:cNvPr id="31" name="Text 29"/>
          <p:cNvSpPr/>
          <p:nvPr/>
        </p:nvSpPr>
        <p:spPr>
          <a:xfrm>
            <a:off x="5788152" y="2139696"/>
            <a:ext cx="273405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des jeux Steam</a:t>
            </a:r>
            <a:endParaRPr lang="en-US" sz="900" dirty="0"/>
          </a:p>
        </p:txBody>
      </p:sp>
      <p:sp>
        <p:nvSpPr>
          <p:cNvPr id="32" name="Shape 30"/>
          <p:cNvSpPr/>
          <p:nvPr/>
        </p:nvSpPr>
        <p:spPr>
          <a:xfrm>
            <a:off x="5623560" y="2478024"/>
            <a:ext cx="3063240" cy="1051560"/>
          </a:xfrm>
          <a:prstGeom prst="roundRect">
            <a:avLst>
              <a:gd name="adj" fmla="val 4348"/>
            </a:avLst>
          </a:prstGeom>
          <a:solidFill>
            <a:srgbClr val="14243C"/>
          </a:solidFill>
          <a:ln w="19050">
            <a:solidFill>
              <a:srgbClr val="C2C7CE"/>
            </a:solidFill>
            <a:prstDash val="solid"/>
          </a:ln>
        </p:spPr>
      </p:sp>
      <p:sp>
        <p:nvSpPr>
          <p:cNvPr id="33" name="Text 31"/>
          <p:cNvSpPr/>
          <p:nvPr/>
        </p:nvSpPr>
        <p:spPr>
          <a:xfrm>
            <a:off x="5788152" y="2596896"/>
            <a:ext cx="2734056" cy="256032"/>
          </a:xfrm>
          <a:prstGeom prst="rect">
            <a:avLst/>
          </a:prstGeom>
          <a:noFill/>
          <a:ln/>
        </p:spPr>
        <p:txBody>
          <a:bodyPr wrap="square" lIns="0" tIns="0" rIns="0" bIns="0" rtlCol="0" anchor="ctr"/>
          <a:lstStyle/>
          <a:p>
            <a:pPr marL="0" indent="0">
              <a:buNone/>
            </a:pPr>
            <a:r>
              <a:rPr lang="en-US" sz="1200" b="1" dirty="0">
                <a:solidFill>
                  <a:srgbClr val="C2C7CE"/>
                </a:solidFill>
                <a:latin typeface="Arial" pitchFamily="34" charset="0"/>
                <a:ea typeface="Arial" pitchFamily="34" charset="-122"/>
                <a:cs typeface="Arial" pitchFamily="34" charset="-120"/>
              </a:rPr>
              <a:t>Mac</a:t>
            </a:r>
            <a:endParaRPr lang="en-US" sz="1200" dirty="0"/>
          </a:p>
        </p:txBody>
      </p:sp>
      <p:sp>
        <p:nvSpPr>
          <p:cNvPr id="34" name="Text 32"/>
          <p:cNvSpPr/>
          <p:nvPr/>
        </p:nvSpPr>
        <p:spPr>
          <a:xfrm>
            <a:off x="5788152" y="2880360"/>
            <a:ext cx="2734056" cy="347472"/>
          </a:xfrm>
          <a:prstGeom prst="rect">
            <a:avLst/>
          </a:prstGeom>
          <a:noFill/>
          <a:ln/>
        </p:spPr>
        <p:txBody>
          <a:bodyPr wrap="square" lIns="0" tIns="0" rIns="0" bIns="0" rtlCol="0" anchor="ctr"/>
          <a:lstStyle/>
          <a:p>
            <a:pPr marL="0" indent="0">
              <a:buNone/>
            </a:pPr>
            <a:r>
              <a:rPr lang="en-US" sz="2000" b="1" dirty="0">
                <a:solidFill>
                  <a:srgbClr val="C2C7CE"/>
                </a:solidFill>
                <a:latin typeface="Arial" pitchFamily="34" charset="0"/>
                <a:ea typeface="Arial" pitchFamily="34" charset="-122"/>
                <a:cs typeface="Arial" pitchFamily="34" charset="-120"/>
              </a:rPr>
              <a:t>23%</a:t>
            </a:r>
            <a:endParaRPr lang="en-US" sz="2000" dirty="0"/>
          </a:p>
        </p:txBody>
      </p:sp>
      <p:sp>
        <p:nvSpPr>
          <p:cNvPr id="35" name="Text 33"/>
          <p:cNvSpPr/>
          <p:nvPr/>
        </p:nvSpPr>
        <p:spPr>
          <a:xfrm>
            <a:off x="5788152" y="3246120"/>
            <a:ext cx="273405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des jeux Steam</a:t>
            </a:r>
            <a:endParaRPr lang="en-US" sz="900" dirty="0"/>
          </a:p>
        </p:txBody>
      </p:sp>
      <p:sp>
        <p:nvSpPr>
          <p:cNvPr id="36" name="Shape 34"/>
          <p:cNvSpPr/>
          <p:nvPr/>
        </p:nvSpPr>
        <p:spPr>
          <a:xfrm>
            <a:off x="5623560" y="3584448"/>
            <a:ext cx="3063240" cy="1051560"/>
          </a:xfrm>
          <a:prstGeom prst="roundRect">
            <a:avLst>
              <a:gd name="adj" fmla="val 4348"/>
            </a:avLst>
          </a:prstGeom>
          <a:solidFill>
            <a:srgbClr val="14243C"/>
          </a:solidFill>
          <a:ln w="19050">
            <a:solidFill>
              <a:srgbClr val="717987"/>
            </a:solidFill>
            <a:prstDash val="solid"/>
          </a:ln>
        </p:spPr>
      </p:sp>
      <p:sp>
        <p:nvSpPr>
          <p:cNvPr id="37" name="Text 35"/>
          <p:cNvSpPr/>
          <p:nvPr/>
        </p:nvSpPr>
        <p:spPr>
          <a:xfrm>
            <a:off x="5788152" y="3703320"/>
            <a:ext cx="2734056" cy="256032"/>
          </a:xfrm>
          <a:prstGeom prst="rect">
            <a:avLst/>
          </a:prstGeom>
          <a:noFill/>
          <a:ln/>
        </p:spPr>
        <p:txBody>
          <a:bodyPr wrap="square" lIns="0" tIns="0" rIns="0" bIns="0" rtlCol="0" anchor="ctr"/>
          <a:lstStyle/>
          <a:p>
            <a:pPr marL="0" indent="0">
              <a:buNone/>
            </a:pPr>
            <a:r>
              <a:rPr lang="en-US" sz="1200" b="1" dirty="0">
                <a:solidFill>
                  <a:srgbClr val="717987"/>
                </a:solidFill>
                <a:latin typeface="Arial" pitchFamily="34" charset="0"/>
                <a:ea typeface="Arial" pitchFamily="34" charset="-122"/>
                <a:cs typeface="Arial" pitchFamily="34" charset="-120"/>
              </a:rPr>
              <a:t>Linux</a:t>
            </a:r>
            <a:endParaRPr lang="en-US" sz="1200" dirty="0"/>
          </a:p>
        </p:txBody>
      </p:sp>
      <p:sp>
        <p:nvSpPr>
          <p:cNvPr id="38" name="Text 36"/>
          <p:cNvSpPr/>
          <p:nvPr/>
        </p:nvSpPr>
        <p:spPr>
          <a:xfrm>
            <a:off x="5788152" y="3986784"/>
            <a:ext cx="2734056" cy="347472"/>
          </a:xfrm>
          <a:prstGeom prst="rect">
            <a:avLst/>
          </a:prstGeom>
          <a:noFill/>
          <a:ln/>
        </p:spPr>
        <p:txBody>
          <a:bodyPr wrap="square" lIns="0" tIns="0" rIns="0" bIns="0" rtlCol="0" anchor="ctr"/>
          <a:lstStyle/>
          <a:p>
            <a:pPr marL="0" indent="0">
              <a:buNone/>
            </a:pPr>
            <a:r>
              <a:rPr lang="en-US" sz="2000" b="1" dirty="0">
                <a:solidFill>
                  <a:srgbClr val="C2C7CE"/>
                </a:solidFill>
                <a:latin typeface="Arial" pitchFamily="34" charset="0"/>
                <a:ea typeface="Arial" pitchFamily="34" charset="-122"/>
                <a:cs typeface="Arial" pitchFamily="34" charset="-120"/>
              </a:rPr>
              <a:t>15%</a:t>
            </a:r>
            <a:endParaRPr lang="en-US" sz="2000" dirty="0"/>
          </a:p>
        </p:txBody>
      </p:sp>
      <p:sp>
        <p:nvSpPr>
          <p:cNvPr id="39" name="Text 37"/>
          <p:cNvSpPr/>
          <p:nvPr/>
        </p:nvSpPr>
        <p:spPr>
          <a:xfrm>
            <a:off x="5788152" y="4352544"/>
            <a:ext cx="2734056" cy="310896"/>
          </a:xfrm>
          <a:prstGeom prst="rect">
            <a:avLst/>
          </a:prstGeom>
          <a:noFill/>
          <a:ln/>
        </p:spPr>
        <p:txBody>
          <a:bodyPr wrap="square" lIns="0" tIns="0" rIns="0" bIns="0" rtlCol="0" anchor="t"/>
          <a:lstStyle/>
          <a:p>
            <a:pPr marL="0" indent="0">
              <a:buNone/>
            </a:pPr>
            <a:r>
              <a:rPr lang="en-US" sz="900" dirty="0">
                <a:solidFill>
                  <a:srgbClr val="9AA3B2"/>
                </a:solidFill>
                <a:latin typeface="Arial" pitchFamily="34" charset="0"/>
                <a:ea typeface="Arial" pitchFamily="34" charset="-122"/>
                <a:cs typeface="Arial" pitchFamily="34" charset="-120"/>
              </a:rPr>
              <a:t>des jeux Steam</a:t>
            </a:r>
            <a:endParaRPr lang="en-US" sz="900" dirty="0"/>
          </a:p>
        </p:txBody>
      </p:sp>
      <p:sp>
        <p:nvSpPr>
          <p:cNvPr id="40" name="Text 38"/>
          <p:cNvSpPr/>
          <p:nvPr/>
        </p:nvSpPr>
        <p:spPr>
          <a:xfrm>
            <a:off x="457200" y="4736592"/>
            <a:ext cx="8229600" cy="320040"/>
          </a:xfrm>
          <a:prstGeom prst="rect">
            <a:avLst/>
          </a:prstGeom>
          <a:noFill/>
          <a:ln/>
        </p:spPr>
        <p:txBody>
          <a:bodyPr wrap="square" lIns="0" tIns="0" rIns="0" bIns="0" rtlCol="0" anchor="ctr"/>
          <a:lstStyle/>
          <a:p>
            <a:pPr marL="0" indent="0" algn="l">
              <a:buNone/>
            </a:pPr>
            <a:r>
              <a:rPr lang="en-US" sz="1200" i="1" dirty="0">
                <a:solidFill>
                  <a:srgbClr val="29A9E0"/>
                </a:solidFill>
                <a:latin typeface="Arial"/>
                <a:ea typeface="Arial" pitchFamily="34" charset="-122"/>
                <a:cs typeface="Arial"/>
              </a:rPr>
              <a:t>Insight : Windows </a:t>
            </a:r>
            <a:r>
              <a:rPr lang="en-US" sz="1200" i="1" dirty="0" err="1">
                <a:solidFill>
                  <a:srgbClr val="29A9E0"/>
                </a:solidFill>
                <a:latin typeface="Arial"/>
                <a:ea typeface="Arial" pitchFamily="34" charset="-122"/>
                <a:cs typeface="Arial"/>
              </a:rPr>
              <a:t>incontournable</a:t>
            </a:r>
            <a:r>
              <a:rPr lang="en-US" sz="1200" i="1" dirty="0">
                <a:solidFill>
                  <a:srgbClr val="29A9E0"/>
                </a:solidFill>
                <a:latin typeface="Arial"/>
                <a:ea typeface="Arial" pitchFamily="34" charset="-122"/>
                <a:cs typeface="Arial"/>
              </a:rPr>
              <a:t> (près de 100%).</a:t>
            </a:r>
            <a:endParaRPr lang="en-US" sz="1200" dirty="0">
              <a:latin typeface="Arial"/>
              <a:ea typeface="Calibri"/>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56032"/>
            <a:ext cx="7772400" cy="274320"/>
          </a:xfrm>
          <a:prstGeom prst="rect">
            <a:avLst/>
          </a:prstGeom>
          <a:noFill/>
          <a:ln/>
        </p:spPr>
        <p:txBody>
          <a:bodyPr wrap="square" lIns="0" tIns="0" rIns="0" bIns="0" rtlCol="0" anchor="ctr"/>
          <a:lstStyle/>
          <a:p>
            <a:pPr marL="0" indent="0">
              <a:buNone/>
            </a:pPr>
            <a:r>
              <a:rPr lang="en-US" sz="1100" b="1" kern="0" spc="300" dirty="0">
                <a:solidFill>
                  <a:srgbClr val="EF3E5C"/>
                </a:solidFill>
                <a:latin typeface="Arial" pitchFamily="34" charset="0"/>
                <a:ea typeface="Arial" pitchFamily="34" charset="-122"/>
                <a:cs typeface="Arial" pitchFamily="34" charset="-120"/>
              </a:rPr>
              <a:t>R E C O M M A N D A T I O N S   F I N A L E S</a:t>
            </a:r>
            <a:endParaRPr lang="en-US" sz="1100" dirty="0"/>
          </a:p>
        </p:txBody>
      </p:sp>
      <p:sp>
        <p:nvSpPr>
          <p:cNvPr id="3" name="Text 1"/>
          <p:cNvSpPr/>
          <p:nvPr/>
        </p:nvSpPr>
        <p:spPr>
          <a:xfrm>
            <a:off x="420624" y="502920"/>
            <a:ext cx="8229600"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Arial Black" pitchFamily="34" charset="0"/>
                <a:ea typeface="Arial Black" pitchFamily="34" charset="-122"/>
                <a:cs typeface="Arial Black" pitchFamily="34" charset="-120"/>
              </a:rPr>
              <a:t>Stratégie pour Ubisoft</a:t>
            </a:r>
            <a:endParaRPr lang="en-US" sz="3400" dirty="0"/>
          </a:p>
        </p:txBody>
      </p:sp>
      <p:sp>
        <p:nvSpPr>
          <p:cNvPr id="4" name="Shape 2"/>
          <p:cNvSpPr/>
          <p:nvPr/>
        </p:nvSpPr>
        <p:spPr>
          <a:xfrm>
            <a:off x="457200" y="1371600"/>
            <a:ext cx="4023360" cy="1508760"/>
          </a:xfrm>
          <a:prstGeom prst="rect">
            <a:avLst/>
          </a:prstGeom>
          <a:solidFill>
            <a:srgbClr val="16263F"/>
          </a:solidFill>
          <a:ln w="19050">
            <a:solidFill>
              <a:srgbClr val="EF3E5C"/>
            </a:solidFill>
            <a:prstDash val="solid"/>
          </a:ln>
        </p:spPr>
        <p:txBody>
          <a:bodyPr/>
          <a:lstStyle/>
          <a:p>
            <a:endParaRPr/>
          </a:p>
        </p:txBody>
      </p:sp>
      <p:sp>
        <p:nvSpPr>
          <p:cNvPr id="5" name="Shape 3"/>
          <p:cNvSpPr/>
          <p:nvPr/>
        </p:nvSpPr>
        <p:spPr>
          <a:xfrm>
            <a:off x="621792" y="1536192"/>
            <a:ext cx="566928" cy="457200"/>
          </a:xfrm>
          <a:prstGeom prst="rect">
            <a:avLst/>
          </a:prstGeom>
          <a:solidFill>
            <a:srgbClr val="EF3E5C"/>
          </a:solidFill>
          <a:ln/>
        </p:spPr>
        <p:txBody>
          <a:bodyPr/>
          <a:lstStyle/>
          <a:p>
            <a:endParaRPr/>
          </a:p>
        </p:txBody>
      </p:sp>
      <p:sp>
        <p:nvSpPr>
          <p:cNvPr id="6" name="Text 4"/>
          <p:cNvSpPr/>
          <p:nvPr/>
        </p:nvSpPr>
        <p:spPr>
          <a:xfrm>
            <a:off x="621792" y="1536192"/>
            <a:ext cx="56692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7" name="Text 5"/>
          <p:cNvSpPr/>
          <p:nvPr/>
        </p:nvSpPr>
        <p:spPr>
          <a:xfrm>
            <a:off x="1325880" y="155448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Genre : Action / Adventure</a:t>
            </a:r>
            <a:endParaRPr lang="en-US" sz="1300" dirty="0"/>
          </a:p>
        </p:txBody>
      </p:sp>
      <p:sp>
        <p:nvSpPr>
          <p:cNvPr id="8" name="Text 6"/>
          <p:cNvSpPr/>
          <p:nvPr/>
        </p:nvSpPr>
        <p:spPr>
          <a:xfrm>
            <a:off x="1325880" y="1938528"/>
            <a:ext cx="3017520" cy="868680"/>
          </a:xfrm>
          <a:prstGeom prst="rect">
            <a:avLst/>
          </a:prstGeom>
          <a:noFill/>
          <a:ln/>
        </p:spPr>
        <p:txBody>
          <a:bodyPr wrap="square" lIns="0" tIns="0" rIns="0" bIns="0" rtlCol="0" anchor="t"/>
          <a:lstStyle/>
          <a:p>
            <a:pPr marL="0" indent="0">
              <a:lnSpc>
                <a:spcPct val="105000"/>
              </a:lnSpc>
              <a:buNone/>
            </a:pPr>
            <a:r>
              <a:rPr lang="en-US" sz="950" dirty="0">
                <a:solidFill>
                  <a:srgbClr val="D7DCE6"/>
                </a:solidFill>
                <a:latin typeface="Arial"/>
                <a:ea typeface="Arial" pitchFamily="34" charset="-122"/>
                <a:cs typeface="Arial"/>
              </a:rPr>
              <a:t>Les plus </a:t>
            </a:r>
            <a:r>
              <a:rPr lang="en-US" sz="950" dirty="0" err="1">
                <a:solidFill>
                  <a:srgbClr val="D7DCE6"/>
                </a:solidFill>
                <a:latin typeface="Arial"/>
                <a:ea typeface="Arial" pitchFamily="34" charset="-122"/>
                <a:cs typeface="Arial"/>
              </a:rPr>
              <a:t>lucratifs</a:t>
            </a:r>
            <a:r>
              <a:rPr lang="en-US" sz="950" dirty="0">
                <a:solidFill>
                  <a:srgbClr val="D7DCE6"/>
                </a:solidFill>
                <a:latin typeface="Arial"/>
                <a:ea typeface="Arial" pitchFamily="34" charset="-122"/>
                <a:cs typeface="Arial"/>
              </a:rPr>
              <a:t>.</a:t>
            </a:r>
            <a:endParaRPr lang="en-US" sz="950" dirty="0">
              <a:latin typeface="Arial"/>
              <a:cs typeface="Arial"/>
            </a:endParaRPr>
          </a:p>
          <a:p>
            <a:pPr marL="0" indent="0">
              <a:lnSpc>
                <a:spcPct val="105000"/>
              </a:lnSpc>
              <a:buNone/>
            </a:pPr>
            <a:r>
              <a:rPr lang="en-US" sz="950" dirty="0">
                <a:solidFill>
                  <a:srgbClr val="D7DCE6"/>
                </a:solidFill>
                <a:latin typeface="Arial"/>
                <a:ea typeface="Arial" pitchFamily="34" charset="-122"/>
                <a:cs typeface="Arial"/>
              </a:rPr>
              <a:t>Bon ratio </a:t>
            </a:r>
            <a:r>
              <a:rPr lang="en-US" sz="950" dirty="0" err="1">
                <a:solidFill>
                  <a:srgbClr val="D7DCE6"/>
                </a:solidFill>
                <a:latin typeface="Arial"/>
                <a:ea typeface="Arial" pitchFamily="34" charset="-122"/>
                <a:cs typeface="Arial"/>
              </a:rPr>
              <a:t>d'avis</a:t>
            </a:r>
            <a:r>
              <a:rPr lang="en-US" sz="950" dirty="0">
                <a:solidFill>
                  <a:srgbClr val="D7DCE6"/>
                </a:solidFill>
                <a:latin typeface="Arial"/>
                <a:ea typeface="Arial" pitchFamily="34" charset="-122"/>
                <a:cs typeface="Arial"/>
              </a:rPr>
              <a:t>.</a:t>
            </a:r>
            <a:endParaRPr lang="en-US" sz="950" dirty="0"/>
          </a:p>
          <a:p>
            <a:pPr marL="0" indent="0">
              <a:lnSpc>
                <a:spcPct val="105000"/>
              </a:lnSpc>
              <a:buNone/>
            </a:pPr>
            <a:r>
              <a:rPr lang="en-US" sz="950" dirty="0">
                <a:solidFill>
                  <a:srgbClr val="D7DCE6"/>
                </a:solidFill>
                <a:latin typeface="Arial"/>
                <a:ea typeface="Arial" pitchFamily="34" charset="-122"/>
                <a:cs typeface="Arial"/>
              </a:rPr>
              <a:t>Fort </a:t>
            </a:r>
            <a:r>
              <a:rPr lang="en-US" sz="950" dirty="0" err="1">
                <a:solidFill>
                  <a:srgbClr val="D7DCE6"/>
                </a:solidFill>
                <a:latin typeface="Arial"/>
                <a:ea typeface="Arial" pitchFamily="34" charset="-122"/>
                <a:cs typeface="Arial"/>
              </a:rPr>
              <a:t>potentiel</a:t>
            </a:r>
            <a:r>
              <a:rPr lang="en-US" sz="950" dirty="0">
                <a:solidFill>
                  <a:srgbClr val="D7DCE6"/>
                </a:solidFill>
                <a:latin typeface="Arial"/>
                <a:ea typeface="Arial" pitchFamily="34" charset="-122"/>
                <a:cs typeface="Arial"/>
              </a:rPr>
              <a:t> pour </a:t>
            </a:r>
            <a:r>
              <a:rPr lang="en-US" sz="950" dirty="0" err="1">
                <a:solidFill>
                  <a:srgbClr val="D7DCE6"/>
                </a:solidFill>
                <a:latin typeface="Arial"/>
                <a:ea typeface="Arial" pitchFamily="34" charset="-122"/>
                <a:cs typeface="Arial"/>
              </a:rPr>
              <a:t>une</a:t>
            </a:r>
            <a:r>
              <a:rPr lang="en-US" sz="950" dirty="0">
                <a:solidFill>
                  <a:srgbClr val="D7DCE6"/>
                </a:solidFill>
                <a:latin typeface="Arial"/>
                <a:ea typeface="Arial" pitchFamily="34" charset="-122"/>
                <a:cs typeface="Arial"/>
              </a:rPr>
              <a:t> nouvelle IP Ubisoft.</a:t>
            </a:r>
            <a:endParaRPr lang="en-US" sz="950" dirty="0">
              <a:latin typeface="Arial"/>
              <a:cs typeface="Arial"/>
            </a:endParaRPr>
          </a:p>
        </p:txBody>
      </p:sp>
      <p:sp>
        <p:nvSpPr>
          <p:cNvPr id="9" name="Shape 7"/>
          <p:cNvSpPr/>
          <p:nvPr/>
        </p:nvSpPr>
        <p:spPr>
          <a:xfrm>
            <a:off x="4663440" y="1371600"/>
            <a:ext cx="4023360" cy="1508760"/>
          </a:xfrm>
          <a:prstGeom prst="rect">
            <a:avLst/>
          </a:prstGeom>
          <a:solidFill>
            <a:srgbClr val="16263F"/>
          </a:solidFill>
          <a:ln w="19050">
            <a:solidFill>
              <a:srgbClr val="29A9E0"/>
            </a:solidFill>
            <a:prstDash val="solid"/>
          </a:ln>
        </p:spPr>
        <p:txBody>
          <a:bodyPr/>
          <a:lstStyle/>
          <a:p>
            <a:endParaRPr/>
          </a:p>
        </p:txBody>
      </p:sp>
      <p:sp>
        <p:nvSpPr>
          <p:cNvPr id="10" name="Shape 8"/>
          <p:cNvSpPr/>
          <p:nvPr/>
        </p:nvSpPr>
        <p:spPr>
          <a:xfrm>
            <a:off x="4828032" y="1536192"/>
            <a:ext cx="566928" cy="457200"/>
          </a:xfrm>
          <a:prstGeom prst="rect">
            <a:avLst/>
          </a:prstGeom>
          <a:solidFill>
            <a:srgbClr val="29A9E0"/>
          </a:solidFill>
          <a:ln/>
        </p:spPr>
        <p:txBody>
          <a:bodyPr/>
          <a:lstStyle/>
          <a:p>
            <a:endParaRPr/>
          </a:p>
        </p:txBody>
      </p:sp>
      <p:sp>
        <p:nvSpPr>
          <p:cNvPr id="11" name="Text 9"/>
          <p:cNvSpPr/>
          <p:nvPr/>
        </p:nvSpPr>
        <p:spPr>
          <a:xfrm>
            <a:off x="4828032" y="1536192"/>
            <a:ext cx="56692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12" name="Text 10"/>
          <p:cNvSpPr/>
          <p:nvPr/>
        </p:nvSpPr>
        <p:spPr>
          <a:xfrm>
            <a:off x="5532120" y="155448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Plateforme : Windows + Mac</a:t>
            </a:r>
            <a:endParaRPr lang="en-US" sz="1300" dirty="0"/>
          </a:p>
        </p:txBody>
      </p:sp>
      <p:sp>
        <p:nvSpPr>
          <p:cNvPr id="13" name="Text 11"/>
          <p:cNvSpPr/>
          <p:nvPr/>
        </p:nvSpPr>
        <p:spPr>
          <a:xfrm>
            <a:off x="5532120" y="1938528"/>
            <a:ext cx="3017520" cy="868680"/>
          </a:xfrm>
          <a:prstGeom prst="rect">
            <a:avLst/>
          </a:prstGeom>
          <a:noFill/>
          <a:ln/>
        </p:spPr>
        <p:txBody>
          <a:bodyPr wrap="square" lIns="0" tIns="0" rIns="0" bIns="0" rtlCol="0" anchor="t"/>
          <a:lstStyle/>
          <a:p>
            <a:pPr marL="0" indent="0">
              <a:lnSpc>
                <a:spcPct val="105000"/>
              </a:lnSpc>
              <a:buNone/>
            </a:pPr>
            <a:r>
              <a:rPr lang="en-US" sz="950" dirty="0">
                <a:solidFill>
                  <a:srgbClr val="D7DCE6"/>
                </a:solidFill>
                <a:latin typeface="Arial" pitchFamily="34" charset="0"/>
                <a:ea typeface="Arial" pitchFamily="34" charset="-122"/>
                <a:cs typeface="Arial" pitchFamily="34" charset="-120"/>
              </a:rPr>
              <a:t>Windows (près de 100%) est prioritaire.</a:t>
            </a:r>
            <a:endParaRPr lang="en-US" sz="950" dirty="0"/>
          </a:p>
          <a:p>
            <a:pPr marL="0" indent="0">
              <a:lnSpc>
                <a:spcPct val="105000"/>
              </a:lnSpc>
              <a:buNone/>
            </a:pPr>
            <a:r>
              <a:rPr lang="en-US" sz="950" dirty="0">
                <a:solidFill>
                  <a:srgbClr val="D7DCE6"/>
                </a:solidFill>
                <a:latin typeface="Arial" pitchFamily="34" charset="0"/>
                <a:ea typeface="Arial" pitchFamily="34" charset="-122"/>
                <a:cs typeface="Arial" pitchFamily="34" charset="-120"/>
              </a:rPr>
              <a:t>Mac (23%) recommandé pour se différencier.</a:t>
            </a:r>
            <a:endParaRPr lang="en-US" sz="950" dirty="0"/>
          </a:p>
          <a:p>
            <a:pPr marL="0" indent="0">
              <a:lnSpc>
                <a:spcPct val="105000"/>
              </a:lnSpc>
              <a:buNone/>
            </a:pPr>
            <a:r>
              <a:rPr lang="en-US" sz="950" dirty="0">
                <a:solidFill>
                  <a:srgbClr val="D7DCE6"/>
                </a:solidFill>
                <a:latin typeface="Arial" pitchFamily="34" charset="0"/>
                <a:ea typeface="Arial" pitchFamily="34" charset="-122"/>
                <a:cs typeface="Arial" pitchFamily="34" charset="-120"/>
              </a:rPr>
              <a:t>Linux (15%) optionnel.</a:t>
            </a:r>
            <a:endParaRPr lang="en-US" sz="950" dirty="0"/>
          </a:p>
        </p:txBody>
      </p:sp>
      <p:sp>
        <p:nvSpPr>
          <p:cNvPr id="14" name="Shape 12"/>
          <p:cNvSpPr/>
          <p:nvPr/>
        </p:nvSpPr>
        <p:spPr>
          <a:xfrm>
            <a:off x="457200" y="3017520"/>
            <a:ext cx="4023360" cy="1508760"/>
          </a:xfrm>
          <a:prstGeom prst="rect">
            <a:avLst/>
          </a:prstGeom>
          <a:solidFill>
            <a:srgbClr val="16263F"/>
          </a:solidFill>
          <a:ln w="19050">
            <a:solidFill>
              <a:srgbClr val="F2C719"/>
            </a:solidFill>
            <a:prstDash val="solid"/>
          </a:ln>
        </p:spPr>
        <p:txBody>
          <a:bodyPr/>
          <a:lstStyle/>
          <a:p>
            <a:endParaRPr/>
          </a:p>
        </p:txBody>
      </p:sp>
      <p:sp>
        <p:nvSpPr>
          <p:cNvPr id="15" name="Shape 13"/>
          <p:cNvSpPr/>
          <p:nvPr/>
        </p:nvSpPr>
        <p:spPr>
          <a:xfrm>
            <a:off x="621792" y="3182112"/>
            <a:ext cx="566928" cy="457200"/>
          </a:xfrm>
          <a:prstGeom prst="rect">
            <a:avLst/>
          </a:prstGeom>
          <a:solidFill>
            <a:srgbClr val="F2C719"/>
          </a:solidFill>
          <a:ln/>
        </p:spPr>
        <p:txBody>
          <a:bodyPr/>
          <a:lstStyle/>
          <a:p>
            <a:endParaRPr/>
          </a:p>
        </p:txBody>
      </p:sp>
      <p:sp>
        <p:nvSpPr>
          <p:cNvPr id="16" name="Text 14"/>
          <p:cNvSpPr/>
          <p:nvPr/>
        </p:nvSpPr>
        <p:spPr>
          <a:xfrm>
            <a:off x="621792" y="3182112"/>
            <a:ext cx="56692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17" name="Text 15"/>
          <p:cNvSpPr/>
          <p:nvPr/>
        </p:nvSpPr>
        <p:spPr>
          <a:xfrm>
            <a:off x="1325880" y="320040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Prix : Entre 10 et 20 euros</a:t>
            </a:r>
            <a:endParaRPr lang="en-US" sz="1300" dirty="0"/>
          </a:p>
        </p:txBody>
      </p:sp>
      <p:sp>
        <p:nvSpPr>
          <p:cNvPr id="18" name="Text 16"/>
          <p:cNvSpPr/>
          <p:nvPr/>
        </p:nvSpPr>
        <p:spPr>
          <a:xfrm>
            <a:off x="1325880" y="3584448"/>
            <a:ext cx="3017520" cy="868680"/>
          </a:xfrm>
          <a:prstGeom prst="rect">
            <a:avLst/>
          </a:prstGeom>
          <a:noFill/>
          <a:ln/>
        </p:spPr>
        <p:txBody>
          <a:bodyPr wrap="square" lIns="0" tIns="0" rIns="0" bIns="0" rtlCol="0" anchor="t"/>
          <a:lstStyle/>
          <a:p>
            <a:pPr marL="0" indent="0">
              <a:lnSpc>
                <a:spcPct val="105000"/>
              </a:lnSpc>
              <a:buNone/>
            </a:pPr>
            <a:r>
              <a:rPr sz="950" dirty="0">
                <a:solidFill>
                  <a:srgbClr val="D7DCE6"/>
                </a:solidFill>
                <a:latin typeface="Arial"/>
              </a:rPr>
              <a:t>Le </a:t>
            </a:r>
            <a:r>
              <a:rPr sz="950" dirty="0" err="1">
                <a:solidFill>
                  <a:srgbClr val="D7DCE6"/>
                </a:solidFill>
                <a:latin typeface="Arial"/>
              </a:rPr>
              <a:t>marché</a:t>
            </a:r>
            <a:r>
              <a:rPr sz="950" dirty="0">
                <a:solidFill>
                  <a:srgbClr val="D7DCE6"/>
                </a:solidFill>
                <a:latin typeface="Arial"/>
              </a:rPr>
              <a:t> se </a:t>
            </a:r>
            <a:r>
              <a:rPr sz="950" dirty="0" err="1">
                <a:solidFill>
                  <a:srgbClr val="D7DCE6"/>
                </a:solidFill>
                <a:latin typeface="Arial"/>
              </a:rPr>
              <a:t>concentre</a:t>
            </a:r>
            <a:r>
              <a:rPr sz="950" dirty="0">
                <a:solidFill>
                  <a:srgbClr val="D7DCE6"/>
                </a:solidFill>
                <a:latin typeface="Arial"/>
              </a:rPr>
              <a:t> sous 10 euros</a:t>
            </a:r>
            <a:r>
              <a:rPr lang="en-US" sz="950" dirty="0">
                <a:solidFill>
                  <a:srgbClr val="D7DCE6"/>
                </a:solidFill>
                <a:latin typeface="Arial"/>
              </a:rPr>
              <a:t>.</a:t>
            </a:r>
            <a:endParaRPr lang="en-US" sz="950" dirty="0"/>
          </a:p>
          <a:p>
            <a:r>
              <a:rPr sz="950" dirty="0">
                <a:solidFill>
                  <a:srgbClr val="D7DCE6"/>
                </a:solidFill>
                <a:latin typeface="Arial"/>
              </a:rPr>
              <a:t>Se </a:t>
            </a:r>
            <a:r>
              <a:rPr sz="950" dirty="0" err="1">
                <a:solidFill>
                  <a:srgbClr val="D7DCE6"/>
                </a:solidFill>
                <a:latin typeface="Arial"/>
              </a:rPr>
              <a:t>positionner</a:t>
            </a:r>
            <a:r>
              <a:rPr sz="950" dirty="0">
                <a:solidFill>
                  <a:srgbClr val="D7DCE6"/>
                </a:solidFill>
                <a:latin typeface="Arial"/>
              </a:rPr>
              <a:t> </a:t>
            </a:r>
            <a:r>
              <a:rPr sz="950" dirty="0" err="1">
                <a:solidFill>
                  <a:srgbClr val="D7DCE6"/>
                </a:solidFill>
                <a:latin typeface="Arial"/>
              </a:rPr>
              <a:t>juste</a:t>
            </a:r>
            <a:r>
              <a:rPr sz="950" dirty="0">
                <a:solidFill>
                  <a:srgbClr val="D7DCE6"/>
                </a:solidFill>
                <a:latin typeface="Arial"/>
              </a:rPr>
              <a:t> au-dessus du segment </a:t>
            </a:r>
            <a:r>
              <a:rPr sz="950" dirty="0" err="1">
                <a:solidFill>
                  <a:srgbClr val="D7DCE6"/>
                </a:solidFill>
                <a:latin typeface="Arial"/>
              </a:rPr>
              <a:t>saturé</a:t>
            </a:r>
            <a:r>
              <a:rPr sz="950" dirty="0">
                <a:solidFill>
                  <a:srgbClr val="D7DCE6"/>
                </a:solidFill>
                <a:latin typeface="Arial"/>
              </a:rPr>
              <a:t>,</a:t>
            </a:r>
            <a:endParaRPr sz="950" dirty="0">
              <a:solidFill>
                <a:srgbClr val="D7DCE6"/>
              </a:solidFill>
              <a:latin typeface="Arial"/>
              <a:cs typeface="Arial"/>
            </a:endParaRPr>
          </a:p>
          <a:p>
            <a:r>
              <a:rPr sz="950" dirty="0">
                <a:solidFill>
                  <a:srgbClr val="D7DCE6"/>
                </a:solidFill>
                <a:latin typeface="Arial"/>
              </a:rPr>
              <a:t>tout </a:t>
            </a:r>
            <a:r>
              <a:rPr sz="950" dirty="0" err="1">
                <a:solidFill>
                  <a:srgbClr val="D7DCE6"/>
                </a:solidFill>
                <a:latin typeface="Arial"/>
              </a:rPr>
              <a:t>en</a:t>
            </a:r>
            <a:r>
              <a:rPr sz="950" dirty="0">
                <a:solidFill>
                  <a:srgbClr val="D7DCE6"/>
                </a:solidFill>
                <a:latin typeface="Arial"/>
              </a:rPr>
              <a:t> </a:t>
            </a:r>
            <a:r>
              <a:rPr sz="950" dirty="0" err="1">
                <a:solidFill>
                  <a:srgbClr val="D7DCE6"/>
                </a:solidFill>
                <a:latin typeface="Arial"/>
              </a:rPr>
              <a:t>restant</a:t>
            </a:r>
            <a:r>
              <a:rPr sz="950" dirty="0">
                <a:solidFill>
                  <a:srgbClr val="D7DCE6"/>
                </a:solidFill>
                <a:latin typeface="Arial"/>
              </a:rPr>
              <a:t> sous 20 euros </a:t>
            </a:r>
            <a:r>
              <a:rPr sz="950" dirty="0" err="1">
                <a:solidFill>
                  <a:srgbClr val="D7DCE6"/>
                </a:solidFill>
                <a:latin typeface="Arial"/>
              </a:rPr>
              <a:t>comme</a:t>
            </a:r>
            <a:r>
              <a:rPr sz="950" dirty="0">
                <a:solidFill>
                  <a:srgbClr val="D7DCE6"/>
                </a:solidFill>
                <a:latin typeface="Arial"/>
              </a:rPr>
              <a:t> </a:t>
            </a:r>
            <a:r>
              <a:rPr lang="en-US" sz="950" dirty="0">
                <a:solidFill>
                  <a:srgbClr val="D7DCE6"/>
                </a:solidFill>
                <a:latin typeface="Arial"/>
              </a:rPr>
              <a:t>94</a:t>
            </a:r>
            <a:r>
              <a:rPr sz="950" dirty="0">
                <a:solidFill>
                  <a:srgbClr val="D7DCE6"/>
                </a:solidFill>
                <a:latin typeface="Arial"/>
              </a:rPr>
              <a:t> % des jeux.</a:t>
            </a:r>
            <a:endParaRPr sz="950" dirty="0">
              <a:solidFill>
                <a:srgbClr val="D7DCE6"/>
              </a:solidFill>
              <a:latin typeface="Arial"/>
              <a:cs typeface="Arial"/>
            </a:endParaRPr>
          </a:p>
        </p:txBody>
      </p:sp>
      <p:sp>
        <p:nvSpPr>
          <p:cNvPr id="19" name="Shape 17"/>
          <p:cNvSpPr/>
          <p:nvPr/>
        </p:nvSpPr>
        <p:spPr>
          <a:xfrm>
            <a:off x="4663440" y="3017520"/>
            <a:ext cx="4023360" cy="1508760"/>
          </a:xfrm>
          <a:prstGeom prst="rect">
            <a:avLst/>
          </a:prstGeom>
          <a:solidFill>
            <a:srgbClr val="16263F"/>
          </a:solidFill>
          <a:ln w="19050">
            <a:solidFill>
              <a:srgbClr val="47B25B"/>
            </a:solidFill>
            <a:prstDash val="solid"/>
          </a:ln>
        </p:spPr>
        <p:txBody>
          <a:bodyPr/>
          <a:lstStyle/>
          <a:p>
            <a:endParaRPr/>
          </a:p>
        </p:txBody>
      </p:sp>
      <p:sp>
        <p:nvSpPr>
          <p:cNvPr id="20" name="Shape 18"/>
          <p:cNvSpPr/>
          <p:nvPr/>
        </p:nvSpPr>
        <p:spPr>
          <a:xfrm>
            <a:off x="4828032" y="3182112"/>
            <a:ext cx="566928" cy="457200"/>
          </a:xfrm>
          <a:prstGeom prst="rect">
            <a:avLst/>
          </a:prstGeom>
          <a:solidFill>
            <a:srgbClr val="47B25B"/>
          </a:solidFill>
          <a:ln/>
        </p:spPr>
        <p:txBody>
          <a:bodyPr/>
          <a:lstStyle/>
          <a:p>
            <a:endParaRPr/>
          </a:p>
        </p:txBody>
      </p:sp>
      <p:sp>
        <p:nvSpPr>
          <p:cNvPr id="21" name="Text 19"/>
          <p:cNvSpPr/>
          <p:nvPr/>
        </p:nvSpPr>
        <p:spPr>
          <a:xfrm>
            <a:off x="4828032" y="3182112"/>
            <a:ext cx="56692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22" name="Text 20"/>
          <p:cNvSpPr/>
          <p:nvPr/>
        </p:nvSpPr>
        <p:spPr>
          <a:xfrm>
            <a:off x="5532120" y="320040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Langues : EN + DE + FR + RU</a:t>
            </a:r>
            <a:endParaRPr lang="en-US" sz="1300" dirty="0"/>
          </a:p>
        </p:txBody>
      </p:sp>
      <p:sp>
        <p:nvSpPr>
          <p:cNvPr id="23" name="Text 21"/>
          <p:cNvSpPr/>
          <p:nvPr/>
        </p:nvSpPr>
        <p:spPr>
          <a:xfrm>
            <a:off x="5532120" y="3584448"/>
            <a:ext cx="3017520" cy="868680"/>
          </a:xfrm>
          <a:prstGeom prst="rect">
            <a:avLst/>
          </a:prstGeom>
          <a:noFill/>
          <a:ln/>
        </p:spPr>
        <p:txBody>
          <a:bodyPr wrap="square" lIns="0" tIns="0" rIns="0" bIns="0" rtlCol="0" anchor="t"/>
          <a:lstStyle/>
          <a:p>
            <a:pPr marL="0" indent="0">
              <a:lnSpc>
                <a:spcPct val="105000"/>
              </a:lnSpc>
              <a:buNone/>
            </a:pPr>
            <a:r>
              <a:rPr lang="en-US" sz="950" dirty="0">
                <a:solidFill>
                  <a:srgbClr val="D7DCE6"/>
                </a:solidFill>
                <a:latin typeface="Arial" pitchFamily="34" charset="0"/>
                <a:ea typeface="Arial" pitchFamily="34" charset="-122"/>
                <a:cs typeface="Arial" pitchFamily="34" charset="-120"/>
              </a:rPr>
              <a:t>Anglais obligatoire.</a:t>
            </a:r>
            <a:endParaRPr lang="en-US" sz="950" dirty="0"/>
          </a:p>
          <a:p>
            <a:pPr marL="0" indent="0">
              <a:lnSpc>
                <a:spcPct val="105000"/>
              </a:lnSpc>
              <a:buNone/>
            </a:pPr>
            <a:r>
              <a:rPr lang="en-US" sz="950" dirty="0">
                <a:solidFill>
                  <a:srgbClr val="D7DCE6"/>
                </a:solidFill>
                <a:latin typeface="Arial" pitchFamily="34" charset="0"/>
                <a:ea typeface="Arial" pitchFamily="34" charset="-122"/>
                <a:cs typeface="Arial" pitchFamily="34" charset="-120"/>
              </a:rPr>
              <a:t>Allemand 2ème langue (14k jeux).</a:t>
            </a:r>
            <a:endParaRPr lang="en-US" sz="950" dirty="0"/>
          </a:p>
          <a:p>
            <a:pPr marL="0" indent="0">
              <a:lnSpc>
                <a:spcPct val="105000"/>
              </a:lnSpc>
              <a:buNone/>
            </a:pPr>
            <a:r>
              <a:rPr lang="en-US" sz="950" dirty="0">
                <a:solidFill>
                  <a:srgbClr val="D7DCE6"/>
                </a:solidFill>
                <a:latin typeface="Arial" pitchFamily="34" charset="0"/>
                <a:ea typeface="Arial" pitchFamily="34" charset="-122"/>
                <a:cs typeface="Arial" pitchFamily="34" charset="-120"/>
              </a:rPr>
              <a:t>Français 3ème (13k). Russe 4ème (12k).</a:t>
            </a:r>
            <a:endParaRPr lang="en-US" sz="950" dirty="0"/>
          </a:p>
        </p:txBody>
      </p:sp>
      <p:sp>
        <p:nvSpPr>
          <p:cNvPr id="24" name="Text 22"/>
          <p:cNvSpPr/>
          <p:nvPr/>
        </p:nvSpPr>
        <p:spPr>
          <a:xfrm>
            <a:off x="457200" y="4736592"/>
            <a:ext cx="8229600" cy="274320"/>
          </a:xfrm>
          <a:prstGeom prst="rect">
            <a:avLst/>
          </a:prstGeom>
          <a:noFill/>
          <a:ln/>
        </p:spPr>
        <p:txBody>
          <a:bodyPr wrap="square" lIns="0" tIns="0" rIns="0" bIns="0" rtlCol="0" anchor="ctr"/>
          <a:lstStyle/>
          <a:p>
            <a:pPr marL="0" indent="0" algn="ctr">
              <a:buNone/>
            </a:pPr>
            <a:r>
              <a:rPr lang="en-US" sz="1100" b="1" dirty="0">
                <a:solidFill>
                  <a:srgbClr val="EF3E5C"/>
                </a:solidFill>
                <a:latin typeface="Arial" pitchFamily="34" charset="0"/>
                <a:ea typeface="Arial" pitchFamily="34" charset="-122"/>
                <a:cs typeface="Arial" pitchFamily="34" charset="-120"/>
              </a:rPr>
              <a:t>Ubisoft a toutes les cartes en main pour réussir son prochain lancement sur Steam.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 xmlns:ma14="http://schemas.microsoft.com/office/mac/drawingml/2011/main"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10</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65028" y="1799274"/>
            <a:ext cx="5104682" cy="1038746"/>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13">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1000" noProof="0" dirty="0"/>
              <a:t> </a:t>
            </a:r>
            <a:endParaRPr lang="fr-FR" sz="1000" noProof="0" dirty="0">
              <a:ea typeface="Calibri"/>
              <a:cs typeface="Calibri"/>
            </a:endParaRP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13"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9</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181</cp:revision>
  <dcterms:created xsi:type="dcterms:W3CDTF">2026-06-29T09:59:59Z</dcterms:created>
  <dcterms:modified xsi:type="dcterms:W3CDTF">2026-10-25T09:41:34Z</dcterms:modified>
</cp:coreProperties>
</file>