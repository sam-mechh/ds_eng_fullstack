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9" r:id="rId8"/>
    <p:sldId id="262" r:id="rId9"/>
    <p:sldId id="263" r:id="rId10"/>
    <p:sldId id="264" r:id="rId11"/>
    <p:sldId id="265" r:id="rId12"/>
    <p:sldId id="266" r:id="rId13"/>
    <p:sldId id="268" r:id="rId14"/>
    <p:sldId id="267"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58" dt="2026-10-23T22:31:08.961"/>
    <p1510:client id="{EE8E9D2C-4346-411B-FEC4-B9BECAE18686}" v="4" dt="2026-10-24T17:13:42.905"/>
    <p1510:client id="{F6A8D48B-A03B-D07D-4EB4-D3A454ADCE81}" v="626" dt="2026-10-24T12:10:35.127"/>
    <p1510:client id="{FCFF4CC7-9483-3B02-6FDB-14BE5FA992BF}" v="6" dt="2026-10-24T17:21:12.5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_108_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Importance</c:v>
                </c:pt>
              </c:strCache>
            </c:strRef>
          </c:tx>
          <c:spPr>
            <a:solidFill>
              <a:srgbClr val="1C7293"/>
            </a:solidFill>
            <a:effectLst/>
          </c:spPr>
          <c:invertIfNegative val="0"/>
          <c:dLbls>
            <c:numFmt formatCode="0.000" sourceLinked="0"/>
            <c:spPr>
              <a:noFill/>
              <a:ln>
                <a:noFill/>
              </a:ln>
              <a:effectLst/>
            </c:spPr>
            <c:txPr>
              <a:bodyPr/>
              <a:lstStyle/>
              <a:p>
                <a:pPr>
                  <a:defRPr sz="900" b="0" i="0" u="none" strike="noStrike">
                    <a:solidFill>
                      <a:srgbClr val="0F172A"/>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Type SUV</c:v>
                </c:pt>
                <c:pt idx="1">
                  <c:v>Kilométrage</c:v>
                </c:pt>
                <c:pt idx="2">
                  <c:v>Carburant essence</c:v>
                </c:pt>
                <c:pt idx="3">
                  <c:v>Getaround Connect</c:v>
                </c:pt>
                <c:pt idx="4">
                  <c:v>GPS</c:v>
                </c:pt>
                <c:pt idx="5">
                  <c:v>Marque (Mitsubishi)</c:v>
                </c:pt>
                <c:pt idx="6">
                  <c:v>Puissance moteur</c:v>
                </c:pt>
              </c:strCache>
            </c:strRef>
          </c:cat>
          <c:val>
            <c:numRef>
              <c:f>Sheet1!$B$2:$B$8</c:f>
              <c:numCache>
                <c:formatCode>General</c:formatCode>
                <c:ptCount val="7"/>
                <c:pt idx="0">
                  <c:v>0.04</c:v>
                </c:pt>
                <c:pt idx="1">
                  <c:v>4.1000000000000002E-2</c:v>
                </c:pt>
                <c:pt idx="2">
                  <c:v>4.3999999999999997E-2</c:v>
                </c:pt>
                <c:pt idx="3">
                  <c:v>4.7E-2</c:v>
                </c:pt>
                <c:pt idx="4">
                  <c:v>7.0000000000000007E-2</c:v>
                </c:pt>
                <c:pt idx="5">
                  <c:v>9.0999999999999998E-2</c:v>
                </c:pt>
                <c:pt idx="6">
                  <c:v>0.14699999999999999</c:v>
                </c:pt>
              </c:numCache>
            </c:numRef>
          </c:val>
          <c:extLst>
            <c:ext xmlns:c16="http://schemas.microsoft.com/office/drawing/2014/chart" uri="{C3380CC4-5D6E-409C-BE32-E72D297353CC}">
              <c16:uniqueId val="{00000000-2015-4E33-ACBD-FEF04A2B9FA6}"/>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F172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75569"/>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6285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F7E68-B851-8F0E-FEF5-1A8F2ED8DD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FE128B-D7F2-7767-BAEE-7DB9F5E57E27}"/>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9938CF52-1F85-9D32-9524-2F71FB5B0E57}"/>
              </a:ext>
            </a:extLst>
          </p:cNvPr>
          <p:cNvSpPr>
            <a:spLocks noGrp="1"/>
          </p:cNvSpPr>
          <p:nvPr>
            <p:ph type="body" idx="1"/>
          </p:nvPr>
        </p:nvSpPr>
        <p:spPr/>
        <p:txBody>
          <a:bodyPr/>
          <a:lstStyle/>
          <a:p>
            <a:r>
              <a:rPr lang="fr-FR" b="1" dirty="0"/>
              <a:t>7:30 - 8:00</a:t>
            </a:r>
          </a:p>
          <a:p>
            <a:r>
              <a:rPr lang="fr-FR" dirty="0"/>
              <a:t>Conclusion : ce projet montre qu'un second regard automatique, fonde sur un encodeur specialise et une fusion fine entre image et texte, peut renforcer la securite du patient sans se substituer au jugement medical.</a:t>
            </a:r>
          </a:p>
          <a:p>
            <a:r>
              <a:rPr lang="fr-FR" dirty="0"/>
              <a:t>La demonstration en ligne est accessible via le lien affiche ci-dessous. Je suis maintenant disponible pour vos questions.</a:t>
            </a:r>
          </a:p>
          <a:p>
            <a:endParaRPr lang="fr-FR" dirty="0"/>
          </a:p>
        </p:txBody>
      </p:sp>
      <p:sp>
        <p:nvSpPr>
          <p:cNvPr id="4" name="Slide Number Placeholder 3">
            <a:extLst>
              <a:ext uri="{FF2B5EF4-FFF2-40B4-BE49-F238E27FC236}">
                <a16:creationId xmlns:a16="http://schemas.microsoft.com/office/drawing/2014/main" id="{E3449097-D955-808A-CA9E-6D41DE4B8B72}"/>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364676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hf hdr="0" ftr="0" dt="0"/>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hyperlink" Target="https://getaround-dashboard-770512542898.europe-west9.run.app/"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getaround-fastapi-770512542898.europe-west9.run.app/docs"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aichafahugface-getaround-api.hf.space/docs"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getaround-dashboard-770512542898.europe-west9.run.app/" TargetMode="External"/><Relationship Id="rId5" Type="http://schemas.openxmlformats.org/officeDocument/2006/relationships/hyperlink" Target="https://aichafahugface-getaround-dashboard.hf.space" TargetMode="External"/><Relationship Id="rId4" Type="http://schemas.openxmlformats.org/officeDocument/2006/relationships/hyperlink" Target="https://getaround-fastapi-770512542898.europe-west9.run.app/docs"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065A82"/>
          </a:soli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6949440" y="822960"/>
            <a:ext cx="1463040" cy="1463040"/>
          </a:xfrm>
          <a:prstGeom prst="rect">
            <a:avLst/>
          </a:prstGeom>
        </p:spPr>
      </p:pic>
      <p:sp>
        <p:nvSpPr>
          <p:cNvPr id="4" name="Text 1"/>
          <p:cNvSpPr/>
          <p:nvPr/>
        </p:nvSpPr>
        <p:spPr>
          <a:xfrm>
            <a:off x="822960" y="1371600"/>
            <a:ext cx="5943600" cy="822960"/>
          </a:xfrm>
          <a:prstGeom prst="rect">
            <a:avLst/>
          </a:prstGeom>
          <a:noFill/>
          <a:ln/>
        </p:spPr>
        <p:txBody>
          <a:bodyPr wrap="square" lIns="0" tIns="0" rIns="0" bIns="0" rtlCol="0" anchor="ctr"/>
          <a:lstStyle/>
          <a:p>
            <a:pPr marL="0" indent="0">
              <a:buNone/>
            </a:pPr>
            <a:r>
              <a:rPr lang="en-US" sz="4400" b="1">
                <a:solidFill>
                  <a:srgbClr val="FFFFFF"/>
                </a:solidFill>
                <a:latin typeface="Cambria" pitchFamily="34" charset="0"/>
                <a:ea typeface="Cambria" pitchFamily="34" charset="-122"/>
                <a:cs typeface="Cambria" pitchFamily="34" charset="-120"/>
              </a:rPr>
              <a:t>Projet Getaround</a:t>
            </a:r>
            <a:endParaRPr lang="en-US" sz="4400"/>
          </a:p>
        </p:txBody>
      </p:sp>
      <p:sp>
        <p:nvSpPr>
          <p:cNvPr id="5" name="Text 2"/>
          <p:cNvSpPr/>
          <p:nvPr/>
        </p:nvSpPr>
        <p:spPr>
          <a:xfrm>
            <a:off x="822960" y="2194560"/>
            <a:ext cx="6858000" cy="640080"/>
          </a:xfrm>
          <a:prstGeom prst="rect">
            <a:avLst/>
          </a:prstGeom>
          <a:noFill/>
          <a:ln/>
        </p:spPr>
        <p:txBody>
          <a:bodyPr wrap="square" lIns="0" tIns="0" rIns="0" bIns="0" rtlCol="0" anchor="ctr"/>
          <a:lstStyle/>
          <a:p>
            <a:pPr marL="0" indent="0">
              <a:buNone/>
            </a:pPr>
            <a:r>
              <a:rPr lang="en-US" sz="2000">
                <a:solidFill>
                  <a:srgbClr val="9BC5C7"/>
                </a:solidFill>
                <a:latin typeface="Calibri" pitchFamily="34" charset="0"/>
                <a:ea typeface="Calibri" pitchFamily="34" charset="-122"/>
                <a:cs typeface="Calibri" pitchFamily="34" charset="-120"/>
              </a:rPr>
              <a:t>Analyse des retards et optimisation du prix de location</a:t>
            </a:r>
            <a:endParaRPr lang="en-US" sz="2000"/>
          </a:p>
        </p:txBody>
      </p:sp>
      <p:sp>
        <p:nvSpPr>
          <p:cNvPr id="6" name="Text 3"/>
          <p:cNvSpPr/>
          <p:nvPr/>
        </p:nvSpPr>
        <p:spPr>
          <a:xfrm>
            <a:off x="822960" y="2926080"/>
            <a:ext cx="7315200" cy="457200"/>
          </a:xfrm>
          <a:prstGeom prst="rect">
            <a:avLst/>
          </a:prstGeom>
          <a:noFill/>
          <a:ln/>
        </p:spPr>
        <p:txBody>
          <a:bodyPr wrap="square" lIns="0" tIns="0" rIns="0" bIns="0" rtlCol="0" anchor="ctr"/>
          <a:lstStyle/>
          <a:p>
            <a:pPr marL="0" indent="0">
              <a:buNone/>
            </a:pPr>
            <a:r>
              <a:rPr lang="en-US" sz="1400" i="1">
                <a:solidFill>
                  <a:srgbClr val="C8D3E0"/>
                </a:solidFill>
                <a:latin typeface="Calibri" pitchFamily="34" charset="0"/>
                <a:ea typeface="Calibri" pitchFamily="34" charset="-122"/>
                <a:cs typeface="Calibri" pitchFamily="34" charset="-120"/>
              </a:rPr>
              <a:t>Pipeline de Machine Learning - de l'analyse exploratoire au déploiement en production</a:t>
            </a:r>
            <a:endParaRPr lang="en-US" sz="1400"/>
          </a:p>
        </p:txBody>
      </p:sp>
      <p:sp>
        <p:nvSpPr>
          <p:cNvPr id="7" name="Shape 4"/>
          <p:cNvSpPr/>
          <p:nvPr/>
        </p:nvSpPr>
        <p:spPr>
          <a:xfrm>
            <a:off x="822960" y="3749040"/>
            <a:ext cx="2286000" cy="0"/>
          </a:xfrm>
          <a:prstGeom prst="line">
            <a:avLst/>
          </a:prstGeom>
          <a:noFill/>
          <a:ln w="12700">
            <a:solidFill>
              <a:srgbClr val="9BC5C7"/>
            </a:solidFill>
            <a:prstDash val="solid"/>
          </a:ln>
        </p:spPr>
        <p:txBody>
          <a:bodyPr/>
          <a:lstStyle/>
          <a:p>
            <a:endParaRPr lang="fr-FR"/>
          </a:p>
        </p:txBody>
      </p:sp>
      <p:sp>
        <p:nvSpPr>
          <p:cNvPr id="8" name="Text 5"/>
          <p:cNvSpPr/>
          <p:nvPr/>
        </p:nvSpPr>
        <p:spPr>
          <a:xfrm>
            <a:off x="822960" y="3931920"/>
            <a:ext cx="6400800" cy="365760"/>
          </a:xfrm>
          <a:prstGeom prst="rect">
            <a:avLst/>
          </a:prstGeom>
          <a:noFill/>
          <a:ln/>
        </p:spPr>
        <p:txBody>
          <a:bodyPr wrap="square" lIns="0" tIns="0" rIns="0" bIns="0" rtlCol="0" anchor="ctr"/>
          <a:lstStyle/>
          <a:p>
            <a:pPr marL="0" indent="0">
              <a:buNone/>
            </a:pPr>
            <a:endParaRPr lang="en-US" sz="1600"/>
          </a:p>
        </p:txBody>
      </p:sp>
      <p:sp>
        <p:nvSpPr>
          <p:cNvPr id="9" name="Text 6"/>
          <p:cNvSpPr/>
          <p:nvPr/>
        </p:nvSpPr>
        <p:spPr>
          <a:xfrm>
            <a:off x="822960" y="4297680"/>
            <a:ext cx="6400800" cy="320040"/>
          </a:xfrm>
          <a:prstGeom prst="rect">
            <a:avLst/>
          </a:prstGeom>
          <a:noFill/>
          <a:ln/>
        </p:spPr>
        <p:txBody>
          <a:bodyPr wrap="square" lIns="0" tIns="0" rIns="0" bIns="0" rtlCol="0" anchor="ctr"/>
          <a:lstStyle/>
          <a:p>
            <a:r>
              <a:rPr lang="en-US" sz="1300">
                <a:solidFill>
                  <a:srgbClr val="C8D3E0"/>
                </a:solidFill>
                <a:latin typeface="Calibri"/>
                <a:ea typeface="Calibri"/>
                <a:cs typeface="Calibri"/>
              </a:rPr>
              <a:t>Samer MECHHOUD</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lIns="0" tIns="0" rIns="0" bIns="0" rtlCol="0" anchor="ctr"/>
          <a:lstStyle/>
          <a:p>
            <a:pPr marL="0" indent="0">
              <a:buNone/>
            </a:pPr>
            <a:r>
              <a:rPr lang="en-US" sz="2400" b="1">
                <a:solidFill>
                  <a:srgbClr val="21295C"/>
                </a:solidFill>
                <a:latin typeface="Cambria" pitchFamily="34" charset="0"/>
                <a:ea typeface="Cambria" pitchFamily="34" charset="-122"/>
                <a:cs typeface="Cambria" pitchFamily="34" charset="-120"/>
              </a:rPr>
              <a:t>Contexte et problématique</a:t>
            </a:r>
            <a:endParaRPr lang="en-US" sz="2400"/>
          </a:p>
        </p:txBody>
      </p:sp>
      <p:sp>
        <p:nvSpPr>
          <p:cNvPr id="3" name="Text 1"/>
          <p:cNvSpPr/>
          <p:nvPr/>
        </p:nvSpPr>
        <p:spPr>
          <a:xfrm>
            <a:off x="457200" y="1051560"/>
            <a:ext cx="8229600" cy="457200"/>
          </a:xfrm>
          <a:prstGeom prst="rect">
            <a:avLst/>
          </a:prstGeom>
          <a:noFill/>
          <a:ln/>
        </p:spPr>
        <p:txBody>
          <a:bodyPr wrap="square" lIns="0" tIns="0" rIns="0" bIns="0" rtlCol="0" anchor="ctr"/>
          <a:lstStyle/>
          <a:p>
            <a:pPr marL="0" indent="0">
              <a:buNone/>
            </a:pPr>
            <a:r>
              <a:rPr lang="en-US" sz="1400" i="1">
                <a:solidFill>
                  <a:srgbClr val="475569"/>
                </a:solidFill>
                <a:latin typeface="Calibri" pitchFamily="34" charset="0"/>
                <a:ea typeface="Calibri" pitchFamily="34" charset="-122"/>
                <a:cs typeface="Calibri" pitchFamily="34" charset="-120"/>
              </a:rPr>
              <a:t>Getaround, plateforme de location de véhicules entre particuliers, fait face à un double enjeu produit.</a:t>
            </a:r>
            <a:endParaRPr lang="en-US" sz="1400"/>
          </a:p>
        </p:txBody>
      </p:sp>
      <p:sp>
        <p:nvSpPr>
          <p:cNvPr id="4" name="Shape 2"/>
          <p:cNvSpPr/>
          <p:nvPr/>
        </p:nvSpPr>
        <p:spPr>
          <a:xfrm>
            <a:off x="457200" y="1691640"/>
            <a:ext cx="4023360" cy="3017520"/>
          </a:xfrm>
          <a:prstGeom prst="rect">
            <a:avLst/>
          </a:prstGeom>
          <a:solidFill>
            <a:srgbClr val="065A82"/>
          </a:solidFill>
          <a:ln/>
        </p:spPr>
        <p:txBody>
          <a:bodyPr/>
          <a:lstStyle/>
          <a:p>
            <a:endParaRPr lang="fr-FR"/>
          </a:p>
        </p:txBody>
      </p:sp>
      <p:pic>
        <p:nvPicPr>
          <p:cNvPr id="5" name="Image 0" descr="preencoded.png"/>
          <p:cNvPicPr>
            <a:picLocks noChangeAspect="1"/>
          </p:cNvPicPr>
          <p:nvPr/>
        </p:nvPicPr>
        <p:blipFill>
          <a:blip r:embed="rId3"/>
          <a:stretch>
            <a:fillRect/>
          </a:stretch>
        </p:blipFill>
        <p:spPr>
          <a:xfrm>
            <a:off x="685800" y="1874520"/>
            <a:ext cx="502920" cy="502920"/>
          </a:xfrm>
          <a:prstGeom prst="rect">
            <a:avLst/>
          </a:prstGeom>
        </p:spPr>
      </p:pic>
      <p:sp>
        <p:nvSpPr>
          <p:cNvPr id="6" name="Text 3"/>
          <p:cNvSpPr/>
          <p:nvPr/>
        </p:nvSpPr>
        <p:spPr>
          <a:xfrm>
            <a:off x="1325880" y="1828800"/>
            <a:ext cx="3108960" cy="502920"/>
          </a:xfrm>
          <a:prstGeom prst="rect">
            <a:avLst/>
          </a:prstGeom>
          <a:noFill/>
          <a:ln/>
        </p:spPr>
        <p:txBody>
          <a:bodyPr wrap="square" lIns="0" tIns="0" rIns="0" bIns="0" rtlCol="0" anchor="ctr"/>
          <a:lstStyle/>
          <a:p>
            <a:pPr marL="0" indent="0">
              <a:buNone/>
            </a:pPr>
            <a:r>
              <a:rPr lang="en-US" sz="1800" b="1">
                <a:solidFill>
                  <a:srgbClr val="FFFFFF"/>
                </a:solidFill>
                <a:latin typeface="Cambria" pitchFamily="34" charset="0"/>
                <a:ea typeface="Cambria" pitchFamily="34" charset="-122"/>
                <a:cs typeface="Cambria" pitchFamily="34" charset="-120"/>
              </a:rPr>
              <a:t>Enjeu 1 - Friction client</a:t>
            </a:r>
            <a:endParaRPr lang="en-US" sz="1800"/>
          </a:p>
        </p:txBody>
      </p:sp>
      <p:sp>
        <p:nvSpPr>
          <p:cNvPr id="7" name="Text 4"/>
          <p:cNvSpPr/>
          <p:nvPr/>
        </p:nvSpPr>
        <p:spPr>
          <a:xfrm>
            <a:off x="685800" y="2514600"/>
            <a:ext cx="3611880" cy="2103120"/>
          </a:xfrm>
          <a:prstGeom prst="rect">
            <a:avLst/>
          </a:prstGeom>
          <a:noFill/>
          <a:ln/>
        </p:spPr>
        <p:txBody>
          <a:bodyPr wrap="square" lIns="0" tIns="0" rIns="0" bIns="0" rtlCol="0" anchor="t"/>
          <a:lstStyle/>
          <a:p>
            <a:pPr marL="0" indent="0">
              <a:buNone/>
            </a:pPr>
            <a:r>
              <a:rPr lang="en-US" sz="1300">
                <a:solidFill>
                  <a:srgbClr val="FFFFFF"/>
                </a:solidFill>
                <a:latin typeface="Calibri" pitchFamily="34" charset="0"/>
                <a:ea typeface="Calibri" pitchFamily="34" charset="-122"/>
                <a:cs typeface="Calibri" pitchFamily="34" charset="-120"/>
              </a:rPr>
              <a:t>Les retours en retard entre deux locations consécutives génèrent des frictions pour le conducteur suivant : attentes, annulations, mécontentement.</a:t>
            </a:r>
            <a:endParaRPr lang="en-US" sz="1300"/>
          </a:p>
          <a:p>
            <a:pPr marL="0" indent="0">
              <a:buNone/>
            </a:pPr>
            <a:r>
              <a:rPr lang="en-US" sz="1300">
                <a:solidFill>
                  <a:srgbClr val="FFFFFF"/>
                </a:solidFill>
                <a:latin typeface="Calibri" pitchFamily="34" charset="0"/>
                <a:ea typeface="Calibri" pitchFamily="34" charset="-122"/>
                <a:cs typeface="Calibri" pitchFamily="34" charset="-120"/>
              </a:rPr>
              <a:t> </a:t>
            </a:r>
            <a:endParaRPr lang="en-US" sz="1300"/>
          </a:p>
          <a:p>
            <a:pPr marL="0" indent="0">
              <a:buNone/>
            </a:pPr>
            <a:r>
              <a:rPr lang="en-US" sz="1300">
                <a:solidFill>
                  <a:srgbClr val="FFFFFF"/>
                </a:solidFill>
                <a:latin typeface="Calibri" pitchFamily="34" charset="0"/>
                <a:ea typeface="Calibri" pitchFamily="34" charset="-122"/>
                <a:cs typeface="Calibri" pitchFamily="34" charset="-120"/>
              </a:rPr>
              <a:t>Question : faut-il imposer un délai minimum entre deux locations et lequel ?</a:t>
            </a:r>
            <a:endParaRPr lang="en-US" sz="1300"/>
          </a:p>
        </p:txBody>
      </p:sp>
      <p:sp>
        <p:nvSpPr>
          <p:cNvPr id="8" name="Shape 5"/>
          <p:cNvSpPr/>
          <p:nvPr/>
        </p:nvSpPr>
        <p:spPr>
          <a:xfrm>
            <a:off x="4663440" y="1691640"/>
            <a:ext cx="4023360" cy="3017520"/>
          </a:xfrm>
          <a:prstGeom prst="rect">
            <a:avLst/>
          </a:prstGeom>
          <a:solidFill>
            <a:srgbClr val="1C7293"/>
          </a:solidFill>
          <a:ln/>
        </p:spPr>
        <p:txBody>
          <a:bodyPr/>
          <a:lstStyle/>
          <a:p>
            <a:endParaRPr lang="fr-FR"/>
          </a:p>
        </p:txBody>
      </p:sp>
      <p:pic>
        <p:nvPicPr>
          <p:cNvPr id="9" name="Image 1" descr="preencoded.png"/>
          <p:cNvPicPr>
            <a:picLocks noChangeAspect="1"/>
          </p:cNvPicPr>
          <p:nvPr/>
        </p:nvPicPr>
        <p:blipFill>
          <a:blip r:embed="rId4"/>
          <a:stretch>
            <a:fillRect/>
          </a:stretch>
        </p:blipFill>
        <p:spPr>
          <a:xfrm>
            <a:off x="4892040" y="1874520"/>
            <a:ext cx="502920" cy="502920"/>
          </a:xfrm>
          <a:prstGeom prst="rect">
            <a:avLst/>
          </a:prstGeom>
        </p:spPr>
      </p:pic>
      <p:sp>
        <p:nvSpPr>
          <p:cNvPr id="10" name="Text 6"/>
          <p:cNvSpPr/>
          <p:nvPr/>
        </p:nvSpPr>
        <p:spPr>
          <a:xfrm>
            <a:off x="5532120" y="1828800"/>
            <a:ext cx="3017520" cy="502920"/>
          </a:xfrm>
          <a:prstGeom prst="rect">
            <a:avLst/>
          </a:prstGeom>
          <a:noFill/>
          <a:ln/>
        </p:spPr>
        <p:txBody>
          <a:bodyPr wrap="square" lIns="0" tIns="0" rIns="0" bIns="0" rtlCol="0" anchor="ctr"/>
          <a:lstStyle/>
          <a:p>
            <a:pPr marL="0" indent="0">
              <a:buNone/>
            </a:pPr>
            <a:r>
              <a:rPr lang="en-US" sz="1800" b="1">
                <a:solidFill>
                  <a:srgbClr val="FFFFFF"/>
                </a:solidFill>
                <a:latin typeface="Cambria" pitchFamily="34" charset="0"/>
                <a:ea typeface="Cambria" pitchFamily="34" charset="-122"/>
                <a:cs typeface="Cambria" pitchFamily="34" charset="-120"/>
              </a:rPr>
              <a:t>Enjeu 2 - Valorisation des véhicules</a:t>
            </a:r>
            <a:endParaRPr lang="en-US" sz="1800"/>
          </a:p>
        </p:txBody>
      </p:sp>
      <p:sp>
        <p:nvSpPr>
          <p:cNvPr id="11" name="Text 7"/>
          <p:cNvSpPr/>
          <p:nvPr/>
        </p:nvSpPr>
        <p:spPr>
          <a:xfrm>
            <a:off x="4892040" y="2514600"/>
            <a:ext cx="3611880" cy="2103120"/>
          </a:xfrm>
          <a:prstGeom prst="rect">
            <a:avLst/>
          </a:prstGeom>
          <a:noFill/>
          <a:ln/>
        </p:spPr>
        <p:txBody>
          <a:bodyPr wrap="square" lIns="0" tIns="0" rIns="0" bIns="0" rtlCol="0" anchor="t"/>
          <a:lstStyle/>
          <a:p>
            <a:pPr marL="0" indent="0">
              <a:buNone/>
            </a:pPr>
            <a:r>
              <a:rPr lang="en-US" sz="1300">
                <a:solidFill>
                  <a:srgbClr val="FFFFFF"/>
                </a:solidFill>
                <a:latin typeface="Calibri" pitchFamily="34" charset="0"/>
                <a:ea typeface="Calibri" pitchFamily="34" charset="-122"/>
                <a:cs typeface="Calibri" pitchFamily="34" charset="-120"/>
              </a:rPr>
              <a:t>Les propriétaires ne savent pas comment valoriser leur véhicule. Un prix trop bas réduit leurs revenus, un prix trop haut décourage les locataires.</a:t>
            </a:r>
            <a:endParaRPr lang="en-US" sz="1300"/>
          </a:p>
          <a:p>
            <a:pPr marL="0" indent="0">
              <a:buNone/>
            </a:pPr>
            <a:r>
              <a:rPr lang="en-US" sz="1300">
                <a:solidFill>
                  <a:srgbClr val="FFFFFF"/>
                </a:solidFill>
                <a:latin typeface="Calibri" pitchFamily="34" charset="0"/>
                <a:ea typeface="Calibri" pitchFamily="34" charset="-122"/>
                <a:cs typeface="Calibri" pitchFamily="34" charset="-120"/>
              </a:rPr>
              <a:t> </a:t>
            </a:r>
            <a:endParaRPr lang="en-US" sz="1300"/>
          </a:p>
          <a:p>
            <a:pPr marL="0" indent="0">
              <a:buNone/>
            </a:pPr>
            <a:r>
              <a:rPr lang="en-US" sz="1300">
                <a:solidFill>
                  <a:srgbClr val="FFFFFF"/>
                </a:solidFill>
                <a:latin typeface="Calibri" pitchFamily="34" charset="0"/>
                <a:ea typeface="Calibri" pitchFamily="34" charset="-122"/>
                <a:cs typeface="Calibri" pitchFamily="34" charset="-120"/>
              </a:rPr>
              <a:t>Question : peut-on prédire le prix journalier optimal à partir des caractéristiques du véhicule ?</a:t>
            </a:r>
            <a:endParaRPr lang="en-US" sz="1300"/>
          </a:p>
        </p:txBody>
      </p:sp>
      <p:sp>
        <p:nvSpPr>
          <p:cNvPr id="12" name="Text 8"/>
          <p:cNvSpPr/>
          <p:nvPr/>
        </p:nvSpPr>
        <p:spPr>
          <a:xfrm>
            <a:off x="457200" y="4800600"/>
            <a:ext cx="8229600" cy="274320"/>
          </a:xfrm>
          <a:prstGeom prst="rect">
            <a:avLst/>
          </a:prstGeom>
          <a:noFill/>
          <a:ln/>
        </p:spPr>
        <p:txBody>
          <a:bodyPr wrap="square" lIns="0" tIns="0" rIns="0" bIns="0" rtlCol="0" anchor="ctr"/>
          <a:lstStyle/>
          <a:p>
            <a:pPr marL="0" indent="0" algn="ctr">
              <a:buNone/>
            </a:pPr>
            <a:r>
              <a:rPr lang="en-US" sz="1200" i="1">
                <a:solidFill>
                  <a:srgbClr val="475569"/>
                </a:solidFill>
                <a:latin typeface="Calibri" pitchFamily="34" charset="0"/>
                <a:ea typeface="Calibri" pitchFamily="34" charset="-122"/>
                <a:cs typeface="Calibri" pitchFamily="34" charset="-120"/>
              </a:rPr>
              <a:t>Une analyse de données et un modèle de Machine Learning, déployés en production.</a:t>
            </a:r>
            <a:endParaRPr lang="en-US"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987" y="261209"/>
            <a:ext cx="8229600" cy="640080"/>
          </a:xfrm>
          <a:prstGeom prst="rect">
            <a:avLst/>
          </a:prstGeom>
          <a:noFill/>
          <a:ln/>
        </p:spPr>
        <p:txBody>
          <a:bodyPr wrap="square" lIns="0" tIns="0" rIns="0" bIns="0" rtlCol="0" anchor="ctr"/>
          <a:lstStyle/>
          <a:p>
            <a:pPr marL="0" indent="0">
              <a:buNone/>
            </a:pPr>
            <a:r>
              <a:rPr lang="en-US" sz="2400" b="1">
                <a:solidFill>
                  <a:srgbClr val="21295C"/>
                </a:solidFill>
                <a:latin typeface="Cambria"/>
                <a:ea typeface="Cambria"/>
                <a:cs typeface="Cambria" pitchFamily="34" charset="-120"/>
              </a:rPr>
              <a:t>Données</a:t>
            </a:r>
            <a:endParaRPr lang="en-US" sz="2400" b="1">
              <a:solidFill>
                <a:srgbClr val="21295C"/>
              </a:solidFill>
              <a:latin typeface="Cambria"/>
              <a:ea typeface="Cambria"/>
            </a:endParaRPr>
          </a:p>
        </p:txBody>
      </p:sp>
      <p:sp>
        <p:nvSpPr>
          <p:cNvPr id="3" name="Text 1"/>
          <p:cNvSpPr/>
          <p:nvPr/>
        </p:nvSpPr>
        <p:spPr>
          <a:xfrm>
            <a:off x="1028700" y="1362523"/>
            <a:ext cx="2741520" cy="365760"/>
          </a:xfrm>
          <a:prstGeom prst="rect">
            <a:avLst/>
          </a:prstGeom>
          <a:noFill/>
          <a:ln/>
        </p:spPr>
        <p:txBody>
          <a:bodyPr wrap="square" lIns="0" tIns="0" rIns="0" bIns="0" rtlCol="0" anchor="ctr"/>
          <a:lstStyle/>
          <a:p>
            <a:r>
              <a:rPr lang="en-US" sz="1600" b="1" dirty="0" err="1">
                <a:solidFill>
                  <a:srgbClr val="475569"/>
                </a:solidFill>
                <a:ea typeface="Calibri"/>
                <a:cs typeface="Calibri"/>
              </a:rPr>
              <a:t>Analyse</a:t>
            </a:r>
            <a:r>
              <a:rPr lang="en-US" sz="1600" b="1" dirty="0">
                <a:solidFill>
                  <a:srgbClr val="475569"/>
                </a:solidFill>
                <a:ea typeface="Calibri"/>
                <a:cs typeface="Calibri"/>
              </a:rPr>
              <a:t> des retards - Dashboard</a:t>
            </a:r>
          </a:p>
        </p:txBody>
      </p:sp>
      <p:sp>
        <p:nvSpPr>
          <p:cNvPr id="4" name="Shape 2"/>
          <p:cNvSpPr/>
          <p:nvPr/>
        </p:nvSpPr>
        <p:spPr>
          <a:xfrm>
            <a:off x="474009" y="1882252"/>
            <a:ext cx="4023360" cy="1550783"/>
          </a:xfrm>
          <a:prstGeom prst="rect">
            <a:avLst/>
          </a:prstGeom>
          <a:solidFill>
            <a:srgbClr val="E8F1F5"/>
          </a:solidFill>
          <a:ln w="6350">
            <a:solidFill>
              <a:srgbClr val="065A82"/>
            </a:solidFill>
            <a:prstDash val="solid"/>
          </a:ln>
        </p:spPr>
        <p:txBody>
          <a:bodyPr/>
          <a:lstStyle/>
          <a:p>
            <a:endParaRPr lang="fr-FR"/>
          </a:p>
        </p:txBody>
      </p:sp>
      <p:sp>
        <p:nvSpPr>
          <p:cNvPr id="5" name="Text 3"/>
          <p:cNvSpPr/>
          <p:nvPr/>
        </p:nvSpPr>
        <p:spPr>
          <a:xfrm>
            <a:off x="614867" y="1973692"/>
            <a:ext cx="3749040" cy="365760"/>
          </a:xfrm>
          <a:prstGeom prst="rect">
            <a:avLst/>
          </a:prstGeom>
          <a:noFill/>
          <a:ln/>
        </p:spPr>
        <p:txBody>
          <a:bodyPr wrap="square" lIns="0" tIns="0" rIns="0" bIns="0" rtlCol="0" anchor="ctr"/>
          <a:lstStyle/>
          <a:p>
            <a:pPr marL="0" indent="0">
              <a:buNone/>
            </a:pPr>
            <a:r>
              <a:rPr lang="en-US" sz="1300" b="1">
                <a:solidFill>
                  <a:srgbClr val="065A82"/>
                </a:solidFill>
                <a:latin typeface="Consolas" pitchFamily="34" charset="0"/>
                <a:ea typeface="Consolas" pitchFamily="34" charset="-122"/>
                <a:cs typeface="Consolas" pitchFamily="34" charset="-120"/>
              </a:rPr>
              <a:t>get_around_delay_analysis.xlsx</a:t>
            </a:r>
            <a:endParaRPr lang="en-US" sz="1300"/>
          </a:p>
        </p:txBody>
      </p:sp>
      <p:sp>
        <p:nvSpPr>
          <p:cNvPr id="6" name="Text 4"/>
          <p:cNvSpPr/>
          <p:nvPr/>
        </p:nvSpPr>
        <p:spPr>
          <a:xfrm>
            <a:off x="614867" y="2339452"/>
            <a:ext cx="3749040" cy="1005840"/>
          </a:xfrm>
          <a:prstGeom prst="rect">
            <a:avLst/>
          </a:prstGeom>
          <a:noFill/>
          <a:ln/>
        </p:spPr>
        <p:txBody>
          <a:bodyPr wrap="square" lIns="0" tIns="0" rIns="0" bIns="0" rtlCol="0" anchor="ctr"/>
          <a:lstStyle/>
          <a:p>
            <a:pPr marL="0" indent="0">
              <a:buNone/>
            </a:pPr>
            <a:r>
              <a:rPr lang="en-US" sz="1200" b="1">
                <a:solidFill>
                  <a:srgbClr val="0F172A"/>
                </a:solidFill>
                <a:latin typeface="Calibri" pitchFamily="34" charset="0"/>
                <a:ea typeface="Calibri" pitchFamily="34" charset="-122"/>
                <a:cs typeface="Calibri" pitchFamily="34" charset="-120"/>
              </a:rPr>
              <a:t>21 310 locations - 8 143 véhicules</a:t>
            </a:r>
            <a:endParaRPr lang="en-US" sz="1200"/>
          </a:p>
          <a:p>
            <a:pPr marL="0" indent="0">
              <a:buNone/>
            </a:pPr>
            <a:r>
              <a:rPr lang="en-US" sz="1200">
                <a:solidFill>
                  <a:srgbClr val="0F172A"/>
                </a:solidFill>
                <a:latin typeface="Calibri" pitchFamily="34" charset="0"/>
                <a:ea typeface="Calibri" pitchFamily="34" charset="-122"/>
                <a:cs typeface="Calibri" pitchFamily="34" charset="-120"/>
              </a:rPr>
              <a:t>Variables : type de check-in, état, délai de restitution, écart prévu entre deux locations chaînées</a:t>
            </a:r>
            <a:endParaRPr lang="en-US" sz="1200"/>
          </a:p>
        </p:txBody>
      </p:sp>
      <p:sp>
        <p:nvSpPr>
          <p:cNvPr id="7" name="Shape 5"/>
          <p:cNvSpPr/>
          <p:nvPr/>
        </p:nvSpPr>
        <p:spPr>
          <a:xfrm>
            <a:off x="4638227" y="1882252"/>
            <a:ext cx="4031764" cy="1550783"/>
          </a:xfrm>
          <a:prstGeom prst="rect">
            <a:avLst/>
          </a:prstGeom>
          <a:solidFill>
            <a:srgbClr val="E8F1F5"/>
          </a:solidFill>
          <a:ln w="6350">
            <a:solidFill>
              <a:srgbClr val="1C7293"/>
            </a:solidFill>
            <a:prstDash val="solid"/>
          </a:ln>
        </p:spPr>
        <p:txBody>
          <a:bodyPr/>
          <a:lstStyle/>
          <a:p>
            <a:endParaRPr lang="fr-FR"/>
          </a:p>
        </p:txBody>
      </p:sp>
      <p:sp>
        <p:nvSpPr>
          <p:cNvPr id="8" name="Text 6"/>
          <p:cNvSpPr/>
          <p:nvPr/>
        </p:nvSpPr>
        <p:spPr>
          <a:xfrm>
            <a:off x="4821107" y="1973692"/>
            <a:ext cx="3749040" cy="365760"/>
          </a:xfrm>
          <a:prstGeom prst="rect">
            <a:avLst/>
          </a:prstGeom>
          <a:noFill/>
          <a:ln/>
        </p:spPr>
        <p:txBody>
          <a:bodyPr wrap="square" lIns="0" tIns="0" rIns="0" bIns="0" rtlCol="0" anchor="ctr"/>
          <a:lstStyle/>
          <a:p>
            <a:pPr marL="0" indent="0">
              <a:buNone/>
            </a:pPr>
            <a:r>
              <a:rPr lang="en-US" sz="1300" b="1">
                <a:solidFill>
                  <a:srgbClr val="1C7293"/>
                </a:solidFill>
                <a:latin typeface="Consolas" pitchFamily="34" charset="0"/>
                <a:ea typeface="Consolas" pitchFamily="34" charset="-122"/>
                <a:cs typeface="Consolas" pitchFamily="34" charset="-120"/>
              </a:rPr>
              <a:t>get_around_pricing_project.csv</a:t>
            </a:r>
            <a:endParaRPr lang="en-US" sz="1300"/>
          </a:p>
        </p:txBody>
      </p:sp>
      <p:sp>
        <p:nvSpPr>
          <p:cNvPr id="9" name="Text 7"/>
          <p:cNvSpPr/>
          <p:nvPr/>
        </p:nvSpPr>
        <p:spPr>
          <a:xfrm>
            <a:off x="4821107" y="2339452"/>
            <a:ext cx="3749040" cy="1005840"/>
          </a:xfrm>
          <a:prstGeom prst="rect">
            <a:avLst/>
          </a:prstGeom>
          <a:noFill/>
          <a:ln/>
        </p:spPr>
        <p:txBody>
          <a:bodyPr wrap="square" lIns="0" tIns="0" rIns="0" bIns="0" rtlCol="0" anchor="ctr"/>
          <a:lstStyle/>
          <a:p>
            <a:pPr marL="0" indent="0">
              <a:buNone/>
            </a:pPr>
            <a:r>
              <a:rPr lang="en-US" sz="1200" b="1">
                <a:solidFill>
                  <a:srgbClr val="0F172A"/>
                </a:solidFill>
                <a:latin typeface="Calibri" pitchFamily="34" charset="0"/>
                <a:ea typeface="Calibri" pitchFamily="34" charset="-122"/>
                <a:cs typeface="Calibri" pitchFamily="34" charset="-120"/>
              </a:rPr>
              <a:t>4 843 véhicules - prix journalier</a:t>
            </a:r>
            <a:endParaRPr lang="en-US" sz="1200"/>
          </a:p>
          <a:p>
            <a:pPr marL="0" indent="0">
              <a:buNone/>
            </a:pPr>
            <a:r>
              <a:rPr lang="en-US" sz="1200">
                <a:solidFill>
                  <a:srgbClr val="0F172A"/>
                </a:solidFill>
                <a:latin typeface="Calibri" pitchFamily="34" charset="0"/>
                <a:ea typeface="Calibri" pitchFamily="34" charset="-122"/>
                <a:cs typeface="Calibri" pitchFamily="34" charset="-120"/>
              </a:rPr>
              <a:t>Variables : marque, kilométrage, puissance moteur, carburant, équipements (GPS, climatisation, Connect)</a:t>
            </a:r>
            <a:endParaRPr lang="en-US" sz="1200"/>
          </a:p>
        </p:txBody>
      </p:sp>
      <p:sp>
        <p:nvSpPr>
          <p:cNvPr id="24" name="Text 1">
            <a:extLst>
              <a:ext uri="{FF2B5EF4-FFF2-40B4-BE49-F238E27FC236}">
                <a16:creationId xmlns:a16="http://schemas.microsoft.com/office/drawing/2014/main" id="{A7B153F0-AC96-79E6-AC81-65A96B451EA7}"/>
              </a:ext>
            </a:extLst>
          </p:cNvPr>
          <p:cNvSpPr/>
          <p:nvPr/>
        </p:nvSpPr>
        <p:spPr>
          <a:xfrm>
            <a:off x="5567082" y="1362523"/>
            <a:ext cx="2254064" cy="365760"/>
          </a:xfrm>
          <a:prstGeom prst="rect">
            <a:avLst/>
          </a:prstGeom>
          <a:noFill/>
          <a:ln/>
        </p:spPr>
        <p:txBody>
          <a:bodyPr wrap="square" lIns="0" tIns="0" rIns="0" bIns="0" rtlCol="0" anchor="ctr"/>
          <a:lstStyle/>
          <a:p>
            <a:r>
              <a:rPr lang="en-US" sz="1600" b="1" dirty="0" err="1">
                <a:solidFill>
                  <a:srgbClr val="475569"/>
                </a:solidFill>
                <a:ea typeface="Calibri"/>
                <a:cs typeface="Calibri"/>
              </a:rPr>
              <a:t>Prédiction</a:t>
            </a:r>
            <a:r>
              <a:rPr lang="en-US" sz="1600" b="1" dirty="0">
                <a:solidFill>
                  <a:srgbClr val="475569"/>
                </a:solidFill>
                <a:ea typeface="Calibri"/>
                <a:cs typeface="Calibri"/>
              </a:rPr>
              <a:t> du prix - API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lIns="0" tIns="0" rIns="0" bIns="0" rtlCol="0" anchor="ctr"/>
          <a:lstStyle/>
          <a:p>
            <a:pPr marL="0" indent="0">
              <a:buNone/>
            </a:pPr>
            <a:r>
              <a:rPr lang="en-US" sz="2400" b="1">
                <a:solidFill>
                  <a:srgbClr val="21295C"/>
                </a:solidFill>
                <a:latin typeface="Cambria" pitchFamily="34" charset="0"/>
                <a:ea typeface="Cambria" pitchFamily="34" charset="-122"/>
                <a:cs typeface="Cambria" pitchFamily="34" charset="-120"/>
              </a:rPr>
              <a:t>Analyse des retards - chiffres clés</a:t>
            </a:r>
            <a:endParaRPr lang="en-US" sz="2400"/>
          </a:p>
        </p:txBody>
      </p:sp>
      <p:sp>
        <p:nvSpPr>
          <p:cNvPr id="3" name="Shape 1"/>
          <p:cNvSpPr/>
          <p:nvPr/>
        </p:nvSpPr>
        <p:spPr>
          <a:xfrm>
            <a:off x="464170" y="1021452"/>
            <a:ext cx="3931920" cy="1554480"/>
          </a:xfrm>
          <a:prstGeom prst="rect">
            <a:avLst/>
          </a:prstGeom>
          <a:solidFill>
            <a:srgbClr val="F8FAFC"/>
          </a:solidFill>
          <a:ln/>
          <a:effectLst>
            <a:outerShdw blurRad="101600" dist="25400" dir="5400000" algn="bl" rotWithShape="0">
              <a:srgbClr val="000000">
                <a:alpha val="8000"/>
              </a:srgbClr>
            </a:outerShdw>
          </a:effectLst>
        </p:spPr>
        <p:txBody>
          <a:bodyPr/>
          <a:lstStyle/>
          <a:p>
            <a:endParaRPr lang="fr-FR"/>
          </a:p>
        </p:txBody>
      </p:sp>
      <p:sp>
        <p:nvSpPr>
          <p:cNvPr id="4" name="Shape 2"/>
          <p:cNvSpPr/>
          <p:nvPr/>
        </p:nvSpPr>
        <p:spPr>
          <a:xfrm>
            <a:off x="464170" y="1021452"/>
            <a:ext cx="91440" cy="1554480"/>
          </a:xfrm>
          <a:prstGeom prst="rect">
            <a:avLst/>
          </a:prstGeom>
          <a:solidFill>
            <a:srgbClr val="065A82"/>
          </a:solidFill>
          <a:ln/>
        </p:spPr>
        <p:txBody>
          <a:bodyPr/>
          <a:lstStyle/>
          <a:p>
            <a:endParaRPr lang="fr-FR"/>
          </a:p>
        </p:txBody>
      </p:sp>
      <p:sp>
        <p:nvSpPr>
          <p:cNvPr id="5" name="Text 3"/>
          <p:cNvSpPr/>
          <p:nvPr/>
        </p:nvSpPr>
        <p:spPr>
          <a:xfrm>
            <a:off x="692770" y="1158612"/>
            <a:ext cx="3657600" cy="640080"/>
          </a:xfrm>
          <a:prstGeom prst="rect">
            <a:avLst/>
          </a:prstGeom>
          <a:noFill/>
          <a:ln/>
        </p:spPr>
        <p:txBody>
          <a:bodyPr wrap="square" lIns="0" tIns="0" rIns="0" bIns="0" rtlCol="0" anchor="ctr"/>
          <a:lstStyle/>
          <a:p>
            <a:pPr marL="0" indent="0">
              <a:buNone/>
            </a:pPr>
            <a:r>
              <a:rPr lang="en-US" sz="3600" b="1">
                <a:solidFill>
                  <a:srgbClr val="065A82"/>
                </a:solidFill>
                <a:latin typeface="Cambria" pitchFamily="34" charset="0"/>
                <a:ea typeface="Cambria" pitchFamily="34" charset="-122"/>
                <a:cs typeface="Cambria" pitchFamily="34" charset="-120"/>
              </a:rPr>
              <a:t>57,5 %</a:t>
            </a:r>
            <a:endParaRPr lang="en-US" sz="3600"/>
          </a:p>
        </p:txBody>
      </p:sp>
      <p:sp>
        <p:nvSpPr>
          <p:cNvPr id="6" name="Text 4"/>
          <p:cNvSpPr/>
          <p:nvPr/>
        </p:nvSpPr>
        <p:spPr>
          <a:xfrm>
            <a:off x="692770" y="1798692"/>
            <a:ext cx="3657600" cy="365760"/>
          </a:xfrm>
          <a:prstGeom prst="rect">
            <a:avLst/>
          </a:prstGeom>
          <a:noFill/>
          <a:ln/>
        </p:spPr>
        <p:txBody>
          <a:bodyPr wrap="square" lIns="0" tIns="0" rIns="0" bIns="0" rtlCol="0" anchor="ctr"/>
          <a:lstStyle/>
          <a:p>
            <a:pPr marL="0" indent="0">
              <a:buNone/>
            </a:pPr>
            <a:r>
              <a:rPr lang="en-US" sz="1400" b="1">
                <a:solidFill>
                  <a:srgbClr val="0F172A"/>
                </a:solidFill>
                <a:latin typeface="Calibri" pitchFamily="34" charset="0"/>
                <a:ea typeface="Calibri" pitchFamily="34" charset="-122"/>
                <a:cs typeface="Calibri" pitchFamily="34" charset="-120"/>
              </a:rPr>
              <a:t>des restitutions sont en retard</a:t>
            </a:r>
            <a:endParaRPr lang="en-US" sz="1400"/>
          </a:p>
        </p:txBody>
      </p:sp>
      <p:sp>
        <p:nvSpPr>
          <p:cNvPr id="7" name="Text 5"/>
          <p:cNvSpPr/>
          <p:nvPr/>
        </p:nvSpPr>
        <p:spPr>
          <a:xfrm>
            <a:off x="692770" y="2137020"/>
            <a:ext cx="3657600" cy="320040"/>
          </a:xfrm>
          <a:prstGeom prst="rect">
            <a:avLst/>
          </a:prstGeom>
          <a:noFill/>
          <a:ln/>
        </p:spPr>
        <p:txBody>
          <a:bodyPr wrap="square" lIns="0" tIns="0" rIns="0" bIns="0" rtlCol="0" anchor="ctr"/>
          <a:lstStyle/>
          <a:p>
            <a:pPr marL="0" indent="0">
              <a:buNone/>
            </a:pPr>
            <a:r>
              <a:rPr lang="en-US" sz="1100" i="1">
                <a:solidFill>
                  <a:srgbClr val="475569"/>
                </a:solidFill>
                <a:latin typeface="Calibri" pitchFamily="34" charset="0"/>
                <a:ea typeface="Calibri" pitchFamily="34" charset="-122"/>
                <a:cs typeface="Calibri" pitchFamily="34" charset="-120"/>
              </a:rPr>
              <a:t>sur 16 345 locations analysables</a:t>
            </a:r>
            <a:endParaRPr lang="en-US" sz="1100"/>
          </a:p>
        </p:txBody>
      </p:sp>
      <p:sp>
        <p:nvSpPr>
          <p:cNvPr id="8" name="Shape 6"/>
          <p:cNvSpPr/>
          <p:nvPr/>
        </p:nvSpPr>
        <p:spPr>
          <a:xfrm>
            <a:off x="4670410" y="1021452"/>
            <a:ext cx="3931920" cy="1554480"/>
          </a:xfrm>
          <a:prstGeom prst="rect">
            <a:avLst/>
          </a:prstGeom>
          <a:solidFill>
            <a:srgbClr val="F8FAFC"/>
          </a:solidFill>
          <a:ln/>
          <a:effectLst>
            <a:outerShdw blurRad="101600" dist="25400" dir="5400000" algn="bl" rotWithShape="0">
              <a:srgbClr val="000000">
                <a:alpha val="8000"/>
              </a:srgbClr>
            </a:outerShdw>
          </a:effectLst>
        </p:spPr>
        <p:txBody>
          <a:bodyPr/>
          <a:lstStyle/>
          <a:p>
            <a:endParaRPr lang="fr-FR"/>
          </a:p>
        </p:txBody>
      </p:sp>
      <p:sp>
        <p:nvSpPr>
          <p:cNvPr id="9" name="Shape 7"/>
          <p:cNvSpPr/>
          <p:nvPr/>
        </p:nvSpPr>
        <p:spPr>
          <a:xfrm>
            <a:off x="4670410" y="1021452"/>
            <a:ext cx="91440" cy="1554480"/>
          </a:xfrm>
          <a:prstGeom prst="rect">
            <a:avLst/>
          </a:prstGeom>
          <a:solidFill>
            <a:srgbClr val="065A82"/>
          </a:solidFill>
          <a:ln/>
        </p:spPr>
        <p:txBody>
          <a:bodyPr/>
          <a:lstStyle/>
          <a:p>
            <a:endParaRPr lang="fr-FR"/>
          </a:p>
        </p:txBody>
      </p:sp>
      <p:sp>
        <p:nvSpPr>
          <p:cNvPr id="10" name="Text 8"/>
          <p:cNvSpPr/>
          <p:nvPr/>
        </p:nvSpPr>
        <p:spPr>
          <a:xfrm>
            <a:off x="4899010" y="1158612"/>
            <a:ext cx="3657600" cy="640080"/>
          </a:xfrm>
          <a:prstGeom prst="rect">
            <a:avLst/>
          </a:prstGeom>
          <a:noFill/>
          <a:ln/>
        </p:spPr>
        <p:txBody>
          <a:bodyPr wrap="square" lIns="0" tIns="0" rIns="0" bIns="0" rtlCol="0" anchor="ctr"/>
          <a:lstStyle/>
          <a:p>
            <a:pPr marL="0" indent="0">
              <a:buNone/>
            </a:pPr>
            <a:r>
              <a:rPr lang="en-US" sz="3600" b="1">
                <a:solidFill>
                  <a:srgbClr val="065A82"/>
                </a:solidFill>
                <a:latin typeface="Cambria" pitchFamily="34" charset="0"/>
                <a:ea typeface="Cambria" pitchFamily="34" charset="-122"/>
                <a:cs typeface="Cambria" pitchFamily="34" charset="-120"/>
              </a:rPr>
              <a:t>+9 min</a:t>
            </a:r>
            <a:endParaRPr lang="en-US" sz="3600"/>
          </a:p>
        </p:txBody>
      </p:sp>
      <p:sp>
        <p:nvSpPr>
          <p:cNvPr id="11" name="Text 9"/>
          <p:cNvSpPr/>
          <p:nvPr/>
        </p:nvSpPr>
        <p:spPr>
          <a:xfrm>
            <a:off x="4899010" y="1798692"/>
            <a:ext cx="3657600" cy="365760"/>
          </a:xfrm>
          <a:prstGeom prst="rect">
            <a:avLst/>
          </a:prstGeom>
          <a:noFill/>
          <a:ln/>
        </p:spPr>
        <p:txBody>
          <a:bodyPr wrap="square" lIns="0" tIns="0" rIns="0" bIns="0" rtlCol="0" anchor="ctr"/>
          <a:lstStyle/>
          <a:p>
            <a:pPr marL="0" indent="0">
              <a:buNone/>
            </a:pPr>
            <a:r>
              <a:rPr lang="en-US" sz="1400" b="1">
                <a:solidFill>
                  <a:srgbClr val="0F172A"/>
                </a:solidFill>
                <a:latin typeface="Calibri" pitchFamily="34" charset="0"/>
                <a:ea typeface="Calibri" pitchFamily="34" charset="-122"/>
                <a:cs typeface="Calibri" pitchFamily="34" charset="-120"/>
              </a:rPr>
              <a:t>délai médian au checkout</a:t>
            </a:r>
            <a:endParaRPr lang="en-US" sz="1400"/>
          </a:p>
        </p:txBody>
      </p:sp>
      <p:sp>
        <p:nvSpPr>
          <p:cNvPr id="12" name="Text 10"/>
          <p:cNvSpPr/>
          <p:nvPr/>
        </p:nvSpPr>
        <p:spPr>
          <a:xfrm>
            <a:off x="4899010" y="2137020"/>
            <a:ext cx="3657600" cy="320040"/>
          </a:xfrm>
          <a:prstGeom prst="rect">
            <a:avLst/>
          </a:prstGeom>
          <a:noFill/>
          <a:ln/>
        </p:spPr>
        <p:txBody>
          <a:bodyPr wrap="square" lIns="0" tIns="0" rIns="0" bIns="0" rtlCol="0" anchor="ctr"/>
          <a:lstStyle/>
          <a:p>
            <a:pPr marL="0" indent="0">
              <a:buNone/>
            </a:pPr>
            <a:r>
              <a:rPr lang="en-US" sz="1100" i="1" dirty="0" err="1">
                <a:solidFill>
                  <a:srgbClr val="475569"/>
                </a:solidFill>
                <a:latin typeface="Calibri"/>
                <a:ea typeface="Calibri"/>
                <a:cs typeface="Calibri"/>
              </a:rPr>
              <a:t>moyenne</a:t>
            </a:r>
            <a:r>
              <a:rPr lang="en-US" sz="1100" i="1" dirty="0">
                <a:solidFill>
                  <a:srgbClr val="475569"/>
                </a:solidFill>
                <a:latin typeface="Calibri"/>
                <a:ea typeface="Calibri"/>
                <a:cs typeface="Calibri"/>
              </a:rPr>
              <a:t> </a:t>
            </a:r>
            <a:r>
              <a:rPr lang="en-US" sz="1100" i="1" dirty="0" err="1">
                <a:solidFill>
                  <a:srgbClr val="475569"/>
                </a:solidFill>
                <a:latin typeface="Calibri"/>
                <a:ea typeface="Calibri"/>
                <a:cs typeface="Calibri"/>
              </a:rPr>
              <a:t>tirée</a:t>
            </a:r>
            <a:r>
              <a:rPr lang="en-US" sz="1100" i="1" dirty="0">
                <a:solidFill>
                  <a:srgbClr val="475569"/>
                </a:solidFill>
                <a:latin typeface="Calibri"/>
                <a:ea typeface="Calibri"/>
                <a:cs typeface="Calibri"/>
              </a:rPr>
              <a:t> par les </a:t>
            </a:r>
            <a:r>
              <a:rPr lang="en-US" sz="1100" i="1" dirty="0" err="1">
                <a:solidFill>
                  <a:srgbClr val="475569"/>
                </a:solidFill>
                <a:latin typeface="Calibri"/>
                <a:ea typeface="Calibri"/>
                <a:cs typeface="Calibri"/>
              </a:rPr>
              <a:t>valeurs</a:t>
            </a:r>
            <a:r>
              <a:rPr lang="en-US" sz="1100" i="1" dirty="0">
                <a:solidFill>
                  <a:srgbClr val="475569"/>
                </a:solidFill>
                <a:latin typeface="Calibri"/>
                <a:ea typeface="Calibri"/>
                <a:cs typeface="Calibri"/>
              </a:rPr>
              <a:t> </a:t>
            </a:r>
            <a:r>
              <a:rPr lang="en-US" sz="1100" i="1" dirty="0" err="1">
                <a:solidFill>
                  <a:srgbClr val="475569"/>
                </a:solidFill>
                <a:latin typeface="Calibri"/>
                <a:ea typeface="Calibri"/>
                <a:cs typeface="Calibri"/>
              </a:rPr>
              <a:t>extrêmes</a:t>
            </a:r>
            <a:endParaRPr lang="en-US" sz="1100" dirty="0" err="1">
              <a:solidFill>
                <a:srgbClr val="000000"/>
              </a:solidFill>
              <a:latin typeface="Calibri"/>
              <a:ea typeface="Calibri"/>
              <a:cs typeface="Calibri"/>
            </a:endParaRPr>
          </a:p>
        </p:txBody>
      </p:sp>
      <p:sp>
        <p:nvSpPr>
          <p:cNvPr id="13" name="Shape 11"/>
          <p:cNvSpPr/>
          <p:nvPr/>
        </p:nvSpPr>
        <p:spPr>
          <a:xfrm>
            <a:off x="464170" y="2804532"/>
            <a:ext cx="3931920" cy="1554480"/>
          </a:xfrm>
          <a:prstGeom prst="rect">
            <a:avLst/>
          </a:prstGeom>
          <a:solidFill>
            <a:srgbClr val="F8FAFC"/>
          </a:solidFill>
          <a:ln/>
          <a:effectLst>
            <a:outerShdw blurRad="101600" dist="25400" dir="5400000" algn="bl" rotWithShape="0">
              <a:srgbClr val="000000">
                <a:alpha val="8000"/>
              </a:srgbClr>
            </a:outerShdw>
          </a:effectLst>
        </p:spPr>
        <p:txBody>
          <a:bodyPr/>
          <a:lstStyle/>
          <a:p>
            <a:endParaRPr lang="fr-FR"/>
          </a:p>
        </p:txBody>
      </p:sp>
      <p:sp>
        <p:nvSpPr>
          <p:cNvPr id="14" name="Shape 12"/>
          <p:cNvSpPr/>
          <p:nvPr/>
        </p:nvSpPr>
        <p:spPr>
          <a:xfrm>
            <a:off x="464170" y="2804532"/>
            <a:ext cx="91440" cy="1554480"/>
          </a:xfrm>
          <a:prstGeom prst="rect">
            <a:avLst/>
          </a:prstGeom>
          <a:solidFill>
            <a:srgbClr val="065A82"/>
          </a:solidFill>
          <a:ln/>
        </p:spPr>
        <p:txBody>
          <a:bodyPr/>
          <a:lstStyle/>
          <a:p>
            <a:endParaRPr lang="fr-FR"/>
          </a:p>
        </p:txBody>
      </p:sp>
      <p:sp>
        <p:nvSpPr>
          <p:cNvPr id="15" name="Text 13"/>
          <p:cNvSpPr/>
          <p:nvPr/>
        </p:nvSpPr>
        <p:spPr>
          <a:xfrm>
            <a:off x="692770" y="2941692"/>
            <a:ext cx="3657600" cy="640080"/>
          </a:xfrm>
          <a:prstGeom prst="rect">
            <a:avLst/>
          </a:prstGeom>
          <a:noFill/>
          <a:ln/>
        </p:spPr>
        <p:txBody>
          <a:bodyPr wrap="square" lIns="0" tIns="0" rIns="0" bIns="0" rtlCol="0" anchor="ctr"/>
          <a:lstStyle/>
          <a:p>
            <a:pPr marL="0" indent="0">
              <a:buNone/>
            </a:pPr>
            <a:r>
              <a:rPr lang="en-US" sz="3600" b="1">
                <a:solidFill>
                  <a:srgbClr val="065A82"/>
                </a:solidFill>
                <a:latin typeface="Cambria"/>
                <a:ea typeface="Cambria"/>
                <a:cs typeface="Cambria" pitchFamily="34" charset="-120"/>
              </a:rPr>
              <a:t>8,1 %</a:t>
            </a:r>
            <a:endParaRPr lang="en-US" sz="3600">
              <a:latin typeface="Cambria"/>
              <a:ea typeface="Cambria"/>
            </a:endParaRPr>
          </a:p>
        </p:txBody>
      </p:sp>
      <p:sp>
        <p:nvSpPr>
          <p:cNvPr id="16" name="Text 14"/>
          <p:cNvSpPr/>
          <p:nvPr/>
        </p:nvSpPr>
        <p:spPr>
          <a:xfrm>
            <a:off x="692770" y="3581772"/>
            <a:ext cx="3657600" cy="365760"/>
          </a:xfrm>
          <a:prstGeom prst="rect">
            <a:avLst/>
          </a:prstGeom>
          <a:noFill/>
          <a:ln/>
        </p:spPr>
        <p:txBody>
          <a:bodyPr wrap="square" lIns="0" tIns="0" rIns="0" bIns="0" rtlCol="0" anchor="ctr"/>
          <a:lstStyle/>
          <a:p>
            <a:r>
              <a:rPr lang="en-US" sz="1400" b="1" dirty="0">
                <a:solidFill>
                  <a:srgbClr val="0F172A"/>
                </a:solidFill>
                <a:latin typeface="Calibri"/>
                <a:ea typeface="Calibri"/>
                <a:cs typeface="Calibri"/>
              </a:rPr>
              <a:t>de locations </a:t>
            </a:r>
            <a:r>
              <a:rPr lang="en-US" sz="1400" b="1" dirty="0" err="1">
                <a:solidFill>
                  <a:srgbClr val="0F172A"/>
                </a:solidFill>
                <a:latin typeface="Calibri"/>
                <a:ea typeface="Calibri"/>
                <a:cs typeface="Calibri"/>
              </a:rPr>
              <a:t>chaînées</a:t>
            </a:r>
            <a:r>
              <a:rPr lang="en-US" sz="1400" b="1" dirty="0">
                <a:solidFill>
                  <a:srgbClr val="0F172A"/>
                </a:solidFill>
                <a:latin typeface="Calibri"/>
                <a:ea typeface="Calibri"/>
                <a:cs typeface="Calibri"/>
              </a:rPr>
              <a:t> </a:t>
            </a:r>
            <a:r>
              <a:rPr lang="en-US" sz="1400" b="1" dirty="0" err="1">
                <a:solidFill>
                  <a:srgbClr val="0F172A"/>
                </a:solidFill>
                <a:latin typeface="Calibri"/>
                <a:ea typeface="Calibri"/>
                <a:cs typeface="Calibri"/>
              </a:rPr>
              <a:t>exploitab</a:t>
            </a:r>
            <a:r>
              <a:rPr lang="en-US" sz="1400" b="1" dirty="0">
                <a:solidFill>
                  <a:srgbClr val="0F172A"/>
                </a:solidFill>
                <a:latin typeface="Calibri"/>
                <a:ea typeface="Calibri"/>
                <a:cs typeface="Calibri"/>
              </a:rPr>
              <a:t>les </a:t>
            </a:r>
            <a:endParaRPr lang="en-US" sz="1400" dirty="0">
              <a:latin typeface="Calibri"/>
              <a:ea typeface="Calibri"/>
              <a:cs typeface="Calibri"/>
            </a:endParaRPr>
          </a:p>
        </p:txBody>
      </p:sp>
      <p:sp>
        <p:nvSpPr>
          <p:cNvPr id="17" name="Text 15"/>
          <p:cNvSpPr/>
          <p:nvPr/>
        </p:nvSpPr>
        <p:spPr>
          <a:xfrm>
            <a:off x="692770" y="3920100"/>
            <a:ext cx="3657600" cy="320040"/>
          </a:xfrm>
          <a:prstGeom prst="rect">
            <a:avLst/>
          </a:prstGeom>
          <a:noFill/>
          <a:ln/>
        </p:spPr>
        <p:txBody>
          <a:bodyPr wrap="square" lIns="0" tIns="0" rIns="0" bIns="0" rtlCol="0" anchor="ctr"/>
          <a:lstStyle/>
          <a:p>
            <a:r>
              <a:rPr lang="en-US" sz="1100" i="1" dirty="0">
                <a:solidFill>
                  <a:srgbClr val="475569"/>
                </a:solidFill>
                <a:latin typeface="Calibri"/>
                <a:ea typeface="Calibri"/>
                <a:cs typeface="Calibri"/>
              </a:rPr>
              <a:t>1729 </a:t>
            </a:r>
            <a:r>
              <a:rPr lang="en-US" sz="1100" i="1" dirty="0" err="1">
                <a:solidFill>
                  <a:srgbClr val="475569"/>
                </a:solidFill>
                <a:latin typeface="Calibri"/>
                <a:ea typeface="Calibri"/>
                <a:cs typeface="Calibri"/>
              </a:rPr>
              <a:t>cas</a:t>
            </a:r>
            <a:r>
              <a:rPr lang="en-US" sz="1100" i="1" dirty="0">
                <a:solidFill>
                  <a:srgbClr val="475569"/>
                </a:solidFill>
                <a:latin typeface="Calibri"/>
                <a:ea typeface="Calibri"/>
                <a:cs typeface="Calibri"/>
              </a:rPr>
              <a:t> </a:t>
            </a:r>
            <a:r>
              <a:rPr lang="en-US" sz="1100" i="1" dirty="0" err="1">
                <a:solidFill>
                  <a:srgbClr val="475569"/>
                </a:solidFill>
                <a:latin typeface="Calibri"/>
                <a:ea typeface="Calibri"/>
                <a:cs typeface="Calibri"/>
              </a:rPr>
              <a:t>où</a:t>
            </a:r>
            <a:r>
              <a:rPr lang="en-US" sz="1100" i="1" dirty="0">
                <a:solidFill>
                  <a:srgbClr val="475569"/>
                </a:solidFill>
                <a:latin typeface="Calibri"/>
                <a:ea typeface="Calibri"/>
                <a:cs typeface="Calibri"/>
              </a:rPr>
              <a:t> </a:t>
            </a:r>
            <a:r>
              <a:rPr lang="en-US" sz="1100" i="1" dirty="0" err="1">
                <a:solidFill>
                  <a:srgbClr val="475569"/>
                </a:solidFill>
                <a:latin typeface="Calibri"/>
                <a:ea typeface="Calibri"/>
                <a:cs typeface="Calibri"/>
              </a:rPr>
              <a:t>une</a:t>
            </a:r>
            <a:r>
              <a:rPr lang="en-US" sz="1100" i="1" dirty="0">
                <a:solidFill>
                  <a:srgbClr val="475569"/>
                </a:solidFill>
                <a:latin typeface="Calibri"/>
                <a:ea typeface="Calibri"/>
                <a:cs typeface="Calibri"/>
              </a:rPr>
              <a:t> location </a:t>
            </a:r>
            <a:r>
              <a:rPr lang="en-US" sz="1100" i="1" dirty="0" err="1">
                <a:solidFill>
                  <a:srgbClr val="475569"/>
                </a:solidFill>
                <a:latin typeface="Calibri"/>
                <a:ea typeface="Calibri"/>
                <a:cs typeface="Calibri"/>
              </a:rPr>
              <a:t>en</a:t>
            </a:r>
            <a:r>
              <a:rPr lang="en-US" sz="1100" i="1" dirty="0">
                <a:solidFill>
                  <a:srgbClr val="475569"/>
                </a:solidFill>
                <a:latin typeface="Calibri"/>
                <a:ea typeface="Calibri"/>
                <a:cs typeface="Calibri"/>
              </a:rPr>
              <a:t> suit </a:t>
            </a:r>
            <a:r>
              <a:rPr lang="en-US" sz="1100" i="1" dirty="0" err="1">
                <a:solidFill>
                  <a:srgbClr val="475569"/>
                </a:solidFill>
                <a:latin typeface="Calibri"/>
                <a:ea typeface="Calibri"/>
                <a:cs typeface="Calibri"/>
              </a:rPr>
              <a:t>une</a:t>
            </a:r>
            <a:r>
              <a:rPr lang="en-US" sz="1100" i="1" dirty="0">
                <a:solidFill>
                  <a:srgbClr val="475569"/>
                </a:solidFill>
                <a:latin typeface="Calibri"/>
                <a:ea typeface="Calibri"/>
                <a:cs typeface="Calibri"/>
              </a:rPr>
              <a:t> </a:t>
            </a:r>
            <a:r>
              <a:rPr lang="en-US" sz="1100" i="1" dirty="0" err="1">
                <a:solidFill>
                  <a:srgbClr val="475569"/>
                </a:solidFill>
                <a:latin typeface="Calibri"/>
                <a:ea typeface="Calibri"/>
                <a:cs typeface="Calibri"/>
              </a:rPr>
              <a:t>autre</a:t>
            </a:r>
            <a:endParaRPr lang="en-US" sz="1100" dirty="0" err="1">
              <a:latin typeface="Calibri"/>
              <a:ea typeface="Calibri"/>
              <a:cs typeface="Calibri"/>
            </a:endParaRPr>
          </a:p>
        </p:txBody>
      </p:sp>
      <p:sp>
        <p:nvSpPr>
          <p:cNvPr id="18" name="Shape 16"/>
          <p:cNvSpPr/>
          <p:nvPr/>
        </p:nvSpPr>
        <p:spPr>
          <a:xfrm>
            <a:off x="4670410" y="2804532"/>
            <a:ext cx="3931920" cy="1554480"/>
          </a:xfrm>
          <a:prstGeom prst="rect">
            <a:avLst/>
          </a:prstGeom>
          <a:solidFill>
            <a:srgbClr val="F8FAFC"/>
          </a:solidFill>
          <a:ln/>
          <a:effectLst>
            <a:outerShdw blurRad="101600" dist="25400" dir="5400000" algn="bl" rotWithShape="0">
              <a:srgbClr val="000000">
                <a:alpha val="8000"/>
              </a:srgbClr>
            </a:outerShdw>
          </a:effectLst>
        </p:spPr>
        <p:txBody>
          <a:bodyPr/>
          <a:lstStyle/>
          <a:p>
            <a:endParaRPr lang="fr-FR"/>
          </a:p>
        </p:txBody>
      </p:sp>
      <p:sp>
        <p:nvSpPr>
          <p:cNvPr id="19" name="Shape 17"/>
          <p:cNvSpPr/>
          <p:nvPr/>
        </p:nvSpPr>
        <p:spPr>
          <a:xfrm>
            <a:off x="4670410" y="2804532"/>
            <a:ext cx="91440" cy="1554480"/>
          </a:xfrm>
          <a:prstGeom prst="rect">
            <a:avLst/>
          </a:prstGeom>
          <a:solidFill>
            <a:srgbClr val="065A82"/>
          </a:solidFill>
          <a:ln/>
        </p:spPr>
        <p:txBody>
          <a:bodyPr/>
          <a:lstStyle/>
          <a:p>
            <a:endParaRPr lang="fr-FR"/>
          </a:p>
        </p:txBody>
      </p:sp>
      <p:sp>
        <p:nvSpPr>
          <p:cNvPr id="20" name="Text 18"/>
          <p:cNvSpPr/>
          <p:nvPr/>
        </p:nvSpPr>
        <p:spPr>
          <a:xfrm>
            <a:off x="4899010" y="2941692"/>
            <a:ext cx="3657600" cy="640080"/>
          </a:xfrm>
          <a:prstGeom prst="rect">
            <a:avLst/>
          </a:prstGeom>
          <a:noFill/>
          <a:ln/>
        </p:spPr>
        <p:txBody>
          <a:bodyPr wrap="square" lIns="0" tIns="0" rIns="0" bIns="0" rtlCol="0" anchor="ctr"/>
          <a:lstStyle/>
          <a:p>
            <a:pPr marL="0" indent="0">
              <a:buNone/>
            </a:pPr>
            <a:r>
              <a:rPr lang="en-US" sz="3600" b="1">
                <a:solidFill>
                  <a:srgbClr val="065A82"/>
                </a:solidFill>
                <a:latin typeface="Cambria" pitchFamily="34" charset="0"/>
                <a:ea typeface="Cambria" pitchFamily="34" charset="-122"/>
                <a:cs typeface="Cambria" pitchFamily="34" charset="-120"/>
              </a:rPr>
              <a:t>12,6 %</a:t>
            </a:r>
            <a:endParaRPr lang="en-US" sz="3600"/>
          </a:p>
        </p:txBody>
      </p:sp>
      <p:sp>
        <p:nvSpPr>
          <p:cNvPr id="21" name="Text 19"/>
          <p:cNvSpPr/>
          <p:nvPr/>
        </p:nvSpPr>
        <p:spPr>
          <a:xfrm>
            <a:off x="4899010" y="3581772"/>
            <a:ext cx="3657600" cy="365760"/>
          </a:xfrm>
          <a:prstGeom prst="rect">
            <a:avLst/>
          </a:prstGeom>
          <a:noFill/>
          <a:ln/>
        </p:spPr>
        <p:txBody>
          <a:bodyPr wrap="square" lIns="0" tIns="0" rIns="0" bIns="0" rtlCol="0" anchor="ctr"/>
          <a:lstStyle/>
          <a:p>
            <a:pPr marL="0" indent="0">
              <a:buNone/>
            </a:pPr>
            <a:r>
              <a:rPr lang="en-US" sz="1400" b="1">
                <a:solidFill>
                  <a:srgbClr val="0F172A"/>
                </a:solidFill>
                <a:latin typeface="Calibri" pitchFamily="34" charset="0"/>
                <a:ea typeface="Calibri" pitchFamily="34" charset="-122"/>
                <a:cs typeface="Calibri" pitchFamily="34" charset="-120"/>
              </a:rPr>
              <a:t>des chaînages sont problématiques</a:t>
            </a:r>
            <a:endParaRPr lang="en-US" sz="1400"/>
          </a:p>
        </p:txBody>
      </p:sp>
      <p:sp>
        <p:nvSpPr>
          <p:cNvPr id="22" name="Text 20"/>
          <p:cNvSpPr/>
          <p:nvPr/>
        </p:nvSpPr>
        <p:spPr>
          <a:xfrm>
            <a:off x="4899010" y="3920100"/>
            <a:ext cx="3657600" cy="320040"/>
          </a:xfrm>
          <a:prstGeom prst="rect">
            <a:avLst/>
          </a:prstGeom>
          <a:noFill/>
          <a:ln/>
        </p:spPr>
        <p:txBody>
          <a:bodyPr wrap="square" lIns="0" tIns="0" rIns="0" bIns="0" rtlCol="0" anchor="ctr"/>
          <a:lstStyle/>
          <a:p>
            <a:pPr marL="0" indent="0">
              <a:buNone/>
            </a:pPr>
            <a:r>
              <a:rPr lang="en-US" sz="1100" i="1">
                <a:solidFill>
                  <a:srgbClr val="475569"/>
                </a:solidFill>
                <a:latin typeface="Calibri" pitchFamily="34" charset="0"/>
                <a:ea typeface="Calibri" pitchFamily="34" charset="-122"/>
                <a:cs typeface="Calibri" pitchFamily="34" charset="-120"/>
              </a:rPr>
              <a:t>le retard précédent dépasse l'écart prévu</a:t>
            </a:r>
            <a:endParaRPr lang="en-US" sz="1100"/>
          </a:p>
        </p:txBody>
      </p:sp>
      <p:sp>
        <p:nvSpPr>
          <p:cNvPr id="23" name="Text 21"/>
          <p:cNvSpPr/>
          <p:nvPr/>
        </p:nvSpPr>
        <p:spPr>
          <a:xfrm>
            <a:off x="512956" y="4612423"/>
            <a:ext cx="8229600" cy="274320"/>
          </a:xfrm>
          <a:prstGeom prst="rect">
            <a:avLst/>
          </a:prstGeom>
          <a:noFill/>
          <a:ln/>
        </p:spPr>
        <p:txBody>
          <a:bodyPr wrap="square" lIns="0" tIns="0" rIns="0" bIns="0" rtlCol="0" anchor="ctr"/>
          <a:lstStyle/>
          <a:p>
            <a:pPr marL="0" indent="0" algn="ctr">
              <a:buNone/>
            </a:pPr>
            <a:r>
              <a:rPr lang="en-US" sz="1200" i="1">
                <a:solidFill>
                  <a:srgbClr val="475569"/>
                </a:solidFill>
                <a:latin typeface="Calibri" pitchFamily="34" charset="0"/>
                <a:ea typeface="Calibri" pitchFamily="34" charset="-122"/>
                <a:cs typeface="Calibri" pitchFamily="34" charset="-120"/>
              </a:rPr>
              <a:t>Le canal Connect est plus discipliné : 42,9 % de retards contre 61,4 % en Mobile.</a:t>
            </a:r>
            <a:endParaRPr lang="en-US" sz="1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lIns="0" tIns="0" rIns="0" bIns="0" rtlCol="0" anchor="ctr"/>
          <a:lstStyle/>
          <a:p>
            <a:pPr marL="0" indent="0">
              <a:buNone/>
            </a:pPr>
            <a:r>
              <a:rPr lang="en-US" sz="2400" b="1" dirty="0">
                <a:solidFill>
                  <a:srgbClr val="21295C"/>
                </a:solidFill>
                <a:latin typeface="Cambria"/>
                <a:ea typeface="Cambria"/>
                <a:cs typeface="Cambria" pitchFamily="34" charset="-120"/>
              </a:rPr>
              <a:t>Simulation des </a:t>
            </a:r>
            <a:r>
              <a:rPr lang="en-US" sz="2400" b="1" dirty="0" err="1">
                <a:solidFill>
                  <a:srgbClr val="21295C"/>
                </a:solidFill>
                <a:latin typeface="Cambria"/>
                <a:ea typeface="Cambria"/>
                <a:cs typeface="Cambria" pitchFamily="34" charset="-120"/>
              </a:rPr>
              <a:t>seuils</a:t>
            </a:r>
            <a:endParaRPr lang="en-US" sz="2400" b="1" dirty="0" err="1">
              <a:solidFill>
                <a:srgbClr val="21295C"/>
              </a:solidFill>
              <a:latin typeface="Cambria"/>
              <a:ea typeface="Cambria"/>
            </a:endParaRPr>
          </a:p>
        </p:txBody>
      </p:sp>
      <p:sp>
        <p:nvSpPr>
          <p:cNvPr id="3" name="Text 1"/>
          <p:cNvSpPr/>
          <p:nvPr/>
        </p:nvSpPr>
        <p:spPr>
          <a:xfrm>
            <a:off x="457200" y="1005840"/>
            <a:ext cx="8229600" cy="502920"/>
          </a:xfrm>
          <a:prstGeom prst="rect">
            <a:avLst/>
          </a:prstGeom>
          <a:noFill/>
          <a:ln/>
        </p:spPr>
        <p:txBody>
          <a:bodyPr wrap="square" lIns="0" tIns="0" rIns="0" bIns="0" rtlCol="0" anchor="ctr"/>
          <a:lstStyle/>
          <a:p>
            <a:r>
              <a:rPr lang="en-US" sz="1300" i="1" dirty="0">
                <a:solidFill>
                  <a:srgbClr val="475569"/>
                </a:solidFill>
                <a:latin typeface="Calibri"/>
                <a:ea typeface="Calibri"/>
                <a:cs typeface="Calibri"/>
              </a:rPr>
              <a:t>Pour </a:t>
            </a:r>
            <a:r>
              <a:rPr lang="en-US" sz="1300" i="1" dirty="0" err="1">
                <a:solidFill>
                  <a:srgbClr val="475569"/>
                </a:solidFill>
                <a:latin typeface="Calibri"/>
                <a:ea typeface="Calibri"/>
                <a:cs typeface="Calibri"/>
              </a:rPr>
              <a:t>chaque</a:t>
            </a:r>
            <a:r>
              <a:rPr lang="en-US" sz="1300" i="1" dirty="0">
                <a:solidFill>
                  <a:srgbClr val="475569"/>
                </a:solidFill>
                <a:latin typeface="Calibri"/>
                <a:ea typeface="Calibri"/>
                <a:cs typeface="Calibri"/>
              </a:rPr>
              <a:t> </a:t>
            </a:r>
            <a:r>
              <a:rPr lang="en-US" sz="1300" i="1" dirty="0" err="1">
                <a:solidFill>
                  <a:srgbClr val="475569"/>
                </a:solidFill>
                <a:latin typeface="Calibri"/>
                <a:ea typeface="Calibri"/>
                <a:cs typeface="Calibri"/>
              </a:rPr>
              <a:t>valeur</a:t>
            </a:r>
            <a:r>
              <a:rPr lang="en-US" sz="1300" i="1" dirty="0">
                <a:solidFill>
                  <a:srgbClr val="475569"/>
                </a:solidFill>
                <a:latin typeface="Calibri"/>
                <a:ea typeface="Calibri"/>
                <a:cs typeface="Calibri"/>
              </a:rPr>
              <a:t> de </a:t>
            </a:r>
            <a:r>
              <a:rPr lang="en-US" sz="1300" i="1" dirty="0" err="1">
                <a:solidFill>
                  <a:srgbClr val="475569"/>
                </a:solidFill>
                <a:latin typeface="Calibri"/>
                <a:ea typeface="Calibri"/>
                <a:cs typeface="Calibri"/>
              </a:rPr>
              <a:t>seuil</a:t>
            </a:r>
            <a:r>
              <a:rPr lang="en-US" sz="1300" i="1" dirty="0">
                <a:solidFill>
                  <a:srgbClr val="475569"/>
                </a:solidFill>
                <a:latin typeface="Calibri"/>
                <a:ea typeface="Calibri"/>
                <a:cs typeface="Calibri"/>
              </a:rPr>
              <a:t>, on </a:t>
            </a:r>
            <a:r>
              <a:rPr lang="en-US" sz="1300" i="1" dirty="0" err="1">
                <a:solidFill>
                  <a:srgbClr val="475569"/>
                </a:solidFill>
                <a:latin typeface="Calibri"/>
                <a:ea typeface="Calibri"/>
                <a:cs typeface="Calibri"/>
              </a:rPr>
              <a:t>mesure</a:t>
            </a:r>
            <a:r>
              <a:rPr lang="en-US" sz="1300" i="1" dirty="0">
                <a:solidFill>
                  <a:srgbClr val="475569"/>
                </a:solidFill>
                <a:latin typeface="Calibri"/>
                <a:ea typeface="Calibri"/>
                <a:cs typeface="Calibri"/>
              </a:rPr>
              <a:t> le </a:t>
            </a:r>
            <a:r>
              <a:rPr lang="en-US" sz="1300" i="1" dirty="0" err="1">
                <a:solidFill>
                  <a:srgbClr val="475569"/>
                </a:solidFill>
                <a:latin typeface="Calibri"/>
                <a:ea typeface="Calibri"/>
                <a:cs typeface="Calibri"/>
              </a:rPr>
              <a:t>pourcentage</a:t>
            </a:r>
            <a:r>
              <a:rPr lang="en-US" sz="1300" i="1" dirty="0">
                <a:solidFill>
                  <a:srgbClr val="475569"/>
                </a:solidFill>
                <a:latin typeface="Calibri"/>
                <a:ea typeface="Calibri"/>
                <a:cs typeface="Calibri"/>
              </a:rPr>
              <a:t> de </a:t>
            </a:r>
            <a:r>
              <a:rPr lang="en-US" sz="1300" i="1" dirty="0" err="1">
                <a:solidFill>
                  <a:srgbClr val="475569"/>
                </a:solidFill>
                <a:latin typeface="Calibri"/>
                <a:ea typeface="Calibri"/>
                <a:cs typeface="Calibri"/>
              </a:rPr>
              <a:t>cas</a:t>
            </a:r>
            <a:r>
              <a:rPr lang="en-US" sz="1300" i="1" dirty="0">
                <a:solidFill>
                  <a:srgbClr val="475569"/>
                </a:solidFill>
                <a:latin typeface="Calibri"/>
                <a:ea typeface="Calibri"/>
                <a:cs typeface="Calibri"/>
              </a:rPr>
              <a:t> </a:t>
            </a:r>
            <a:r>
              <a:rPr lang="en-US" sz="1300" i="1" dirty="0" err="1">
                <a:solidFill>
                  <a:srgbClr val="475569"/>
                </a:solidFill>
                <a:latin typeface="Calibri"/>
                <a:ea typeface="Calibri"/>
                <a:cs typeface="Calibri"/>
              </a:rPr>
              <a:t>problématiques</a:t>
            </a:r>
            <a:r>
              <a:rPr lang="en-US" sz="1300" i="1" dirty="0">
                <a:solidFill>
                  <a:srgbClr val="475569"/>
                </a:solidFill>
                <a:latin typeface="Calibri"/>
                <a:ea typeface="Calibri"/>
                <a:cs typeface="Calibri"/>
              </a:rPr>
              <a:t> </a:t>
            </a:r>
            <a:r>
              <a:rPr lang="en-US" sz="1300" i="1" dirty="0" err="1">
                <a:solidFill>
                  <a:srgbClr val="475569"/>
                </a:solidFill>
                <a:latin typeface="Calibri"/>
                <a:ea typeface="Calibri"/>
                <a:cs typeface="Calibri"/>
              </a:rPr>
              <a:t>résolus</a:t>
            </a:r>
            <a:r>
              <a:rPr lang="en-US" sz="1300" i="1" dirty="0">
                <a:solidFill>
                  <a:srgbClr val="475569"/>
                </a:solidFill>
                <a:latin typeface="Calibri"/>
                <a:ea typeface="Calibri"/>
                <a:cs typeface="Calibri"/>
              </a:rPr>
              <a:t> et le ratio </a:t>
            </a:r>
            <a:r>
              <a:rPr lang="en-US" sz="1300" i="1" dirty="0" err="1">
                <a:solidFill>
                  <a:srgbClr val="475569"/>
                </a:solidFill>
                <a:latin typeface="Calibri"/>
                <a:ea typeface="Calibri"/>
                <a:cs typeface="Calibri"/>
              </a:rPr>
              <a:t>d'éfficacité</a:t>
            </a:r>
            <a:r>
              <a:rPr lang="en-US" sz="1300" i="1" dirty="0">
                <a:solidFill>
                  <a:srgbClr val="475569"/>
                </a:solidFill>
                <a:latin typeface="Calibri"/>
                <a:ea typeface="Calibri"/>
                <a:cs typeface="Calibri"/>
              </a:rPr>
              <a:t> par rapport au </a:t>
            </a:r>
            <a:r>
              <a:rPr lang="en-US" sz="1300" i="1" dirty="0" err="1">
                <a:solidFill>
                  <a:srgbClr val="475569"/>
                </a:solidFill>
                <a:latin typeface="Calibri"/>
                <a:ea typeface="Calibri"/>
                <a:cs typeface="Calibri"/>
              </a:rPr>
              <a:t>nombre</a:t>
            </a:r>
            <a:r>
              <a:rPr lang="en-US" sz="1300" i="1" dirty="0">
                <a:solidFill>
                  <a:srgbClr val="475569"/>
                </a:solidFill>
                <a:latin typeface="Calibri"/>
                <a:ea typeface="Calibri"/>
                <a:cs typeface="Calibri"/>
              </a:rPr>
              <a:t> de locations </a:t>
            </a:r>
            <a:r>
              <a:rPr lang="en-US" sz="1300" i="1" dirty="0" err="1">
                <a:solidFill>
                  <a:srgbClr val="475569"/>
                </a:solidFill>
                <a:latin typeface="Calibri"/>
                <a:ea typeface="Calibri"/>
                <a:cs typeface="Calibri"/>
              </a:rPr>
              <a:t>chainées</a:t>
            </a:r>
            <a:r>
              <a:rPr lang="en-US" sz="1300" i="1" dirty="0">
                <a:solidFill>
                  <a:srgbClr val="475569"/>
                </a:solidFill>
                <a:latin typeface="Calibri"/>
                <a:ea typeface="Calibri"/>
                <a:cs typeface="Calibri"/>
              </a:rPr>
              <a:t> </a:t>
            </a:r>
            <a:r>
              <a:rPr lang="en-US" sz="1300" i="1" dirty="0" err="1">
                <a:solidFill>
                  <a:srgbClr val="475569"/>
                </a:solidFill>
                <a:latin typeface="Calibri"/>
                <a:ea typeface="Calibri"/>
                <a:cs typeface="Calibri"/>
              </a:rPr>
              <a:t>impactées</a:t>
            </a:r>
            <a:r>
              <a:rPr lang="en-US" sz="1300" i="1" dirty="0">
                <a:solidFill>
                  <a:srgbClr val="475569"/>
                </a:solidFill>
                <a:latin typeface="Calibri"/>
                <a:ea typeface="Calibri"/>
                <a:cs typeface="Calibri"/>
              </a:rPr>
              <a:t>.</a:t>
            </a:r>
          </a:p>
        </p:txBody>
      </p:sp>
      <p:sp>
        <p:nvSpPr>
          <p:cNvPr id="5" name="Shape 2"/>
          <p:cNvSpPr/>
          <p:nvPr/>
        </p:nvSpPr>
        <p:spPr>
          <a:xfrm>
            <a:off x="6583680" y="1782244"/>
            <a:ext cx="2103120" cy="2586247"/>
          </a:xfrm>
          <a:prstGeom prst="rect">
            <a:avLst/>
          </a:prstGeom>
          <a:solidFill>
            <a:srgbClr val="21295C"/>
          </a:solidFill>
          <a:ln/>
        </p:spPr>
        <p:txBody>
          <a:bodyPr/>
          <a:lstStyle/>
          <a:p>
            <a:endParaRPr lang="fr-FR"/>
          </a:p>
        </p:txBody>
      </p:sp>
      <p:sp>
        <p:nvSpPr>
          <p:cNvPr id="6" name="Text 3"/>
          <p:cNvSpPr/>
          <p:nvPr/>
        </p:nvSpPr>
        <p:spPr>
          <a:xfrm>
            <a:off x="6720840" y="1783080"/>
            <a:ext cx="1828800" cy="365760"/>
          </a:xfrm>
          <a:prstGeom prst="rect">
            <a:avLst/>
          </a:prstGeom>
          <a:noFill/>
          <a:ln/>
        </p:spPr>
        <p:txBody>
          <a:bodyPr wrap="square" lIns="0" tIns="0" rIns="0" bIns="0" rtlCol="0" anchor="ctr"/>
          <a:lstStyle/>
          <a:p>
            <a:r>
              <a:rPr lang="en-US" sz="1300" b="1">
                <a:solidFill>
                  <a:srgbClr val="9BC5C7"/>
                </a:solidFill>
                <a:latin typeface="Calibri"/>
                <a:ea typeface="Calibri"/>
                <a:cs typeface="Calibri"/>
              </a:rPr>
              <a:t>Sweet Spot</a:t>
            </a:r>
            <a:endParaRPr lang="en-US"/>
          </a:p>
        </p:txBody>
      </p:sp>
      <p:sp>
        <p:nvSpPr>
          <p:cNvPr id="7" name="Text 4"/>
          <p:cNvSpPr/>
          <p:nvPr/>
        </p:nvSpPr>
        <p:spPr>
          <a:xfrm>
            <a:off x="6720840" y="2194560"/>
            <a:ext cx="1828800" cy="914400"/>
          </a:xfrm>
          <a:prstGeom prst="rect">
            <a:avLst/>
          </a:prstGeom>
          <a:noFill/>
          <a:ln/>
        </p:spPr>
        <p:txBody>
          <a:bodyPr wrap="square" lIns="0" tIns="0" rIns="0" bIns="0" rtlCol="0" anchor="ctr"/>
          <a:lstStyle/>
          <a:p>
            <a:pPr marL="0" indent="0">
              <a:buNone/>
            </a:pPr>
            <a:r>
              <a:rPr lang="en-US" sz="6400" b="1">
                <a:solidFill>
                  <a:srgbClr val="FFFFFF"/>
                </a:solidFill>
                <a:latin typeface="Cambria"/>
                <a:ea typeface="Cambria"/>
              </a:rPr>
              <a:t>90</a:t>
            </a:r>
          </a:p>
        </p:txBody>
      </p:sp>
      <p:sp>
        <p:nvSpPr>
          <p:cNvPr id="8" name="Text 5"/>
          <p:cNvSpPr/>
          <p:nvPr/>
        </p:nvSpPr>
        <p:spPr>
          <a:xfrm>
            <a:off x="6713870" y="2928589"/>
            <a:ext cx="1828800" cy="320040"/>
          </a:xfrm>
          <a:prstGeom prst="rect">
            <a:avLst/>
          </a:prstGeom>
          <a:noFill/>
          <a:ln/>
        </p:spPr>
        <p:txBody>
          <a:bodyPr wrap="square" lIns="0" tIns="0" rIns="0" bIns="0" rtlCol="0" anchor="ctr"/>
          <a:lstStyle/>
          <a:p>
            <a:pPr marL="0" indent="0">
              <a:buNone/>
            </a:pPr>
            <a:r>
              <a:rPr lang="en-US" sz="1400">
                <a:solidFill>
                  <a:srgbClr val="FFFFFF"/>
                </a:solidFill>
                <a:latin typeface="Calibri" pitchFamily="34" charset="0"/>
                <a:ea typeface="Calibri" pitchFamily="34" charset="-122"/>
                <a:cs typeface="Calibri" pitchFamily="34" charset="-120"/>
              </a:rPr>
              <a:t>minutes</a:t>
            </a:r>
            <a:endParaRPr lang="en-US" sz="1400"/>
          </a:p>
        </p:txBody>
      </p:sp>
      <p:sp>
        <p:nvSpPr>
          <p:cNvPr id="9" name="Text 6"/>
          <p:cNvSpPr/>
          <p:nvPr/>
        </p:nvSpPr>
        <p:spPr>
          <a:xfrm>
            <a:off x="6720840" y="3337003"/>
            <a:ext cx="1828800" cy="888195"/>
          </a:xfrm>
          <a:prstGeom prst="rect">
            <a:avLst/>
          </a:prstGeom>
          <a:noFill/>
          <a:ln/>
        </p:spPr>
        <p:txBody>
          <a:bodyPr wrap="square" lIns="0" tIns="0" rIns="0" bIns="0" rtlCol="0" anchor="ctr"/>
          <a:lstStyle/>
          <a:p>
            <a:pPr marL="0" indent="0">
              <a:buNone/>
            </a:pPr>
            <a:r>
              <a:rPr lang="en-US" sz="1100" b="1">
                <a:solidFill>
                  <a:srgbClr val="9BC5C7"/>
                </a:solidFill>
                <a:latin typeface="Calibri"/>
                <a:ea typeface="Calibri"/>
                <a:cs typeface="Calibri"/>
              </a:rPr>
              <a:t>79%</a:t>
            </a:r>
            <a:endParaRPr lang="en-US" sz="1100">
              <a:latin typeface="Calibri"/>
              <a:ea typeface="Calibri"/>
              <a:cs typeface="Calibri"/>
            </a:endParaRPr>
          </a:p>
          <a:p>
            <a:pPr marL="0" indent="0">
              <a:buNone/>
            </a:pPr>
            <a:r>
              <a:rPr lang="en-US" sz="1100" dirty="0">
                <a:solidFill>
                  <a:srgbClr val="FFFFFF"/>
                </a:solidFill>
                <a:latin typeface="Calibri"/>
                <a:ea typeface="Calibri"/>
                <a:cs typeface="Calibri"/>
              </a:rPr>
              <a:t>des </a:t>
            </a:r>
            <a:r>
              <a:rPr lang="en-US" sz="1100" dirty="0" err="1">
                <a:solidFill>
                  <a:srgbClr val="FFFFFF"/>
                </a:solidFill>
                <a:latin typeface="Calibri"/>
                <a:ea typeface="Calibri"/>
                <a:cs typeface="Calibri"/>
              </a:rPr>
              <a:t>problèmes</a:t>
            </a:r>
            <a:r>
              <a:rPr lang="en-US" sz="1100" dirty="0">
                <a:solidFill>
                  <a:srgbClr val="FFFFFF"/>
                </a:solidFill>
                <a:latin typeface="Calibri"/>
                <a:ea typeface="Calibri"/>
                <a:cs typeface="Calibri"/>
              </a:rPr>
              <a:t> </a:t>
            </a:r>
            <a:r>
              <a:rPr lang="en-US" sz="1100" dirty="0" err="1">
                <a:solidFill>
                  <a:srgbClr val="FFFFFF"/>
                </a:solidFill>
                <a:latin typeface="Calibri"/>
                <a:ea typeface="Calibri"/>
                <a:cs typeface="Calibri"/>
              </a:rPr>
              <a:t>résolus</a:t>
            </a:r>
            <a:endParaRPr lang="en-US" sz="1100" dirty="0" err="1">
              <a:latin typeface="Calibri"/>
              <a:ea typeface="Calibri"/>
              <a:cs typeface="Calibri"/>
            </a:endParaRPr>
          </a:p>
          <a:p>
            <a:pPr marL="0" indent="0">
              <a:buNone/>
            </a:pPr>
            <a:r>
              <a:rPr lang="en-US" sz="1100" dirty="0">
                <a:solidFill>
                  <a:srgbClr val="FFFFFF"/>
                </a:solidFill>
                <a:latin typeface="Calibri"/>
                <a:ea typeface="Calibri"/>
                <a:cs typeface="Calibri"/>
              </a:rPr>
              <a:t> </a:t>
            </a:r>
            <a:endParaRPr lang="en-US" sz="1100" dirty="0">
              <a:latin typeface="Calibri"/>
              <a:ea typeface="Calibri"/>
              <a:cs typeface="Calibri"/>
            </a:endParaRPr>
          </a:p>
        </p:txBody>
      </p:sp>
      <p:pic>
        <p:nvPicPr>
          <p:cNvPr id="10" name="Picture 9">
            <a:extLst>
              <a:ext uri="{FF2B5EF4-FFF2-40B4-BE49-F238E27FC236}">
                <a16:creationId xmlns:a16="http://schemas.microsoft.com/office/drawing/2014/main" id="{49DB6C21-62EF-B4C1-1818-504FF8104BF7}"/>
              </a:ext>
            </a:extLst>
          </p:cNvPr>
          <p:cNvPicPr>
            <a:picLocks noChangeAspect="1"/>
          </p:cNvPicPr>
          <p:nvPr/>
        </p:nvPicPr>
        <p:blipFill>
          <a:blip r:embed="rId3"/>
          <a:stretch>
            <a:fillRect/>
          </a:stretch>
        </p:blipFill>
        <p:spPr>
          <a:xfrm>
            <a:off x="216054" y="1509043"/>
            <a:ext cx="6258622" cy="347053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371139"/>
          </a:xfrm>
          <a:prstGeom prst="rect">
            <a:avLst/>
          </a:prstGeom>
          <a:noFill/>
          <a:ln/>
        </p:spPr>
        <p:txBody>
          <a:bodyPr wrap="square" lIns="0" tIns="0" rIns="0" bIns="0" rtlCol="0" anchor="ctr"/>
          <a:lstStyle/>
          <a:p>
            <a:pPr marL="0" indent="0">
              <a:buNone/>
            </a:pPr>
            <a:r>
              <a:rPr lang="en-US" sz="2400" b="1">
                <a:solidFill>
                  <a:srgbClr val="21295C"/>
                </a:solidFill>
                <a:latin typeface="Cambria" pitchFamily="34" charset="0"/>
                <a:ea typeface="Cambria" pitchFamily="34" charset="-122"/>
                <a:cs typeface="Cambria" pitchFamily="34" charset="-120"/>
              </a:rPr>
              <a:t>Recommandations produit</a:t>
            </a:r>
            <a:endParaRPr lang="en-US" sz="2400"/>
          </a:p>
        </p:txBody>
      </p:sp>
      <p:sp>
        <p:nvSpPr>
          <p:cNvPr id="3" name="Text 1"/>
          <p:cNvSpPr/>
          <p:nvPr/>
        </p:nvSpPr>
        <p:spPr>
          <a:xfrm>
            <a:off x="457200" y="690170"/>
            <a:ext cx="8229600" cy="365760"/>
          </a:xfrm>
          <a:prstGeom prst="rect">
            <a:avLst/>
          </a:prstGeom>
          <a:noFill/>
          <a:ln/>
        </p:spPr>
        <p:txBody>
          <a:bodyPr wrap="square" lIns="0" tIns="0" rIns="0" bIns="0" rtlCol="0" anchor="ctr"/>
          <a:lstStyle/>
          <a:p>
            <a:pPr marL="0" indent="0">
              <a:buNone/>
            </a:pPr>
            <a:r>
              <a:rPr lang="en-US" sz="1300" i="1">
                <a:solidFill>
                  <a:srgbClr val="475569"/>
                </a:solidFill>
                <a:latin typeface="Calibri" pitchFamily="34" charset="0"/>
                <a:ea typeface="Calibri" pitchFamily="34" charset="-122"/>
                <a:cs typeface="Calibri" pitchFamily="34" charset="-120"/>
              </a:rPr>
              <a:t>Trois scénarios envisageables selon le niveau d'aversion au risque commercial.</a:t>
            </a:r>
            <a:endParaRPr lang="en-US" sz="1300"/>
          </a:p>
        </p:txBody>
      </p:sp>
      <p:sp>
        <p:nvSpPr>
          <p:cNvPr id="4" name="Shape 2"/>
          <p:cNvSpPr/>
          <p:nvPr/>
        </p:nvSpPr>
        <p:spPr>
          <a:xfrm>
            <a:off x="450025" y="1193091"/>
            <a:ext cx="2616913" cy="2953401"/>
          </a:xfrm>
          <a:prstGeom prst="rect">
            <a:avLst/>
          </a:prstGeom>
          <a:solidFill>
            <a:srgbClr val="9BC5C7"/>
          </a:solidFill>
          <a:ln/>
        </p:spPr>
        <p:txBody>
          <a:bodyPr/>
          <a:lstStyle/>
          <a:p>
            <a:endParaRPr lang="fr-FR"/>
          </a:p>
        </p:txBody>
      </p:sp>
      <p:sp>
        <p:nvSpPr>
          <p:cNvPr id="5" name="Text 3"/>
          <p:cNvSpPr/>
          <p:nvPr/>
        </p:nvSpPr>
        <p:spPr>
          <a:xfrm>
            <a:off x="598058" y="1330250"/>
            <a:ext cx="2286000" cy="457200"/>
          </a:xfrm>
          <a:prstGeom prst="rect">
            <a:avLst/>
          </a:prstGeom>
          <a:noFill/>
          <a:ln/>
        </p:spPr>
        <p:txBody>
          <a:bodyPr wrap="square" lIns="0" tIns="0" rIns="0" bIns="0" rtlCol="0" anchor="ctr"/>
          <a:lstStyle/>
          <a:p>
            <a:pPr marL="0" indent="0">
              <a:buNone/>
            </a:pPr>
            <a:r>
              <a:rPr lang="en-US" sz="2000" b="1">
                <a:solidFill>
                  <a:srgbClr val="21295C"/>
                </a:solidFill>
                <a:latin typeface="Cambria" pitchFamily="34" charset="0"/>
                <a:ea typeface="Cambria" pitchFamily="34" charset="-122"/>
                <a:cs typeface="Cambria" pitchFamily="34" charset="-120"/>
              </a:rPr>
              <a:t>Prudent</a:t>
            </a:r>
            <a:endParaRPr lang="en-US" sz="2000"/>
          </a:p>
        </p:txBody>
      </p:sp>
      <p:sp>
        <p:nvSpPr>
          <p:cNvPr id="6" name="Text 4"/>
          <p:cNvSpPr/>
          <p:nvPr/>
        </p:nvSpPr>
        <p:spPr>
          <a:xfrm>
            <a:off x="598058" y="1741730"/>
            <a:ext cx="2286000" cy="274320"/>
          </a:xfrm>
          <a:prstGeom prst="rect">
            <a:avLst/>
          </a:prstGeom>
          <a:noFill/>
          <a:ln/>
        </p:spPr>
        <p:txBody>
          <a:bodyPr wrap="square" lIns="0" tIns="0" rIns="0" bIns="0" rtlCol="0" anchor="ctr"/>
          <a:lstStyle/>
          <a:p>
            <a:r>
              <a:rPr lang="en-US" sz="1100" i="1">
                <a:solidFill>
                  <a:srgbClr val="21295C"/>
                </a:solidFill>
                <a:latin typeface="Calibri"/>
                <a:ea typeface="Calibri"/>
                <a:cs typeface="Calibri"/>
              </a:rPr>
              <a:t>Risque commercial minimal</a:t>
            </a:r>
            <a:endParaRPr lang="en-US" sz="1100">
              <a:latin typeface="Calibri"/>
              <a:ea typeface="Calibri"/>
              <a:cs typeface="Calibri"/>
            </a:endParaRPr>
          </a:p>
        </p:txBody>
      </p:sp>
      <p:sp>
        <p:nvSpPr>
          <p:cNvPr id="7" name="Shape 5"/>
          <p:cNvSpPr/>
          <p:nvPr/>
        </p:nvSpPr>
        <p:spPr>
          <a:xfrm>
            <a:off x="598058" y="2061770"/>
            <a:ext cx="2286000" cy="0"/>
          </a:xfrm>
          <a:prstGeom prst="line">
            <a:avLst/>
          </a:prstGeom>
          <a:noFill/>
          <a:ln w="6350">
            <a:solidFill>
              <a:srgbClr val="21295C"/>
            </a:solidFill>
            <a:prstDash val="solid"/>
          </a:ln>
        </p:spPr>
        <p:txBody>
          <a:bodyPr/>
          <a:lstStyle/>
          <a:p>
            <a:endParaRPr lang="fr-FR"/>
          </a:p>
        </p:txBody>
      </p:sp>
      <p:sp>
        <p:nvSpPr>
          <p:cNvPr id="8" name="Text 6"/>
          <p:cNvSpPr/>
          <p:nvPr/>
        </p:nvSpPr>
        <p:spPr>
          <a:xfrm>
            <a:off x="598058" y="2153210"/>
            <a:ext cx="2286000" cy="228600"/>
          </a:xfrm>
          <a:prstGeom prst="rect">
            <a:avLst/>
          </a:prstGeom>
          <a:noFill/>
          <a:ln/>
        </p:spPr>
        <p:txBody>
          <a:bodyPr wrap="square" lIns="0" tIns="0" rIns="0" bIns="0" rtlCol="0" anchor="ctr"/>
          <a:lstStyle/>
          <a:p>
            <a:pPr marL="0" indent="0">
              <a:buNone/>
            </a:pPr>
            <a:r>
              <a:rPr lang="en-US" sz="1000">
                <a:solidFill>
                  <a:srgbClr val="21295C"/>
                </a:solidFill>
                <a:latin typeface="Calibri" pitchFamily="34" charset="0"/>
                <a:ea typeface="Calibri" pitchFamily="34" charset="-122"/>
                <a:cs typeface="Calibri" pitchFamily="34" charset="-120"/>
              </a:rPr>
              <a:t>Seuil</a:t>
            </a:r>
            <a:endParaRPr lang="en-US" sz="1000"/>
          </a:p>
        </p:txBody>
      </p:sp>
      <p:sp>
        <p:nvSpPr>
          <p:cNvPr id="9" name="Text 7"/>
          <p:cNvSpPr/>
          <p:nvPr/>
        </p:nvSpPr>
        <p:spPr>
          <a:xfrm>
            <a:off x="598058" y="2336090"/>
            <a:ext cx="2286000" cy="320040"/>
          </a:xfrm>
          <a:prstGeom prst="rect">
            <a:avLst/>
          </a:prstGeom>
          <a:noFill/>
          <a:ln/>
        </p:spPr>
        <p:txBody>
          <a:bodyPr wrap="square" lIns="0" tIns="0" rIns="0" bIns="0" rtlCol="0" anchor="ctr"/>
          <a:lstStyle/>
          <a:p>
            <a:pPr marL="0" indent="0">
              <a:buNone/>
            </a:pPr>
            <a:r>
              <a:rPr lang="en-US" sz="1800" b="1">
                <a:solidFill>
                  <a:srgbClr val="21295C"/>
                </a:solidFill>
                <a:latin typeface="Cambria" pitchFamily="34" charset="0"/>
                <a:ea typeface="Cambria" pitchFamily="34" charset="-122"/>
                <a:cs typeface="Cambria" pitchFamily="34" charset="-120"/>
              </a:rPr>
              <a:t>60 min</a:t>
            </a:r>
            <a:endParaRPr lang="en-US" sz="1800"/>
          </a:p>
        </p:txBody>
      </p:sp>
      <p:sp>
        <p:nvSpPr>
          <p:cNvPr id="10" name="Text 8"/>
          <p:cNvSpPr/>
          <p:nvPr/>
        </p:nvSpPr>
        <p:spPr>
          <a:xfrm>
            <a:off x="598058" y="2701850"/>
            <a:ext cx="2286000" cy="228600"/>
          </a:xfrm>
          <a:prstGeom prst="rect">
            <a:avLst/>
          </a:prstGeom>
          <a:noFill/>
          <a:ln/>
        </p:spPr>
        <p:txBody>
          <a:bodyPr wrap="square" lIns="0" tIns="0" rIns="0" bIns="0" rtlCol="0" anchor="ctr"/>
          <a:lstStyle/>
          <a:p>
            <a:pPr marL="0" indent="0">
              <a:buNone/>
            </a:pPr>
            <a:r>
              <a:rPr lang="en-US" sz="1000">
                <a:solidFill>
                  <a:srgbClr val="21295C"/>
                </a:solidFill>
                <a:latin typeface="Calibri" pitchFamily="34" charset="0"/>
                <a:ea typeface="Calibri" pitchFamily="34" charset="-122"/>
                <a:cs typeface="Calibri" pitchFamily="34" charset="-120"/>
              </a:rPr>
              <a:t>Portée</a:t>
            </a:r>
            <a:endParaRPr lang="en-US" sz="1000"/>
          </a:p>
        </p:txBody>
      </p:sp>
      <p:sp>
        <p:nvSpPr>
          <p:cNvPr id="11" name="Text 9"/>
          <p:cNvSpPr/>
          <p:nvPr/>
        </p:nvSpPr>
        <p:spPr>
          <a:xfrm>
            <a:off x="598058" y="2884730"/>
            <a:ext cx="2286000" cy="320040"/>
          </a:xfrm>
          <a:prstGeom prst="rect">
            <a:avLst/>
          </a:prstGeom>
          <a:noFill/>
          <a:ln/>
        </p:spPr>
        <p:txBody>
          <a:bodyPr wrap="square" lIns="0" tIns="0" rIns="0" bIns="0" rtlCol="0" anchor="ctr"/>
          <a:lstStyle/>
          <a:p>
            <a:pPr marL="0" indent="0">
              <a:buNone/>
            </a:pPr>
            <a:r>
              <a:rPr lang="en-US" sz="1300" b="1">
                <a:solidFill>
                  <a:srgbClr val="21295C"/>
                </a:solidFill>
                <a:latin typeface="Calibri" pitchFamily="34" charset="0"/>
                <a:ea typeface="Calibri" pitchFamily="34" charset="-122"/>
                <a:cs typeface="Calibri" pitchFamily="34" charset="-120"/>
              </a:rPr>
              <a:t>Connect uniquement</a:t>
            </a:r>
            <a:endParaRPr lang="en-US" sz="1300"/>
          </a:p>
        </p:txBody>
      </p:sp>
      <p:sp>
        <p:nvSpPr>
          <p:cNvPr id="14" name="Text 12"/>
          <p:cNvSpPr/>
          <p:nvPr/>
        </p:nvSpPr>
        <p:spPr>
          <a:xfrm>
            <a:off x="598058" y="3248539"/>
            <a:ext cx="2286000" cy="228600"/>
          </a:xfrm>
          <a:prstGeom prst="rect">
            <a:avLst/>
          </a:prstGeom>
          <a:noFill/>
          <a:ln/>
        </p:spPr>
        <p:txBody>
          <a:bodyPr wrap="square" lIns="0" tIns="0" rIns="0" bIns="0" rtlCol="0" anchor="ctr"/>
          <a:lstStyle/>
          <a:p>
            <a:pPr marL="0" indent="0">
              <a:buNone/>
            </a:pPr>
            <a:r>
              <a:rPr lang="en-US" sz="1000">
                <a:solidFill>
                  <a:srgbClr val="21295C"/>
                </a:solidFill>
                <a:latin typeface="Calibri" pitchFamily="34" charset="0"/>
                <a:ea typeface="Calibri" pitchFamily="34" charset="-122"/>
                <a:cs typeface="Calibri" pitchFamily="34" charset="-120"/>
              </a:rPr>
              <a:t>Cas résolus</a:t>
            </a:r>
            <a:endParaRPr lang="en-US" sz="1000"/>
          </a:p>
        </p:txBody>
      </p:sp>
      <p:sp>
        <p:nvSpPr>
          <p:cNvPr id="15" name="Text 13"/>
          <p:cNvSpPr/>
          <p:nvPr/>
        </p:nvSpPr>
        <p:spPr>
          <a:xfrm>
            <a:off x="598058" y="3480205"/>
            <a:ext cx="2286000" cy="320040"/>
          </a:xfrm>
          <a:prstGeom prst="rect">
            <a:avLst/>
          </a:prstGeom>
          <a:noFill/>
          <a:ln/>
        </p:spPr>
        <p:txBody>
          <a:bodyPr wrap="square" lIns="0" tIns="0" rIns="0" bIns="0" rtlCol="0" anchor="ctr"/>
          <a:lstStyle/>
          <a:p>
            <a:pPr marL="0" indent="0">
              <a:buNone/>
            </a:pPr>
            <a:r>
              <a:rPr lang="en-US" sz="1600" b="1">
                <a:solidFill>
                  <a:srgbClr val="21295C"/>
                </a:solidFill>
                <a:latin typeface="Cambria"/>
                <a:ea typeface="Cambria"/>
                <a:cs typeface="Cambria" pitchFamily="34" charset="-120"/>
              </a:rPr>
              <a:t>70 %</a:t>
            </a:r>
            <a:endParaRPr lang="en-US" sz="1600">
              <a:latin typeface="Cambria"/>
              <a:ea typeface="Cambria"/>
            </a:endParaRPr>
          </a:p>
        </p:txBody>
      </p:sp>
      <p:sp>
        <p:nvSpPr>
          <p:cNvPr id="16" name="Shape 14"/>
          <p:cNvSpPr/>
          <p:nvPr/>
        </p:nvSpPr>
        <p:spPr>
          <a:xfrm>
            <a:off x="3204098" y="1193090"/>
            <a:ext cx="2651760" cy="2951966"/>
          </a:xfrm>
          <a:prstGeom prst="rect">
            <a:avLst/>
          </a:prstGeom>
          <a:solidFill>
            <a:srgbClr val="065A82"/>
          </a:solidFill>
          <a:ln/>
        </p:spPr>
        <p:txBody>
          <a:bodyPr/>
          <a:lstStyle/>
          <a:p>
            <a:endParaRPr lang="fr-FR"/>
          </a:p>
        </p:txBody>
      </p:sp>
      <p:sp>
        <p:nvSpPr>
          <p:cNvPr id="17" name="Text 15"/>
          <p:cNvSpPr/>
          <p:nvPr/>
        </p:nvSpPr>
        <p:spPr>
          <a:xfrm>
            <a:off x="3386978" y="1330250"/>
            <a:ext cx="2286000" cy="457200"/>
          </a:xfrm>
          <a:prstGeom prst="rect">
            <a:avLst/>
          </a:prstGeom>
          <a:noFill/>
          <a:ln/>
        </p:spPr>
        <p:txBody>
          <a:bodyPr wrap="square" lIns="0" tIns="0" rIns="0" bIns="0" rtlCol="0" anchor="ctr"/>
          <a:lstStyle/>
          <a:p>
            <a:pPr marL="0" indent="0">
              <a:buNone/>
            </a:pPr>
            <a:r>
              <a:rPr lang="en-US" sz="2000" b="1">
                <a:solidFill>
                  <a:srgbClr val="FFFFFF"/>
                </a:solidFill>
                <a:latin typeface="Cambria" pitchFamily="34" charset="0"/>
                <a:ea typeface="Cambria" pitchFamily="34" charset="-122"/>
                <a:cs typeface="Cambria" pitchFamily="34" charset="-120"/>
              </a:rPr>
              <a:t>Équilibré</a:t>
            </a:r>
            <a:endParaRPr lang="en-US" sz="2000"/>
          </a:p>
        </p:txBody>
      </p:sp>
      <p:sp>
        <p:nvSpPr>
          <p:cNvPr id="18" name="Text 16"/>
          <p:cNvSpPr/>
          <p:nvPr/>
        </p:nvSpPr>
        <p:spPr>
          <a:xfrm>
            <a:off x="3386978" y="1741730"/>
            <a:ext cx="2286000" cy="274320"/>
          </a:xfrm>
          <a:prstGeom prst="rect">
            <a:avLst/>
          </a:prstGeom>
          <a:noFill/>
          <a:ln/>
        </p:spPr>
        <p:txBody>
          <a:bodyPr wrap="square" lIns="0" tIns="0" rIns="0" bIns="0" rtlCol="0" anchor="ctr"/>
          <a:lstStyle/>
          <a:p>
            <a:pPr marL="0" indent="0">
              <a:buNone/>
            </a:pPr>
            <a:r>
              <a:rPr lang="en-US" sz="1100" i="1">
                <a:solidFill>
                  <a:srgbClr val="FFFFFF"/>
                </a:solidFill>
                <a:latin typeface="Calibri" pitchFamily="34" charset="0"/>
                <a:ea typeface="Calibri" pitchFamily="34" charset="-122"/>
                <a:cs typeface="Calibri" pitchFamily="34" charset="-120"/>
              </a:rPr>
              <a:t>Recommandé</a:t>
            </a:r>
            <a:endParaRPr lang="en-US" sz="1100"/>
          </a:p>
        </p:txBody>
      </p:sp>
      <p:sp>
        <p:nvSpPr>
          <p:cNvPr id="19" name="Shape 17"/>
          <p:cNvSpPr/>
          <p:nvPr/>
        </p:nvSpPr>
        <p:spPr>
          <a:xfrm>
            <a:off x="3386978" y="2061770"/>
            <a:ext cx="2286000" cy="0"/>
          </a:xfrm>
          <a:prstGeom prst="line">
            <a:avLst/>
          </a:prstGeom>
          <a:noFill/>
          <a:ln w="6350">
            <a:solidFill>
              <a:srgbClr val="FFFFFF"/>
            </a:solidFill>
            <a:prstDash val="solid"/>
          </a:ln>
        </p:spPr>
        <p:txBody>
          <a:bodyPr/>
          <a:lstStyle/>
          <a:p>
            <a:endParaRPr lang="fr-FR"/>
          </a:p>
        </p:txBody>
      </p:sp>
      <p:sp>
        <p:nvSpPr>
          <p:cNvPr id="20" name="Text 18"/>
          <p:cNvSpPr/>
          <p:nvPr/>
        </p:nvSpPr>
        <p:spPr>
          <a:xfrm>
            <a:off x="3386978" y="2153210"/>
            <a:ext cx="2286000" cy="228600"/>
          </a:xfrm>
          <a:prstGeom prst="rect">
            <a:avLst/>
          </a:prstGeom>
          <a:noFill/>
          <a:ln/>
        </p:spPr>
        <p:txBody>
          <a:bodyPr wrap="square" lIns="0" tIns="0" rIns="0" bIns="0" rtlCol="0" anchor="ctr"/>
          <a:lstStyle/>
          <a:p>
            <a:pPr marL="0" indent="0">
              <a:buNone/>
            </a:pPr>
            <a:r>
              <a:rPr lang="en-US" sz="1000">
                <a:solidFill>
                  <a:srgbClr val="FFFFFF"/>
                </a:solidFill>
                <a:latin typeface="Calibri" pitchFamily="34" charset="0"/>
                <a:ea typeface="Calibri" pitchFamily="34" charset="-122"/>
                <a:cs typeface="Calibri" pitchFamily="34" charset="-120"/>
              </a:rPr>
              <a:t>Seuil</a:t>
            </a:r>
            <a:endParaRPr lang="en-US" sz="1000"/>
          </a:p>
        </p:txBody>
      </p:sp>
      <p:sp>
        <p:nvSpPr>
          <p:cNvPr id="21" name="Text 19"/>
          <p:cNvSpPr/>
          <p:nvPr/>
        </p:nvSpPr>
        <p:spPr>
          <a:xfrm>
            <a:off x="3386978" y="2336090"/>
            <a:ext cx="2286000" cy="320040"/>
          </a:xfrm>
          <a:prstGeom prst="rect">
            <a:avLst/>
          </a:prstGeom>
          <a:noFill/>
          <a:ln/>
        </p:spPr>
        <p:txBody>
          <a:bodyPr wrap="square" lIns="0" tIns="0" rIns="0" bIns="0" rtlCol="0" anchor="ctr"/>
          <a:lstStyle/>
          <a:p>
            <a:pPr marL="0" indent="0">
              <a:buNone/>
            </a:pPr>
            <a:r>
              <a:rPr lang="en-US" b="1">
                <a:solidFill>
                  <a:srgbClr val="FFFFFF"/>
                </a:solidFill>
                <a:latin typeface="Cambria"/>
                <a:ea typeface="Cambria"/>
              </a:rPr>
              <a:t>90min</a:t>
            </a:r>
            <a:endParaRPr lang="en-US" sz="1800" dirty="0">
              <a:latin typeface="Cambria"/>
              <a:ea typeface="Cambria"/>
            </a:endParaRPr>
          </a:p>
        </p:txBody>
      </p:sp>
      <p:sp>
        <p:nvSpPr>
          <p:cNvPr id="22" name="Text 20"/>
          <p:cNvSpPr/>
          <p:nvPr/>
        </p:nvSpPr>
        <p:spPr>
          <a:xfrm>
            <a:off x="3386978" y="2701850"/>
            <a:ext cx="2286000" cy="228600"/>
          </a:xfrm>
          <a:prstGeom prst="rect">
            <a:avLst/>
          </a:prstGeom>
          <a:noFill/>
          <a:ln/>
        </p:spPr>
        <p:txBody>
          <a:bodyPr wrap="square" lIns="0" tIns="0" rIns="0" bIns="0" rtlCol="0" anchor="ctr"/>
          <a:lstStyle/>
          <a:p>
            <a:pPr marL="0" indent="0">
              <a:buNone/>
            </a:pPr>
            <a:r>
              <a:rPr lang="en-US" sz="1000">
                <a:solidFill>
                  <a:srgbClr val="FFFFFF"/>
                </a:solidFill>
                <a:latin typeface="Calibri" pitchFamily="34" charset="0"/>
                <a:ea typeface="Calibri" pitchFamily="34" charset="-122"/>
                <a:cs typeface="Calibri" pitchFamily="34" charset="-120"/>
              </a:rPr>
              <a:t>Portée</a:t>
            </a:r>
            <a:endParaRPr lang="en-US" sz="1000"/>
          </a:p>
        </p:txBody>
      </p:sp>
      <p:sp>
        <p:nvSpPr>
          <p:cNvPr id="23" name="Text 21"/>
          <p:cNvSpPr/>
          <p:nvPr/>
        </p:nvSpPr>
        <p:spPr>
          <a:xfrm>
            <a:off x="3386978" y="2884730"/>
            <a:ext cx="2286000" cy="32004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Ensemble du parc</a:t>
            </a:r>
            <a:endParaRPr lang="en-US" sz="1300"/>
          </a:p>
        </p:txBody>
      </p:sp>
      <p:sp>
        <p:nvSpPr>
          <p:cNvPr id="26" name="Text 24"/>
          <p:cNvSpPr/>
          <p:nvPr/>
        </p:nvSpPr>
        <p:spPr>
          <a:xfrm>
            <a:off x="3386978" y="3252843"/>
            <a:ext cx="2286000" cy="228600"/>
          </a:xfrm>
          <a:prstGeom prst="rect">
            <a:avLst/>
          </a:prstGeom>
          <a:noFill/>
          <a:ln/>
        </p:spPr>
        <p:txBody>
          <a:bodyPr wrap="square" lIns="0" tIns="0" rIns="0" bIns="0" rtlCol="0" anchor="ctr"/>
          <a:lstStyle/>
          <a:p>
            <a:pPr marL="0" indent="0">
              <a:buNone/>
            </a:pPr>
            <a:r>
              <a:rPr lang="en-US" sz="1000">
                <a:solidFill>
                  <a:srgbClr val="FFFFFF"/>
                </a:solidFill>
                <a:latin typeface="Calibri" pitchFamily="34" charset="0"/>
                <a:ea typeface="Calibri" pitchFamily="34" charset="-122"/>
                <a:cs typeface="Calibri" pitchFamily="34" charset="-120"/>
              </a:rPr>
              <a:t>Cas résolus</a:t>
            </a:r>
            <a:endParaRPr lang="en-US" sz="1000"/>
          </a:p>
        </p:txBody>
      </p:sp>
      <p:sp>
        <p:nvSpPr>
          <p:cNvPr id="27" name="Text 25"/>
          <p:cNvSpPr/>
          <p:nvPr/>
        </p:nvSpPr>
        <p:spPr>
          <a:xfrm>
            <a:off x="3429000" y="3477745"/>
            <a:ext cx="2286000" cy="320040"/>
          </a:xfrm>
          <a:prstGeom prst="rect">
            <a:avLst/>
          </a:prstGeom>
          <a:noFill/>
          <a:ln/>
        </p:spPr>
        <p:txBody>
          <a:bodyPr wrap="square" lIns="0" tIns="0" rIns="0" bIns="0" rtlCol="0" anchor="ctr"/>
          <a:lstStyle/>
          <a:p>
            <a:pPr marL="0" indent="0">
              <a:buNone/>
            </a:pPr>
            <a:r>
              <a:rPr lang="en-US" sz="1600" b="1">
                <a:solidFill>
                  <a:srgbClr val="FFFFFF"/>
                </a:solidFill>
                <a:latin typeface="Cambria"/>
                <a:ea typeface="Cambria"/>
                <a:cs typeface="Cambria" pitchFamily="34" charset="-120"/>
              </a:rPr>
              <a:t>79%</a:t>
            </a:r>
            <a:endParaRPr lang="en-US" sz="1600">
              <a:latin typeface="Cambria"/>
              <a:ea typeface="Cambria"/>
            </a:endParaRPr>
          </a:p>
        </p:txBody>
      </p:sp>
      <p:sp>
        <p:nvSpPr>
          <p:cNvPr id="28" name="Shape 26"/>
          <p:cNvSpPr/>
          <p:nvPr/>
        </p:nvSpPr>
        <p:spPr>
          <a:xfrm>
            <a:off x="5993018" y="1193090"/>
            <a:ext cx="2651760" cy="2951965"/>
          </a:xfrm>
          <a:prstGeom prst="rect">
            <a:avLst/>
          </a:prstGeom>
          <a:solidFill>
            <a:srgbClr val="21295C"/>
          </a:solidFill>
          <a:ln/>
        </p:spPr>
        <p:txBody>
          <a:bodyPr/>
          <a:lstStyle/>
          <a:p>
            <a:endParaRPr lang="fr-FR"/>
          </a:p>
        </p:txBody>
      </p:sp>
      <p:sp>
        <p:nvSpPr>
          <p:cNvPr id="29" name="Text 27"/>
          <p:cNvSpPr/>
          <p:nvPr/>
        </p:nvSpPr>
        <p:spPr>
          <a:xfrm>
            <a:off x="6175898" y="1330250"/>
            <a:ext cx="2286000" cy="457200"/>
          </a:xfrm>
          <a:prstGeom prst="rect">
            <a:avLst/>
          </a:prstGeom>
          <a:noFill/>
          <a:ln/>
        </p:spPr>
        <p:txBody>
          <a:bodyPr wrap="square" lIns="0" tIns="0" rIns="0" bIns="0" rtlCol="0" anchor="ctr"/>
          <a:lstStyle/>
          <a:p>
            <a:pPr marL="0" indent="0">
              <a:buNone/>
            </a:pPr>
            <a:r>
              <a:rPr lang="en-US" sz="2000" b="1" dirty="0" err="1">
                <a:solidFill>
                  <a:srgbClr val="FFFFFF"/>
                </a:solidFill>
                <a:latin typeface="Cambria"/>
                <a:ea typeface="Cambria"/>
              </a:rPr>
              <a:t>Limite</a:t>
            </a:r>
            <a:endParaRPr lang="en-US" sz="2000" dirty="0" err="1"/>
          </a:p>
        </p:txBody>
      </p:sp>
      <p:sp>
        <p:nvSpPr>
          <p:cNvPr id="30" name="Text 28"/>
          <p:cNvSpPr/>
          <p:nvPr/>
        </p:nvSpPr>
        <p:spPr>
          <a:xfrm>
            <a:off x="6175898" y="1741730"/>
            <a:ext cx="2286000" cy="274320"/>
          </a:xfrm>
          <a:prstGeom prst="rect">
            <a:avLst/>
          </a:prstGeom>
          <a:noFill/>
          <a:ln/>
        </p:spPr>
        <p:txBody>
          <a:bodyPr wrap="square" lIns="0" tIns="0" rIns="0" bIns="0" rtlCol="0" anchor="ctr"/>
          <a:lstStyle/>
          <a:p>
            <a:pPr marL="0" indent="0">
              <a:buNone/>
            </a:pPr>
            <a:r>
              <a:rPr lang="en-US" sz="1100" i="1">
                <a:solidFill>
                  <a:srgbClr val="FFFFFF"/>
                </a:solidFill>
                <a:latin typeface="Calibri" pitchFamily="34" charset="0"/>
                <a:ea typeface="Calibri" pitchFamily="34" charset="-122"/>
                <a:cs typeface="Calibri" pitchFamily="34" charset="-120"/>
              </a:rPr>
              <a:t>Protection maximale</a:t>
            </a:r>
            <a:endParaRPr lang="en-US" sz="1100"/>
          </a:p>
        </p:txBody>
      </p:sp>
      <p:sp>
        <p:nvSpPr>
          <p:cNvPr id="31" name="Shape 29"/>
          <p:cNvSpPr/>
          <p:nvPr/>
        </p:nvSpPr>
        <p:spPr>
          <a:xfrm>
            <a:off x="6175898" y="2061770"/>
            <a:ext cx="2286000" cy="0"/>
          </a:xfrm>
          <a:prstGeom prst="line">
            <a:avLst/>
          </a:prstGeom>
          <a:noFill/>
          <a:ln w="6350">
            <a:solidFill>
              <a:srgbClr val="FFFFFF"/>
            </a:solidFill>
            <a:prstDash val="solid"/>
          </a:ln>
        </p:spPr>
        <p:txBody>
          <a:bodyPr/>
          <a:lstStyle/>
          <a:p>
            <a:endParaRPr lang="fr-FR"/>
          </a:p>
        </p:txBody>
      </p:sp>
      <p:sp>
        <p:nvSpPr>
          <p:cNvPr id="32" name="Text 30"/>
          <p:cNvSpPr/>
          <p:nvPr/>
        </p:nvSpPr>
        <p:spPr>
          <a:xfrm>
            <a:off x="6175898" y="2153210"/>
            <a:ext cx="2286000" cy="228600"/>
          </a:xfrm>
          <a:prstGeom prst="rect">
            <a:avLst/>
          </a:prstGeom>
          <a:noFill/>
          <a:ln/>
        </p:spPr>
        <p:txBody>
          <a:bodyPr wrap="square" lIns="0" tIns="0" rIns="0" bIns="0" rtlCol="0" anchor="ctr"/>
          <a:lstStyle/>
          <a:p>
            <a:pPr marL="0" indent="0">
              <a:buNone/>
            </a:pPr>
            <a:r>
              <a:rPr lang="en-US" sz="1000">
                <a:solidFill>
                  <a:srgbClr val="FFFFFF"/>
                </a:solidFill>
                <a:latin typeface="Calibri" pitchFamily="34" charset="0"/>
                <a:ea typeface="Calibri" pitchFamily="34" charset="-122"/>
                <a:cs typeface="Calibri" pitchFamily="34" charset="-120"/>
              </a:rPr>
              <a:t>Seuil</a:t>
            </a:r>
            <a:endParaRPr lang="en-US" sz="1000"/>
          </a:p>
        </p:txBody>
      </p:sp>
      <p:sp>
        <p:nvSpPr>
          <p:cNvPr id="33" name="Text 31"/>
          <p:cNvSpPr/>
          <p:nvPr/>
        </p:nvSpPr>
        <p:spPr>
          <a:xfrm>
            <a:off x="6175898" y="2336090"/>
            <a:ext cx="2286000" cy="320040"/>
          </a:xfrm>
          <a:prstGeom prst="rect">
            <a:avLst/>
          </a:prstGeom>
          <a:noFill/>
          <a:ln/>
        </p:spPr>
        <p:txBody>
          <a:bodyPr wrap="square" lIns="0" tIns="0" rIns="0" bIns="0" rtlCol="0" anchor="ctr"/>
          <a:lstStyle/>
          <a:p>
            <a:pPr marL="0" indent="0">
              <a:buNone/>
            </a:pPr>
            <a:r>
              <a:rPr lang="en-US" b="1">
                <a:solidFill>
                  <a:srgbClr val="FFFFFF"/>
                </a:solidFill>
                <a:latin typeface="Cambria"/>
                <a:ea typeface="Cambria"/>
              </a:rPr>
              <a:t>120min</a:t>
            </a:r>
            <a:endParaRPr lang="en-US" sz="1800" dirty="0">
              <a:latin typeface="Cambria"/>
              <a:ea typeface="Cambria"/>
            </a:endParaRPr>
          </a:p>
        </p:txBody>
      </p:sp>
      <p:sp>
        <p:nvSpPr>
          <p:cNvPr id="34" name="Text 32"/>
          <p:cNvSpPr/>
          <p:nvPr/>
        </p:nvSpPr>
        <p:spPr>
          <a:xfrm>
            <a:off x="6175898" y="2701850"/>
            <a:ext cx="2286000" cy="228600"/>
          </a:xfrm>
          <a:prstGeom prst="rect">
            <a:avLst/>
          </a:prstGeom>
          <a:noFill/>
          <a:ln/>
        </p:spPr>
        <p:txBody>
          <a:bodyPr wrap="square" lIns="0" tIns="0" rIns="0" bIns="0" rtlCol="0" anchor="ctr"/>
          <a:lstStyle/>
          <a:p>
            <a:pPr marL="0" indent="0">
              <a:buNone/>
            </a:pPr>
            <a:r>
              <a:rPr lang="en-US" sz="1000">
                <a:solidFill>
                  <a:srgbClr val="FFFFFF"/>
                </a:solidFill>
                <a:latin typeface="Calibri" pitchFamily="34" charset="0"/>
                <a:ea typeface="Calibri" pitchFamily="34" charset="-122"/>
                <a:cs typeface="Calibri" pitchFamily="34" charset="-120"/>
              </a:rPr>
              <a:t>Portée</a:t>
            </a:r>
            <a:endParaRPr lang="en-US" sz="1000"/>
          </a:p>
        </p:txBody>
      </p:sp>
      <p:sp>
        <p:nvSpPr>
          <p:cNvPr id="35" name="Text 33"/>
          <p:cNvSpPr/>
          <p:nvPr/>
        </p:nvSpPr>
        <p:spPr>
          <a:xfrm>
            <a:off x="6175898" y="2884730"/>
            <a:ext cx="2286000" cy="32004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Ensemble du parc</a:t>
            </a:r>
            <a:endParaRPr lang="en-US" sz="1300"/>
          </a:p>
        </p:txBody>
      </p:sp>
      <p:sp>
        <p:nvSpPr>
          <p:cNvPr id="38" name="Text 36"/>
          <p:cNvSpPr/>
          <p:nvPr/>
        </p:nvSpPr>
        <p:spPr>
          <a:xfrm>
            <a:off x="6175898" y="3252843"/>
            <a:ext cx="2286000" cy="228600"/>
          </a:xfrm>
          <a:prstGeom prst="rect">
            <a:avLst/>
          </a:prstGeom>
          <a:noFill/>
          <a:ln/>
        </p:spPr>
        <p:txBody>
          <a:bodyPr wrap="square" lIns="0" tIns="0" rIns="0" bIns="0" rtlCol="0" anchor="ctr"/>
          <a:lstStyle/>
          <a:p>
            <a:pPr marL="0" indent="0">
              <a:buNone/>
            </a:pPr>
            <a:r>
              <a:rPr lang="en-US" sz="1000">
                <a:solidFill>
                  <a:srgbClr val="FFFFFF"/>
                </a:solidFill>
                <a:latin typeface="Calibri" pitchFamily="34" charset="0"/>
                <a:ea typeface="Calibri" pitchFamily="34" charset="-122"/>
                <a:cs typeface="Calibri" pitchFamily="34" charset="-120"/>
              </a:rPr>
              <a:t>Cas résolus</a:t>
            </a:r>
            <a:endParaRPr lang="en-US" sz="1000"/>
          </a:p>
        </p:txBody>
      </p:sp>
      <p:sp>
        <p:nvSpPr>
          <p:cNvPr id="39" name="Text 37"/>
          <p:cNvSpPr/>
          <p:nvPr/>
        </p:nvSpPr>
        <p:spPr>
          <a:xfrm>
            <a:off x="6243133" y="3477745"/>
            <a:ext cx="2286000" cy="320040"/>
          </a:xfrm>
          <a:prstGeom prst="rect">
            <a:avLst/>
          </a:prstGeom>
          <a:noFill/>
          <a:ln/>
        </p:spPr>
        <p:txBody>
          <a:bodyPr wrap="square" lIns="0" tIns="0" rIns="0" bIns="0" rtlCol="0" anchor="ctr"/>
          <a:lstStyle/>
          <a:p>
            <a:pPr marL="0" indent="0">
              <a:buNone/>
            </a:pPr>
            <a:r>
              <a:rPr lang="en-US" sz="1600" b="1">
                <a:solidFill>
                  <a:srgbClr val="FFFFFF"/>
                </a:solidFill>
                <a:latin typeface="Cambria"/>
                <a:ea typeface="Cambria"/>
                <a:cs typeface="Cambria" pitchFamily="34" charset="-120"/>
              </a:rPr>
              <a:t>83 %</a:t>
            </a:r>
            <a:endParaRPr lang="en-US" sz="1600">
              <a:latin typeface="Cambria"/>
              <a:ea typeface="Cambria"/>
            </a:endParaRPr>
          </a:p>
        </p:txBody>
      </p:sp>
      <p:sp>
        <p:nvSpPr>
          <p:cNvPr id="40" name="Text 38"/>
          <p:cNvSpPr/>
          <p:nvPr/>
        </p:nvSpPr>
        <p:spPr>
          <a:xfrm>
            <a:off x="415178" y="4367268"/>
            <a:ext cx="8229600" cy="274320"/>
          </a:xfrm>
          <a:prstGeom prst="rect">
            <a:avLst/>
          </a:prstGeom>
          <a:noFill/>
          <a:ln/>
        </p:spPr>
        <p:txBody>
          <a:bodyPr wrap="square" lIns="0" tIns="0" rIns="0" bIns="0" rtlCol="0" anchor="ctr"/>
          <a:lstStyle/>
          <a:p>
            <a:pPr algn="ctr"/>
            <a:r>
              <a:rPr lang="en-US" sz="1200" i="1" dirty="0">
                <a:solidFill>
                  <a:srgbClr val="475569"/>
                </a:solidFill>
                <a:latin typeface="Calibri"/>
                <a:ea typeface="Calibri"/>
                <a:cs typeface="Calibri"/>
              </a:rPr>
              <a:t>Le </a:t>
            </a:r>
            <a:r>
              <a:rPr lang="en-US" sz="1200" i="1" dirty="0" err="1">
                <a:solidFill>
                  <a:srgbClr val="475569"/>
                </a:solidFill>
                <a:latin typeface="Calibri"/>
                <a:ea typeface="Calibri"/>
                <a:cs typeface="Calibri"/>
              </a:rPr>
              <a:t>seuil</a:t>
            </a:r>
            <a:r>
              <a:rPr lang="en-US" sz="1200" i="1" dirty="0">
                <a:solidFill>
                  <a:srgbClr val="475569"/>
                </a:solidFill>
                <a:latin typeface="Calibri"/>
                <a:ea typeface="Calibri"/>
                <a:cs typeface="Calibri"/>
              </a:rPr>
              <a:t> de 90 minutes sur </a:t>
            </a:r>
            <a:r>
              <a:rPr lang="en-US" sz="1200" i="1" dirty="0" err="1">
                <a:solidFill>
                  <a:srgbClr val="475569"/>
                </a:solidFill>
                <a:latin typeface="Calibri"/>
                <a:ea typeface="Calibri"/>
                <a:cs typeface="Calibri"/>
              </a:rPr>
              <a:t>l'ensemble</a:t>
            </a:r>
            <a:r>
              <a:rPr lang="en-US" sz="1200" i="1" dirty="0">
                <a:solidFill>
                  <a:srgbClr val="475569"/>
                </a:solidFill>
                <a:latin typeface="Calibri"/>
                <a:ea typeface="Calibri"/>
                <a:cs typeface="Calibri"/>
              </a:rPr>
              <a:t> du parc </a:t>
            </a:r>
            <a:r>
              <a:rPr lang="en-US" sz="1200" i="1" dirty="0" err="1">
                <a:solidFill>
                  <a:srgbClr val="475569"/>
                </a:solidFill>
                <a:latin typeface="Calibri"/>
                <a:ea typeface="Calibri"/>
                <a:cs typeface="Calibri"/>
              </a:rPr>
              <a:t>offre</a:t>
            </a:r>
            <a:r>
              <a:rPr lang="en-US" sz="1200" i="1" dirty="0">
                <a:solidFill>
                  <a:srgbClr val="475569"/>
                </a:solidFill>
                <a:latin typeface="Calibri"/>
                <a:ea typeface="Calibri"/>
                <a:cs typeface="Calibri"/>
              </a:rPr>
              <a:t> le </a:t>
            </a:r>
            <a:r>
              <a:rPr lang="en-US" sz="1200" i="1" dirty="0" err="1">
                <a:solidFill>
                  <a:srgbClr val="475569"/>
                </a:solidFill>
                <a:latin typeface="Calibri"/>
                <a:ea typeface="Calibri"/>
                <a:cs typeface="Calibri"/>
              </a:rPr>
              <a:t>meilleur</a:t>
            </a:r>
            <a:r>
              <a:rPr lang="en-US" sz="1200" i="1" dirty="0">
                <a:solidFill>
                  <a:srgbClr val="475569"/>
                </a:solidFill>
                <a:latin typeface="Calibri"/>
                <a:ea typeface="Calibri"/>
                <a:cs typeface="Calibri"/>
              </a:rPr>
              <a:t> rapport </a:t>
            </a:r>
            <a:r>
              <a:rPr lang="en-US" sz="1200" i="1" dirty="0" err="1">
                <a:solidFill>
                  <a:srgbClr val="475569"/>
                </a:solidFill>
                <a:latin typeface="Calibri"/>
                <a:ea typeface="Calibri"/>
                <a:cs typeface="Calibri"/>
              </a:rPr>
              <a:t>problèmes</a:t>
            </a:r>
            <a:r>
              <a:rPr lang="en-US" sz="1200" i="1" dirty="0">
                <a:solidFill>
                  <a:srgbClr val="475569"/>
                </a:solidFill>
                <a:latin typeface="Calibri"/>
                <a:ea typeface="Calibri"/>
                <a:cs typeface="Calibri"/>
              </a:rPr>
              <a:t> </a:t>
            </a:r>
            <a:r>
              <a:rPr lang="en-US" sz="1200" i="1" dirty="0" err="1">
                <a:solidFill>
                  <a:srgbClr val="475569"/>
                </a:solidFill>
                <a:latin typeface="Calibri"/>
                <a:ea typeface="Calibri"/>
                <a:cs typeface="Calibri"/>
              </a:rPr>
              <a:t>résolus</a:t>
            </a:r>
            <a:r>
              <a:rPr lang="en-US" sz="1200" i="1" dirty="0">
                <a:solidFill>
                  <a:srgbClr val="475569"/>
                </a:solidFill>
                <a:latin typeface="Calibri"/>
                <a:ea typeface="Calibri"/>
                <a:cs typeface="Calibri"/>
              </a:rPr>
              <a:t> / </a:t>
            </a:r>
            <a:r>
              <a:rPr lang="en-US" sz="1200" i="1" dirty="0" err="1">
                <a:solidFill>
                  <a:srgbClr val="475569"/>
                </a:solidFill>
                <a:latin typeface="Calibri"/>
                <a:ea typeface="Calibri"/>
                <a:cs typeface="Calibri"/>
              </a:rPr>
              <a:t>éfficacité</a:t>
            </a:r>
            <a:r>
              <a:rPr lang="en-US" sz="1200" i="1" dirty="0">
                <a:solidFill>
                  <a:srgbClr val="475569"/>
                </a:solidFill>
                <a:latin typeface="Calibri"/>
                <a:ea typeface="Calibri"/>
                <a:cs typeface="Calibri"/>
              </a:rPr>
              <a:t>.</a:t>
            </a:r>
            <a:endParaRPr lang="en-US" sz="1200" dirty="0">
              <a:latin typeface="Calibri"/>
              <a:ea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211FE68-0D6E-FD00-3A74-1C8C324C6419}"/>
              </a:ext>
            </a:extLst>
          </p:cNvPr>
          <p:cNvSpPr txBox="1"/>
          <p:nvPr/>
        </p:nvSpPr>
        <p:spPr>
          <a:xfrm>
            <a:off x="529478" y="395007"/>
            <a:ext cx="4572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err="1">
                <a:solidFill>
                  <a:srgbClr val="21295C"/>
                </a:solidFill>
                <a:latin typeface="Cambria"/>
              </a:rPr>
              <a:t>Déploiement</a:t>
            </a:r>
            <a:r>
              <a:rPr sz="2400" b="0" i="0" dirty="0">
                <a:solidFill>
                  <a:srgbClr val="000000"/>
                </a:solidFill>
                <a:latin typeface="Cambria"/>
                <a:ea typeface="Cambria"/>
                <a:cs typeface="Cambria"/>
              </a:rPr>
              <a:t>​</a:t>
            </a:r>
            <a:endParaRPr lang="en-US" dirty="0"/>
          </a:p>
          <a:p>
            <a:pPr algn="ctr"/>
            <a:endParaRPr lang="en-US"/>
          </a:p>
        </p:txBody>
      </p:sp>
      <p:sp>
        <p:nvSpPr>
          <p:cNvPr id="4" name="Shape 2">
            <a:extLst>
              <a:ext uri="{FF2B5EF4-FFF2-40B4-BE49-F238E27FC236}">
                <a16:creationId xmlns:a16="http://schemas.microsoft.com/office/drawing/2014/main" id="{DEC0ED33-E57A-F93E-5934-BDBAFF0D4DEF}"/>
              </a:ext>
            </a:extLst>
          </p:cNvPr>
          <p:cNvSpPr/>
          <p:nvPr/>
        </p:nvSpPr>
        <p:spPr>
          <a:xfrm>
            <a:off x="465604" y="1206874"/>
            <a:ext cx="2053702" cy="2574439"/>
          </a:xfrm>
          <a:prstGeom prst="rect">
            <a:avLst/>
          </a:prstGeom>
          <a:solidFill>
            <a:schemeClr val="accent1">
              <a:lumMod val="40000"/>
              <a:lumOff val="60000"/>
            </a:schemeClr>
          </a:solidFill>
          <a:ln/>
        </p:spPr>
        <p:txBody>
          <a:bodyPr lIns="91440" tIns="45720" rIns="91440" bIns="45720" anchor="t"/>
          <a:lstStyle/>
          <a:p>
            <a:endParaRPr lang="fr-FR"/>
          </a:p>
        </p:txBody>
      </p:sp>
      <p:sp>
        <p:nvSpPr>
          <p:cNvPr id="6" name="Text 3">
            <a:extLst>
              <a:ext uri="{FF2B5EF4-FFF2-40B4-BE49-F238E27FC236}">
                <a16:creationId xmlns:a16="http://schemas.microsoft.com/office/drawing/2014/main" id="{CA7E8887-3AE9-22F6-1CDA-E9F8218F3A28}"/>
              </a:ext>
            </a:extLst>
          </p:cNvPr>
          <p:cNvSpPr/>
          <p:nvPr/>
        </p:nvSpPr>
        <p:spPr>
          <a:xfrm>
            <a:off x="602764" y="1306718"/>
            <a:ext cx="1737360" cy="320040"/>
          </a:xfrm>
          <a:prstGeom prst="rect">
            <a:avLst/>
          </a:prstGeom>
          <a:noFill/>
          <a:ln/>
        </p:spPr>
        <p:txBody>
          <a:bodyPr wrap="square" lIns="0" tIns="0" rIns="0" bIns="0" rtlCol="0" anchor="ctr"/>
          <a:lstStyle/>
          <a:p>
            <a:r>
              <a:rPr lang="en-US" sz="1200" dirty="0">
                <a:ea typeface="Calibri"/>
                <a:cs typeface="Calibri"/>
              </a:rPr>
              <a:t>Code</a:t>
            </a:r>
            <a:r>
              <a:rPr lang="en-US" sz="1200" dirty="0">
                <a:solidFill>
                  <a:srgbClr val="9BC5C7"/>
                </a:solidFill>
                <a:ea typeface="Calibri"/>
                <a:cs typeface="Calibri"/>
              </a:rPr>
              <a:t> </a:t>
            </a:r>
            <a:r>
              <a:rPr lang="en-US" sz="1200" dirty="0">
                <a:ea typeface="Calibri"/>
                <a:cs typeface="Calibri"/>
              </a:rPr>
              <a:t>source - </a:t>
            </a:r>
            <a:r>
              <a:rPr lang="en-US" sz="1200" dirty="0" err="1">
                <a:ea typeface="Calibri"/>
                <a:cs typeface="Calibri"/>
              </a:rPr>
              <a:t>GitHu</a:t>
            </a:r>
            <a:r>
              <a:rPr lang="en-US" sz="1200" dirty="0">
                <a:ea typeface="Calibri"/>
                <a:cs typeface="Calibri"/>
              </a:rPr>
              <a:t>b</a:t>
            </a:r>
            <a:endParaRPr lang="en-US" sz="1200">
              <a:ea typeface="Calibri"/>
              <a:cs typeface="Calibri"/>
            </a:endParaRPr>
          </a:p>
        </p:txBody>
      </p:sp>
      <p:sp>
        <p:nvSpPr>
          <p:cNvPr id="8" name="Text 4">
            <a:extLst>
              <a:ext uri="{FF2B5EF4-FFF2-40B4-BE49-F238E27FC236}">
                <a16:creationId xmlns:a16="http://schemas.microsoft.com/office/drawing/2014/main" id="{07D7AAB1-0465-B2FF-B1EB-59D129FE0F73}"/>
              </a:ext>
            </a:extLst>
          </p:cNvPr>
          <p:cNvSpPr/>
          <p:nvPr/>
        </p:nvSpPr>
        <p:spPr>
          <a:xfrm>
            <a:off x="602764" y="1635162"/>
            <a:ext cx="1695338" cy="633693"/>
          </a:xfrm>
          <a:prstGeom prst="rect">
            <a:avLst/>
          </a:prstGeom>
          <a:noFill/>
          <a:ln/>
        </p:spPr>
        <p:txBody>
          <a:bodyPr wrap="square" lIns="0" tIns="0" rIns="0" bIns="0" rtlCol="0" anchor="ctr"/>
          <a:lstStyle/>
          <a:p>
            <a:pPr marL="0" indent="0">
              <a:buNone/>
            </a:pPr>
            <a:r>
              <a:rPr lang="en-US" sz="2200" b="1">
                <a:latin typeface="Cambria"/>
                <a:ea typeface="Cambria"/>
              </a:rPr>
              <a:t>Dashboard</a:t>
            </a:r>
            <a:endParaRPr lang="en-US">
              <a:latin typeface="Calibri" panose="020F0502020204030204"/>
              <a:ea typeface="Calibri" panose="020F0502020204030204"/>
              <a:cs typeface="Calibri" panose="020F0502020204030204"/>
            </a:endParaRPr>
          </a:p>
          <a:p>
            <a:r>
              <a:rPr lang="en-US" sz="2200" b="1" dirty="0" err="1">
                <a:latin typeface="Cambria"/>
                <a:ea typeface="Cambria"/>
              </a:rPr>
              <a:t>Streamli</a:t>
            </a:r>
            <a:r>
              <a:rPr lang="en-US" sz="2200" b="1" dirty="0">
                <a:latin typeface="Cambria"/>
                <a:ea typeface="Cambria"/>
              </a:rPr>
              <a:t>t</a:t>
            </a:r>
          </a:p>
        </p:txBody>
      </p:sp>
      <p:sp>
        <p:nvSpPr>
          <p:cNvPr id="10" name="Text 5">
            <a:extLst>
              <a:ext uri="{FF2B5EF4-FFF2-40B4-BE49-F238E27FC236}">
                <a16:creationId xmlns:a16="http://schemas.microsoft.com/office/drawing/2014/main" id="{3324B488-8325-4257-FC00-CD045FADE1AE}"/>
              </a:ext>
            </a:extLst>
          </p:cNvPr>
          <p:cNvSpPr/>
          <p:nvPr/>
        </p:nvSpPr>
        <p:spPr>
          <a:xfrm>
            <a:off x="602764" y="2268855"/>
            <a:ext cx="1695338" cy="1441524"/>
          </a:xfrm>
          <a:prstGeom prst="rect">
            <a:avLst/>
          </a:prstGeom>
          <a:noFill/>
          <a:ln/>
        </p:spPr>
        <p:txBody>
          <a:bodyPr wrap="square" lIns="0" tIns="0" rIns="0" bIns="0" rtlCol="0" anchor="ctr"/>
          <a:lstStyle/>
          <a:p>
            <a:pPr marL="171450" indent="-171450">
              <a:buFont typeface="Calibri"/>
              <a:buChar char="-"/>
            </a:pPr>
            <a:r>
              <a:rPr lang="en-US" sz="1100" dirty="0" err="1">
                <a:solidFill>
                  <a:srgbClr val="0F172A"/>
                </a:solidFill>
                <a:latin typeface="Calibri"/>
                <a:ea typeface="Calibri"/>
                <a:cs typeface="Calibri"/>
              </a:rPr>
              <a:t>Visualisations</a:t>
            </a:r>
            <a:r>
              <a:rPr lang="en-US" sz="1100" dirty="0">
                <a:solidFill>
                  <a:srgbClr val="0F172A"/>
                </a:solidFill>
                <a:latin typeface="Calibri"/>
                <a:ea typeface="Calibri"/>
                <a:cs typeface="Calibri"/>
              </a:rPr>
              <a:t> </a:t>
            </a:r>
            <a:r>
              <a:rPr lang="en-US" sz="1100" dirty="0" err="1">
                <a:solidFill>
                  <a:srgbClr val="0F172A"/>
                </a:solidFill>
                <a:latin typeface="Calibri"/>
                <a:ea typeface="Calibri"/>
                <a:cs typeface="Calibri"/>
              </a:rPr>
              <a:t>Plotly</a:t>
            </a:r>
            <a:r>
              <a:rPr lang="en-US" sz="1100" dirty="0">
                <a:solidFill>
                  <a:srgbClr val="0F172A"/>
                </a:solidFill>
                <a:latin typeface="Calibri"/>
                <a:ea typeface="Calibri"/>
                <a:cs typeface="Calibri"/>
              </a:rPr>
              <a:t> interactives</a:t>
            </a:r>
            <a:endParaRPr lang="en-US" sz="1100" dirty="0">
              <a:solidFill>
                <a:srgbClr val="000000"/>
              </a:solidFill>
              <a:latin typeface="Calibri"/>
              <a:ea typeface="Calibri"/>
              <a:cs typeface="Calibri"/>
            </a:endParaRPr>
          </a:p>
          <a:p>
            <a:pPr marL="171450" indent="-171450">
              <a:buFont typeface="Calibri"/>
              <a:buChar char="-"/>
            </a:pPr>
            <a:r>
              <a:rPr lang="en-US" sz="1100" dirty="0" err="1">
                <a:solidFill>
                  <a:srgbClr val="0F172A"/>
                </a:solidFill>
                <a:latin typeface="Calibri"/>
                <a:ea typeface="Calibri"/>
                <a:cs typeface="Calibri"/>
              </a:rPr>
              <a:t>Simulateur</a:t>
            </a:r>
            <a:r>
              <a:rPr lang="en-US" sz="1100" dirty="0">
                <a:solidFill>
                  <a:srgbClr val="0F172A"/>
                </a:solidFill>
                <a:latin typeface="Calibri"/>
                <a:ea typeface="Calibri"/>
                <a:cs typeface="Calibri"/>
              </a:rPr>
              <a:t> de </a:t>
            </a:r>
            <a:r>
              <a:rPr lang="en-US" sz="1100" dirty="0" err="1">
                <a:solidFill>
                  <a:srgbClr val="0F172A"/>
                </a:solidFill>
                <a:latin typeface="Calibri"/>
                <a:ea typeface="Calibri"/>
                <a:cs typeface="Calibri"/>
              </a:rPr>
              <a:t>seuil</a:t>
            </a:r>
            <a:r>
              <a:rPr lang="en-US" sz="1100" dirty="0">
                <a:solidFill>
                  <a:srgbClr val="0F172A"/>
                </a:solidFill>
                <a:latin typeface="Calibri"/>
                <a:ea typeface="Calibri"/>
                <a:cs typeface="Calibri"/>
              </a:rPr>
              <a:t> </a:t>
            </a:r>
            <a:r>
              <a:rPr lang="en-US" sz="1100" dirty="0" err="1">
                <a:solidFill>
                  <a:srgbClr val="0F172A"/>
                </a:solidFill>
                <a:latin typeface="Calibri"/>
                <a:ea typeface="Calibri"/>
                <a:cs typeface="Calibri"/>
              </a:rPr>
              <a:t>paramétrable</a:t>
            </a:r>
            <a:endParaRPr lang="en-US" sz="1100" dirty="0" err="1">
              <a:solidFill>
                <a:srgbClr val="000000"/>
              </a:solidFill>
              <a:latin typeface="Calibri"/>
              <a:ea typeface="Calibri"/>
              <a:cs typeface="Calibri"/>
            </a:endParaRPr>
          </a:p>
          <a:p>
            <a:pPr marL="171450" indent="-171450">
              <a:buFont typeface="Calibri"/>
              <a:buChar char="-"/>
            </a:pPr>
            <a:r>
              <a:rPr lang="en-US" sz="1100" dirty="0" err="1">
                <a:solidFill>
                  <a:srgbClr val="0F172A"/>
                </a:solidFill>
                <a:latin typeface="Calibri"/>
                <a:ea typeface="Calibri"/>
                <a:cs typeface="Calibri"/>
              </a:rPr>
              <a:t>Filtrage</a:t>
            </a:r>
            <a:r>
              <a:rPr lang="en-US" sz="1100" dirty="0">
                <a:solidFill>
                  <a:srgbClr val="0F172A"/>
                </a:solidFill>
                <a:latin typeface="Calibri"/>
                <a:ea typeface="Calibri"/>
                <a:cs typeface="Calibri"/>
              </a:rPr>
              <a:t> par </a:t>
            </a:r>
            <a:r>
              <a:rPr lang="en-US" sz="1100" dirty="0" err="1">
                <a:solidFill>
                  <a:srgbClr val="0F172A"/>
                </a:solidFill>
                <a:latin typeface="Calibri"/>
                <a:ea typeface="Calibri"/>
                <a:cs typeface="Calibri"/>
              </a:rPr>
              <a:t>périmètre</a:t>
            </a:r>
            <a:r>
              <a:rPr lang="en-US" sz="1100" dirty="0">
                <a:solidFill>
                  <a:srgbClr val="0F172A"/>
                </a:solidFill>
                <a:latin typeface="Calibri"/>
                <a:ea typeface="Calibri"/>
                <a:cs typeface="Calibri"/>
              </a:rPr>
              <a:t> (canal de check-in)</a:t>
            </a:r>
            <a:endParaRPr lang="en-US" sz="1100" dirty="0">
              <a:ea typeface="Calibri"/>
              <a:cs typeface="Calibri"/>
            </a:endParaRPr>
          </a:p>
          <a:p>
            <a:pPr marL="0" indent="0">
              <a:buNone/>
            </a:pPr>
            <a:endParaRPr lang="en-US" sz="1000" dirty="0">
              <a:solidFill>
                <a:srgbClr val="C8D3E0"/>
              </a:solidFill>
              <a:ea typeface="Calibri"/>
              <a:cs typeface="Calibri"/>
            </a:endParaRPr>
          </a:p>
        </p:txBody>
      </p:sp>
      <p:sp>
        <p:nvSpPr>
          <p:cNvPr id="12" name="Text 6">
            <a:extLst>
              <a:ext uri="{FF2B5EF4-FFF2-40B4-BE49-F238E27FC236}">
                <a16:creationId xmlns:a16="http://schemas.microsoft.com/office/drawing/2014/main" id="{4EB99750-CA52-76A9-3EC7-3AFB019EC696}"/>
              </a:ext>
            </a:extLst>
          </p:cNvPr>
          <p:cNvSpPr/>
          <p:nvPr/>
        </p:nvSpPr>
        <p:spPr>
          <a:xfrm>
            <a:off x="2514600" y="1828800"/>
            <a:ext cx="274320" cy="1280160"/>
          </a:xfrm>
          <a:prstGeom prst="rect">
            <a:avLst/>
          </a:prstGeom>
          <a:noFill/>
          <a:ln/>
        </p:spPr>
        <p:txBody>
          <a:bodyPr wrap="square" lIns="0" tIns="0" rIns="0" bIns="0" rtlCol="0" anchor="ctr"/>
          <a:lstStyle/>
          <a:p>
            <a:pPr marL="0" indent="0" algn="ctr">
              <a:buNone/>
            </a:pPr>
            <a:r>
              <a:rPr lang="en-US" sz="2800" b="1">
                <a:solidFill>
                  <a:srgbClr val="475569"/>
                </a:solidFill>
                <a:latin typeface="Calibri" pitchFamily="34" charset="0"/>
                <a:ea typeface="Calibri" pitchFamily="34" charset="-122"/>
                <a:cs typeface="Calibri" pitchFamily="34" charset="-120"/>
              </a:rPr>
              <a:t>&gt;</a:t>
            </a:r>
            <a:endParaRPr lang="en-US" sz="2800"/>
          </a:p>
        </p:txBody>
      </p:sp>
      <p:sp>
        <p:nvSpPr>
          <p:cNvPr id="14" name="Shape 7">
            <a:extLst>
              <a:ext uri="{FF2B5EF4-FFF2-40B4-BE49-F238E27FC236}">
                <a16:creationId xmlns:a16="http://schemas.microsoft.com/office/drawing/2014/main" id="{472EF0A4-0324-BD34-A92D-EEA16FD1F3DA}"/>
              </a:ext>
            </a:extLst>
          </p:cNvPr>
          <p:cNvSpPr/>
          <p:nvPr/>
        </p:nvSpPr>
        <p:spPr>
          <a:xfrm>
            <a:off x="2834640" y="1828800"/>
            <a:ext cx="2011680" cy="1280160"/>
          </a:xfrm>
          <a:prstGeom prst="rect">
            <a:avLst/>
          </a:prstGeom>
          <a:solidFill>
            <a:srgbClr val="1C7293"/>
          </a:solidFill>
          <a:ln/>
        </p:spPr>
        <p:txBody>
          <a:bodyPr/>
          <a:lstStyle/>
          <a:p>
            <a:endParaRPr lang="fr-FR"/>
          </a:p>
        </p:txBody>
      </p:sp>
      <p:sp>
        <p:nvSpPr>
          <p:cNvPr id="16" name="Text 8">
            <a:extLst>
              <a:ext uri="{FF2B5EF4-FFF2-40B4-BE49-F238E27FC236}">
                <a16:creationId xmlns:a16="http://schemas.microsoft.com/office/drawing/2014/main" id="{819425D4-F16B-7B5C-FA15-8532C7C8B618}"/>
              </a:ext>
            </a:extLst>
          </p:cNvPr>
          <p:cNvSpPr/>
          <p:nvPr/>
        </p:nvSpPr>
        <p:spPr>
          <a:xfrm>
            <a:off x="2971800" y="1920240"/>
            <a:ext cx="1737360" cy="320040"/>
          </a:xfrm>
          <a:prstGeom prst="rect">
            <a:avLst/>
          </a:prstGeom>
          <a:noFill/>
          <a:ln/>
        </p:spPr>
        <p:txBody>
          <a:bodyPr wrap="square" lIns="0" tIns="0" rIns="0" bIns="0" rtlCol="0" anchor="ctr"/>
          <a:lstStyle/>
          <a:p>
            <a:pPr marL="0" indent="0">
              <a:buNone/>
            </a:pPr>
            <a:r>
              <a:rPr lang="en-US" sz="1200">
                <a:solidFill>
                  <a:srgbClr val="BFE0E6"/>
                </a:solidFill>
                <a:latin typeface="Calibri" pitchFamily="34" charset="0"/>
                <a:ea typeface="Calibri" pitchFamily="34" charset="-122"/>
                <a:cs typeface="Calibri" pitchFamily="34" charset="-120"/>
              </a:rPr>
              <a:t>Conteneurisation</a:t>
            </a:r>
            <a:endParaRPr lang="en-US" sz="1200"/>
          </a:p>
        </p:txBody>
      </p:sp>
      <p:sp>
        <p:nvSpPr>
          <p:cNvPr id="18" name="Text 9">
            <a:extLst>
              <a:ext uri="{FF2B5EF4-FFF2-40B4-BE49-F238E27FC236}">
                <a16:creationId xmlns:a16="http://schemas.microsoft.com/office/drawing/2014/main" id="{6D3E142A-8D37-3259-FFF8-7811792684EA}"/>
              </a:ext>
            </a:extLst>
          </p:cNvPr>
          <p:cNvSpPr/>
          <p:nvPr/>
        </p:nvSpPr>
        <p:spPr>
          <a:xfrm>
            <a:off x="2971800" y="2240280"/>
            <a:ext cx="1737360" cy="457200"/>
          </a:xfrm>
          <a:prstGeom prst="rect">
            <a:avLst/>
          </a:prstGeom>
          <a:noFill/>
          <a:ln/>
        </p:spPr>
        <p:txBody>
          <a:bodyPr wrap="square" lIns="0" tIns="0" rIns="0" bIns="0" rtlCol="0" anchor="ctr"/>
          <a:lstStyle/>
          <a:p>
            <a:pPr marL="0" indent="0">
              <a:buNone/>
            </a:pPr>
            <a:r>
              <a:rPr lang="en-US" sz="2200" b="1">
                <a:solidFill>
                  <a:srgbClr val="FFFFFF"/>
                </a:solidFill>
                <a:latin typeface="Cambria" pitchFamily="34" charset="0"/>
                <a:ea typeface="Cambria" pitchFamily="34" charset="-122"/>
                <a:cs typeface="Cambria" pitchFamily="34" charset="-120"/>
              </a:rPr>
              <a:t>Docker</a:t>
            </a:r>
            <a:endParaRPr lang="en-US" sz="2200"/>
          </a:p>
        </p:txBody>
      </p:sp>
      <p:sp>
        <p:nvSpPr>
          <p:cNvPr id="20" name="Text 10">
            <a:extLst>
              <a:ext uri="{FF2B5EF4-FFF2-40B4-BE49-F238E27FC236}">
                <a16:creationId xmlns:a16="http://schemas.microsoft.com/office/drawing/2014/main" id="{28D1FB75-6EB0-37C9-3B34-67AE1F1DDB60}"/>
              </a:ext>
            </a:extLst>
          </p:cNvPr>
          <p:cNvSpPr/>
          <p:nvPr/>
        </p:nvSpPr>
        <p:spPr>
          <a:xfrm>
            <a:off x="2971800" y="2697480"/>
            <a:ext cx="1737360" cy="365760"/>
          </a:xfrm>
          <a:prstGeom prst="rect">
            <a:avLst/>
          </a:prstGeom>
          <a:noFill/>
          <a:ln/>
        </p:spPr>
        <p:txBody>
          <a:bodyPr wrap="square" lIns="0" tIns="0" rIns="0" bIns="0" rtlCol="0" anchor="ctr"/>
          <a:lstStyle/>
          <a:p>
            <a:endParaRPr lang="en-US" sz="1000" dirty="0">
              <a:solidFill>
                <a:srgbClr val="FFFFFF"/>
              </a:solidFill>
              <a:ea typeface="Calibri"/>
              <a:cs typeface="Calibri"/>
            </a:endParaRPr>
          </a:p>
        </p:txBody>
      </p:sp>
      <p:sp>
        <p:nvSpPr>
          <p:cNvPr id="22" name="Text 11">
            <a:extLst>
              <a:ext uri="{FF2B5EF4-FFF2-40B4-BE49-F238E27FC236}">
                <a16:creationId xmlns:a16="http://schemas.microsoft.com/office/drawing/2014/main" id="{0D65B0B3-95F1-E83C-3A63-D7037F43BBE6}"/>
              </a:ext>
            </a:extLst>
          </p:cNvPr>
          <p:cNvSpPr/>
          <p:nvPr/>
        </p:nvSpPr>
        <p:spPr>
          <a:xfrm>
            <a:off x="4892040" y="1828800"/>
            <a:ext cx="274320" cy="1280160"/>
          </a:xfrm>
          <a:prstGeom prst="rect">
            <a:avLst/>
          </a:prstGeom>
          <a:noFill/>
          <a:ln/>
        </p:spPr>
        <p:txBody>
          <a:bodyPr wrap="square" lIns="0" tIns="0" rIns="0" bIns="0" rtlCol="0" anchor="ctr"/>
          <a:lstStyle/>
          <a:p>
            <a:pPr marL="0" indent="0" algn="ctr">
              <a:buNone/>
            </a:pPr>
            <a:r>
              <a:rPr lang="en-US" sz="2800" b="1">
                <a:solidFill>
                  <a:srgbClr val="475569"/>
                </a:solidFill>
                <a:latin typeface="Calibri" pitchFamily="34" charset="0"/>
                <a:ea typeface="Calibri" pitchFamily="34" charset="-122"/>
                <a:cs typeface="Calibri" pitchFamily="34" charset="-120"/>
              </a:rPr>
              <a:t>&gt;</a:t>
            </a:r>
            <a:endParaRPr lang="en-US" sz="2800"/>
          </a:p>
        </p:txBody>
      </p:sp>
      <p:sp>
        <p:nvSpPr>
          <p:cNvPr id="24" name="Shape 12">
            <a:extLst>
              <a:ext uri="{FF2B5EF4-FFF2-40B4-BE49-F238E27FC236}">
                <a16:creationId xmlns:a16="http://schemas.microsoft.com/office/drawing/2014/main" id="{CD9C5EA7-15E7-7173-166E-058B7E8BE6B4}"/>
              </a:ext>
            </a:extLst>
          </p:cNvPr>
          <p:cNvSpPr/>
          <p:nvPr/>
        </p:nvSpPr>
        <p:spPr>
          <a:xfrm>
            <a:off x="5212080" y="1828800"/>
            <a:ext cx="2011680" cy="1280160"/>
          </a:xfrm>
          <a:prstGeom prst="rect">
            <a:avLst/>
          </a:prstGeom>
          <a:solidFill>
            <a:srgbClr val="065A82"/>
          </a:solidFill>
          <a:ln/>
        </p:spPr>
        <p:txBody>
          <a:bodyPr/>
          <a:lstStyle/>
          <a:p>
            <a:endParaRPr lang="fr-FR"/>
          </a:p>
        </p:txBody>
      </p:sp>
      <p:sp>
        <p:nvSpPr>
          <p:cNvPr id="26" name="Text 13">
            <a:extLst>
              <a:ext uri="{FF2B5EF4-FFF2-40B4-BE49-F238E27FC236}">
                <a16:creationId xmlns:a16="http://schemas.microsoft.com/office/drawing/2014/main" id="{082FA3BC-A0D4-7970-4E3E-AA62BB502D73}"/>
              </a:ext>
            </a:extLst>
          </p:cNvPr>
          <p:cNvSpPr/>
          <p:nvPr/>
        </p:nvSpPr>
        <p:spPr>
          <a:xfrm>
            <a:off x="5349240" y="1920240"/>
            <a:ext cx="1737360" cy="320040"/>
          </a:xfrm>
          <a:prstGeom prst="rect">
            <a:avLst/>
          </a:prstGeom>
          <a:noFill/>
          <a:ln/>
        </p:spPr>
        <p:txBody>
          <a:bodyPr wrap="square" lIns="0" tIns="0" rIns="0" bIns="0" rtlCol="0" anchor="ctr"/>
          <a:lstStyle/>
          <a:p>
            <a:pPr marL="0" indent="0">
              <a:buNone/>
            </a:pPr>
            <a:r>
              <a:rPr lang="en-US" sz="1200">
                <a:solidFill>
                  <a:srgbClr val="9BC5C7"/>
                </a:solidFill>
                <a:latin typeface="Calibri" pitchFamily="34" charset="0"/>
                <a:ea typeface="Calibri" pitchFamily="34" charset="-122"/>
                <a:cs typeface="Calibri" pitchFamily="34" charset="-120"/>
              </a:rPr>
              <a:t>Hébergement</a:t>
            </a:r>
            <a:endParaRPr lang="en-US" sz="1200"/>
          </a:p>
        </p:txBody>
      </p:sp>
      <p:sp>
        <p:nvSpPr>
          <p:cNvPr id="28" name="Text 14">
            <a:extLst>
              <a:ext uri="{FF2B5EF4-FFF2-40B4-BE49-F238E27FC236}">
                <a16:creationId xmlns:a16="http://schemas.microsoft.com/office/drawing/2014/main" id="{A9580D67-FEF8-B3C8-9FFF-C55162B421AF}"/>
              </a:ext>
            </a:extLst>
          </p:cNvPr>
          <p:cNvSpPr/>
          <p:nvPr/>
        </p:nvSpPr>
        <p:spPr>
          <a:xfrm>
            <a:off x="5349240" y="2240280"/>
            <a:ext cx="1737360" cy="457200"/>
          </a:xfrm>
          <a:prstGeom prst="rect">
            <a:avLst/>
          </a:prstGeom>
          <a:noFill/>
          <a:ln/>
        </p:spPr>
        <p:txBody>
          <a:bodyPr wrap="square" lIns="0" tIns="0" rIns="0" bIns="0" rtlCol="0" anchor="ctr"/>
          <a:lstStyle/>
          <a:p>
            <a:r>
              <a:rPr lang="en-US" b="1" dirty="0" err="1">
                <a:solidFill>
                  <a:srgbClr val="FFFFFF"/>
                </a:solidFill>
                <a:latin typeface="Cambria"/>
                <a:ea typeface="Cambria"/>
              </a:rPr>
              <a:t>GCP_Cloud</a:t>
            </a:r>
            <a:r>
              <a:rPr lang="en-US" b="1" dirty="0">
                <a:solidFill>
                  <a:srgbClr val="FFFFFF"/>
                </a:solidFill>
                <a:latin typeface="Cambria"/>
                <a:ea typeface="Cambria"/>
              </a:rPr>
              <a:t> Run</a:t>
            </a:r>
            <a:endParaRPr lang="en-US" dirty="0"/>
          </a:p>
        </p:txBody>
      </p:sp>
      <p:sp>
        <p:nvSpPr>
          <p:cNvPr id="30" name="Text 15">
            <a:extLst>
              <a:ext uri="{FF2B5EF4-FFF2-40B4-BE49-F238E27FC236}">
                <a16:creationId xmlns:a16="http://schemas.microsoft.com/office/drawing/2014/main" id="{17E9DD93-EB09-839C-3AFF-FF3148607991}"/>
              </a:ext>
            </a:extLst>
          </p:cNvPr>
          <p:cNvSpPr/>
          <p:nvPr/>
        </p:nvSpPr>
        <p:spPr>
          <a:xfrm>
            <a:off x="5349240" y="2697480"/>
            <a:ext cx="1737360" cy="365760"/>
          </a:xfrm>
          <a:prstGeom prst="rect">
            <a:avLst/>
          </a:prstGeom>
          <a:noFill/>
          <a:ln/>
        </p:spPr>
        <p:txBody>
          <a:bodyPr wrap="square" lIns="0" tIns="0" rIns="0" bIns="0" rtlCol="0" anchor="ctr"/>
          <a:lstStyle/>
          <a:p>
            <a:pPr marL="0" indent="0">
              <a:buNone/>
            </a:pPr>
            <a:endParaRPr lang="en-US" sz="1000" dirty="0">
              <a:solidFill>
                <a:srgbClr val="9BC5C7"/>
              </a:solidFill>
              <a:ea typeface="Calibri"/>
              <a:cs typeface="Calibri"/>
            </a:endParaRPr>
          </a:p>
        </p:txBody>
      </p:sp>
      <p:sp>
        <p:nvSpPr>
          <p:cNvPr id="32" name="Text 16">
            <a:extLst>
              <a:ext uri="{FF2B5EF4-FFF2-40B4-BE49-F238E27FC236}">
                <a16:creationId xmlns:a16="http://schemas.microsoft.com/office/drawing/2014/main" id="{9F07B637-0CB8-2516-BC50-B810CC63F34D}"/>
              </a:ext>
            </a:extLst>
          </p:cNvPr>
          <p:cNvSpPr/>
          <p:nvPr/>
        </p:nvSpPr>
        <p:spPr>
          <a:xfrm>
            <a:off x="7269480" y="1828800"/>
            <a:ext cx="274320" cy="1280160"/>
          </a:xfrm>
          <a:prstGeom prst="rect">
            <a:avLst/>
          </a:prstGeom>
          <a:noFill/>
          <a:ln/>
        </p:spPr>
        <p:txBody>
          <a:bodyPr wrap="square" lIns="0" tIns="0" rIns="0" bIns="0" rtlCol="0" anchor="ctr"/>
          <a:lstStyle/>
          <a:p>
            <a:pPr marL="0" indent="0" algn="ctr">
              <a:buNone/>
            </a:pPr>
            <a:r>
              <a:rPr lang="en-US" sz="2800" b="1">
                <a:solidFill>
                  <a:srgbClr val="475569"/>
                </a:solidFill>
                <a:latin typeface="Calibri" pitchFamily="34" charset="0"/>
                <a:ea typeface="Calibri" pitchFamily="34" charset="-122"/>
                <a:cs typeface="Calibri" pitchFamily="34" charset="-120"/>
              </a:rPr>
              <a:t>&gt;</a:t>
            </a:r>
            <a:endParaRPr lang="en-US" sz="2800"/>
          </a:p>
        </p:txBody>
      </p:sp>
      <p:sp>
        <p:nvSpPr>
          <p:cNvPr id="34" name="Shape 17">
            <a:extLst>
              <a:ext uri="{FF2B5EF4-FFF2-40B4-BE49-F238E27FC236}">
                <a16:creationId xmlns:a16="http://schemas.microsoft.com/office/drawing/2014/main" id="{CC8F93A0-AA69-AD76-C3A7-EF139236831F}"/>
              </a:ext>
            </a:extLst>
          </p:cNvPr>
          <p:cNvSpPr/>
          <p:nvPr/>
        </p:nvSpPr>
        <p:spPr>
          <a:xfrm>
            <a:off x="7547498" y="1828800"/>
            <a:ext cx="1139302" cy="1280160"/>
          </a:xfrm>
          <a:prstGeom prst="rect">
            <a:avLst/>
          </a:prstGeom>
          <a:solidFill>
            <a:srgbClr val="0070C0"/>
          </a:solidFill>
          <a:ln/>
        </p:spPr>
        <p:txBody>
          <a:bodyPr lIns="91440" tIns="45720" rIns="91440" bIns="45720" anchor="t"/>
          <a:lstStyle/>
          <a:p>
            <a:endParaRPr lang="fr-FR" dirty="0">
              <a:ea typeface="Calibri"/>
              <a:cs typeface="Calibri"/>
            </a:endParaRPr>
          </a:p>
        </p:txBody>
      </p:sp>
      <p:sp>
        <p:nvSpPr>
          <p:cNvPr id="38" name="Text 19">
            <a:extLst>
              <a:ext uri="{FF2B5EF4-FFF2-40B4-BE49-F238E27FC236}">
                <a16:creationId xmlns:a16="http://schemas.microsoft.com/office/drawing/2014/main" id="{A18AA0A9-4671-1E3F-A8DD-839CAB196FE2}"/>
              </a:ext>
            </a:extLst>
          </p:cNvPr>
          <p:cNvSpPr/>
          <p:nvPr/>
        </p:nvSpPr>
        <p:spPr>
          <a:xfrm>
            <a:off x="7664151" y="2080595"/>
            <a:ext cx="914400" cy="700929"/>
          </a:xfrm>
          <a:prstGeom prst="rect">
            <a:avLst/>
          </a:prstGeom>
          <a:noFill/>
          <a:ln/>
        </p:spPr>
        <p:txBody>
          <a:bodyPr wrap="square" lIns="0" tIns="0" rIns="0" bIns="0" rtlCol="0" anchor="ctr"/>
          <a:lstStyle/>
          <a:p>
            <a:r>
              <a:rPr lang="en-US" b="1" dirty="0">
                <a:solidFill>
                  <a:schemeClr val="bg1"/>
                </a:solidFill>
                <a:latin typeface="Cambria"/>
                <a:ea typeface="Cambria"/>
                <a:hlinkClick r:id="rId2">
                  <a:extLst>
                    <a:ext uri="{A12FA001-AC4F-418D-AE19-62706E023703}">
                      <ahyp:hlinkClr xmlns:ahyp="http://schemas.microsoft.com/office/drawing/2018/hyperlinkcolor" val="tx"/>
                    </a:ext>
                  </a:extLst>
                </a:hlinkClick>
              </a:rPr>
              <a:t>Accès Public</a:t>
            </a:r>
            <a:endParaRPr lang="en-US" b="1">
              <a:solidFill>
                <a:schemeClr val="bg1"/>
              </a:solidFill>
              <a:latin typeface="Cambria"/>
              <a:ea typeface="Cambria"/>
              <a:hlinkClick r:id="rId2">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477785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lIns="0" tIns="0" rIns="0" bIns="0" rtlCol="0" anchor="ctr"/>
          <a:lstStyle/>
          <a:p>
            <a:pPr marL="0" indent="0">
              <a:buNone/>
            </a:pPr>
            <a:r>
              <a:rPr lang="en-US" sz="2400" b="1">
                <a:solidFill>
                  <a:srgbClr val="21295C"/>
                </a:solidFill>
                <a:latin typeface="Cambria" pitchFamily="34" charset="0"/>
                <a:ea typeface="Cambria" pitchFamily="34" charset="-122"/>
                <a:cs typeface="Cambria" pitchFamily="34" charset="-120"/>
              </a:rPr>
              <a:t>Modélisation du prix - pipeline scikit-learn</a:t>
            </a:r>
            <a:endParaRPr lang="en-US" sz="2400"/>
          </a:p>
        </p:txBody>
      </p:sp>
      <p:sp>
        <p:nvSpPr>
          <p:cNvPr id="3" name="Text 1"/>
          <p:cNvSpPr/>
          <p:nvPr/>
        </p:nvSpPr>
        <p:spPr>
          <a:xfrm>
            <a:off x="457200" y="1005840"/>
            <a:ext cx="8229600" cy="365760"/>
          </a:xfrm>
          <a:prstGeom prst="rect">
            <a:avLst/>
          </a:prstGeom>
          <a:noFill/>
          <a:ln/>
        </p:spPr>
        <p:txBody>
          <a:bodyPr wrap="square" lIns="0" tIns="0" rIns="0" bIns="0" rtlCol="0" anchor="ctr"/>
          <a:lstStyle/>
          <a:p>
            <a:pPr marL="0" indent="0">
              <a:buNone/>
            </a:pPr>
            <a:r>
              <a:rPr lang="en-US" sz="1300" i="1">
                <a:solidFill>
                  <a:srgbClr val="475569"/>
                </a:solidFill>
                <a:latin typeface="Calibri" pitchFamily="34" charset="0"/>
                <a:ea typeface="Calibri" pitchFamily="34" charset="-122"/>
                <a:cs typeface="Calibri" pitchFamily="34" charset="-120"/>
              </a:rPr>
              <a:t>Le pipeline assure un prétraitement reproductible et déployable.</a:t>
            </a:r>
            <a:endParaRPr lang="en-US" sz="1300"/>
          </a:p>
        </p:txBody>
      </p:sp>
      <p:sp>
        <p:nvSpPr>
          <p:cNvPr id="4" name="Shape 2"/>
          <p:cNvSpPr/>
          <p:nvPr/>
        </p:nvSpPr>
        <p:spPr>
          <a:xfrm>
            <a:off x="457200" y="1691640"/>
            <a:ext cx="1874520" cy="1828800"/>
          </a:xfrm>
          <a:prstGeom prst="rect">
            <a:avLst/>
          </a:prstGeom>
          <a:solidFill>
            <a:srgbClr val="065A82"/>
          </a:solidFill>
          <a:ln/>
        </p:spPr>
        <p:txBody>
          <a:bodyPr/>
          <a:lstStyle/>
          <a:p>
            <a:endParaRPr lang="fr-FR"/>
          </a:p>
        </p:txBody>
      </p:sp>
      <p:sp>
        <p:nvSpPr>
          <p:cNvPr id="5" name="Text 3"/>
          <p:cNvSpPr/>
          <p:nvPr/>
        </p:nvSpPr>
        <p:spPr>
          <a:xfrm>
            <a:off x="594360" y="1783080"/>
            <a:ext cx="1600200" cy="365760"/>
          </a:xfrm>
          <a:prstGeom prst="rect">
            <a:avLst/>
          </a:prstGeom>
          <a:noFill/>
          <a:ln/>
        </p:spPr>
        <p:txBody>
          <a:bodyPr wrap="square" lIns="0" tIns="0" rIns="0" bIns="0" rtlCol="0" anchor="ctr"/>
          <a:lstStyle/>
          <a:p>
            <a:pPr marL="0" indent="0">
              <a:buNone/>
            </a:pPr>
            <a:r>
              <a:rPr lang="en-US" sz="1600" b="1">
                <a:solidFill>
                  <a:srgbClr val="FFFFFF"/>
                </a:solidFill>
                <a:latin typeface="Cambria" pitchFamily="34" charset="0"/>
                <a:ea typeface="Cambria" pitchFamily="34" charset="-122"/>
                <a:cs typeface="Cambria" pitchFamily="34" charset="-120"/>
              </a:rPr>
              <a:t>Nettoyage</a:t>
            </a:r>
            <a:endParaRPr lang="en-US" sz="1600"/>
          </a:p>
        </p:txBody>
      </p:sp>
      <p:sp>
        <p:nvSpPr>
          <p:cNvPr id="6" name="Shape 4"/>
          <p:cNvSpPr/>
          <p:nvPr/>
        </p:nvSpPr>
        <p:spPr>
          <a:xfrm>
            <a:off x="594360" y="2194560"/>
            <a:ext cx="548640" cy="0"/>
          </a:xfrm>
          <a:prstGeom prst="line">
            <a:avLst/>
          </a:prstGeom>
          <a:noFill/>
          <a:ln w="19050">
            <a:solidFill>
              <a:srgbClr val="FFFFFF"/>
            </a:solidFill>
            <a:prstDash val="solid"/>
          </a:ln>
        </p:spPr>
        <p:txBody>
          <a:bodyPr/>
          <a:lstStyle/>
          <a:p>
            <a:endParaRPr lang="fr-FR"/>
          </a:p>
        </p:txBody>
      </p:sp>
      <p:sp>
        <p:nvSpPr>
          <p:cNvPr id="7" name="Text 5"/>
          <p:cNvSpPr/>
          <p:nvPr/>
        </p:nvSpPr>
        <p:spPr>
          <a:xfrm>
            <a:off x="594360" y="2331720"/>
            <a:ext cx="1600200" cy="1097280"/>
          </a:xfrm>
          <a:prstGeom prst="rect">
            <a:avLst/>
          </a:prstGeom>
          <a:noFill/>
          <a:ln/>
        </p:spPr>
        <p:txBody>
          <a:bodyPr wrap="square" lIns="0" tIns="0" rIns="0" bIns="0" rtlCol="0" anchor="ctr"/>
          <a:lstStyle/>
          <a:p>
            <a:pPr marL="0" indent="0">
              <a:buNone/>
            </a:pPr>
            <a:r>
              <a:rPr lang="en-US" sz="1100">
                <a:solidFill>
                  <a:srgbClr val="FFFFFF"/>
                </a:solidFill>
                <a:latin typeface="Calibri" pitchFamily="34" charset="0"/>
                <a:ea typeface="Calibri" pitchFamily="34" charset="-122"/>
                <a:cs typeface="Calibri" pitchFamily="34" charset="-120"/>
              </a:rPr>
              <a:t>Suppression des valeurs aberrantes (kilométrage, puissance, prix)</a:t>
            </a:r>
            <a:endParaRPr lang="en-US" sz="1100"/>
          </a:p>
        </p:txBody>
      </p:sp>
      <p:sp>
        <p:nvSpPr>
          <p:cNvPr id="8" name="Text 6"/>
          <p:cNvSpPr/>
          <p:nvPr/>
        </p:nvSpPr>
        <p:spPr>
          <a:xfrm>
            <a:off x="2331720" y="1691640"/>
            <a:ext cx="274320" cy="1828800"/>
          </a:xfrm>
          <a:prstGeom prst="rect">
            <a:avLst/>
          </a:prstGeom>
          <a:noFill/>
          <a:ln/>
        </p:spPr>
        <p:txBody>
          <a:bodyPr wrap="square" lIns="0" tIns="0" rIns="0" bIns="0" rtlCol="0" anchor="ctr"/>
          <a:lstStyle/>
          <a:p>
            <a:pPr marL="0" indent="0" algn="ctr">
              <a:buNone/>
            </a:pPr>
            <a:r>
              <a:rPr lang="en-US" sz="2400" b="1">
                <a:solidFill>
                  <a:srgbClr val="475569"/>
                </a:solidFill>
                <a:latin typeface="Calibri" pitchFamily="34" charset="0"/>
                <a:ea typeface="Calibri" pitchFamily="34" charset="-122"/>
                <a:cs typeface="Calibri" pitchFamily="34" charset="-120"/>
              </a:rPr>
              <a:t>&gt;</a:t>
            </a:r>
            <a:endParaRPr lang="en-US" sz="2400"/>
          </a:p>
        </p:txBody>
      </p:sp>
      <p:sp>
        <p:nvSpPr>
          <p:cNvPr id="9" name="Shape 7"/>
          <p:cNvSpPr/>
          <p:nvPr/>
        </p:nvSpPr>
        <p:spPr>
          <a:xfrm>
            <a:off x="2606040" y="1691640"/>
            <a:ext cx="1874520" cy="1828800"/>
          </a:xfrm>
          <a:prstGeom prst="rect">
            <a:avLst/>
          </a:prstGeom>
          <a:solidFill>
            <a:srgbClr val="1C7293"/>
          </a:solidFill>
          <a:ln/>
        </p:spPr>
        <p:txBody>
          <a:bodyPr/>
          <a:lstStyle/>
          <a:p>
            <a:endParaRPr lang="fr-FR"/>
          </a:p>
        </p:txBody>
      </p:sp>
      <p:sp>
        <p:nvSpPr>
          <p:cNvPr id="10" name="Text 8"/>
          <p:cNvSpPr/>
          <p:nvPr/>
        </p:nvSpPr>
        <p:spPr>
          <a:xfrm>
            <a:off x="2743200" y="1783080"/>
            <a:ext cx="1600200" cy="365760"/>
          </a:xfrm>
          <a:prstGeom prst="rect">
            <a:avLst/>
          </a:prstGeom>
          <a:noFill/>
          <a:ln/>
        </p:spPr>
        <p:txBody>
          <a:bodyPr wrap="square" lIns="0" tIns="0" rIns="0" bIns="0" rtlCol="0" anchor="ctr"/>
          <a:lstStyle/>
          <a:p>
            <a:pPr marL="0" indent="0">
              <a:buNone/>
            </a:pPr>
            <a:r>
              <a:rPr lang="en-US" sz="1600" b="1">
                <a:solidFill>
                  <a:srgbClr val="FFFFFF"/>
                </a:solidFill>
                <a:latin typeface="Cambria" pitchFamily="34" charset="0"/>
                <a:ea typeface="Cambria" pitchFamily="34" charset="-122"/>
                <a:cs typeface="Cambria" pitchFamily="34" charset="-120"/>
              </a:rPr>
              <a:t>Prétraitement</a:t>
            </a:r>
            <a:endParaRPr lang="en-US" sz="1600"/>
          </a:p>
        </p:txBody>
      </p:sp>
      <p:sp>
        <p:nvSpPr>
          <p:cNvPr id="11" name="Shape 9"/>
          <p:cNvSpPr/>
          <p:nvPr/>
        </p:nvSpPr>
        <p:spPr>
          <a:xfrm>
            <a:off x="2743200" y="2194560"/>
            <a:ext cx="548640" cy="0"/>
          </a:xfrm>
          <a:prstGeom prst="line">
            <a:avLst/>
          </a:prstGeom>
          <a:noFill/>
          <a:ln w="19050">
            <a:solidFill>
              <a:srgbClr val="FFFFFF"/>
            </a:solidFill>
            <a:prstDash val="solid"/>
          </a:ln>
        </p:spPr>
        <p:txBody>
          <a:bodyPr/>
          <a:lstStyle/>
          <a:p>
            <a:endParaRPr lang="fr-FR"/>
          </a:p>
        </p:txBody>
      </p:sp>
      <p:sp>
        <p:nvSpPr>
          <p:cNvPr id="12" name="Text 10"/>
          <p:cNvSpPr/>
          <p:nvPr/>
        </p:nvSpPr>
        <p:spPr>
          <a:xfrm>
            <a:off x="2743200" y="2331720"/>
            <a:ext cx="1600200" cy="1097280"/>
          </a:xfrm>
          <a:prstGeom prst="rect">
            <a:avLst/>
          </a:prstGeom>
          <a:noFill/>
          <a:ln/>
        </p:spPr>
        <p:txBody>
          <a:bodyPr wrap="square" lIns="0" tIns="0" rIns="0" bIns="0" rtlCol="0" anchor="ctr"/>
          <a:lstStyle/>
          <a:p>
            <a:pPr marL="0" indent="0">
              <a:buNone/>
            </a:pPr>
            <a:r>
              <a:rPr lang="en-US" sz="1100">
                <a:solidFill>
                  <a:srgbClr val="FFFFFF"/>
                </a:solidFill>
                <a:latin typeface="Calibri" pitchFamily="34" charset="0"/>
                <a:ea typeface="Calibri" pitchFamily="34" charset="-122"/>
                <a:cs typeface="Calibri" pitchFamily="34" charset="-120"/>
              </a:rPr>
              <a:t>StandardScaler (numérique)</a:t>
            </a:r>
            <a:endParaRPr lang="en-US" sz="1100"/>
          </a:p>
          <a:p>
            <a:pPr marL="0" indent="0">
              <a:buNone/>
            </a:pPr>
            <a:r>
              <a:rPr lang="en-US" sz="1100">
                <a:solidFill>
                  <a:srgbClr val="FFFFFF"/>
                </a:solidFill>
                <a:latin typeface="Calibri" pitchFamily="34" charset="0"/>
                <a:ea typeface="Calibri" pitchFamily="34" charset="-122"/>
                <a:cs typeface="Calibri" pitchFamily="34" charset="-120"/>
              </a:rPr>
              <a:t>OneHotEncoder (catégoriel)</a:t>
            </a:r>
            <a:endParaRPr lang="en-US" sz="1100"/>
          </a:p>
        </p:txBody>
      </p:sp>
      <p:sp>
        <p:nvSpPr>
          <p:cNvPr id="13" name="Text 11"/>
          <p:cNvSpPr/>
          <p:nvPr/>
        </p:nvSpPr>
        <p:spPr>
          <a:xfrm>
            <a:off x="4480560" y="1691640"/>
            <a:ext cx="274320" cy="1828800"/>
          </a:xfrm>
          <a:prstGeom prst="rect">
            <a:avLst/>
          </a:prstGeom>
          <a:noFill/>
          <a:ln/>
        </p:spPr>
        <p:txBody>
          <a:bodyPr wrap="square" lIns="0" tIns="0" rIns="0" bIns="0" rtlCol="0" anchor="ctr"/>
          <a:lstStyle/>
          <a:p>
            <a:pPr marL="0" indent="0" algn="ctr">
              <a:buNone/>
            </a:pPr>
            <a:r>
              <a:rPr lang="en-US" sz="2400" b="1">
                <a:solidFill>
                  <a:srgbClr val="475569"/>
                </a:solidFill>
                <a:latin typeface="Calibri" pitchFamily="34" charset="0"/>
                <a:ea typeface="Calibri" pitchFamily="34" charset="-122"/>
                <a:cs typeface="Calibri" pitchFamily="34" charset="-120"/>
              </a:rPr>
              <a:t>&gt;</a:t>
            </a:r>
            <a:endParaRPr lang="en-US" sz="2400"/>
          </a:p>
        </p:txBody>
      </p:sp>
      <p:sp>
        <p:nvSpPr>
          <p:cNvPr id="14" name="Shape 12"/>
          <p:cNvSpPr/>
          <p:nvPr/>
        </p:nvSpPr>
        <p:spPr>
          <a:xfrm>
            <a:off x="4754880" y="1691640"/>
            <a:ext cx="1874520" cy="1828800"/>
          </a:xfrm>
          <a:prstGeom prst="rect">
            <a:avLst/>
          </a:prstGeom>
          <a:solidFill>
            <a:srgbClr val="21295C"/>
          </a:solidFill>
          <a:ln/>
        </p:spPr>
        <p:txBody>
          <a:bodyPr/>
          <a:lstStyle/>
          <a:p>
            <a:endParaRPr lang="fr-FR"/>
          </a:p>
        </p:txBody>
      </p:sp>
      <p:sp>
        <p:nvSpPr>
          <p:cNvPr id="15" name="Text 13"/>
          <p:cNvSpPr/>
          <p:nvPr/>
        </p:nvSpPr>
        <p:spPr>
          <a:xfrm>
            <a:off x="4892040" y="1783080"/>
            <a:ext cx="1600200" cy="365760"/>
          </a:xfrm>
          <a:prstGeom prst="rect">
            <a:avLst/>
          </a:prstGeom>
          <a:noFill/>
          <a:ln/>
        </p:spPr>
        <p:txBody>
          <a:bodyPr wrap="square" lIns="0" tIns="0" rIns="0" bIns="0" rtlCol="0" anchor="ctr"/>
          <a:lstStyle/>
          <a:p>
            <a:pPr marL="0" indent="0">
              <a:buNone/>
            </a:pPr>
            <a:r>
              <a:rPr lang="en-US" sz="1600" b="1">
                <a:solidFill>
                  <a:srgbClr val="FFFFFF"/>
                </a:solidFill>
                <a:latin typeface="Cambria" pitchFamily="34" charset="0"/>
                <a:ea typeface="Cambria" pitchFamily="34" charset="-122"/>
                <a:cs typeface="Cambria" pitchFamily="34" charset="-120"/>
              </a:rPr>
              <a:t>Modèle</a:t>
            </a:r>
            <a:endParaRPr lang="en-US" sz="1600"/>
          </a:p>
        </p:txBody>
      </p:sp>
      <p:sp>
        <p:nvSpPr>
          <p:cNvPr id="16" name="Shape 14"/>
          <p:cNvSpPr/>
          <p:nvPr/>
        </p:nvSpPr>
        <p:spPr>
          <a:xfrm>
            <a:off x="4892040" y="2194560"/>
            <a:ext cx="548640" cy="0"/>
          </a:xfrm>
          <a:prstGeom prst="line">
            <a:avLst/>
          </a:prstGeom>
          <a:noFill/>
          <a:ln w="19050">
            <a:solidFill>
              <a:srgbClr val="FFFFFF"/>
            </a:solidFill>
            <a:prstDash val="solid"/>
          </a:ln>
        </p:spPr>
        <p:txBody>
          <a:bodyPr/>
          <a:lstStyle/>
          <a:p>
            <a:endParaRPr lang="fr-FR"/>
          </a:p>
        </p:txBody>
      </p:sp>
      <p:sp>
        <p:nvSpPr>
          <p:cNvPr id="17" name="Text 15"/>
          <p:cNvSpPr/>
          <p:nvPr/>
        </p:nvSpPr>
        <p:spPr>
          <a:xfrm>
            <a:off x="4892040" y="2331720"/>
            <a:ext cx="1600200" cy="1097280"/>
          </a:xfrm>
          <a:prstGeom prst="rect">
            <a:avLst/>
          </a:prstGeom>
          <a:noFill/>
          <a:ln/>
        </p:spPr>
        <p:txBody>
          <a:bodyPr wrap="square" lIns="0" tIns="0" rIns="0" bIns="0" rtlCol="0" anchor="ctr"/>
          <a:lstStyle/>
          <a:p>
            <a:r>
              <a:rPr lang="en-US" sz="1100" dirty="0" err="1">
                <a:solidFill>
                  <a:srgbClr val="FFFFFF"/>
                </a:solidFill>
                <a:latin typeface="Calibri"/>
                <a:ea typeface="Calibri"/>
                <a:cs typeface="Calibri"/>
              </a:rPr>
              <a:t>Comparaison</a:t>
            </a:r>
            <a:r>
              <a:rPr lang="en-US" sz="1100" dirty="0">
                <a:solidFill>
                  <a:srgbClr val="FFFFFF"/>
                </a:solidFill>
                <a:latin typeface="Calibri"/>
                <a:ea typeface="Calibri"/>
                <a:cs typeface="Calibri"/>
              </a:rPr>
              <a:t> de 5 </a:t>
            </a:r>
            <a:r>
              <a:rPr lang="en-US" sz="1100" dirty="0" err="1">
                <a:solidFill>
                  <a:srgbClr val="FFFFFF"/>
                </a:solidFill>
                <a:latin typeface="Calibri"/>
                <a:ea typeface="Calibri"/>
                <a:cs typeface="Calibri"/>
              </a:rPr>
              <a:t>algorithmes</a:t>
            </a:r>
            <a:endParaRPr lang="en-US" sz="1100" dirty="0" err="1">
              <a:latin typeface="Calibri"/>
              <a:ea typeface="Calibri"/>
              <a:cs typeface="Calibri"/>
            </a:endParaRPr>
          </a:p>
          <a:p>
            <a:pPr marL="0" indent="0">
              <a:buNone/>
            </a:pPr>
            <a:r>
              <a:rPr lang="en-US" sz="1100" dirty="0" err="1">
                <a:solidFill>
                  <a:srgbClr val="FFFFFF"/>
                </a:solidFill>
                <a:latin typeface="Calibri"/>
                <a:ea typeface="Calibri"/>
                <a:cs typeface="Calibri"/>
              </a:rPr>
              <a:t>XGBoost</a:t>
            </a:r>
            <a:r>
              <a:rPr lang="en-US" sz="1100" dirty="0">
                <a:solidFill>
                  <a:srgbClr val="FFFFFF"/>
                </a:solidFill>
                <a:latin typeface="Calibri"/>
                <a:ea typeface="Calibri"/>
                <a:cs typeface="Calibri"/>
              </a:rPr>
              <a:t> </a:t>
            </a:r>
            <a:r>
              <a:rPr lang="en-US" sz="1100" dirty="0" err="1">
                <a:solidFill>
                  <a:srgbClr val="FFFFFF"/>
                </a:solidFill>
                <a:latin typeface="Calibri"/>
                <a:ea typeface="Calibri"/>
                <a:cs typeface="Calibri"/>
              </a:rPr>
              <a:t>retenu</a:t>
            </a:r>
            <a:endParaRPr lang="en-US" sz="1100" dirty="0" err="1">
              <a:latin typeface="Calibri"/>
              <a:ea typeface="Calibri"/>
              <a:cs typeface="Calibri"/>
            </a:endParaRPr>
          </a:p>
        </p:txBody>
      </p:sp>
      <p:sp>
        <p:nvSpPr>
          <p:cNvPr id="18" name="Text 16"/>
          <p:cNvSpPr/>
          <p:nvPr/>
        </p:nvSpPr>
        <p:spPr>
          <a:xfrm>
            <a:off x="6629400" y="1691640"/>
            <a:ext cx="274320" cy="1828800"/>
          </a:xfrm>
          <a:prstGeom prst="rect">
            <a:avLst/>
          </a:prstGeom>
          <a:noFill/>
          <a:ln/>
        </p:spPr>
        <p:txBody>
          <a:bodyPr wrap="square" lIns="0" tIns="0" rIns="0" bIns="0" rtlCol="0" anchor="ctr"/>
          <a:lstStyle/>
          <a:p>
            <a:pPr marL="0" indent="0" algn="ctr">
              <a:buNone/>
            </a:pPr>
            <a:r>
              <a:rPr lang="en-US" sz="2400" b="1">
                <a:solidFill>
                  <a:srgbClr val="475569"/>
                </a:solidFill>
                <a:latin typeface="Calibri" pitchFamily="34" charset="0"/>
                <a:ea typeface="Calibri" pitchFamily="34" charset="-122"/>
                <a:cs typeface="Calibri" pitchFamily="34" charset="-120"/>
              </a:rPr>
              <a:t>&gt;</a:t>
            </a:r>
            <a:endParaRPr lang="en-US" sz="2400"/>
          </a:p>
        </p:txBody>
      </p:sp>
      <p:sp>
        <p:nvSpPr>
          <p:cNvPr id="19" name="Shape 17"/>
          <p:cNvSpPr/>
          <p:nvPr/>
        </p:nvSpPr>
        <p:spPr>
          <a:xfrm>
            <a:off x="6903720" y="1691640"/>
            <a:ext cx="1874520" cy="1828800"/>
          </a:xfrm>
          <a:prstGeom prst="rect">
            <a:avLst/>
          </a:prstGeom>
          <a:solidFill>
            <a:srgbClr val="065A82"/>
          </a:solidFill>
          <a:ln/>
        </p:spPr>
        <p:txBody>
          <a:bodyPr/>
          <a:lstStyle/>
          <a:p>
            <a:endParaRPr lang="fr-FR"/>
          </a:p>
        </p:txBody>
      </p:sp>
      <p:sp>
        <p:nvSpPr>
          <p:cNvPr id="20" name="Text 18"/>
          <p:cNvSpPr/>
          <p:nvPr/>
        </p:nvSpPr>
        <p:spPr>
          <a:xfrm>
            <a:off x="7040880" y="1783080"/>
            <a:ext cx="1600200" cy="365760"/>
          </a:xfrm>
          <a:prstGeom prst="rect">
            <a:avLst/>
          </a:prstGeom>
          <a:noFill/>
          <a:ln/>
        </p:spPr>
        <p:txBody>
          <a:bodyPr wrap="square" lIns="0" tIns="0" rIns="0" bIns="0" rtlCol="0" anchor="ctr"/>
          <a:lstStyle/>
          <a:p>
            <a:pPr marL="0" indent="0">
              <a:buNone/>
            </a:pPr>
            <a:r>
              <a:rPr lang="en-US" sz="1600" b="1">
                <a:solidFill>
                  <a:srgbClr val="FFFFFF"/>
                </a:solidFill>
                <a:latin typeface="Cambria" pitchFamily="34" charset="0"/>
                <a:ea typeface="Cambria" pitchFamily="34" charset="-122"/>
                <a:cs typeface="Cambria" pitchFamily="34" charset="-120"/>
              </a:rPr>
              <a:t>Évaluation</a:t>
            </a:r>
            <a:endParaRPr lang="en-US" sz="1600"/>
          </a:p>
        </p:txBody>
      </p:sp>
      <p:sp>
        <p:nvSpPr>
          <p:cNvPr id="21" name="Shape 19"/>
          <p:cNvSpPr/>
          <p:nvPr/>
        </p:nvSpPr>
        <p:spPr>
          <a:xfrm>
            <a:off x="7040880" y="2194560"/>
            <a:ext cx="548640" cy="0"/>
          </a:xfrm>
          <a:prstGeom prst="line">
            <a:avLst/>
          </a:prstGeom>
          <a:noFill/>
          <a:ln w="19050">
            <a:solidFill>
              <a:srgbClr val="FFFFFF"/>
            </a:solidFill>
            <a:prstDash val="solid"/>
          </a:ln>
        </p:spPr>
        <p:txBody>
          <a:bodyPr/>
          <a:lstStyle/>
          <a:p>
            <a:endParaRPr lang="fr-FR"/>
          </a:p>
        </p:txBody>
      </p:sp>
      <p:sp>
        <p:nvSpPr>
          <p:cNvPr id="22" name="Text 20"/>
          <p:cNvSpPr/>
          <p:nvPr/>
        </p:nvSpPr>
        <p:spPr>
          <a:xfrm>
            <a:off x="7040880" y="2331720"/>
            <a:ext cx="1600200" cy="1097280"/>
          </a:xfrm>
          <a:prstGeom prst="rect">
            <a:avLst/>
          </a:prstGeom>
          <a:noFill/>
          <a:ln/>
        </p:spPr>
        <p:txBody>
          <a:bodyPr wrap="square" lIns="0" tIns="0" rIns="0" bIns="0" rtlCol="0" anchor="ctr"/>
          <a:lstStyle/>
          <a:p>
            <a:pPr marL="0" indent="0">
              <a:buNone/>
            </a:pPr>
            <a:r>
              <a:rPr lang="en-US" sz="1100">
                <a:solidFill>
                  <a:srgbClr val="FFFFFF"/>
                </a:solidFill>
                <a:latin typeface="Calibri" pitchFamily="34" charset="0"/>
                <a:ea typeface="Calibri" pitchFamily="34" charset="-122"/>
                <a:cs typeface="Calibri" pitchFamily="34" charset="-120"/>
              </a:rPr>
              <a:t>Train / Test 80/20</a:t>
            </a:r>
            <a:endParaRPr lang="en-US" sz="1100"/>
          </a:p>
          <a:p>
            <a:pPr marL="0" indent="0">
              <a:buNone/>
            </a:pPr>
            <a:r>
              <a:rPr lang="en-US" sz="1100">
                <a:solidFill>
                  <a:srgbClr val="FFFFFF"/>
                </a:solidFill>
                <a:latin typeface="Calibri" pitchFamily="34" charset="0"/>
                <a:ea typeface="Calibri" pitchFamily="34" charset="-122"/>
                <a:cs typeface="Calibri" pitchFamily="34" charset="-120"/>
              </a:rPr>
              <a:t>MAE, RMSE, R²</a:t>
            </a:r>
            <a:endParaRPr lang="en-US" sz="1100"/>
          </a:p>
        </p:txBody>
      </p:sp>
      <p:sp>
        <p:nvSpPr>
          <p:cNvPr id="23" name="Shape 21"/>
          <p:cNvSpPr/>
          <p:nvPr/>
        </p:nvSpPr>
        <p:spPr>
          <a:xfrm>
            <a:off x="457200" y="3840480"/>
            <a:ext cx="8229600" cy="1005840"/>
          </a:xfrm>
          <a:prstGeom prst="rect">
            <a:avLst/>
          </a:prstGeom>
          <a:solidFill>
            <a:srgbClr val="E8F1F5"/>
          </a:solidFill>
          <a:ln/>
        </p:spPr>
        <p:txBody>
          <a:bodyPr/>
          <a:lstStyle/>
          <a:p>
            <a:endParaRPr lang="fr-FR"/>
          </a:p>
        </p:txBody>
      </p:sp>
      <p:sp>
        <p:nvSpPr>
          <p:cNvPr id="24" name="Text 22"/>
          <p:cNvSpPr/>
          <p:nvPr/>
        </p:nvSpPr>
        <p:spPr>
          <a:xfrm>
            <a:off x="640080" y="3931920"/>
            <a:ext cx="7863840" cy="320040"/>
          </a:xfrm>
          <a:prstGeom prst="rect">
            <a:avLst/>
          </a:prstGeom>
          <a:noFill/>
          <a:ln/>
        </p:spPr>
        <p:txBody>
          <a:bodyPr wrap="square" lIns="0" tIns="0" rIns="0" bIns="0" rtlCol="0" anchor="ctr"/>
          <a:lstStyle/>
          <a:p>
            <a:r>
              <a:rPr lang="en-US" sz="1400" b="1" dirty="0" err="1">
                <a:solidFill>
                  <a:srgbClr val="21295C"/>
                </a:solidFill>
                <a:latin typeface="Cambria"/>
                <a:ea typeface="Cambria"/>
                <a:cs typeface="Cambria" pitchFamily="34" charset="-120"/>
              </a:rPr>
              <a:t>Suivi</a:t>
            </a:r>
            <a:r>
              <a:rPr lang="en-US" sz="1400" b="1" dirty="0">
                <a:solidFill>
                  <a:srgbClr val="21295C"/>
                </a:solidFill>
                <a:latin typeface="Cambria"/>
                <a:ea typeface="Cambria"/>
                <a:cs typeface="Cambria" pitchFamily="34" charset="-120"/>
              </a:rPr>
              <a:t> des </a:t>
            </a:r>
            <a:r>
              <a:rPr lang="en-US" sz="1400" b="1" dirty="0" err="1">
                <a:solidFill>
                  <a:srgbClr val="21295C"/>
                </a:solidFill>
                <a:latin typeface="Cambria"/>
                <a:ea typeface="Cambria"/>
                <a:cs typeface="Cambria" pitchFamily="34" charset="-120"/>
              </a:rPr>
              <a:t>expérimentations</a:t>
            </a:r>
            <a:r>
              <a:rPr lang="en-US" sz="1400" b="1" dirty="0">
                <a:solidFill>
                  <a:srgbClr val="21295C"/>
                </a:solidFill>
                <a:latin typeface="Cambria"/>
                <a:ea typeface="Cambria"/>
                <a:cs typeface="Cambria" pitchFamily="34" charset="-120"/>
              </a:rPr>
              <a:t> - </a:t>
            </a:r>
            <a:r>
              <a:rPr lang="en-US" sz="1400" b="1" dirty="0" err="1">
                <a:solidFill>
                  <a:srgbClr val="21295C"/>
                </a:solidFill>
                <a:latin typeface="Cambria"/>
                <a:ea typeface="Cambria"/>
                <a:cs typeface="Cambria" pitchFamily="34" charset="-120"/>
              </a:rPr>
              <a:t>MLflow</a:t>
            </a:r>
            <a:r>
              <a:rPr lang="en-US" sz="1400" b="1" dirty="0">
                <a:solidFill>
                  <a:srgbClr val="21295C"/>
                </a:solidFill>
                <a:latin typeface="Cambria"/>
                <a:ea typeface="Cambria"/>
                <a:cs typeface="Cambria" pitchFamily="34" charset="-120"/>
              </a:rPr>
              <a:t> Tracking server sur Hugging Face</a:t>
            </a:r>
            <a:endParaRPr lang="en-US" sz="1400" dirty="0"/>
          </a:p>
        </p:txBody>
      </p:sp>
      <p:sp>
        <p:nvSpPr>
          <p:cNvPr id="25" name="Text 23"/>
          <p:cNvSpPr/>
          <p:nvPr/>
        </p:nvSpPr>
        <p:spPr>
          <a:xfrm>
            <a:off x="640080" y="4251960"/>
            <a:ext cx="7863840" cy="502920"/>
          </a:xfrm>
          <a:prstGeom prst="rect">
            <a:avLst/>
          </a:prstGeom>
          <a:noFill/>
          <a:ln/>
        </p:spPr>
        <p:txBody>
          <a:bodyPr wrap="square" lIns="0" tIns="0" rIns="0" bIns="0" rtlCol="0" anchor="ctr"/>
          <a:lstStyle/>
          <a:p>
            <a:pPr marL="0" indent="0">
              <a:buNone/>
            </a:pPr>
            <a:r>
              <a:rPr lang="en-US" sz="1200" dirty="0" err="1">
                <a:solidFill>
                  <a:srgbClr val="0F172A"/>
                </a:solidFill>
                <a:latin typeface="Calibri"/>
                <a:ea typeface="Calibri"/>
                <a:cs typeface="Calibri"/>
              </a:rPr>
              <a:t>Chaque</a:t>
            </a:r>
            <a:r>
              <a:rPr lang="en-US" sz="1200" dirty="0">
                <a:solidFill>
                  <a:srgbClr val="0F172A"/>
                </a:solidFill>
                <a:latin typeface="Calibri"/>
                <a:ea typeface="Calibri"/>
                <a:cs typeface="Calibri"/>
              </a:rPr>
              <a:t> </a:t>
            </a:r>
            <a:r>
              <a:rPr lang="en-US" sz="1200" dirty="0" err="1">
                <a:solidFill>
                  <a:srgbClr val="0F172A"/>
                </a:solidFill>
                <a:latin typeface="Calibri"/>
                <a:ea typeface="Calibri"/>
                <a:cs typeface="Calibri"/>
              </a:rPr>
              <a:t>exécution</a:t>
            </a:r>
            <a:r>
              <a:rPr lang="en-US" sz="1200" dirty="0">
                <a:solidFill>
                  <a:srgbClr val="0F172A"/>
                </a:solidFill>
                <a:latin typeface="Calibri"/>
                <a:ea typeface="Calibri"/>
                <a:cs typeface="Calibri"/>
              </a:rPr>
              <a:t> est </a:t>
            </a:r>
            <a:r>
              <a:rPr lang="en-US" sz="1200" dirty="0" err="1">
                <a:solidFill>
                  <a:srgbClr val="0F172A"/>
                </a:solidFill>
                <a:latin typeface="Calibri"/>
                <a:ea typeface="Calibri"/>
                <a:cs typeface="Calibri"/>
              </a:rPr>
              <a:t>tracée</a:t>
            </a:r>
            <a:r>
              <a:rPr lang="en-US" sz="1200" dirty="0">
                <a:solidFill>
                  <a:srgbClr val="0F172A"/>
                </a:solidFill>
                <a:latin typeface="Calibri"/>
                <a:ea typeface="Calibri"/>
                <a:cs typeface="Calibri"/>
              </a:rPr>
              <a:t> : </a:t>
            </a:r>
            <a:r>
              <a:rPr lang="en-US" sz="1200" dirty="0" err="1">
                <a:solidFill>
                  <a:srgbClr val="0F172A"/>
                </a:solidFill>
                <a:latin typeface="Calibri"/>
                <a:ea typeface="Calibri"/>
                <a:cs typeface="Calibri"/>
              </a:rPr>
              <a:t>hyperparamètres</a:t>
            </a:r>
            <a:r>
              <a:rPr lang="en-US" sz="1200" dirty="0">
                <a:solidFill>
                  <a:srgbClr val="0F172A"/>
                </a:solidFill>
                <a:latin typeface="Calibri"/>
                <a:ea typeface="Calibri"/>
                <a:cs typeface="Calibri"/>
              </a:rPr>
              <a:t>, </a:t>
            </a:r>
            <a:r>
              <a:rPr lang="en-US" sz="1200" dirty="0" err="1">
                <a:solidFill>
                  <a:srgbClr val="0F172A"/>
                </a:solidFill>
                <a:latin typeface="Calibri"/>
                <a:ea typeface="Calibri"/>
                <a:cs typeface="Calibri"/>
              </a:rPr>
              <a:t>métriques</a:t>
            </a:r>
            <a:r>
              <a:rPr lang="en-US" sz="1200" dirty="0">
                <a:solidFill>
                  <a:srgbClr val="0F172A"/>
                </a:solidFill>
                <a:latin typeface="Calibri"/>
                <a:ea typeface="Calibri"/>
                <a:cs typeface="Calibri"/>
              </a:rPr>
              <a:t> (MAE, RMSE, R²). La </a:t>
            </a:r>
            <a:r>
              <a:rPr lang="en-US" sz="1200" dirty="0" err="1">
                <a:solidFill>
                  <a:srgbClr val="0F172A"/>
                </a:solidFill>
                <a:latin typeface="Calibri"/>
                <a:ea typeface="Calibri"/>
                <a:cs typeface="Calibri"/>
              </a:rPr>
              <a:t>comparaison</a:t>
            </a:r>
            <a:r>
              <a:rPr lang="en-US" sz="1200" dirty="0">
                <a:solidFill>
                  <a:srgbClr val="0F172A"/>
                </a:solidFill>
                <a:latin typeface="Calibri"/>
                <a:ea typeface="Calibri"/>
                <a:cs typeface="Calibri"/>
              </a:rPr>
              <a:t> entre les </a:t>
            </a:r>
            <a:r>
              <a:rPr lang="en-US" sz="1200" dirty="0" err="1">
                <a:solidFill>
                  <a:srgbClr val="0F172A"/>
                </a:solidFill>
                <a:latin typeface="Calibri"/>
                <a:ea typeface="Calibri"/>
                <a:cs typeface="Calibri"/>
              </a:rPr>
              <a:t>algorithmes</a:t>
            </a:r>
            <a:r>
              <a:rPr lang="en-US" sz="1200" dirty="0">
                <a:solidFill>
                  <a:srgbClr val="0F172A"/>
                </a:solidFill>
                <a:latin typeface="Calibri"/>
                <a:ea typeface="Calibri"/>
                <a:cs typeface="Calibri"/>
              </a:rPr>
              <a:t> </a:t>
            </a:r>
            <a:r>
              <a:rPr lang="en-US" sz="1200" dirty="0" err="1">
                <a:solidFill>
                  <a:srgbClr val="0F172A"/>
                </a:solidFill>
                <a:latin typeface="Calibri"/>
                <a:ea typeface="Calibri"/>
                <a:cs typeface="Calibri"/>
              </a:rPr>
              <a:t>devient</a:t>
            </a:r>
            <a:r>
              <a:rPr lang="en-US" sz="1200" dirty="0">
                <a:solidFill>
                  <a:srgbClr val="0F172A"/>
                </a:solidFill>
                <a:latin typeface="Calibri"/>
                <a:ea typeface="Calibri"/>
                <a:cs typeface="Calibri"/>
              </a:rPr>
              <a:t> reproductible et auditable.</a:t>
            </a:r>
            <a:endParaRPr lang="en-US" sz="1200" dirty="0">
              <a:latin typeface="Calibri"/>
              <a:ea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lIns="0" tIns="0" rIns="0" bIns="0" rtlCol="0" anchor="ctr"/>
          <a:lstStyle/>
          <a:p>
            <a:pPr marL="0" indent="0">
              <a:buNone/>
            </a:pPr>
            <a:r>
              <a:rPr lang="en-US" sz="2400" b="1">
                <a:solidFill>
                  <a:srgbClr val="21295C"/>
                </a:solidFill>
                <a:latin typeface="Cambria" pitchFamily="34" charset="0"/>
                <a:ea typeface="Cambria" pitchFamily="34" charset="-122"/>
                <a:cs typeface="Cambria" pitchFamily="34" charset="-120"/>
              </a:rPr>
              <a:t>Comparaison des modèles</a:t>
            </a:r>
            <a:endParaRPr lang="en-US" sz="2400"/>
          </a:p>
        </p:txBody>
      </p:sp>
      <p:sp>
        <p:nvSpPr>
          <p:cNvPr id="3" name="Text 1"/>
          <p:cNvSpPr/>
          <p:nvPr/>
        </p:nvSpPr>
        <p:spPr>
          <a:xfrm>
            <a:off x="457200" y="1005840"/>
            <a:ext cx="8229600" cy="365760"/>
          </a:xfrm>
          <a:prstGeom prst="rect">
            <a:avLst/>
          </a:prstGeom>
          <a:noFill/>
          <a:ln/>
        </p:spPr>
        <p:txBody>
          <a:bodyPr wrap="square" lIns="0" tIns="0" rIns="0" bIns="0" rtlCol="0" anchor="ctr"/>
          <a:lstStyle/>
          <a:p>
            <a:r>
              <a:rPr lang="en-US" sz="1300" i="1" dirty="0">
                <a:solidFill>
                  <a:srgbClr val="475569"/>
                </a:solidFill>
                <a:latin typeface="Calibri"/>
                <a:ea typeface="Calibri"/>
                <a:cs typeface="Calibri"/>
              </a:rPr>
              <a:t>Cing </a:t>
            </a:r>
            <a:r>
              <a:rPr lang="en-US" sz="1300" i="1" dirty="0" err="1">
                <a:solidFill>
                  <a:srgbClr val="475569"/>
                </a:solidFill>
                <a:latin typeface="Calibri"/>
                <a:ea typeface="Calibri"/>
                <a:cs typeface="Calibri"/>
              </a:rPr>
              <a:t>algorithmes</a:t>
            </a:r>
            <a:r>
              <a:rPr lang="en-US" sz="1300" i="1" dirty="0">
                <a:solidFill>
                  <a:srgbClr val="475569"/>
                </a:solidFill>
                <a:latin typeface="Calibri"/>
                <a:ea typeface="Calibri"/>
                <a:cs typeface="Calibri"/>
              </a:rPr>
              <a:t> </a:t>
            </a:r>
            <a:r>
              <a:rPr lang="en-US" sz="1300" i="1" dirty="0" err="1">
                <a:solidFill>
                  <a:srgbClr val="475569"/>
                </a:solidFill>
                <a:latin typeface="Calibri"/>
                <a:ea typeface="Calibri"/>
                <a:cs typeface="Calibri"/>
              </a:rPr>
              <a:t>évalués</a:t>
            </a:r>
            <a:r>
              <a:rPr lang="en-US" sz="1300" i="1" dirty="0">
                <a:solidFill>
                  <a:srgbClr val="475569"/>
                </a:solidFill>
                <a:latin typeface="Calibri"/>
                <a:ea typeface="Calibri"/>
                <a:cs typeface="Calibri"/>
              </a:rPr>
              <a:t> sur le </a:t>
            </a:r>
            <a:r>
              <a:rPr lang="en-US" sz="1300" i="1" dirty="0" err="1">
                <a:solidFill>
                  <a:srgbClr val="475569"/>
                </a:solidFill>
                <a:latin typeface="Calibri"/>
                <a:ea typeface="Calibri"/>
                <a:cs typeface="Calibri"/>
              </a:rPr>
              <a:t>même</a:t>
            </a:r>
            <a:r>
              <a:rPr lang="en-US" sz="1300" i="1" dirty="0">
                <a:solidFill>
                  <a:srgbClr val="475569"/>
                </a:solidFill>
                <a:latin typeface="Calibri"/>
                <a:ea typeface="Calibri"/>
                <a:cs typeface="Calibri"/>
              </a:rPr>
              <a:t> jeu de test. </a:t>
            </a:r>
            <a:r>
              <a:rPr lang="en-US" sz="1300" i="1" dirty="0" err="1">
                <a:solidFill>
                  <a:srgbClr val="475569"/>
                </a:solidFill>
                <a:latin typeface="Calibri"/>
                <a:ea typeface="Calibri"/>
                <a:cs typeface="Calibri"/>
              </a:rPr>
              <a:t>Métrique</a:t>
            </a:r>
            <a:r>
              <a:rPr lang="en-US" sz="1300" i="1" dirty="0">
                <a:solidFill>
                  <a:srgbClr val="475569"/>
                </a:solidFill>
                <a:latin typeface="Calibri"/>
                <a:ea typeface="Calibri"/>
                <a:cs typeface="Calibri"/>
              </a:rPr>
              <a:t> </a:t>
            </a:r>
            <a:r>
              <a:rPr lang="en-US" sz="1300" i="1" dirty="0" err="1">
                <a:solidFill>
                  <a:srgbClr val="475569"/>
                </a:solidFill>
                <a:latin typeface="Calibri"/>
                <a:ea typeface="Calibri"/>
                <a:cs typeface="Calibri"/>
              </a:rPr>
              <a:t>principale</a:t>
            </a:r>
            <a:r>
              <a:rPr lang="en-US" sz="1300" i="1" dirty="0">
                <a:solidFill>
                  <a:srgbClr val="475569"/>
                </a:solidFill>
                <a:latin typeface="Calibri"/>
                <a:ea typeface="Calibri"/>
                <a:cs typeface="Calibri"/>
              </a:rPr>
              <a:t> : MAE (</a:t>
            </a:r>
            <a:r>
              <a:rPr lang="en-US" sz="1300" i="1" dirty="0" err="1">
                <a:solidFill>
                  <a:srgbClr val="475569"/>
                </a:solidFill>
                <a:latin typeface="Calibri"/>
                <a:ea typeface="Calibri"/>
                <a:cs typeface="Calibri"/>
              </a:rPr>
              <a:t>erreur</a:t>
            </a:r>
            <a:r>
              <a:rPr lang="en-US" sz="1300" i="1" dirty="0">
                <a:solidFill>
                  <a:srgbClr val="475569"/>
                </a:solidFill>
                <a:latin typeface="Calibri"/>
                <a:ea typeface="Calibri"/>
                <a:cs typeface="Calibri"/>
              </a:rPr>
              <a:t> </a:t>
            </a:r>
            <a:r>
              <a:rPr lang="en-US" sz="1300" i="1" dirty="0" err="1">
                <a:solidFill>
                  <a:srgbClr val="475569"/>
                </a:solidFill>
                <a:latin typeface="Calibri"/>
                <a:ea typeface="Calibri"/>
                <a:cs typeface="Calibri"/>
              </a:rPr>
              <a:t>absolue</a:t>
            </a:r>
            <a:r>
              <a:rPr lang="en-US" sz="1300" i="1" dirty="0">
                <a:solidFill>
                  <a:srgbClr val="475569"/>
                </a:solidFill>
                <a:latin typeface="Calibri"/>
                <a:ea typeface="Calibri"/>
                <a:cs typeface="Calibri"/>
              </a:rPr>
              <a:t> </a:t>
            </a:r>
            <a:r>
              <a:rPr lang="en-US" sz="1300" i="1" dirty="0" err="1">
                <a:solidFill>
                  <a:srgbClr val="475569"/>
                </a:solidFill>
                <a:latin typeface="Calibri"/>
                <a:ea typeface="Calibri"/>
                <a:cs typeface="Calibri"/>
              </a:rPr>
              <a:t>moyenne</a:t>
            </a:r>
            <a:r>
              <a:rPr lang="en-US" sz="1300" i="1" dirty="0">
                <a:solidFill>
                  <a:srgbClr val="475569"/>
                </a:solidFill>
                <a:latin typeface="Calibri"/>
                <a:ea typeface="Calibri"/>
                <a:cs typeface="Calibri"/>
              </a:rPr>
              <a:t> </a:t>
            </a:r>
            <a:r>
              <a:rPr lang="en-US" sz="1300" i="1" dirty="0" err="1">
                <a:solidFill>
                  <a:srgbClr val="475569"/>
                </a:solidFill>
                <a:latin typeface="Calibri"/>
                <a:ea typeface="Calibri"/>
                <a:cs typeface="Calibri"/>
              </a:rPr>
              <a:t>en</a:t>
            </a:r>
            <a:r>
              <a:rPr lang="en-US" sz="1300" i="1" dirty="0">
                <a:solidFill>
                  <a:srgbClr val="475569"/>
                </a:solidFill>
                <a:latin typeface="Calibri"/>
                <a:ea typeface="Calibri"/>
                <a:cs typeface="Calibri"/>
              </a:rPr>
              <a:t> EUR).</a:t>
            </a:r>
            <a:endParaRPr lang="en-US" sz="1300" dirty="0">
              <a:latin typeface="Calibri"/>
              <a:ea typeface="Calibri"/>
              <a:cs typeface="Calibri"/>
            </a:endParaRPr>
          </a:p>
        </p:txBody>
      </p:sp>
      <p:sp>
        <p:nvSpPr>
          <p:cNvPr id="5" name="Shape 2"/>
          <p:cNvSpPr/>
          <p:nvPr/>
        </p:nvSpPr>
        <p:spPr>
          <a:xfrm>
            <a:off x="5609441" y="1428413"/>
            <a:ext cx="2926080" cy="3049121"/>
          </a:xfrm>
          <a:prstGeom prst="rect">
            <a:avLst/>
          </a:prstGeom>
          <a:solidFill>
            <a:srgbClr val="21295C"/>
          </a:solidFill>
          <a:ln/>
        </p:spPr>
        <p:txBody>
          <a:bodyPr/>
          <a:lstStyle/>
          <a:p>
            <a:endParaRPr lang="fr-FR"/>
          </a:p>
        </p:txBody>
      </p:sp>
      <p:sp>
        <p:nvSpPr>
          <p:cNvPr id="6" name="Text 3"/>
          <p:cNvSpPr/>
          <p:nvPr/>
        </p:nvSpPr>
        <p:spPr>
          <a:xfrm>
            <a:off x="5729792" y="1489934"/>
            <a:ext cx="2697480" cy="320040"/>
          </a:xfrm>
          <a:prstGeom prst="rect">
            <a:avLst/>
          </a:prstGeom>
          <a:noFill/>
          <a:ln/>
        </p:spPr>
        <p:txBody>
          <a:bodyPr wrap="square" lIns="0" tIns="0" rIns="0" bIns="0" rtlCol="0" anchor="ctr"/>
          <a:lstStyle/>
          <a:p>
            <a:pPr marL="0" indent="0">
              <a:buNone/>
            </a:pPr>
            <a:r>
              <a:rPr lang="en-US" sz="1200">
                <a:solidFill>
                  <a:srgbClr val="9BC5C7"/>
                </a:solidFill>
                <a:latin typeface="Calibri" pitchFamily="34" charset="0"/>
                <a:ea typeface="Calibri" pitchFamily="34" charset="-122"/>
                <a:cs typeface="Calibri" pitchFamily="34" charset="-120"/>
              </a:rPr>
              <a:t>Modèle retenu</a:t>
            </a:r>
            <a:endParaRPr lang="en-US" sz="1200"/>
          </a:p>
        </p:txBody>
      </p:sp>
      <p:sp>
        <p:nvSpPr>
          <p:cNvPr id="7" name="Text 4"/>
          <p:cNvSpPr/>
          <p:nvPr/>
        </p:nvSpPr>
        <p:spPr>
          <a:xfrm>
            <a:off x="5729792" y="1809974"/>
            <a:ext cx="2697480" cy="502920"/>
          </a:xfrm>
          <a:prstGeom prst="rect">
            <a:avLst/>
          </a:prstGeom>
          <a:noFill/>
          <a:ln/>
        </p:spPr>
        <p:txBody>
          <a:bodyPr wrap="square" lIns="0" tIns="0" rIns="0" bIns="0" rtlCol="0" anchor="ctr"/>
          <a:lstStyle/>
          <a:p>
            <a:pPr marL="0" indent="0">
              <a:buNone/>
            </a:pPr>
            <a:r>
              <a:rPr lang="en-US" sz="2800" b="1">
                <a:solidFill>
                  <a:srgbClr val="FFFFFF"/>
                </a:solidFill>
                <a:latin typeface="Cambria" pitchFamily="34" charset="0"/>
                <a:ea typeface="Cambria" pitchFamily="34" charset="-122"/>
                <a:cs typeface="Cambria" pitchFamily="34" charset="-120"/>
              </a:rPr>
              <a:t>XGBoost</a:t>
            </a:r>
            <a:endParaRPr lang="en-US" sz="2800"/>
          </a:p>
        </p:txBody>
      </p:sp>
      <p:sp>
        <p:nvSpPr>
          <p:cNvPr id="8" name="Shape 5"/>
          <p:cNvSpPr/>
          <p:nvPr/>
        </p:nvSpPr>
        <p:spPr>
          <a:xfrm>
            <a:off x="5729792" y="2404334"/>
            <a:ext cx="1371600" cy="0"/>
          </a:xfrm>
          <a:prstGeom prst="line">
            <a:avLst/>
          </a:prstGeom>
          <a:noFill/>
          <a:ln w="12700">
            <a:solidFill>
              <a:srgbClr val="9BC5C7"/>
            </a:solidFill>
            <a:prstDash val="solid"/>
          </a:ln>
        </p:spPr>
        <p:txBody>
          <a:bodyPr/>
          <a:lstStyle/>
          <a:p>
            <a:endParaRPr lang="fr-FR"/>
          </a:p>
        </p:txBody>
      </p:sp>
      <p:sp>
        <p:nvSpPr>
          <p:cNvPr id="9" name="Text 6"/>
          <p:cNvSpPr/>
          <p:nvPr/>
        </p:nvSpPr>
        <p:spPr>
          <a:xfrm>
            <a:off x="5729792" y="2541494"/>
            <a:ext cx="2697480" cy="274320"/>
          </a:xfrm>
          <a:prstGeom prst="rect">
            <a:avLst/>
          </a:prstGeom>
          <a:noFill/>
          <a:ln/>
        </p:spPr>
        <p:txBody>
          <a:bodyPr wrap="square" lIns="0" tIns="0" rIns="0" bIns="0" rtlCol="0" anchor="ctr"/>
          <a:lstStyle/>
          <a:p>
            <a:pPr marL="0" indent="0">
              <a:buNone/>
            </a:pPr>
            <a:r>
              <a:rPr lang="en-US" sz="1100">
                <a:solidFill>
                  <a:srgbClr val="9BC5C7"/>
                </a:solidFill>
                <a:latin typeface="Calibri" pitchFamily="34" charset="0"/>
                <a:ea typeface="Calibri" pitchFamily="34" charset="-122"/>
                <a:cs typeface="Calibri" pitchFamily="34" charset="-120"/>
              </a:rPr>
              <a:t>MAE</a:t>
            </a:r>
            <a:endParaRPr lang="en-US" sz="1100"/>
          </a:p>
        </p:txBody>
      </p:sp>
      <p:sp>
        <p:nvSpPr>
          <p:cNvPr id="10" name="Text 7"/>
          <p:cNvSpPr/>
          <p:nvPr/>
        </p:nvSpPr>
        <p:spPr>
          <a:xfrm>
            <a:off x="5729792" y="2770094"/>
            <a:ext cx="2697480" cy="365760"/>
          </a:xfrm>
          <a:prstGeom prst="rect">
            <a:avLst/>
          </a:prstGeom>
          <a:noFill/>
          <a:ln/>
        </p:spPr>
        <p:txBody>
          <a:bodyPr wrap="square" lIns="0" tIns="0" rIns="0" bIns="0" rtlCol="0" anchor="ctr"/>
          <a:lstStyle/>
          <a:p>
            <a:pPr marL="0" indent="0">
              <a:buNone/>
            </a:pPr>
            <a:r>
              <a:rPr lang="en-US" sz="1800" b="1">
                <a:solidFill>
                  <a:srgbClr val="FFFFFF"/>
                </a:solidFill>
                <a:latin typeface="Cambria" pitchFamily="34" charset="0"/>
                <a:ea typeface="Cambria" pitchFamily="34" charset="-122"/>
                <a:cs typeface="Cambria" pitchFamily="34" charset="-120"/>
              </a:rPr>
              <a:t>9,18 EUR</a:t>
            </a:r>
            <a:endParaRPr lang="en-US" sz="1800"/>
          </a:p>
        </p:txBody>
      </p:sp>
      <p:sp>
        <p:nvSpPr>
          <p:cNvPr id="11" name="Text 8"/>
          <p:cNvSpPr/>
          <p:nvPr/>
        </p:nvSpPr>
        <p:spPr>
          <a:xfrm>
            <a:off x="5729792" y="3181574"/>
            <a:ext cx="2697480" cy="274320"/>
          </a:xfrm>
          <a:prstGeom prst="rect">
            <a:avLst/>
          </a:prstGeom>
          <a:noFill/>
          <a:ln/>
        </p:spPr>
        <p:txBody>
          <a:bodyPr wrap="square" lIns="0" tIns="0" rIns="0" bIns="0" rtlCol="0" anchor="ctr"/>
          <a:lstStyle/>
          <a:p>
            <a:pPr marL="0" indent="0">
              <a:buNone/>
            </a:pPr>
            <a:r>
              <a:rPr lang="en-US" sz="1100">
                <a:solidFill>
                  <a:srgbClr val="9BC5C7"/>
                </a:solidFill>
                <a:latin typeface="Calibri" pitchFamily="34" charset="0"/>
                <a:ea typeface="Calibri" pitchFamily="34" charset="-122"/>
                <a:cs typeface="Calibri" pitchFamily="34" charset="-120"/>
              </a:rPr>
              <a:t>RMSE</a:t>
            </a:r>
            <a:endParaRPr lang="en-US" sz="1100"/>
          </a:p>
        </p:txBody>
      </p:sp>
      <p:sp>
        <p:nvSpPr>
          <p:cNvPr id="12" name="Text 9"/>
          <p:cNvSpPr/>
          <p:nvPr/>
        </p:nvSpPr>
        <p:spPr>
          <a:xfrm>
            <a:off x="5729792" y="3410174"/>
            <a:ext cx="2697480" cy="365760"/>
          </a:xfrm>
          <a:prstGeom prst="rect">
            <a:avLst/>
          </a:prstGeom>
          <a:noFill/>
          <a:ln/>
        </p:spPr>
        <p:txBody>
          <a:bodyPr wrap="square" lIns="0" tIns="0" rIns="0" bIns="0" rtlCol="0" anchor="ctr"/>
          <a:lstStyle/>
          <a:p>
            <a:pPr marL="0" indent="0">
              <a:buNone/>
            </a:pPr>
            <a:r>
              <a:rPr lang="en-US" sz="1800" b="1">
                <a:solidFill>
                  <a:srgbClr val="FFFFFF"/>
                </a:solidFill>
                <a:latin typeface="Cambria" pitchFamily="34" charset="0"/>
                <a:ea typeface="Cambria" pitchFamily="34" charset="-122"/>
                <a:cs typeface="Cambria" pitchFamily="34" charset="-120"/>
              </a:rPr>
              <a:t>12,82 EUR</a:t>
            </a:r>
            <a:endParaRPr lang="en-US" sz="1800"/>
          </a:p>
        </p:txBody>
      </p:sp>
      <p:sp>
        <p:nvSpPr>
          <p:cNvPr id="13" name="Text 10"/>
          <p:cNvSpPr/>
          <p:nvPr/>
        </p:nvSpPr>
        <p:spPr>
          <a:xfrm>
            <a:off x="5729792" y="3821654"/>
            <a:ext cx="2697480" cy="274320"/>
          </a:xfrm>
          <a:prstGeom prst="rect">
            <a:avLst/>
          </a:prstGeom>
          <a:noFill/>
          <a:ln/>
        </p:spPr>
        <p:txBody>
          <a:bodyPr wrap="square" lIns="0" tIns="0" rIns="0" bIns="0" rtlCol="0" anchor="ctr"/>
          <a:lstStyle/>
          <a:p>
            <a:pPr marL="0" indent="0">
              <a:buNone/>
            </a:pPr>
            <a:r>
              <a:rPr lang="en-US" sz="1100">
                <a:solidFill>
                  <a:srgbClr val="9BC5C7"/>
                </a:solidFill>
                <a:latin typeface="Calibri" pitchFamily="34" charset="0"/>
                <a:ea typeface="Calibri" pitchFamily="34" charset="-122"/>
                <a:cs typeface="Calibri" pitchFamily="34" charset="-120"/>
              </a:rPr>
              <a:t>R²</a:t>
            </a:r>
            <a:endParaRPr lang="en-US" sz="1100"/>
          </a:p>
        </p:txBody>
      </p:sp>
      <p:sp>
        <p:nvSpPr>
          <p:cNvPr id="14" name="Text 11"/>
          <p:cNvSpPr/>
          <p:nvPr/>
        </p:nvSpPr>
        <p:spPr>
          <a:xfrm>
            <a:off x="5729792" y="4050254"/>
            <a:ext cx="2697480" cy="365760"/>
          </a:xfrm>
          <a:prstGeom prst="rect">
            <a:avLst/>
          </a:prstGeom>
          <a:noFill/>
          <a:ln/>
        </p:spPr>
        <p:txBody>
          <a:bodyPr wrap="square" lIns="0" tIns="0" rIns="0" bIns="0" rtlCol="0" anchor="ctr"/>
          <a:lstStyle/>
          <a:p>
            <a:pPr marL="0" indent="0">
              <a:buNone/>
            </a:pPr>
            <a:r>
              <a:rPr lang="en-US" sz="1800" b="1">
                <a:solidFill>
                  <a:srgbClr val="FFFFFF"/>
                </a:solidFill>
                <a:latin typeface="Cambria" pitchFamily="34" charset="0"/>
                <a:ea typeface="Cambria" pitchFamily="34" charset="-122"/>
                <a:cs typeface="Cambria" pitchFamily="34" charset="-120"/>
              </a:rPr>
              <a:t>0,846</a:t>
            </a:r>
            <a:endParaRPr lang="en-US" sz="1800"/>
          </a:p>
        </p:txBody>
      </p:sp>
      <p:sp>
        <p:nvSpPr>
          <p:cNvPr id="15" name="Text 12"/>
          <p:cNvSpPr/>
          <p:nvPr/>
        </p:nvSpPr>
        <p:spPr>
          <a:xfrm>
            <a:off x="457200" y="4610996"/>
            <a:ext cx="8229600" cy="274320"/>
          </a:xfrm>
          <a:prstGeom prst="rect">
            <a:avLst/>
          </a:prstGeom>
          <a:noFill/>
          <a:ln/>
        </p:spPr>
        <p:txBody>
          <a:bodyPr wrap="square" lIns="0" tIns="0" rIns="0" bIns="0" rtlCol="0" anchor="ctr"/>
          <a:lstStyle/>
          <a:p>
            <a:pPr algn="ctr"/>
            <a:r>
              <a:rPr lang="en-US" sz="1200" i="1" dirty="0">
                <a:solidFill>
                  <a:srgbClr val="475569"/>
                </a:solidFill>
                <a:latin typeface="Calibri"/>
                <a:ea typeface="Calibri"/>
                <a:cs typeface="Calibri"/>
              </a:rPr>
              <a:t>Une </a:t>
            </a:r>
            <a:r>
              <a:rPr lang="en-US" sz="1200" i="1" dirty="0" err="1">
                <a:solidFill>
                  <a:srgbClr val="475569"/>
                </a:solidFill>
                <a:latin typeface="Calibri"/>
                <a:ea typeface="Calibri"/>
                <a:cs typeface="Calibri"/>
              </a:rPr>
              <a:t>erreur</a:t>
            </a:r>
            <a:r>
              <a:rPr lang="en-US" sz="1200" i="1" dirty="0">
                <a:solidFill>
                  <a:srgbClr val="475569"/>
                </a:solidFill>
                <a:latin typeface="Calibri"/>
                <a:ea typeface="Calibri"/>
                <a:cs typeface="Calibri"/>
              </a:rPr>
              <a:t> </a:t>
            </a:r>
            <a:r>
              <a:rPr lang="en-US" sz="1200" i="1" dirty="0" err="1">
                <a:solidFill>
                  <a:srgbClr val="475569"/>
                </a:solidFill>
                <a:latin typeface="Calibri"/>
                <a:ea typeface="Calibri"/>
                <a:cs typeface="Calibri"/>
              </a:rPr>
              <a:t>absolue</a:t>
            </a:r>
            <a:r>
              <a:rPr lang="en-US" sz="1200" i="1" dirty="0">
                <a:solidFill>
                  <a:srgbClr val="475569"/>
                </a:solidFill>
                <a:latin typeface="Calibri"/>
                <a:ea typeface="Calibri"/>
                <a:cs typeface="Calibri"/>
              </a:rPr>
              <a:t> </a:t>
            </a:r>
            <a:r>
              <a:rPr lang="en-US" sz="1200" i="1" dirty="0" err="1">
                <a:solidFill>
                  <a:srgbClr val="475569"/>
                </a:solidFill>
                <a:latin typeface="Calibri"/>
                <a:ea typeface="Calibri"/>
                <a:cs typeface="Calibri"/>
              </a:rPr>
              <a:t>moyenne</a:t>
            </a:r>
            <a:r>
              <a:rPr lang="en-US" sz="1200" i="1" dirty="0">
                <a:solidFill>
                  <a:srgbClr val="475569"/>
                </a:solidFill>
                <a:latin typeface="Calibri"/>
                <a:ea typeface="Calibri"/>
                <a:cs typeface="Calibri"/>
              </a:rPr>
              <a:t> de </a:t>
            </a:r>
            <a:r>
              <a:rPr lang="en-US" sz="1200" i="1" dirty="0" err="1">
                <a:solidFill>
                  <a:srgbClr val="475569"/>
                </a:solidFill>
                <a:latin typeface="Calibri"/>
                <a:ea typeface="Calibri"/>
                <a:cs typeface="Calibri"/>
              </a:rPr>
              <a:t>moins</a:t>
            </a:r>
            <a:r>
              <a:rPr lang="en-US" sz="1200" i="1" dirty="0">
                <a:solidFill>
                  <a:srgbClr val="475569"/>
                </a:solidFill>
                <a:latin typeface="Calibri"/>
                <a:ea typeface="Calibri"/>
                <a:cs typeface="Calibri"/>
              </a:rPr>
              <a:t> de 10 EUR sur un prix qui </a:t>
            </a:r>
            <a:r>
              <a:rPr lang="en-US" sz="1200" i="1" dirty="0" err="1">
                <a:solidFill>
                  <a:srgbClr val="475569"/>
                </a:solidFill>
                <a:latin typeface="Calibri"/>
                <a:ea typeface="Calibri"/>
                <a:cs typeface="Calibri"/>
              </a:rPr>
              <a:t>s'étale</a:t>
            </a:r>
            <a:r>
              <a:rPr lang="en-US" sz="1200" i="1" dirty="0">
                <a:solidFill>
                  <a:srgbClr val="475569"/>
                </a:solidFill>
                <a:latin typeface="Calibri"/>
                <a:ea typeface="Calibri"/>
                <a:cs typeface="Calibri"/>
              </a:rPr>
              <a:t> </a:t>
            </a:r>
            <a:r>
              <a:rPr lang="en-US" sz="1200" i="1" dirty="0" err="1">
                <a:solidFill>
                  <a:srgbClr val="475569"/>
                </a:solidFill>
                <a:latin typeface="Calibri"/>
                <a:ea typeface="Calibri"/>
                <a:cs typeface="Calibri"/>
              </a:rPr>
              <a:t>principalement</a:t>
            </a:r>
            <a:r>
              <a:rPr lang="en-US" sz="1200" i="1" dirty="0">
                <a:solidFill>
                  <a:srgbClr val="475569"/>
                </a:solidFill>
                <a:latin typeface="Calibri"/>
                <a:ea typeface="Calibri"/>
                <a:cs typeface="Calibri"/>
              </a:rPr>
              <a:t> entre 40 et 250 EUR par jour.</a:t>
            </a:r>
            <a:endParaRPr lang="en-US" sz="1200" dirty="0">
              <a:latin typeface="Calibri"/>
              <a:ea typeface="Calibri"/>
              <a:cs typeface="Calibri"/>
            </a:endParaRPr>
          </a:p>
        </p:txBody>
      </p:sp>
      <p:pic>
        <p:nvPicPr>
          <p:cNvPr id="16" name="Picture 15">
            <a:extLst>
              <a:ext uri="{FF2B5EF4-FFF2-40B4-BE49-F238E27FC236}">
                <a16:creationId xmlns:a16="http://schemas.microsoft.com/office/drawing/2014/main" id="{7B647AD5-169E-1644-04AB-3880585EB8FA}"/>
              </a:ext>
            </a:extLst>
          </p:cNvPr>
          <p:cNvPicPr>
            <a:picLocks noChangeAspect="1"/>
          </p:cNvPicPr>
          <p:nvPr/>
        </p:nvPicPr>
        <p:blipFill>
          <a:blip r:embed="rId3"/>
          <a:stretch>
            <a:fillRect/>
          </a:stretch>
        </p:blipFill>
        <p:spPr>
          <a:xfrm>
            <a:off x="628931" y="1949263"/>
            <a:ext cx="3952875" cy="15811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lIns="0" tIns="0" rIns="0" bIns="0" rtlCol="0" anchor="ctr"/>
          <a:lstStyle/>
          <a:p>
            <a:pPr marL="0" indent="0">
              <a:buNone/>
            </a:pPr>
            <a:r>
              <a:rPr lang="en-US" sz="2400" b="1">
                <a:solidFill>
                  <a:srgbClr val="21295C"/>
                </a:solidFill>
                <a:latin typeface="Cambria" pitchFamily="34" charset="0"/>
                <a:ea typeface="Cambria" pitchFamily="34" charset="-122"/>
                <a:cs typeface="Cambria" pitchFamily="34" charset="-120"/>
              </a:rPr>
              <a:t>Variables explicatives du prix</a:t>
            </a:r>
            <a:endParaRPr lang="en-US" sz="2400"/>
          </a:p>
        </p:txBody>
      </p:sp>
      <p:sp>
        <p:nvSpPr>
          <p:cNvPr id="3" name="Text 1"/>
          <p:cNvSpPr/>
          <p:nvPr/>
        </p:nvSpPr>
        <p:spPr>
          <a:xfrm>
            <a:off x="457200" y="1005840"/>
            <a:ext cx="8229600" cy="365760"/>
          </a:xfrm>
          <a:prstGeom prst="rect">
            <a:avLst/>
          </a:prstGeom>
          <a:noFill/>
          <a:ln/>
        </p:spPr>
        <p:txBody>
          <a:bodyPr wrap="square" lIns="0" tIns="0" rIns="0" bIns="0" rtlCol="0" anchor="ctr"/>
          <a:lstStyle/>
          <a:p>
            <a:pPr marL="0" indent="0">
              <a:buNone/>
            </a:pPr>
            <a:r>
              <a:rPr lang="en-US" sz="1300" i="1" dirty="0">
                <a:solidFill>
                  <a:srgbClr val="475569"/>
                </a:solidFill>
                <a:latin typeface="Calibri"/>
                <a:ea typeface="Calibri"/>
                <a:cs typeface="Calibri"/>
              </a:rPr>
              <a:t>Top 7 des variables qui </a:t>
            </a:r>
            <a:r>
              <a:rPr lang="en-US" sz="1300" i="1" dirty="0" err="1">
                <a:solidFill>
                  <a:srgbClr val="475569"/>
                </a:solidFill>
                <a:latin typeface="Calibri"/>
                <a:ea typeface="Calibri"/>
                <a:cs typeface="Calibri"/>
              </a:rPr>
              <a:t>influencent</a:t>
            </a:r>
            <a:r>
              <a:rPr lang="en-US" sz="1300" i="1" dirty="0">
                <a:solidFill>
                  <a:srgbClr val="475569"/>
                </a:solidFill>
                <a:latin typeface="Calibri"/>
                <a:ea typeface="Calibri"/>
                <a:cs typeface="Calibri"/>
              </a:rPr>
              <a:t> le plus la </a:t>
            </a:r>
            <a:r>
              <a:rPr lang="en-US" sz="1300" i="1" dirty="0" err="1">
                <a:solidFill>
                  <a:srgbClr val="475569"/>
                </a:solidFill>
                <a:latin typeface="Calibri"/>
                <a:ea typeface="Calibri"/>
                <a:cs typeface="Calibri"/>
              </a:rPr>
              <a:t>prédiction</a:t>
            </a:r>
            <a:r>
              <a:rPr lang="en-US" sz="1300" i="1" dirty="0">
                <a:solidFill>
                  <a:srgbClr val="475569"/>
                </a:solidFill>
                <a:latin typeface="Calibri"/>
                <a:ea typeface="Calibri"/>
                <a:cs typeface="Calibri"/>
              </a:rPr>
              <a:t> du prix </a:t>
            </a:r>
            <a:r>
              <a:rPr lang="en-US" sz="1300" i="1" dirty="0" err="1">
                <a:solidFill>
                  <a:srgbClr val="475569"/>
                </a:solidFill>
                <a:latin typeface="Calibri"/>
                <a:ea typeface="Calibri"/>
                <a:cs typeface="Calibri"/>
              </a:rPr>
              <a:t>journalier</a:t>
            </a:r>
            <a:r>
              <a:rPr lang="en-US" sz="1300" i="1" dirty="0">
                <a:solidFill>
                  <a:srgbClr val="475569"/>
                </a:solidFill>
                <a:latin typeface="Calibri"/>
                <a:ea typeface="Calibri"/>
                <a:cs typeface="Calibri"/>
              </a:rPr>
              <a:t> (importance Gini).</a:t>
            </a:r>
            <a:endParaRPr lang="en-US" sz="1300" dirty="0">
              <a:latin typeface="Calibri"/>
              <a:ea typeface="Calibri"/>
              <a:cs typeface="Calibri"/>
            </a:endParaRPr>
          </a:p>
        </p:txBody>
      </p:sp>
      <p:graphicFrame>
        <p:nvGraphicFramePr>
          <p:cNvPr id="4" name="Chart 0"/>
          <p:cNvGraphicFramePr/>
          <p:nvPr/>
        </p:nvGraphicFramePr>
        <p:xfrm>
          <a:off x="457200" y="1554480"/>
          <a:ext cx="548640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067649" y="1991509"/>
            <a:ext cx="2560320" cy="2426186"/>
          </a:xfrm>
          <a:prstGeom prst="rect">
            <a:avLst/>
          </a:prstGeom>
          <a:solidFill>
            <a:srgbClr val="E8F1F5"/>
          </a:solidFill>
          <a:ln/>
        </p:spPr>
        <p:txBody>
          <a:bodyPr/>
          <a:lstStyle/>
          <a:p>
            <a:endParaRPr lang="fr-FR"/>
          </a:p>
        </p:txBody>
      </p:sp>
      <p:sp>
        <p:nvSpPr>
          <p:cNvPr id="8" name="Text 5"/>
          <p:cNvSpPr/>
          <p:nvPr/>
        </p:nvSpPr>
        <p:spPr>
          <a:xfrm>
            <a:off x="6238427" y="2278604"/>
            <a:ext cx="2331720" cy="2042945"/>
          </a:xfrm>
          <a:prstGeom prst="rect">
            <a:avLst/>
          </a:prstGeom>
          <a:noFill/>
          <a:ln/>
        </p:spPr>
        <p:txBody>
          <a:bodyPr wrap="square" lIns="0" tIns="0" rIns="0" bIns="0" rtlCol="0" anchor="ctr"/>
          <a:lstStyle/>
          <a:p>
            <a:pPr marL="0" indent="0">
              <a:buNone/>
            </a:pPr>
            <a:r>
              <a:rPr lang="en-US" sz="1100" b="1" dirty="0">
                <a:solidFill>
                  <a:srgbClr val="0F172A"/>
                </a:solidFill>
                <a:latin typeface="Calibri"/>
                <a:ea typeface="Calibri"/>
                <a:cs typeface="Calibri"/>
              </a:rPr>
              <a:t>La puissance </a:t>
            </a:r>
            <a:r>
              <a:rPr lang="en-US" sz="1100" b="1" dirty="0" err="1">
                <a:solidFill>
                  <a:srgbClr val="0F172A"/>
                </a:solidFill>
                <a:latin typeface="Calibri"/>
                <a:ea typeface="Calibri"/>
                <a:cs typeface="Calibri"/>
              </a:rPr>
              <a:t>moteur</a:t>
            </a:r>
            <a:r>
              <a:rPr lang="en-US" sz="1100" b="1" dirty="0">
                <a:solidFill>
                  <a:srgbClr val="0F172A"/>
                </a:solidFill>
                <a:latin typeface="Calibri"/>
                <a:ea typeface="Calibri"/>
                <a:cs typeface="Calibri"/>
              </a:rPr>
              <a:t> </a:t>
            </a:r>
            <a:r>
              <a:rPr lang="en-US" sz="1100" dirty="0" err="1">
                <a:solidFill>
                  <a:srgbClr val="0F172A"/>
                </a:solidFill>
                <a:latin typeface="Calibri"/>
                <a:ea typeface="Calibri"/>
                <a:cs typeface="Calibri"/>
              </a:rPr>
              <a:t>explique</a:t>
            </a:r>
            <a:r>
              <a:rPr lang="en-US" sz="1100" dirty="0">
                <a:solidFill>
                  <a:srgbClr val="0F172A"/>
                </a:solidFill>
                <a:latin typeface="Calibri"/>
                <a:ea typeface="Calibri"/>
                <a:cs typeface="Calibri"/>
              </a:rPr>
              <a:t> à </a:t>
            </a:r>
            <a:r>
              <a:rPr lang="en-US" sz="1100" dirty="0" err="1">
                <a:solidFill>
                  <a:srgbClr val="0F172A"/>
                </a:solidFill>
                <a:latin typeface="Calibri"/>
                <a:ea typeface="Calibri"/>
                <a:cs typeface="Calibri"/>
              </a:rPr>
              <a:t>elle</a:t>
            </a:r>
            <a:r>
              <a:rPr lang="en-US" sz="1100" dirty="0">
                <a:solidFill>
                  <a:srgbClr val="0F172A"/>
                </a:solidFill>
                <a:latin typeface="Calibri"/>
                <a:ea typeface="Calibri"/>
                <a:cs typeface="Calibri"/>
              </a:rPr>
              <a:t> </a:t>
            </a:r>
            <a:r>
              <a:rPr lang="en-US" sz="1100" dirty="0" err="1">
                <a:solidFill>
                  <a:srgbClr val="0F172A"/>
                </a:solidFill>
                <a:latin typeface="Calibri"/>
                <a:ea typeface="Calibri"/>
                <a:cs typeface="Calibri"/>
              </a:rPr>
              <a:t>seule</a:t>
            </a:r>
            <a:r>
              <a:rPr lang="en-US" sz="1100" dirty="0">
                <a:solidFill>
                  <a:srgbClr val="0F172A"/>
                </a:solidFill>
                <a:latin typeface="Calibri"/>
                <a:ea typeface="Calibri"/>
                <a:cs typeface="Calibri"/>
              </a:rPr>
              <a:t> près de 15 % de la </a:t>
            </a:r>
            <a:r>
              <a:rPr lang="en-US" sz="1100" dirty="0" err="1">
                <a:solidFill>
                  <a:srgbClr val="0F172A"/>
                </a:solidFill>
                <a:latin typeface="Calibri"/>
                <a:ea typeface="Calibri"/>
                <a:cs typeface="Calibri"/>
              </a:rPr>
              <a:t>variabilité</a:t>
            </a:r>
            <a:r>
              <a:rPr lang="en-US" sz="1100" dirty="0">
                <a:solidFill>
                  <a:srgbClr val="0F172A"/>
                </a:solidFill>
                <a:latin typeface="Calibri"/>
                <a:ea typeface="Calibri"/>
                <a:cs typeface="Calibri"/>
              </a:rPr>
              <a:t> du prix.</a:t>
            </a:r>
            <a:endParaRPr lang="en-US" sz="1100" dirty="0">
              <a:latin typeface="Calibri"/>
              <a:ea typeface="Calibri"/>
              <a:cs typeface="Calibri"/>
            </a:endParaRPr>
          </a:p>
          <a:p>
            <a:pPr marL="0" indent="0">
              <a:buNone/>
            </a:pPr>
            <a:r>
              <a:rPr lang="en-US" sz="1100" dirty="0">
                <a:solidFill>
                  <a:srgbClr val="0F172A"/>
                </a:solidFill>
                <a:latin typeface="Calibri"/>
                <a:ea typeface="Calibri"/>
                <a:cs typeface="Calibri"/>
              </a:rPr>
              <a:t> </a:t>
            </a:r>
            <a:endParaRPr lang="en-US" sz="1100" dirty="0">
              <a:latin typeface="Calibri"/>
              <a:ea typeface="Calibri"/>
              <a:cs typeface="Calibri"/>
            </a:endParaRPr>
          </a:p>
          <a:p>
            <a:r>
              <a:rPr lang="en-US" sz="1100" dirty="0">
                <a:solidFill>
                  <a:srgbClr val="0F172A"/>
                </a:solidFill>
                <a:latin typeface="Calibri"/>
                <a:ea typeface="Calibri"/>
                <a:cs typeface="Calibri"/>
              </a:rPr>
              <a:t>La marque et les </a:t>
            </a:r>
            <a:r>
              <a:rPr lang="en-US" sz="1100" dirty="0" err="1">
                <a:solidFill>
                  <a:srgbClr val="0F172A"/>
                </a:solidFill>
                <a:latin typeface="Calibri"/>
                <a:ea typeface="Calibri"/>
                <a:cs typeface="Calibri"/>
              </a:rPr>
              <a:t>équipements</a:t>
            </a:r>
            <a:r>
              <a:rPr lang="en-US" sz="1100" dirty="0">
                <a:solidFill>
                  <a:srgbClr val="0F172A"/>
                </a:solidFill>
                <a:latin typeface="Calibri"/>
                <a:ea typeface="Calibri"/>
                <a:cs typeface="Calibri"/>
              </a:rPr>
              <a:t> de </a:t>
            </a:r>
            <a:r>
              <a:rPr lang="en-US" sz="1100" dirty="0" err="1">
                <a:solidFill>
                  <a:srgbClr val="0F172A"/>
                </a:solidFill>
                <a:latin typeface="Calibri"/>
                <a:ea typeface="Calibri"/>
                <a:cs typeface="Calibri"/>
              </a:rPr>
              <a:t>confort</a:t>
            </a:r>
            <a:r>
              <a:rPr lang="en-US" sz="1100" dirty="0">
                <a:solidFill>
                  <a:srgbClr val="0F172A"/>
                </a:solidFill>
                <a:latin typeface="Calibri"/>
                <a:ea typeface="Calibri"/>
                <a:cs typeface="Calibri"/>
              </a:rPr>
              <a:t> (GPS, Connect) </a:t>
            </a:r>
            <a:r>
              <a:rPr lang="en-US" sz="1100" dirty="0" err="1">
                <a:solidFill>
                  <a:srgbClr val="0F172A"/>
                </a:solidFill>
                <a:latin typeface="Calibri"/>
                <a:ea typeface="Calibri"/>
                <a:cs typeface="Calibri"/>
              </a:rPr>
              <a:t>apportent</a:t>
            </a:r>
            <a:r>
              <a:rPr lang="en-US" sz="1100" dirty="0">
                <a:solidFill>
                  <a:srgbClr val="0F172A"/>
                </a:solidFill>
                <a:latin typeface="Calibri"/>
                <a:ea typeface="Calibri"/>
                <a:cs typeface="Calibri"/>
              </a:rPr>
              <a:t> </a:t>
            </a:r>
            <a:r>
              <a:rPr lang="en-US" sz="1100" dirty="0" err="1">
                <a:solidFill>
                  <a:srgbClr val="0F172A"/>
                </a:solidFill>
                <a:latin typeface="Calibri"/>
                <a:ea typeface="Calibri"/>
                <a:cs typeface="Calibri"/>
              </a:rPr>
              <a:t>une</a:t>
            </a:r>
            <a:r>
              <a:rPr lang="en-US" sz="1100" dirty="0">
                <a:solidFill>
                  <a:srgbClr val="0F172A"/>
                </a:solidFill>
                <a:latin typeface="Calibri"/>
                <a:ea typeface="Calibri"/>
                <a:cs typeface="Calibri"/>
              </a:rPr>
              <a:t> plus-value </a:t>
            </a:r>
            <a:r>
              <a:rPr lang="en-US" sz="1100" dirty="0" err="1">
                <a:solidFill>
                  <a:srgbClr val="0F172A"/>
                </a:solidFill>
                <a:latin typeface="Calibri"/>
                <a:ea typeface="Calibri"/>
                <a:cs typeface="Calibri"/>
              </a:rPr>
              <a:t>mesurable</a:t>
            </a:r>
            <a:r>
              <a:rPr lang="en-US" sz="1100" dirty="0">
                <a:solidFill>
                  <a:srgbClr val="0F172A"/>
                </a:solidFill>
                <a:latin typeface="Calibri"/>
                <a:ea typeface="Calibri"/>
                <a:cs typeface="Calibri"/>
              </a:rPr>
              <a:t>.</a:t>
            </a:r>
            <a:endParaRPr lang="en-US" sz="1100" dirty="0">
              <a:latin typeface="Calibri"/>
              <a:ea typeface="Calibri"/>
              <a:cs typeface="Calibri"/>
            </a:endParaRPr>
          </a:p>
          <a:p>
            <a:pPr marL="0" indent="0">
              <a:buNone/>
            </a:pPr>
            <a:endParaRPr lang="en-US" sz="1100" dirty="0">
              <a:solidFill>
                <a:srgbClr val="0F172A"/>
              </a:solidFill>
              <a:latin typeface="Calibri"/>
              <a:ea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lIns="0" tIns="0" rIns="0" bIns="0" rtlCol="0" anchor="ctr"/>
          <a:lstStyle/>
          <a:p>
            <a:pPr marL="0" indent="0">
              <a:buNone/>
            </a:pPr>
            <a:r>
              <a:rPr lang="en-US" sz="2400" b="1" dirty="0" err="1">
                <a:solidFill>
                  <a:srgbClr val="21295C"/>
                </a:solidFill>
                <a:latin typeface="Cambria"/>
                <a:ea typeface="Cambria"/>
              </a:rPr>
              <a:t>Déploiement</a:t>
            </a:r>
            <a:endParaRPr lang="en-US" sz="2400" dirty="0" err="1"/>
          </a:p>
        </p:txBody>
      </p:sp>
      <p:sp>
        <p:nvSpPr>
          <p:cNvPr id="4" name="Shape 2"/>
          <p:cNvSpPr/>
          <p:nvPr/>
        </p:nvSpPr>
        <p:spPr>
          <a:xfrm>
            <a:off x="457200" y="1282514"/>
            <a:ext cx="2053702" cy="2986255"/>
          </a:xfrm>
          <a:prstGeom prst="rect">
            <a:avLst/>
          </a:prstGeom>
          <a:solidFill>
            <a:srgbClr val="21295C"/>
          </a:solidFill>
          <a:ln/>
        </p:spPr>
        <p:txBody>
          <a:bodyPr/>
          <a:lstStyle/>
          <a:p>
            <a:endParaRPr lang="fr-FR"/>
          </a:p>
        </p:txBody>
      </p:sp>
      <p:sp>
        <p:nvSpPr>
          <p:cNvPr id="5" name="Text 3"/>
          <p:cNvSpPr/>
          <p:nvPr/>
        </p:nvSpPr>
        <p:spPr>
          <a:xfrm>
            <a:off x="594360" y="1373953"/>
            <a:ext cx="1737360" cy="320040"/>
          </a:xfrm>
          <a:prstGeom prst="rect">
            <a:avLst/>
          </a:prstGeom>
          <a:noFill/>
          <a:ln/>
        </p:spPr>
        <p:txBody>
          <a:bodyPr wrap="square" lIns="0" tIns="0" rIns="0" bIns="0" rtlCol="0" anchor="ctr"/>
          <a:lstStyle/>
          <a:p>
            <a:r>
              <a:rPr lang="en-US" sz="1200">
                <a:solidFill>
                  <a:srgbClr val="9BC5C7"/>
                </a:solidFill>
                <a:latin typeface="Calibri"/>
                <a:ea typeface="Calibri"/>
                <a:cs typeface="Calibri"/>
              </a:rPr>
              <a:t>Code source - GitHub</a:t>
            </a:r>
            <a:endParaRPr lang="en-US" sz="1200"/>
          </a:p>
        </p:txBody>
      </p:sp>
      <p:sp>
        <p:nvSpPr>
          <p:cNvPr id="6" name="Text 4"/>
          <p:cNvSpPr/>
          <p:nvPr/>
        </p:nvSpPr>
        <p:spPr>
          <a:xfrm>
            <a:off x="552338" y="1853677"/>
            <a:ext cx="1737360" cy="457200"/>
          </a:xfrm>
          <a:prstGeom prst="rect">
            <a:avLst/>
          </a:prstGeom>
          <a:noFill/>
          <a:ln/>
        </p:spPr>
        <p:txBody>
          <a:bodyPr wrap="square" lIns="0" tIns="0" rIns="0" bIns="0" rtlCol="0" anchor="ctr"/>
          <a:lstStyle/>
          <a:p>
            <a:pPr marL="0" indent="0">
              <a:buNone/>
            </a:pPr>
            <a:r>
              <a:rPr lang="en-US" sz="2200" b="1" dirty="0" err="1">
                <a:solidFill>
                  <a:srgbClr val="FFFFFF"/>
                </a:solidFill>
                <a:latin typeface="Cambria"/>
                <a:ea typeface="Cambria"/>
              </a:rPr>
              <a:t>FastAPI</a:t>
            </a:r>
            <a:endParaRPr lang="en-US" sz="2200" dirty="0" err="1"/>
          </a:p>
        </p:txBody>
      </p:sp>
      <p:sp>
        <p:nvSpPr>
          <p:cNvPr id="7" name="Text 5"/>
          <p:cNvSpPr/>
          <p:nvPr/>
        </p:nvSpPr>
        <p:spPr>
          <a:xfrm>
            <a:off x="594360" y="2310878"/>
            <a:ext cx="1695338" cy="1744082"/>
          </a:xfrm>
          <a:prstGeom prst="rect">
            <a:avLst/>
          </a:prstGeom>
          <a:noFill/>
          <a:ln/>
        </p:spPr>
        <p:txBody>
          <a:bodyPr wrap="square" lIns="0" tIns="0" rIns="0" bIns="0" rtlCol="0" anchor="ctr"/>
          <a:lstStyle/>
          <a:p>
            <a:pPr marL="171450" indent="-171450">
              <a:buFont typeface="Calibri"/>
              <a:buChar char="-"/>
            </a:pPr>
            <a:r>
              <a:rPr lang="en-US" sz="1100">
                <a:solidFill>
                  <a:schemeClr val="bg1"/>
                </a:solidFill>
                <a:latin typeface="Calibri"/>
                <a:ea typeface="Calibri"/>
                <a:cs typeface="Calibri"/>
              </a:rPr>
              <a:t>Endpoint /predict (POST)</a:t>
            </a:r>
            <a:endParaRPr lang="en-US" sz="1100">
              <a:solidFill>
                <a:schemeClr val="bg1"/>
              </a:solidFill>
              <a:ea typeface="Calibri"/>
              <a:cs typeface="Calibri"/>
            </a:endParaRPr>
          </a:p>
          <a:p>
            <a:pPr marL="171450" indent="-171450">
              <a:buFont typeface="Calibri"/>
              <a:buChar char="-"/>
            </a:pPr>
            <a:r>
              <a:rPr lang="en-US" sz="1100">
                <a:solidFill>
                  <a:schemeClr val="bg1"/>
                </a:solidFill>
                <a:latin typeface="Calibri"/>
                <a:ea typeface="Calibri"/>
                <a:cs typeface="Calibri"/>
              </a:rPr>
              <a:t>Documentation HTML</a:t>
            </a:r>
            <a:r>
              <a:rPr lang="en-US" sz="1100" dirty="0">
                <a:solidFill>
                  <a:schemeClr val="bg1"/>
                </a:solidFill>
                <a:latin typeface="Calibri"/>
                <a:ea typeface="Calibri"/>
                <a:cs typeface="Calibri"/>
              </a:rPr>
              <a:t> sur /docs</a:t>
            </a:r>
          </a:p>
          <a:p>
            <a:pPr marL="0" indent="0">
              <a:buNone/>
            </a:pPr>
            <a:endParaRPr lang="en-US" sz="1000" dirty="0">
              <a:solidFill>
                <a:srgbClr val="C8D3E0"/>
              </a:solidFill>
              <a:ea typeface="Calibri"/>
              <a:cs typeface="Calibri"/>
            </a:endParaRPr>
          </a:p>
        </p:txBody>
      </p:sp>
      <p:sp>
        <p:nvSpPr>
          <p:cNvPr id="8" name="Text 6"/>
          <p:cNvSpPr/>
          <p:nvPr/>
        </p:nvSpPr>
        <p:spPr>
          <a:xfrm>
            <a:off x="2514600" y="1828800"/>
            <a:ext cx="274320" cy="1280160"/>
          </a:xfrm>
          <a:prstGeom prst="rect">
            <a:avLst/>
          </a:prstGeom>
          <a:noFill/>
          <a:ln/>
        </p:spPr>
        <p:txBody>
          <a:bodyPr wrap="square" lIns="0" tIns="0" rIns="0" bIns="0" rtlCol="0" anchor="ctr"/>
          <a:lstStyle/>
          <a:p>
            <a:pPr marL="0" indent="0" algn="ctr">
              <a:buNone/>
            </a:pPr>
            <a:r>
              <a:rPr lang="en-US" sz="2800" b="1">
                <a:solidFill>
                  <a:srgbClr val="475569"/>
                </a:solidFill>
                <a:latin typeface="Calibri" pitchFamily="34" charset="0"/>
                <a:ea typeface="Calibri" pitchFamily="34" charset="-122"/>
                <a:cs typeface="Calibri" pitchFamily="34" charset="-120"/>
              </a:rPr>
              <a:t>&gt;</a:t>
            </a:r>
            <a:endParaRPr lang="en-US" sz="2800"/>
          </a:p>
        </p:txBody>
      </p:sp>
      <p:sp>
        <p:nvSpPr>
          <p:cNvPr id="9" name="Shape 7"/>
          <p:cNvSpPr/>
          <p:nvPr/>
        </p:nvSpPr>
        <p:spPr>
          <a:xfrm>
            <a:off x="2834640" y="1828800"/>
            <a:ext cx="2011680" cy="1280160"/>
          </a:xfrm>
          <a:prstGeom prst="rect">
            <a:avLst/>
          </a:prstGeom>
          <a:solidFill>
            <a:srgbClr val="1C7293"/>
          </a:solidFill>
          <a:ln/>
        </p:spPr>
        <p:txBody>
          <a:bodyPr/>
          <a:lstStyle/>
          <a:p>
            <a:endParaRPr lang="fr-FR"/>
          </a:p>
        </p:txBody>
      </p:sp>
      <p:sp>
        <p:nvSpPr>
          <p:cNvPr id="10" name="Text 8"/>
          <p:cNvSpPr/>
          <p:nvPr/>
        </p:nvSpPr>
        <p:spPr>
          <a:xfrm>
            <a:off x="2971800" y="1920240"/>
            <a:ext cx="1737360" cy="320040"/>
          </a:xfrm>
          <a:prstGeom prst="rect">
            <a:avLst/>
          </a:prstGeom>
          <a:noFill/>
          <a:ln/>
        </p:spPr>
        <p:txBody>
          <a:bodyPr wrap="square" lIns="0" tIns="0" rIns="0" bIns="0" rtlCol="0" anchor="ctr"/>
          <a:lstStyle/>
          <a:p>
            <a:pPr marL="0" indent="0">
              <a:buNone/>
            </a:pPr>
            <a:r>
              <a:rPr lang="en-US" sz="1200">
                <a:solidFill>
                  <a:srgbClr val="BFE0E6"/>
                </a:solidFill>
                <a:latin typeface="Calibri" pitchFamily="34" charset="0"/>
                <a:ea typeface="Calibri" pitchFamily="34" charset="-122"/>
                <a:cs typeface="Calibri" pitchFamily="34" charset="-120"/>
              </a:rPr>
              <a:t>Conteneurisation</a:t>
            </a:r>
            <a:endParaRPr lang="en-US" sz="1200"/>
          </a:p>
        </p:txBody>
      </p:sp>
      <p:sp>
        <p:nvSpPr>
          <p:cNvPr id="11" name="Text 9"/>
          <p:cNvSpPr/>
          <p:nvPr/>
        </p:nvSpPr>
        <p:spPr>
          <a:xfrm>
            <a:off x="2971800" y="2240280"/>
            <a:ext cx="1737360" cy="457200"/>
          </a:xfrm>
          <a:prstGeom prst="rect">
            <a:avLst/>
          </a:prstGeom>
          <a:noFill/>
          <a:ln/>
        </p:spPr>
        <p:txBody>
          <a:bodyPr wrap="square" lIns="0" tIns="0" rIns="0" bIns="0" rtlCol="0" anchor="ctr"/>
          <a:lstStyle/>
          <a:p>
            <a:pPr marL="0" indent="0">
              <a:buNone/>
            </a:pPr>
            <a:r>
              <a:rPr lang="en-US" sz="2200" b="1">
                <a:solidFill>
                  <a:srgbClr val="FFFFFF"/>
                </a:solidFill>
                <a:latin typeface="Cambria" pitchFamily="34" charset="0"/>
                <a:ea typeface="Cambria" pitchFamily="34" charset="-122"/>
                <a:cs typeface="Cambria" pitchFamily="34" charset="-120"/>
              </a:rPr>
              <a:t>Docker</a:t>
            </a:r>
            <a:endParaRPr lang="en-US" sz="2200"/>
          </a:p>
        </p:txBody>
      </p:sp>
      <p:sp>
        <p:nvSpPr>
          <p:cNvPr id="13" name="Text 11"/>
          <p:cNvSpPr/>
          <p:nvPr/>
        </p:nvSpPr>
        <p:spPr>
          <a:xfrm>
            <a:off x="4892040" y="1828800"/>
            <a:ext cx="274320" cy="1280160"/>
          </a:xfrm>
          <a:prstGeom prst="rect">
            <a:avLst/>
          </a:prstGeom>
          <a:noFill/>
          <a:ln/>
        </p:spPr>
        <p:txBody>
          <a:bodyPr wrap="square" lIns="0" tIns="0" rIns="0" bIns="0" rtlCol="0" anchor="ctr"/>
          <a:lstStyle/>
          <a:p>
            <a:pPr marL="0" indent="0" algn="ctr">
              <a:buNone/>
            </a:pPr>
            <a:r>
              <a:rPr lang="en-US" sz="2800" b="1">
                <a:solidFill>
                  <a:srgbClr val="475569"/>
                </a:solidFill>
                <a:latin typeface="Calibri" pitchFamily="34" charset="0"/>
                <a:ea typeface="Calibri" pitchFamily="34" charset="-122"/>
                <a:cs typeface="Calibri" pitchFamily="34" charset="-120"/>
              </a:rPr>
              <a:t>&gt;</a:t>
            </a:r>
            <a:endParaRPr lang="en-US" sz="2800"/>
          </a:p>
        </p:txBody>
      </p:sp>
      <p:sp>
        <p:nvSpPr>
          <p:cNvPr id="14" name="Shape 12"/>
          <p:cNvSpPr/>
          <p:nvPr/>
        </p:nvSpPr>
        <p:spPr>
          <a:xfrm>
            <a:off x="5212080" y="1828800"/>
            <a:ext cx="2011680" cy="1280160"/>
          </a:xfrm>
          <a:prstGeom prst="rect">
            <a:avLst/>
          </a:prstGeom>
          <a:solidFill>
            <a:srgbClr val="065A82"/>
          </a:solidFill>
          <a:ln/>
        </p:spPr>
        <p:txBody>
          <a:bodyPr/>
          <a:lstStyle/>
          <a:p>
            <a:endParaRPr lang="fr-FR"/>
          </a:p>
        </p:txBody>
      </p:sp>
      <p:sp>
        <p:nvSpPr>
          <p:cNvPr id="15" name="Text 13"/>
          <p:cNvSpPr/>
          <p:nvPr/>
        </p:nvSpPr>
        <p:spPr>
          <a:xfrm>
            <a:off x="5349240" y="1920240"/>
            <a:ext cx="1737360" cy="320040"/>
          </a:xfrm>
          <a:prstGeom prst="rect">
            <a:avLst/>
          </a:prstGeom>
          <a:noFill/>
          <a:ln/>
        </p:spPr>
        <p:txBody>
          <a:bodyPr wrap="square" lIns="0" tIns="0" rIns="0" bIns="0" rtlCol="0" anchor="ctr"/>
          <a:lstStyle/>
          <a:p>
            <a:pPr marL="0" indent="0">
              <a:buNone/>
            </a:pPr>
            <a:r>
              <a:rPr lang="en-US" sz="1200">
                <a:solidFill>
                  <a:srgbClr val="9BC5C7"/>
                </a:solidFill>
                <a:latin typeface="Calibri" pitchFamily="34" charset="0"/>
                <a:ea typeface="Calibri" pitchFamily="34" charset="-122"/>
                <a:cs typeface="Calibri" pitchFamily="34" charset="-120"/>
              </a:rPr>
              <a:t>Hébergement</a:t>
            </a:r>
            <a:endParaRPr lang="en-US" sz="1200"/>
          </a:p>
        </p:txBody>
      </p:sp>
      <p:sp>
        <p:nvSpPr>
          <p:cNvPr id="16" name="Text 14"/>
          <p:cNvSpPr/>
          <p:nvPr/>
        </p:nvSpPr>
        <p:spPr>
          <a:xfrm>
            <a:off x="5349240" y="2240280"/>
            <a:ext cx="1737360" cy="457200"/>
          </a:xfrm>
          <a:prstGeom prst="rect">
            <a:avLst/>
          </a:prstGeom>
          <a:noFill/>
          <a:ln/>
        </p:spPr>
        <p:txBody>
          <a:bodyPr wrap="square" lIns="0" tIns="0" rIns="0" bIns="0" rtlCol="0" anchor="ctr"/>
          <a:lstStyle/>
          <a:p>
            <a:r>
              <a:rPr lang="en-US" b="1" dirty="0" err="1">
                <a:solidFill>
                  <a:srgbClr val="FFFFFF"/>
                </a:solidFill>
                <a:latin typeface="Cambria"/>
                <a:ea typeface="Cambria"/>
              </a:rPr>
              <a:t>GCP_Cloud</a:t>
            </a:r>
            <a:r>
              <a:rPr lang="en-US" b="1" dirty="0">
                <a:solidFill>
                  <a:srgbClr val="FFFFFF"/>
                </a:solidFill>
                <a:latin typeface="Cambria"/>
                <a:ea typeface="Cambria"/>
              </a:rPr>
              <a:t> Run</a:t>
            </a:r>
            <a:endParaRPr lang="en-US" dirty="0"/>
          </a:p>
        </p:txBody>
      </p:sp>
      <p:sp>
        <p:nvSpPr>
          <p:cNvPr id="18" name="Text 16"/>
          <p:cNvSpPr/>
          <p:nvPr/>
        </p:nvSpPr>
        <p:spPr>
          <a:xfrm>
            <a:off x="7269480" y="1828800"/>
            <a:ext cx="274320" cy="1280160"/>
          </a:xfrm>
          <a:prstGeom prst="rect">
            <a:avLst/>
          </a:prstGeom>
          <a:noFill/>
          <a:ln/>
        </p:spPr>
        <p:txBody>
          <a:bodyPr wrap="square" lIns="0" tIns="0" rIns="0" bIns="0" rtlCol="0" anchor="ctr"/>
          <a:lstStyle/>
          <a:p>
            <a:pPr marL="0" indent="0" algn="ctr">
              <a:buNone/>
            </a:pPr>
            <a:r>
              <a:rPr lang="en-US" sz="2800" b="1">
                <a:solidFill>
                  <a:srgbClr val="475569"/>
                </a:solidFill>
                <a:latin typeface="Calibri" pitchFamily="34" charset="0"/>
                <a:ea typeface="Calibri" pitchFamily="34" charset="-122"/>
                <a:cs typeface="Calibri" pitchFamily="34" charset="-120"/>
              </a:rPr>
              <a:t>&gt;</a:t>
            </a:r>
            <a:endParaRPr lang="en-US" sz="2800"/>
          </a:p>
        </p:txBody>
      </p:sp>
      <p:sp>
        <p:nvSpPr>
          <p:cNvPr id="19" name="Shape 17"/>
          <p:cNvSpPr/>
          <p:nvPr/>
        </p:nvSpPr>
        <p:spPr>
          <a:xfrm>
            <a:off x="7589520" y="1828800"/>
            <a:ext cx="1097280" cy="1280160"/>
          </a:xfrm>
          <a:prstGeom prst="rect">
            <a:avLst/>
          </a:prstGeom>
          <a:solidFill>
            <a:srgbClr val="21295C"/>
          </a:solidFill>
          <a:ln/>
        </p:spPr>
        <p:txBody>
          <a:bodyPr/>
          <a:lstStyle/>
          <a:p>
            <a:endParaRPr lang="fr-FR"/>
          </a:p>
        </p:txBody>
      </p:sp>
      <p:sp>
        <p:nvSpPr>
          <p:cNvPr id="21" name="Text 19"/>
          <p:cNvSpPr/>
          <p:nvPr/>
        </p:nvSpPr>
        <p:spPr>
          <a:xfrm>
            <a:off x="7680960" y="2240280"/>
            <a:ext cx="914400" cy="457200"/>
          </a:xfrm>
          <a:prstGeom prst="rect">
            <a:avLst/>
          </a:prstGeom>
          <a:noFill/>
          <a:ln/>
        </p:spPr>
        <p:txBody>
          <a:bodyPr wrap="square" lIns="0" tIns="0" rIns="0" bIns="0" rtlCol="0" anchor="ctr"/>
          <a:lstStyle/>
          <a:p>
            <a:r>
              <a:rPr lang="en-US" b="1" dirty="0">
                <a:solidFill>
                  <a:schemeClr val="bg1"/>
                </a:solidFill>
                <a:latin typeface="Cambria"/>
                <a:ea typeface="Cambria"/>
                <a:hlinkClick r:id="rId3">
                  <a:extLst>
                    <a:ext uri="{A12FA001-AC4F-418D-AE19-62706E023703}">
                      <ahyp:hlinkClr xmlns:ahyp="http://schemas.microsoft.com/office/drawing/2018/hyperlinkcolor" val="tx"/>
                    </a:ext>
                  </a:extLst>
                </a:hlinkClick>
              </a:rPr>
              <a:t>Accès Public</a:t>
            </a:r>
            <a:endParaRPr lang="en-US" sz="1800" b="1">
              <a:solidFill>
                <a:schemeClr val="bg1"/>
              </a:solidFill>
              <a:latin typeface="Cambria"/>
              <a:ea typeface="Cambria"/>
              <a:hlinkClick r:id="rId3">
                <a:extLst>
                  <a:ext uri="{A12FA001-AC4F-418D-AE19-62706E023703}">
                    <ahyp:hlinkClr xmlns:ahyp="http://schemas.microsoft.com/office/drawing/2018/hyperlinkcolor" val="tx"/>
                  </a:ext>
                </a:extLst>
              </a:hlinkClick>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lIns="0" tIns="0" rIns="0" bIns="0" rtlCol="0" anchor="ctr"/>
          <a:lstStyle/>
          <a:p>
            <a:pPr marL="0" indent="0">
              <a:buNone/>
            </a:pPr>
            <a:r>
              <a:rPr lang="en-US" sz="2400" b="1">
                <a:solidFill>
                  <a:srgbClr val="FFFFFF"/>
                </a:solidFill>
                <a:latin typeface="Cambria" pitchFamily="34" charset="0"/>
                <a:ea typeface="Cambria" pitchFamily="34" charset="-122"/>
                <a:cs typeface="Cambria" pitchFamily="34" charset="-120"/>
              </a:rPr>
              <a:t>Démonstrations en ligne</a:t>
            </a:r>
            <a:endParaRPr lang="en-US" sz="2400"/>
          </a:p>
        </p:txBody>
      </p:sp>
      <p:sp>
        <p:nvSpPr>
          <p:cNvPr id="4" name="Shape 2"/>
          <p:cNvSpPr/>
          <p:nvPr/>
        </p:nvSpPr>
        <p:spPr>
          <a:xfrm>
            <a:off x="415178" y="2817831"/>
            <a:ext cx="8229600" cy="914400"/>
          </a:xfrm>
          <a:prstGeom prst="rect">
            <a:avLst/>
          </a:prstGeom>
          <a:solidFill>
            <a:srgbClr val="065A82"/>
          </a:solidFill>
          <a:ln/>
        </p:spPr>
        <p:txBody>
          <a:bodyPr/>
          <a:lstStyle/>
          <a:p>
            <a:endParaRPr lang="fr-FR"/>
          </a:p>
        </p:txBody>
      </p:sp>
      <p:sp>
        <p:nvSpPr>
          <p:cNvPr id="5" name="Shape 3"/>
          <p:cNvSpPr/>
          <p:nvPr/>
        </p:nvSpPr>
        <p:spPr>
          <a:xfrm>
            <a:off x="415178" y="2817831"/>
            <a:ext cx="91440" cy="914400"/>
          </a:xfrm>
          <a:prstGeom prst="rect">
            <a:avLst/>
          </a:prstGeom>
          <a:solidFill>
            <a:srgbClr val="9BC5C7"/>
          </a:solidFill>
          <a:ln/>
        </p:spPr>
        <p:txBody>
          <a:bodyPr/>
          <a:lstStyle/>
          <a:p>
            <a:endParaRPr lang="fr-FR"/>
          </a:p>
        </p:txBody>
      </p:sp>
      <p:sp>
        <p:nvSpPr>
          <p:cNvPr id="6" name="Text 4"/>
          <p:cNvSpPr/>
          <p:nvPr/>
        </p:nvSpPr>
        <p:spPr>
          <a:xfrm>
            <a:off x="735218" y="2927559"/>
            <a:ext cx="4114800" cy="365760"/>
          </a:xfrm>
          <a:prstGeom prst="rect">
            <a:avLst/>
          </a:prstGeom>
          <a:noFill/>
          <a:ln/>
        </p:spPr>
        <p:txBody>
          <a:bodyPr wrap="square" lIns="0" tIns="0" rIns="0" bIns="0" rtlCol="0" anchor="ctr"/>
          <a:lstStyle/>
          <a:p>
            <a:pPr marL="0" indent="0">
              <a:buNone/>
            </a:pPr>
            <a:r>
              <a:rPr lang="en-US" sz="1800" b="1">
                <a:solidFill>
                  <a:srgbClr val="FFFFFF"/>
                </a:solidFill>
                <a:latin typeface="Cambria" pitchFamily="34" charset="0"/>
                <a:ea typeface="Cambria" pitchFamily="34" charset="-122"/>
                <a:cs typeface="Cambria" pitchFamily="34" charset="-120"/>
              </a:rPr>
              <a:t>API de prédiction</a:t>
            </a:r>
            <a:endParaRPr lang="en-US" sz="1800"/>
          </a:p>
        </p:txBody>
      </p:sp>
      <p:sp>
        <p:nvSpPr>
          <p:cNvPr id="7" name="Text 5"/>
          <p:cNvSpPr/>
          <p:nvPr/>
        </p:nvSpPr>
        <p:spPr>
          <a:xfrm>
            <a:off x="735218" y="3320751"/>
            <a:ext cx="4114800" cy="320040"/>
          </a:xfrm>
          <a:prstGeom prst="rect">
            <a:avLst/>
          </a:prstGeom>
          <a:noFill/>
          <a:ln/>
        </p:spPr>
        <p:txBody>
          <a:bodyPr wrap="square" lIns="0" tIns="0" rIns="0" bIns="0" rtlCol="0" anchor="ctr"/>
          <a:lstStyle/>
          <a:p>
            <a:pPr marL="0" indent="0">
              <a:buNone/>
            </a:pPr>
            <a:r>
              <a:rPr lang="en-US" sz="1100" i="1">
                <a:solidFill>
                  <a:srgbClr val="9BC5C7"/>
                </a:solidFill>
                <a:latin typeface="Calibri" pitchFamily="34" charset="0"/>
                <a:ea typeface="Calibri" pitchFamily="34" charset="-122"/>
                <a:cs typeface="Calibri" pitchFamily="34" charset="-120"/>
              </a:rPr>
              <a:t>Documentation interactive et test du modèle</a:t>
            </a:r>
            <a:endParaRPr lang="en-US" sz="1100"/>
          </a:p>
        </p:txBody>
      </p:sp>
      <p:sp>
        <p:nvSpPr>
          <p:cNvPr id="8" name="Text 6">
            <a:hlinkClick r:id="rId3"/>
          </p:cNvPr>
          <p:cNvSpPr/>
          <p:nvPr/>
        </p:nvSpPr>
        <p:spPr>
          <a:xfrm>
            <a:off x="4941458" y="3092151"/>
            <a:ext cx="3611880" cy="365760"/>
          </a:xfrm>
          <a:prstGeom prst="rect">
            <a:avLst/>
          </a:prstGeom>
          <a:noFill/>
          <a:ln/>
        </p:spPr>
        <p:txBody>
          <a:bodyPr wrap="square" lIns="0" tIns="0" rIns="0" bIns="0" rtlCol="0" anchor="ctr"/>
          <a:lstStyle/>
          <a:p>
            <a:pPr marL="0" indent="0">
              <a:buNone/>
            </a:pPr>
            <a:r>
              <a:rPr lang="en-US" sz="1200" u="sng" dirty="0">
                <a:solidFill>
                  <a:schemeClr val="bg1"/>
                </a:solidFill>
                <a:latin typeface="Consolas"/>
                <a:hlinkClick r:id="rId4">
                  <a:extLst>
                    <a:ext uri="{A12FA001-AC4F-418D-AE19-62706E023703}">
                      <ahyp:hlinkClr xmlns:ahyp="http://schemas.microsoft.com/office/drawing/2018/hyperlinkcolor" val="tx"/>
                    </a:ext>
                  </a:extLst>
                </a:hlinkClick>
              </a:rPr>
              <a:t>https://getaround-fastapi-770512542898.europe-west9.run.app/docs</a:t>
            </a:r>
            <a:endParaRPr lang="en-US">
              <a:solidFill>
                <a:schemeClr val="bg1"/>
              </a:solidFill>
              <a:ea typeface="Calibri"/>
              <a:cs typeface="Calibri"/>
              <a:hlinkClick r:id="rId4">
                <a:extLst>
                  <a:ext uri="{A12FA001-AC4F-418D-AE19-62706E023703}">
                    <ahyp:hlinkClr xmlns:ahyp="http://schemas.microsoft.com/office/drawing/2018/hyperlinkcolor" val="tx"/>
                  </a:ext>
                </a:extLst>
              </a:hlinkClick>
            </a:endParaRPr>
          </a:p>
        </p:txBody>
      </p:sp>
      <p:sp>
        <p:nvSpPr>
          <p:cNvPr id="9" name="Shape 7"/>
          <p:cNvSpPr/>
          <p:nvPr/>
        </p:nvSpPr>
        <p:spPr>
          <a:xfrm>
            <a:off x="423582" y="1728485"/>
            <a:ext cx="8229600" cy="914400"/>
          </a:xfrm>
          <a:prstGeom prst="rect">
            <a:avLst/>
          </a:prstGeom>
          <a:solidFill>
            <a:srgbClr val="065A82"/>
          </a:solidFill>
          <a:ln/>
        </p:spPr>
        <p:txBody>
          <a:bodyPr/>
          <a:lstStyle/>
          <a:p>
            <a:endParaRPr lang="fr-FR"/>
          </a:p>
        </p:txBody>
      </p:sp>
      <p:sp>
        <p:nvSpPr>
          <p:cNvPr id="10" name="Shape 8"/>
          <p:cNvSpPr/>
          <p:nvPr/>
        </p:nvSpPr>
        <p:spPr>
          <a:xfrm>
            <a:off x="423582" y="1728485"/>
            <a:ext cx="91440" cy="914400"/>
          </a:xfrm>
          <a:prstGeom prst="rect">
            <a:avLst/>
          </a:prstGeom>
          <a:solidFill>
            <a:srgbClr val="9BC5C7"/>
          </a:solidFill>
          <a:ln/>
        </p:spPr>
        <p:txBody>
          <a:bodyPr/>
          <a:lstStyle/>
          <a:p>
            <a:endParaRPr lang="fr-FR"/>
          </a:p>
        </p:txBody>
      </p:sp>
      <p:sp>
        <p:nvSpPr>
          <p:cNvPr id="11" name="Text 9"/>
          <p:cNvSpPr/>
          <p:nvPr/>
        </p:nvSpPr>
        <p:spPr>
          <a:xfrm>
            <a:off x="743622" y="1838213"/>
            <a:ext cx="4114800" cy="365760"/>
          </a:xfrm>
          <a:prstGeom prst="rect">
            <a:avLst/>
          </a:prstGeom>
          <a:noFill/>
          <a:ln/>
        </p:spPr>
        <p:txBody>
          <a:bodyPr wrap="square" lIns="0" tIns="0" rIns="0" bIns="0" rtlCol="0" anchor="ctr"/>
          <a:lstStyle/>
          <a:p>
            <a:pPr marL="0" indent="0">
              <a:buNone/>
            </a:pPr>
            <a:r>
              <a:rPr lang="en-US" sz="1800" b="1">
                <a:solidFill>
                  <a:srgbClr val="FFFFFF"/>
                </a:solidFill>
                <a:latin typeface="Cambria" pitchFamily="34" charset="0"/>
                <a:ea typeface="Cambria" pitchFamily="34" charset="-122"/>
                <a:cs typeface="Cambria" pitchFamily="34" charset="-120"/>
              </a:rPr>
              <a:t>Tableau de bord</a:t>
            </a:r>
            <a:endParaRPr lang="en-US" sz="1800"/>
          </a:p>
        </p:txBody>
      </p:sp>
      <p:sp>
        <p:nvSpPr>
          <p:cNvPr id="12" name="Text 10"/>
          <p:cNvSpPr/>
          <p:nvPr/>
        </p:nvSpPr>
        <p:spPr>
          <a:xfrm>
            <a:off x="743622" y="2231405"/>
            <a:ext cx="4114800" cy="320040"/>
          </a:xfrm>
          <a:prstGeom prst="rect">
            <a:avLst/>
          </a:prstGeom>
          <a:noFill/>
          <a:ln/>
        </p:spPr>
        <p:txBody>
          <a:bodyPr wrap="square" lIns="0" tIns="0" rIns="0" bIns="0" rtlCol="0" anchor="ctr"/>
          <a:lstStyle/>
          <a:p>
            <a:pPr marL="0" indent="0">
              <a:buNone/>
            </a:pPr>
            <a:r>
              <a:rPr lang="en-US" sz="1100" i="1">
                <a:solidFill>
                  <a:srgbClr val="9BC5C7"/>
                </a:solidFill>
                <a:latin typeface="Calibri" pitchFamily="34" charset="0"/>
                <a:ea typeface="Calibri" pitchFamily="34" charset="-122"/>
                <a:cs typeface="Calibri" pitchFamily="34" charset="-120"/>
              </a:rPr>
              <a:t>Analyse interactive avec simulateur de seuil</a:t>
            </a:r>
            <a:endParaRPr lang="en-US" sz="1100"/>
          </a:p>
        </p:txBody>
      </p:sp>
      <p:sp>
        <p:nvSpPr>
          <p:cNvPr id="13" name="Text 11">
            <a:hlinkClick r:id="rId5"/>
          </p:cNvPr>
          <p:cNvSpPr/>
          <p:nvPr/>
        </p:nvSpPr>
        <p:spPr>
          <a:xfrm>
            <a:off x="4949862" y="2002805"/>
            <a:ext cx="3611880" cy="365760"/>
          </a:xfrm>
          <a:prstGeom prst="rect">
            <a:avLst/>
          </a:prstGeom>
          <a:noFill/>
          <a:ln/>
        </p:spPr>
        <p:txBody>
          <a:bodyPr wrap="square" lIns="0" tIns="0" rIns="0" bIns="0" rtlCol="0" anchor="ctr"/>
          <a:lstStyle/>
          <a:p>
            <a:pPr marL="0" indent="0">
              <a:buNone/>
            </a:pPr>
            <a:r>
              <a:rPr lang="en-US" sz="1200" u="sng" dirty="0">
                <a:solidFill>
                  <a:schemeClr val="bg1"/>
                </a:solidFill>
                <a:latin typeface="Consolas"/>
                <a:ea typeface="Consolas" pitchFamily="34" charset="-122"/>
                <a:cs typeface="Consolas" pitchFamily="34" charset="-120"/>
                <a:hlinkClick r:id="rId6">
                  <a:extLst>
                    <a:ext uri="{A12FA001-AC4F-418D-AE19-62706E023703}">
                      <ahyp:hlinkClr xmlns:ahyp="http://schemas.microsoft.com/office/drawing/2018/hyperlinkcolor" val="tx"/>
                    </a:ext>
                  </a:extLst>
                </a:hlinkClick>
              </a:rPr>
              <a:t>https://getaround-dashboard-770512542898.europe-west9.run.app/</a:t>
            </a:r>
            <a:endParaRPr lang="en-US">
              <a:solidFill>
                <a:schemeClr val="bg1"/>
              </a:solidFill>
              <a:ea typeface="Calibri"/>
              <a:cs typeface="Calibri"/>
              <a:hlinkClick r:id="rId6">
                <a:extLst>
                  <a:ext uri="{A12FA001-AC4F-418D-AE19-62706E023703}">
                    <ahyp:hlinkClr xmlns:ahyp="http://schemas.microsoft.com/office/drawing/2018/hyperlinkcolor" val="tx"/>
                  </a:ext>
                </a:extLst>
              </a:hlinkClick>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lIns="0" tIns="0" rIns="0" bIns="0" rtlCol="0" anchor="ctr"/>
          <a:lstStyle/>
          <a:p>
            <a:pPr marL="0" indent="0">
              <a:buNone/>
            </a:pPr>
            <a:r>
              <a:rPr lang="en-US" sz="2400" b="1">
                <a:solidFill>
                  <a:srgbClr val="FFFFFF"/>
                </a:solidFill>
                <a:latin typeface="Cambria" pitchFamily="34" charset="0"/>
                <a:ea typeface="Cambria" pitchFamily="34" charset="-122"/>
                <a:cs typeface="Cambria" pitchFamily="34" charset="-120"/>
              </a:rPr>
              <a:t>Conclusion et perspectives</a:t>
            </a:r>
            <a:endParaRPr lang="en-US" sz="2400"/>
          </a:p>
        </p:txBody>
      </p:sp>
      <p:sp>
        <p:nvSpPr>
          <p:cNvPr id="3" name="Text 1"/>
          <p:cNvSpPr/>
          <p:nvPr/>
        </p:nvSpPr>
        <p:spPr>
          <a:xfrm>
            <a:off x="457200" y="1005840"/>
            <a:ext cx="8229600" cy="411480"/>
          </a:xfrm>
          <a:prstGeom prst="rect">
            <a:avLst/>
          </a:prstGeom>
          <a:noFill/>
          <a:ln/>
        </p:spPr>
        <p:txBody>
          <a:bodyPr wrap="square" lIns="0" tIns="0" rIns="0" bIns="0" rtlCol="0" anchor="ctr"/>
          <a:lstStyle/>
          <a:p>
            <a:pPr marL="0" indent="0">
              <a:buNone/>
            </a:pPr>
            <a:r>
              <a:rPr lang="en-US" sz="1400" i="1">
                <a:solidFill>
                  <a:srgbClr val="9BC5C7"/>
                </a:solidFill>
                <a:latin typeface="Calibri" pitchFamily="34" charset="0"/>
                <a:ea typeface="Calibri" pitchFamily="34" charset="-122"/>
                <a:cs typeface="Calibri" pitchFamily="34" charset="-120"/>
              </a:rPr>
              <a:t>Un projet de bout en bout, du jeu de données brut au service consommable par l'équipe Produit.</a:t>
            </a:r>
            <a:endParaRPr lang="en-US" sz="1400"/>
          </a:p>
        </p:txBody>
      </p:sp>
      <p:sp>
        <p:nvSpPr>
          <p:cNvPr id="4" name="Shape 2"/>
          <p:cNvSpPr/>
          <p:nvPr/>
        </p:nvSpPr>
        <p:spPr>
          <a:xfrm>
            <a:off x="457200" y="1691640"/>
            <a:ext cx="4023360" cy="2743200"/>
          </a:xfrm>
          <a:prstGeom prst="rect">
            <a:avLst/>
          </a:prstGeom>
          <a:solidFill>
            <a:srgbClr val="065A82"/>
          </a:solidFill>
          <a:ln/>
        </p:spPr>
        <p:txBody>
          <a:bodyPr/>
          <a:lstStyle/>
          <a:p>
            <a:endParaRPr lang="fr-FR"/>
          </a:p>
        </p:txBody>
      </p:sp>
      <p:sp>
        <p:nvSpPr>
          <p:cNvPr id="5" name="Text 3"/>
          <p:cNvSpPr/>
          <p:nvPr/>
        </p:nvSpPr>
        <p:spPr>
          <a:xfrm>
            <a:off x="640080" y="1783080"/>
            <a:ext cx="3657600" cy="365760"/>
          </a:xfrm>
          <a:prstGeom prst="rect">
            <a:avLst/>
          </a:prstGeom>
          <a:noFill/>
          <a:ln/>
        </p:spPr>
        <p:txBody>
          <a:bodyPr wrap="square" lIns="0" tIns="0" rIns="0" bIns="0" rtlCol="0" anchor="ctr"/>
          <a:lstStyle/>
          <a:p>
            <a:pPr marL="0" indent="0">
              <a:buNone/>
            </a:pPr>
            <a:r>
              <a:rPr lang="en-US" sz="1800" b="1">
                <a:solidFill>
                  <a:srgbClr val="FFFFFF"/>
                </a:solidFill>
                <a:latin typeface="Cambria" pitchFamily="34" charset="0"/>
                <a:ea typeface="Cambria" pitchFamily="34" charset="-122"/>
                <a:cs typeface="Cambria" pitchFamily="34" charset="-120"/>
              </a:rPr>
              <a:t>Livrables</a:t>
            </a:r>
            <a:endParaRPr lang="en-US" sz="1800"/>
          </a:p>
        </p:txBody>
      </p:sp>
      <p:sp>
        <p:nvSpPr>
          <p:cNvPr id="6" name="Shape 4"/>
          <p:cNvSpPr/>
          <p:nvPr/>
        </p:nvSpPr>
        <p:spPr>
          <a:xfrm>
            <a:off x="640080" y="2194560"/>
            <a:ext cx="548640" cy="0"/>
          </a:xfrm>
          <a:prstGeom prst="line">
            <a:avLst/>
          </a:prstGeom>
          <a:noFill/>
          <a:ln w="19050">
            <a:solidFill>
              <a:srgbClr val="9BC5C7"/>
            </a:solidFill>
            <a:prstDash val="solid"/>
          </a:ln>
        </p:spPr>
        <p:txBody>
          <a:bodyPr/>
          <a:lstStyle/>
          <a:p>
            <a:endParaRPr lang="fr-FR"/>
          </a:p>
        </p:txBody>
      </p:sp>
      <p:sp>
        <p:nvSpPr>
          <p:cNvPr id="7" name="Text 5"/>
          <p:cNvSpPr/>
          <p:nvPr/>
        </p:nvSpPr>
        <p:spPr>
          <a:xfrm>
            <a:off x="640080" y="2331720"/>
            <a:ext cx="3657600" cy="2057400"/>
          </a:xfrm>
          <a:prstGeom prst="rect">
            <a:avLst/>
          </a:prstGeom>
          <a:noFill/>
          <a:ln/>
        </p:spPr>
        <p:txBody>
          <a:bodyPr wrap="square" lIns="0" tIns="0" rIns="0" bIns="0" rtlCol="0" anchor="ctr"/>
          <a:lstStyle/>
          <a:p>
            <a:pPr marL="342900" indent="-342900">
              <a:spcAft>
                <a:spcPts val="600"/>
              </a:spcAft>
              <a:buSzPct val="100000"/>
              <a:buChar char="•"/>
            </a:pPr>
            <a:r>
              <a:rPr lang="en-US" sz="1200" dirty="0" err="1">
                <a:solidFill>
                  <a:srgbClr val="FFFFFF"/>
                </a:solidFill>
                <a:latin typeface="Calibri"/>
                <a:ea typeface="Calibri"/>
                <a:cs typeface="Calibri"/>
              </a:rPr>
              <a:t>Recommandations</a:t>
            </a:r>
            <a:r>
              <a:rPr lang="en-US" sz="1200" dirty="0">
                <a:solidFill>
                  <a:srgbClr val="FFFFFF"/>
                </a:solidFill>
                <a:latin typeface="Calibri"/>
                <a:ea typeface="Calibri"/>
                <a:cs typeface="Calibri"/>
              </a:rPr>
              <a:t> </a:t>
            </a:r>
            <a:r>
              <a:rPr lang="en-US" sz="1200" dirty="0" err="1">
                <a:solidFill>
                  <a:srgbClr val="FFFFFF"/>
                </a:solidFill>
                <a:latin typeface="Calibri"/>
                <a:ea typeface="Calibri"/>
                <a:cs typeface="Calibri"/>
              </a:rPr>
              <a:t>chiffrées</a:t>
            </a:r>
            <a:r>
              <a:rPr lang="en-US" sz="1200" dirty="0">
                <a:solidFill>
                  <a:srgbClr val="FFFFFF"/>
                </a:solidFill>
                <a:latin typeface="Calibri"/>
                <a:ea typeface="Calibri"/>
                <a:cs typeface="Calibri"/>
              </a:rPr>
              <a:t> sur les </a:t>
            </a:r>
            <a:r>
              <a:rPr lang="en-US" sz="1200" dirty="0" err="1">
                <a:solidFill>
                  <a:srgbClr val="FFFFFF"/>
                </a:solidFill>
                <a:latin typeface="Calibri"/>
                <a:ea typeface="Calibri"/>
                <a:cs typeface="Calibri"/>
              </a:rPr>
              <a:t>seuils</a:t>
            </a:r>
            <a:r>
              <a:rPr lang="en-US" sz="1200" dirty="0">
                <a:solidFill>
                  <a:srgbClr val="FFFFFF"/>
                </a:solidFill>
                <a:latin typeface="Calibri"/>
                <a:ea typeface="Calibri"/>
                <a:cs typeface="Calibri"/>
              </a:rPr>
              <a:t> de </a:t>
            </a:r>
            <a:r>
              <a:rPr lang="en-US" sz="1200" dirty="0" err="1">
                <a:solidFill>
                  <a:srgbClr val="FFFFFF"/>
                </a:solidFill>
                <a:latin typeface="Calibri"/>
                <a:ea typeface="Calibri"/>
                <a:cs typeface="Calibri"/>
              </a:rPr>
              <a:t>délai</a:t>
            </a:r>
            <a:r>
              <a:rPr lang="en-US" sz="1200" dirty="0">
                <a:solidFill>
                  <a:srgbClr val="FFFFFF"/>
                </a:solidFill>
                <a:latin typeface="Calibri"/>
                <a:ea typeface="Calibri"/>
                <a:cs typeface="Calibri"/>
              </a:rPr>
              <a:t> entre locations</a:t>
            </a:r>
            <a:endParaRPr lang="en-US" sz="1200">
              <a:latin typeface="Calibri"/>
              <a:ea typeface="Calibri"/>
              <a:cs typeface="Calibri"/>
            </a:endParaRPr>
          </a:p>
          <a:p>
            <a:pPr marL="342900" indent="-342900">
              <a:spcAft>
                <a:spcPts val="600"/>
              </a:spcAft>
              <a:buSzPct val="100000"/>
              <a:buFont typeface="Arial"/>
              <a:buChar char="•"/>
            </a:pPr>
            <a:r>
              <a:rPr lang="en-US" sz="1200" dirty="0">
                <a:solidFill>
                  <a:srgbClr val="FFFFFF"/>
                </a:solidFill>
                <a:latin typeface="Calibri"/>
                <a:ea typeface="Calibri"/>
                <a:cs typeface="Calibri"/>
              </a:rPr>
              <a:t>Tableau de bord </a:t>
            </a:r>
            <a:r>
              <a:rPr lang="en-US" sz="1200" dirty="0" err="1">
                <a:solidFill>
                  <a:srgbClr val="FFFFFF"/>
                </a:solidFill>
                <a:latin typeface="Calibri"/>
                <a:ea typeface="Calibri"/>
                <a:cs typeface="Calibri"/>
              </a:rPr>
              <a:t>interactif</a:t>
            </a:r>
            <a:r>
              <a:rPr lang="en-US" sz="1200" dirty="0">
                <a:solidFill>
                  <a:srgbClr val="FFFFFF"/>
                </a:solidFill>
                <a:latin typeface="Calibri"/>
                <a:ea typeface="Calibri"/>
                <a:cs typeface="Calibri"/>
              </a:rPr>
              <a:t> pour </a:t>
            </a:r>
            <a:r>
              <a:rPr lang="en-US" sz="1200" dirty="0" err="1">
                <a:solidFill>
                  <a:srgbClr val="FFFFFF"/>
                </a:solidFill>
                <a:latin typeface="Calibri"/>
                <a:ea typeface="Calibri"/>
                <a:cs typeface="Calibri"/>
              </a:rPr>
              <a:t>l'équipe</a:t>
            </a:r>
            <a:r>
              <a:rPr lang="en-US" sz="1200" dirty="0">
                <a:solidFill>
                  <a:srgbClr val="FFFFFF"/>
                </a:solidFill>
                <a:latin typeface="Calibri"/>
                <a:ea typeface="Calibri"/>
                <a:cs typeface="Calibri"/>
              </a:rPr>
              <a:t> </a:t>
            </a:r>
            <a:r>
              <a:rPr lang="en-US" sz="1200">
                <a:solidFill>
                  <a:srgbClr val="FFFFFF"/>
                </a:solidFill>
                <a:latin typeface="Calibri"/>
                <a:ea typeface="Calibri"/>
                <a:cs typeface="Calibri"/>
              </a:rPr>
              <a:t>Produit</a:t>
            </a:r>
            <a:endParaRPr lang="en-US" sz="1200">
              <a:solidFill>
                <a:srgbClr val="000000"/>
              </a:solidFill>
              <a:latin typeface="Calibri"/>
              <a:ea typeface="Calibri"/>
              <a:cs typeface="Calibri"/>
            </a:endParaRPr>
          </a:p>
          <a:p>
            <a:pPr marL="342900" indent="-342900">
              <a:spcAft>
                <a:spcPts val="600"/>
              </a:spcAft>
              <a:buSzPct val="100000"/>
              <a:buChar char="•"/>
            </a:pPr>
            <a:r>
              <a:rPr lang="en-US" sz="1200" dirty="0" err="1">
                <a:solidFill>
                  <a:srgbClr val="FFFFFF"/>
                </a:solidFill>
                <a:latin typeface="Calibri"/>
                <a:ea typeface="Calibri"/>
                <a:cs typeface="Calibri"/>
              </a:rPr>
              <a:t>Modèle</a:t>
            </a:r>
            <a:r>
              <a:rPr lang="en-US" sz="1200" dirty="0">
                <a:solidFill>
                  <a:srgbClr val="FFFFFF"/>
                </a:solidFill>
                <a:latin typeface="Calibri"/>
                <a:ea typeface="Calibri"/>
                <a:cs typeface="Calibri"/>
              </a:rPr>
              <a:t> </a:t>
            </a:r>
            <a:r>
              <a:rPr lang="en-US" sz="1200" dirty="0" err="1">
                <a:solidFill>
                  <a:srgbClr val="FFFFFF"/>
                </a:solidFill>
                <a:latin typeface="Calibri"/>
                <a:ea typeface="Calibri"/>
                <a:cs typeface="Calibri"/>
              </a:rPr>
              <a:t>XGBoost</a:t>
            </a:r>
            <a:r>
              <a:rPr lang="en-US" sz="1200" dirty="0">
                <a:solidFill>
                  <a:srgbClr val="FFFFFF"/>
                </a:solidFill>
                <a:latin typeface="Calibri"/>
                <a:ea typeface="Calibri"/>
                <a:cs typeface="Calibri"/>
              </a:rPr>
              <a:t> (MAE 9,18 EUR, R² 0,846)</a:t>
            </a:r>
            <a:endParaRPr lang="en-US" sz="1200" dirty="0">
              <a:latin typeface="Calibri"/>
              <a:ea typeface="Calibri"/>
              <a:cs typeface="Calibri"/>
            </a:endParaRPr>
          </a:p>
          <a:p>
            <a:pPr marL="342900" indent="-342900">
              <a:spcAft>
                <a:spcPts val="600"/>
              </a:spcAft>
              <a:buSzPct val="100000"/>
              <a:buChar char="•"/>
            </a:pPr>
            <a:r>
              <a:rPr lang="en-US" sz="1200" dirty="0">
                <a:solidFill>
                  <a:srgbClr val="FFFFFF"/>
                </a:solidFill>
                <a:latin typeface="Calibri"/>
                <a:ea typeface="Calibri"/>
                <a:cs typeface="Calibri"/>
              </a:rPr>
              <a:t>API REST </a:t>
            </a:r>
            <a:r>
              <a:rPr lang="en-US" sz="1200" dirty="0" err="1">
                <a:solidFill>
                  <a:srgbClr val="FFFFFF"/>
                </a:solidFill>
                <a:latin typeface="Calibri"/>
                <a:ea typeface="Calibri"/>
                <a:cs typeface="Calibri"/>
              </a:rPr>
              <a:t>documentée</a:t>
            </a:r>
            <a:r>
              <a:rPr lang="en-US" sz="1200" dirty="0">
                <a:solidFill>
                  <a:srgbClr val="FFFFFF"/>
                </a:solidFill>
                <a:latin typeface="Calibri"/>
                <a:ea typeface="Calibri"/>
                <a:cs typeface="Calibri"/>
              </a:rPr>
              <a:t> </a:t>
            </a:r>
            <a:r>
              <a:rPr lang="en-US" sz="1200" dirty="0" err="1">
                <a:solidFill>
                  <a:srgbClr val="FFFFFF"/>
                </a:solidFill>
                <a:latin typeface="Calibri"/>
                <a:ea typeface="Calibri"/>
                <a:cs typeface="Calibri"/>
              </a:rPr>
              <a:t>déployée</a:t>
            </a:r>
            <a:r>
              <a:rPr lang="en-US" sz="1200" dirty="0">
                <a:solidFill>
                  <a:srgbClr val="FFFFFF"/>
                </a:solidFill>
                <a:latin typeface="Calibri"/>
                <a:ea typeface="Calibri"/>
                <a:cs typeface="Calibri"/>
              </a:rPr>
              <a:t> </a:t>
            </a:r>
            <a:r>
              <a:rPr lang="en-US" sz="1200" dirty="0" err="1">
                <a:solidFill>
                  <a:srgbClr val="FFFFFF"/>
                </a:solidFill>
                <a:latin typeface="Calibri"/>
                <a:ea typeface="Calibri"/>
                <a:cs typeface="Calibri"/>
              </a:rPr>
              <a:t>en</a:t>
            </a:r>
            <a:r>
              <a:rPr lang="en-US" sz="1200" dirty="0">
                <a:solidFill>
                  <a:srgbClr val="FFFFFF"/>
                </a:solidFill>
                <a:latin typeface="Calibri"/>
                <a:ea typeface="Calibri"/>
                <a:cs typeface="Calibri"/>
              </a:rPr>
              <a:t> production</a:t>
            </a:r>
            <a:endParaRPr lang="en-US" sz="1200" dirty="0">
              <a:latin typeface="Calibri"/>
              <a:ea typeface="Calibri"/>
              <a:cs typeface="Calibri"/>
            </a:endParaRPr>
          </a:p>
          <a:p>
            <a:pPr marL="342900" indent="-342900">
              <a:spcAft>
                <a:spcPts val="600"/>
              </a:spcAft>
              <a:buSzPct val="100000"/>
              <a:buChar char="•"/>
            </a:pPr>
            <a:r>
              <a:rPr lang="en-US" sz="1200" dirty="0" err="1">
                <a:solidFill>
                  <a:srgbClr val="FFFFFF"/>
                </a:solidFill>
                <a:latin typeface="Calibri"/>
                <a:ea typeface="Calibri"/>
                <a:cs typeface="Calibri"/>
              </a:rPr>
              <a:t>Suivi</a:t>
            </a:r>
            <a:r>
              <a:rPr lang="en-US" sz="1200" dirty="0">
                <a:solidFill>
                  <a:srgbClr val="FFFFFF"/>
                </a:solidFill>
                <a:latin typeface="Calibri"/>
                <a:ea typeface="Calibri"/>
                <a:cs typeface="Calibri"/>
              </a:rPr>
              <a:t> </a:t>
            </a:r>
            <a:r>
              <a:rPr lang="en-US" sz="1200" dirty="0" err="1">
                <a:solidFill>
                  <a:srgbClr val="FFFFFF"/>
                </a:solidFill>
                <a:latin typeface="Calibri"/>
                <a:ea typeface="Calibri"/>
                <a:cs typeface="Calibri"/>
              </a:rPr>
              <a:t>MLflow</a:t>
            </a:r>
            <a:r>
              <a:rPr lang="en-US" sz="1200" dirty="0">
                <a:solidFill>
                  <a:srgbClr val="FFFFFF"/>
                </a:solidFill>
                <a:latin typeface="Calibri"/>
                <a:ea typeface="Calibri"/>
                <a:cs typeface="Calibri"/>
              </a:rPr>
              <a:t> reproductible</a:t>
            </a:r>
            <a:endParaRPr lang="en-US" sz="1200" dirty="0">
              <a:latin typeface="Calibri"/>
              <a:ea typeface="Calibri"/>
              <a:cs typeface="Calibri"/>
            </a:endParaRPr>
          </a:p>
        </p:txBody>
      </p:sp>
      <p:sp>
        <p:nvSpPr>
          <p:cNvPr id="8" name="Shape 6"/>
          <p:cNvSpPr/>
          <p:nvPr/>
        </p:nvSpPr>
        <p:spPr>
          <a:xfrm>
            <a:off x="4663440" y="1691640"/>
            <a:ext cx="4023360" cy="2743200"/>
          </a:xfrm>
          <a:prstGeom prst="rect">
            <a:avLst/>
          </a:prstGeom>
          <a:solidFill>
            <a:srgbClr val="1C7293"/>
          </a:solidFill>
          <a:ln/>
        </p:spPr>
        <p:txBody>
          <a:bodyPr/>
          <a:lstStyle/>
          <a:p>
            <a:endParaRPr lang="fr-FR"/>
          </a:p>
        </p:txBody>
      </p:sp>
      <p:sp>
        <p:nvSpPr>
          <p:cNvPr id="9" name="Text 7"/>
          <p:cNvSpPr/>
          <p:nvPr/>
        </p:nvSpPr>
        <p:spPr>
          <a:xfrm>
            <a:off x="4846320" y="1783080"/>
            <a:ext cx="3657600" cy="365760"/>
          </a:xfrm>
          <a:prstGeom prst="rect">
            <a:avLst/>
          </a:prstGeom>
          <a:noFill/>
          <a:ln/>
        </p:spPr>
        <p:txBody>
          <a:bodyPr wrap="square" lIns="0" tIns="0" rIns="0" bIns="0" rtlCol="0" anchor="ctr"/>
          <a:lstStyle/>
          <a:p>
            <a:pPr marL="0" indent="0">
              <a:buNone/>
            </a:pPr>
            <a:r>
              <a:rPr lang="en-US" sz="1800" b="1">
                <a:solidFill>
                  <a:srgbClr val="FFFFFF"/>
                </a:solidFill>
                <a:latin typeface="Cambria" pitchFamily="34" charset="0"/>
                <a:ea typeface="Cambria" pitchFamily="34" charset="-122"/>
                <a:cs typeface="Cambria" pitchFamily="34" charset="-120"/>
              </a:rPr>
              <a:t>Pistes d'amélioration</a:t>
            </a:r>
            <a:endParaRPr lang="en-US" sz="1800"/>
          </a:p>
        </p:txBody>
      </p:sp>
      <p:sp>
        <p:nvSpPr>
          <p:cNvPr id="10" name="Shape 8"/>
          <p:cNvSpPr/>
          <p:nvPr/>
        </p:nvSpPr>
        <p:spPr>
          <a:xfrm>
            <a:off x="4846320" y="2194560"/>
            <a:ext cx="548640" cy="0"/>
          </a:xfrm>
          <a:prstGeom prst="line">
            <a:avLst/>
          </a:prstGeom>
          <a:noFill/>
          <a:ln w="19050">
            <a:solidFill>
              <a:srgbClr val="FFFFFF"/>
            </a:solidFill>
            <a:prstDash val="solid"/>
          </a:ln>
        </p:spPr>
        <p:txBody>
          <a:bodyPr/>
          <a:lstStyle/>
          <a:p>
            <a:endParaRPr lang="fr-FR"/>
          </a:p>
        </p:txBody>
      </p:sp>
      <p:sp>
        <p:nvSpPr>
          <p:cNvPr id="11" name="Text 9"/>
          <p:cNvSpPr/>
          <p:nvPr/>
        </p:nvSpPr>
        <p:spPr>
          <a:xfrm>
            <a:off x="4846320" y="2331720"/>
            <a:ext cx="3657600" cy="2057400"/>
          </a:xfrm>
          <a:prstGeom prst="rect">
            <a:avLst/>
          </a:prstGeom>
          <a:noFill/>
          <a:ln/>
        </p:spPr>
        <p:txBody>
          <a:bodyPr wrap="square" lIns="0" tIns="0" rIns="0" bIns="0" rtlCol="0" anchor="ctr"/>
          <a:lstStyle/>
          <a:p>
            <a:pPr marL="342900" indent="-342900">
              <a:spcAft>
                <a:spcPts val="600"/>
              </a:spcAft>
              <a:buSzPct val="100000"/>
              <a:buChar char="•"/>
            </a:pPr>
            <a:r>
              <a:rPr lang="en-US" sz="1200" dirty="0" err="1">
                <a:solidFill>
                  <a:srgbClr val="FFFFFF"/>
                </a:solidFill>
                <a:latin typeface="Calibri"/>
                <a:ea typeface="Calibri"/>
                <a:cs typeface="Calibri"/>
              </a:rPr>
              <a:t>Affiner</a:t>
            </a:r>
            <a:r>
              <a:rPr lang="en-US" sz="1200" dirty="0">
                <a:solidFill>
                  <a:srgbClr val="FFFFFF"/>
                </a:solidFill>
                <a:latin typeface="Calibri"/>
                <a:ea typeface="Calibri"/>
                <a:cs typeface="Calibri"/>
              </a:rPr>
              <a:t> la segmentation par </a:t>
            </a:r>
            <a:r>
              <a:rPr lang="en-US" sz="1200" dirty="0" err="1">
                <a:solidFill>
                  <a:srgbClr val="FFFFFF"/>
                </a:solidFill>
                <a:latin typeface="Calibri"/>
                <a:ea typeface="Calibri"/>
                <a:cs typeface="Calibri"/>
              </a:rPr>
              <a:t>profil</a:t>
            </a:r>
            <a:r>
              <a:rPr lang="en-US" sz="1200" dirty="0">
                <a:solidFill>
                  <a:srgbClr val="FFFFFF"/>
                </a:solidFill>
                <a:latin typeface="Calibri"/>
                <a:ea typeface="Calibri"/>
                <a:cs typeface="Calibri"/>
              </a:rPr>
              <a:t> de véhicule</a:t>
            </a:r>
            <a:endParaRPr lang="en-US" sz="1200" dirty="0">
              <a:latin typeface="Calibri"/>
              <a:ea typeface="Calibri"/>
              <a:cs typeface="Calibri"/>
            </a:endParaRPr>
          </a:p>
          <a:p>
            <a:pPr marL="342900" indent="-342900">
              <a:spcAft>
                <a:spcPts val="600"/>
              </a:spcAft>
              <a:buSzPct val="100000"/>
              <a:buChar char="•"/>
            </a:pPr>
            <a:r>
              <a:rPr lang="en-US" sz="1200" dirty="0" err="1">
                <a:solidFill>
                  <a:srgbClr val="FFFFFF"/>
                </a:solidFill>
                <a:latin typeface="Calibri"/>
                <a:ea typeface="Calibri"/>
                <a:cs typeface="Calibri"/>
              </a:rPr>
              <a:t>Ajouter</a:t>
            </a:r>
            <a:r>
              <a:rPr lang="en-US" sz="1200" dirty="0">
                <a:solidFill>
                  <a:srgbClr val="FFFFFF"/>
                </a:solidFill>
                <a:latin typeface="Calibri"/>
                <a:ea typeface="Calibri"/>
                <a:cs typeface="Calibri"/>
              </a:rPr>
              <a:t> des variables </a:t>
            </a:r>
            <a:r>
              <a:rPr lang="en-US" sz="1200" dirty="0" err="1">
                <a:solidFill>
                  <a:srgbClr val="FFFFFF"/>
                </a:solidFill>
                <a:latin typeface="Calibri"/>
                <a:ea typeface="Calibri"/>
                <a:cs typeface="Calibri"/>
              </a:rPr>
              <a:t>géographiques</a:t>
            </a:r>
            <a:r>
              <a:rPr lang="en-US" sz="1200" dirty="0">
                <a:solidFill>
                  <a:srgbClr val="FFFFFF"/>
                </a:solidFill>
                <a:latin typeface="Calibri"/>
                <a:ea typeface="Calibri"/>
                <a:cs typeface="Calibri"/>
              </a:rPr>
              <a:t> et </a:t>
            </a:r>
            <a:r>
              <a:rPr lang="en-US" sz="1200" dirty="0" err="1">
                <a:solidFill>
                  <a:srgbClr val="FFFFFF"/>
                </a:solidFill>
                <a:latin typeface="Calibri"/>
                <a:ea typeface="Calibri"/>
                <a:cs typeface="Calibri"/>
              </a:rPr>
              <a:t>saisonnières</a:t>
            </a:r>
            <a:endParaRPr lang="en-US" sz="1200" dirty="0" err="1">
              <a:latin typeface="Calibri"/>
              <a:ea typeface="Calibri"/>
              <a:cs typeface="Calibri"/>
            </a:endParaRPr>
          </a:p>
          <a:p>
            <a:pPr marL="342900" indent="-342900">
              <a:spcAft>
                <a:spcPts val="600"/>
              </a:spcAft>
              <a:buSzPct val="100000"/>
              <a:buChar char="•"/>
            </a:pPr>
            <a:r>
              <a:rPr lang="en-US" sz="1200" dirty="0" err="1">
                <a:solidFill>
                  <a:srgbClr val="FFFFFF"/>
                </a:solidFill>
                <a:latin typeface="Calibri"/>
                <a:ea typeface="Calibri"/>
                <a:cs typeface="Calibri"/>
              </a:rPr>
              <a:t>Mettre</a:t>
            </a:r>
            <a:r>
              <a:rPr lang="en-US" sz="1200" dirty="0">
                <a:solidFill>
                  <a:srgbClr val="FFFFFF"/>
                </a:solidFill>
                <a:latin typeface="Calibri"/>
                <a:ea typeface="Calibri"/>
                <a:cs typeface="Calibri"/>
              </a:rPr>
              <a:t> </a:t>
            </a:r>
            <a:r>
              <a:rPr lang="en-US" sz="1200" dirty="0" err="1">
                <a:solidFill>
                  <a:srgbClr val="FFFFFF"/>
                </a:solidFill>
                <a:latin typeface="Calibri"/>
                <a:ea typeface="Calibri"/>
                <a:cs typeface="Calibri"/>
              </a:rPr>
              <a:t>en</a:t>
            </a:r>
            <a:r>
              <a:rPr lang="en-US" sz="1200" dirty="0">
                <a:solidFill>
                  <a:srgbClr val="FFFFFF"/>
                </a:solidFill>
                <a:latin typeface="Calibri"/>
                <a:ea typeface="Calibri"/>
                <a:cs typeface="Calibri"/>
              </a:rPr>
              <a:t> place un monitoring du drift du </a:t>
            </a:r>
            <a:r>
              <a:rPr lang="en-US" sz="1200" dirty="0" err="1">
                <a:solidFill>
                  <a:srgbClr val="FFFFFF"/>
                </a:solidFill>
                <a:latin typeface="Calibri"/>
                <a:ea typeface="Calibri"/>
                <a:cs typeface="Calibri"/>
              </a:rPr>
              <a:t>modèle</a:t>
            </a:r>
            <a:endParaRPr lang="en-US" sz="1200" dirty="0" err="1">
              <a:latin typeface="Calibri"/>
              <a:ea typeface="Calibri"/>
              <a:cs typeface="Calibri"/>
            </a:endParaRPr>
          </a:p>
          <a:p>
            <a:pPr marL="342900" indent="-342900">
              <a:spcAft>
                <a:spcPts val="600"/>
              </a:spcAft>
              <a:buSzPct val="100000"/>
              <a:buChar char="•"/>
            </a:pPr>
            <a:r>
              <a:rPr lang="en-US" sz="1200" dirty="0">
                <a:solidFill>
                  <a:srgbClr val="FFFFFF"/>
                </a:solidFill>
                <a:latin typeface="Calibri"/>
                <a:ea typeface="Calibri"/>
                <a:cs typeface="Calibri"/>
              </a:rPr>
              <a:t>Industrialiser le </a:t>
            </a:r>
            <a:r>
              <a:rPr lang="en-US" sz="1200" dirty="0" err="1">
                <a:solidFill>
                  <a:srgbClr val="FFFFFF"/>
                </a:solidFill>
                <a:latin typeface="Calibri"/>
                <a:ea typeface="Calibri"/>
                <a:cs typeface="Calibri"/>
              </a:rPr>
              <a:t>réentraînement</a:t>
            </a:r>
            <a:r>
              <a:rPr lang="en-US" sz="1200" dirty="0">
                <a:solidFill>
                  <a:srgbClr val="FFFFFF"/>
                </a:solidFill>
                <a:latin typeface="Calibri"/>
                <a:ea typeface="Calibri"/>
                <a:cs typeface="Calibri"/>
              </a:rPr>
              <a:t> </a:t>
            </a:r>
            <a:r>
              <a:rPr lang="en-US" sz="1200" dirty="0" err="1">
                <a:solidFill>
                  <a:srgbClr val="FFFFFF"/>
                </a:solidFill>
                <a:latin typeface="Calibri"/>
                <a:ea typeface="Calibri"/>
                <a:cs typeface="Calibri"/>
              </a:rPr>
              <a:t>périodique</a:t>
            </a:r>
            <a:endParaRPr lang="en-US" sz="1200" dirty="0" err="1">
              <a:latin typeface="Calibri"/>
              <a:ea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6243F"/>
        </a:solidFill>
        <a:effectLst/>
      </p:bgPr>
    </p:bg>
    <p:spTree>
      <p:nvGrpSpPr>
        <p:cNvPr id="1" name="">
          <a:extLst>
            <a:ext uri="{FF2B5EF4-FFF2-40B4-BE49-F238E27FC236}">
              <a16:creationId xmlns:a16="http://schemas.microsoft.com/office/drawing/2014/main" id="{ED40F566-DA33-AA0F-1A11-36B24D46CF2B}"/>
            </a:ext>
          </a:extLst>
        </p:cNvPr>
        <p:cNvGrpSpPr/>
        <p:nvPr/>
      </p:nvGrpSpPr>
      <p:grpSpPr>
        <a:xfrm>
          <a:off x="0" y="0"/>
          <a:ext cx="0" cy="0"/>
          <a:chOff x="0" y="0"/>
          <a:chExt cx="0" cy="0"/>
        </a:xfrm>
      </p:grpSpPr>
      <p:sp>
        <p:nvSpPr>
          <p:cNvPr id="12" name="Text 9">
            <a:extLst>
              <a:ext uri="{FF2B5EF4-FFF2-40B4-BE49-F238E27FC236}">
                <a16:creationId xmlns:a16="http://schemas.microsoft.com/office/drawing/2014/main" id="{602BB7FA-73DE-026D-2D1A-6B340C876417}"/>
              </a:ext>
            </a:extLst>
          </p:cNvPr>
          <p:cNvSpPr/>
          <p:nvPr/>
        </p:nvSpPr>
        <p:spPr>
          <a:xfrm>
            <a:off x="4972050" y="1920240"/>
            <a:ext cx="480060" cy="48006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endParaRPr lang="fr-FR" sz="2250" noProof="0" dirty="0"/>
          </a:p>
        </p:txBody>
      </p:sp>
      <p:sp>
        <p:nvSpPr>
          <p:cNvPr id="20" name="Text 17">
            <a:extLst>
              <a:ext uri="{FF2B5EF4-FFF2-40B4-BE49-F238E27FC236}">
                <a16:creationId xmlns:a16="http://schemas.microsoft.com/office/drawing/2014/main" id="{526AA76A-A2AF-DFEC-FE76-9247A56B2D91}"/>
              </a:ext>
            </a:extLst>
          </p:cNvPr>
          <p:cNvSpPr/>
          <p:nvPr/>
        </p:nvSpPr>
        <p:spPr>
          <a:xfrm>
            <a:off x="4972050" y="2948940"/>
            <a:ext cx="480060" cy="48006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endParaRPr lang="fr-FR" sz="2250" noProof="0" dirty="0"/>
          </a:p>
        </p:txBody>
      </p:sp>
      <p:sp>
        <p:nvSpPr>
          <p:cNvPr id="25" name="Slide Number Placeholder 0">
            <a:extLst>
              <a:ext uri="{FF2B5EF4-FFF2-40B4-BE49-F238E27FC236}">
                <a16:creationId xmlns:a16="http://schemas.microsoft.com/office/drawing/2014/main" id="{D2B8AEEA-B098-2027-1478-095929815361}"/>
              </a:ext>
            </a:extLst>
          </p:cNvPr>
          <p:cNvSpPr>
            <a:spLocks noGrp="1"/>
          </p:cNvSpPr>
          <p:nvPr>
            <p:ph type="sldNum" sz="quarter" idx="4294967295"/>
          </p:nvPr>
        </p:nvSpPr>
        <p:spPr>
          <a:xfrm>
            <a:off x="8572500" y="4841748"/>
            <a:ext cx="480060" cy="205740"/>
          </a:xfrm>
          <a:prstGeom prst="rect">
            <a:avLst/>
          </a:prstGeom>
          <a:extLst>
            <a:ext uri="{C572A759-6A51-4108-AA02-DFA0A04FC94B}">
              <ma14:wrappingTextBoxFlag xmlns="" xmlns:ma14="http://schemas.microsoft.com/office/mac/drawingml/2011/main" val="0"/>
            </a:ext>
          </a:extLst>
        </p:spPr>
        <p:txBody>
          <a:bodyPr/>
          <a:lstStyle>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algn="r"/>
            <a:fld id="{F7021451-1387-4CA6-816F-3879F97B5CBC}" type="slidenum">
              <a:rPr lang="fr-FR" b="0" noProof="0" smtClean="0"/>
              <a:t>14</a:t>
            </a:fld>
            <a:endParaRPr lang="fr-FR" noProof="0" dirty="0"/>
          </a:p>
        </p:txBody>
      </p:sp>
      <p:sp>
        <p:nvSpPr>
          <p:cNvPr id="24" name="ZoneTexte 23">
            <a:extLst>
              <a:ext uri="{FF2B5EF4-FFF2-40B4-BE49-F238E27FC236}">
                <a16:creationId xmlns:a16="http://schemas.microsoft.com/office/drawing/2014/main" id="{A543C3DC-317E-7A34-D33C-DD831E8BCDF6}"/>
              </a:ext>
            </a:extLst>
          </p:cNvPr>
          <p:cNvSpPr txBox="1"/>
          <p:nvPr/>
        </p:nvSpPr>
        <p:spPr>
          <a:xfrm>
            <a:off x="1539815" y="1824487"/>
            <a:ext cx="5104682" cy="1194622"/>
          </a:xfrm>
          <a:prstGeom prst="rect">
            <a:avLst/>
          </a:prstGeom>
          <a:noFill/>
        </p:spPr>
        <p:txBody>
          <a:bodyPr wrap="square" lIns="68580" tIns="34290" rIns="68580" bIns="34290" rtlCol="0" anchor="t">
            <a:sp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fr-FR" sz="2100">
                <a:solidFill>
                  <a:schemeClr val="bg1"/>
                </a:solidFill>
                <a:latin typeface="Cambria"/>
                <a:ea typeface="Cambria"/>
              </a:rPr>
              <a:t>Merci</a:t>
            </a:r>
            <a:r>
              <a:rPr lang="fr-FR" sz="2100" noProof="0">
                <a:solidFill>
                  <a:schemeClr val="bg1"/>
                </a:solidFill>
                <a:latin typeface="Cambria"/>
                <a:ea typeface="Cambria"/>
              </a:rPr>
              <a:t> de votre attention !</a:t>
            </a:r>
            <a:endParaRPr lang="fr-FR" sz="1013">
              <a:solidFill>
                <a:schemeClr val="bg1"/>
              </a:solidFill>
              <a:latin typeface="Cambria"/>
              <a:ea typeface="Cambria"/>
            </a:endParaRPr>
          </a:p>
          <a:p>
            <a:pPr algn="ctr"/>
            <a:endParaRPr lang="fr-FR" sz="2100" dirty="0">
              <a:solidFill>
                <a:schemeClr val="bg1"/>
              </a:solidFill>
              <a:latin typeface="Cambria"/>
              <a:ea typeface="Cambria"/>
            </a:endParaRPr>
          </a:p>
          <a:p>
            <a:pPr algn="ctr"/>
            <a:r>
              <a:rPr lang="fr-FR" sz="2100">
                <a:solidFill>
                  <a:schemeClr val="bg1"/>
                </a:solidFill>
                <a:latin typeface="Cambria"/>
                <a:ea typeface="Cambria"/>
              </a:rPr>
              <a:t>Des questions</a:t>
            </a:r>
            <a:r>
              <a:rPr lang="fr-FR" sz="2100" dirty="0">
                <a:solidFill>
                  <a:schemeClr val="bg1"/>
                </a:solidFill>
                <a:latin typeface="Cambria"/>
                <a:ea typeface="Cambria"/>
              </a:rPr>
              <a:t>?</a:t>
            </a:r>
            <a:endParaRPr lang="fr-FR">
              <a:solidFill>
                <a:schemeClr val="bg1"/>
              </a:solidFill>
            </a:endParaRPr>
          </a:p>
          <a:p>
            <a:pPr algn="ctr"/>
            <a:r>
              <a:rPr lang="fr-FR" sz="1013" noProof="0" dirty="0"/>
              <a:t> </a:t>
            </a:r>
          </a:p>
        </p:txBody>
      </p:sp>
      <p:sp>
        <p:nvSpPr>
          <p:cNvPr id="2" name="Shape 0">
            <a:extLst>
              <a:ext uri="{FF2B5EF4-FFF2-40B4-BE49-F238E27FC236}">
                <a16:creationId xmlns:a16="http://schemas.microsoft.com/office/drawing/2014/main" id="{AB2DBBB2-0054-B161-A744-D06F2F1E22AC}"/>
              </a:ext>
            </a:extLst>
          </p:cNvPr>
          <p:cNvSpPr/>
          <p:nvPr/>
        </p:nvSpPr>
        <p:spPr>
          <a:xfrm>
            <a:off x="2309076" y="526444"/>
            <a:ext cx="3566160" cy="3566160"/>
          </a:xfrm>
          <a:prstGeom prst="ellipse">
            <a:avLst/>
          </a:prstGeom>
          <a:solidFill>
            <a:srgbClr val="1FA8B8">
              <a:alpha val="13725"/>
            </a:srgbClr>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fr-FR" sz="1013" noProof="0" dirty="0"/>
          </a:p>
        </p:txBody>
      </p:sp>
    </p:spTree>
    <p:extLst>
      <p:ext uri="{BB962C8B-B14F-4D97-AF65-F5344CB8AC3E}">
        <p14:creationId xmlns:p14="http://schemas.microsoft.com/office/powerpoint/2010/main" val="26532809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14</Slides>
  <Notes>13</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Getaround - Analyse et optimisation du prix</dc:title>
  <dc:subject>PptxGenJS Presentation</dc:subject>
  <dc:creator>Aicha Fathellah</dc:creator>
  <cp:revision>294</cp:revision>
  <dcterms:created xsi:type="dcterms:W3CDTF">2026-06-02T17:56:25Z</dcterms:created>
  <dcterms:modified xsi:type="dcterms:W3CDTF">2026-10-24T17:41:12Z</dcterms:modified>
</cp:coreProperties>
</file>